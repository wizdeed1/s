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247" autoAdjust="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'Weekly Data'!$B$1</c:f>
              <c:strCache>
                <c:ptCount val="1"/>
                <c:pt idx="0">
                  <c:v>Calls Presented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numRef>
              <c:f>'Weekly Data'!$A$2:$A$25</c:f>
              <c:numCache>
                <c:formatCode>d\-mmm</c:formatCode>
                <c:ptCount val="0"/>
              </c:numCache>
            </c:numRef>
          </c:cat>
          <c:val>
            <c:numRef>
              <c:f>'Weekly Data'!$B$2:$B$25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0-6A16-4D2F-8924-7BC4E4ADE3B8}"/>
            </c:ext>
          </c:extLst>
        </c:ser>
        <c:ser>
          <c:idx val="1"/>
          <c:order val="1"/>
          <c:tx>
            <c:strRef>
              <c:f>'Weekly Data'!$C$1</c:f>
              <c:strCache>
                <c:ptCount val="1"/>
                <c:pt idx="0">
                  <c:v>Calls Handled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numRef>
              <c:f>'Weekly Data'!$A$2:$A$25</c:f>
              <c:numCache>
                <c:formatCode>d\-mmm</c:formatCode>
                <c:ptCount val="0"/>
              </c:numCache>
            </c:numRef>
          </c:cat>
          <c:val>
            <c:numRef>
              <c:f>'Weekly Data'!$C$2:$C$25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1-6A16-4D2F-8924-7BC4E4ADE3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8039344"/>
        <c:axId val="2056143632"/>
      </c:barChart>
      <c:lineChart>
        <c:grouping val="standard"/>
        <c:varyColors val="0"/>
        <c:ser>
          <c:idx val="2"/>
          <c:order val="2"/>
          <c:tx>
            <c:strRef>
              <c:f>'Weekly Data'!$D$1</c:f>
              <c:strCache>
                <c:ptCount val="1"/>
                <c:pt idx="0">
                  <c:v>Service Level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'Weekly Data'!$A$2:$A$25</c:f>
              <c:numCache>
                <c:formatCode>d\-mmm</c:formatCode>
                <c:ptCount val="0"/>
              </c:numCache>
            </c:numRef>
          </c:cat>
          <c:val>
            <c:numRef>
              <c:f>'Weekly Data'!$D$2:$D$25</c:f>
              <c:numCache>
                <c:formatCode>0%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6A16-4D2F-8924-7BC4E4ADE3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028304"/>
        <c:axId val="61294864"/>
      </c:lineChart>
      <c:dateAx>
        <c:axId val="158039344"/>
        <c:scaling>
          <c:orientation val="minMax"/>
        </c:scaling>
        <c:delete val="0"/>
        <c:axPos val="b"/>
        <c:numFmt formatCode="d\-m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6143632"/>
        <c:crosses val="autoZero"/>
        <c:auto val="1"/>
        <c:lblOffset val="100"/>
        <c:baseTimeUnit val="days"/>
      </c:dateAx>
      <c:valAx>
        <c:axId val="2056143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39344"/>
        <c:crosses val="autoZero"/>
        <c:crossBetween val="between"/>
      </c:valAx>
      <c:valAx>
        <c:axId val="61294864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28304"/>
        <c:crosses val="max"/>
        <c:crossBetween val="between"/>
      </c:valAx>
      <c:dateAx>
        <c:axId val="158028304"/>
        <c:scaling>
          <c:orientation val="minMax"/>
        </c:scaling>
        <c:delete val="1"/>
        <c:axPos val="b"/>
        <c:numFmt formatCode="d\-mmm" sourceLinked="1"/>
        <c:majorTickMark val="out"/>
        <c:minorTickMark val="none"/>
        <c:tickLblPos val="nextTo"/>
        <c:crossAx val="61294864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75000"/>
          <a:alpha val="96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'Weekly Data'!$Q$2</c:f>
              <c:strCache>
                <c:ptCount val="1"/>
                <c:pt idx="0">
                  <c:v>Calls Presented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'Weekly Data'!$P$17:$P$26</c:f>
              <c:strCache>
                <c:ptCount val="0"/>
              </c:strCache>
            </c:strRef>
          </c:cat>
          <c:val>
            <c:numRef>
              <c:f>'Weekly Data'!$Q$17:$Q$26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0-BB35-4598-B150-0820F75B4B42}"/>
            </c:ext>
          </c:extLst>
        </c:ser>
        <c:ser>
          <c:idx val="1"/>
          <c:order val="1"/>
          <c:tx>
            <c:strRef>
              <c:f>'Weekly Data'!$R$2</c:f>
              <c:strCache>
                <c:ptCount val="1"/>
                <c:pt idx="0">
                  <c:v>Calls Handled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'Weekly Data'!$P$17:$P$26</c:f>
              <c:strCache>
                <c:ptCount val="0"/>
              </c:strCache>
            </c:strRef>
          </c:cat>
          <c:val>
            <c:numRef>
              <c:f>'Weekly Data'!$R$17:$R$26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1-BB35-4598-B150-0820F75B4B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42461839"/>
        <c:axId val="1642451279"/>
      </c:barChart>
      <c:lineChart>
        <c:grouping val="standard"/>
        <c:varyColors val="0"/>
        <c:ser>
          <c:idx val="2"/>
          <c:order val="2"/>
          <c:tx>
            <c:strRef>
              <c:f>'Weekly Data'!$S$2</c:f>
              <c:strCache>
                <c:ptCount val="1"/>
                <c:pt idx="0">
                  <c:v>Service Level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'Weekly Data'!$P$17:$P$26</c:f>
              <c:strCache>
                <c:ptCount val="0"/>
              </c:strCache>
            </c:strRef>
          </c:cat>
          <c:val>
            <c:numRef>
              <c:f>'Weekly Data'!$S$17:$S$26</c:f>
              <c:numCache>
                <c:formatCode>0%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B35-4598-B150-0820F75B4B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4647791"/>
        <c:axId val="1694627151"/>
      </c:lineChart>
      <c:catAx>
        <c:axId val="164246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451279"/>
        <c:crosses val="autoZero"/>
        <c:auto val="1"/>
        <c:lblAlgn val="ctr"/>
        <c:lblOffset val="100"/>
        <c:noMultiLvlLbl val="0"/>
      </c:catAx>
      <c:valAx>
        <c:axId val="1642451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461839"/>
        <c:crosses val="autoZero"/>
        <c:crossBetween val="between"/>
      </c:valAx>
      <c:valAx>
        <c:axId val="1694627151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4647791"/>
        <c:crosses val="max"/>
        <c:crossBetween val="between"/>
      </c:valAx>
      <c:catAx>
        <c:axId val="16946477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946271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'Weekly Data'!$G$1</c:f>
              <c:strCache>
                <c:ptCount val="1"/>
                <c:pt idx="0">
                  <c:v>Calls Presented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numRef>
              <c:f>'Weekly Data'!$F$2:$F$25</c:f>
              <c:numCache>
                <c:formatCode>d\-mmm</c:formatCode>
                <c:ptCount val="0"/>
              </c:numCache>
            </c:numRef>
          </c:cat>
          <c:val>
            <c:numRef>
              <c:f>'Weekly Data'!$G$2:$G$25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0-2100-4C09-B072-86C25CA55868}"/>
            </c:ext>
          </c:extLst>
        </c:ser>
        <c:ser>
          <c:idx val="1"/>
          <c:order val="1"/>
          <c:tx>
            <c:strRef>
              <c:f>'Weekly Data'!$H$1</c:f>
              <c:strCache>
                <c:ptCount val="1"/>
                <c:pt idx="0">
                  <c:v>Calls Handled</c:v>
                </c:pt>
              </c:strCache>
            </c:strRef>
          </c:tx>
          <c:spPr>
            <a:solidFill>
              <a:srgbClr val="009999"/>
            </a:solidFill>
            <a:ln>
              <a:noFill/>
            </a:ln>
            <a:effectLst/>
          </c:spPr>
          <c:invertIfNegative val="0"/>
          <c:cat>
            <c:numRef>
              <c:f>'Weekly Data'!$F$2:$F$25</c:f>
              <c:numCache>
                <c:formatCode>d\-mmm</c:formatCode>
                <c:ptCount val="0"/>
              </c:numCache>
            </c:numRef>
          </c:cat>
          <c:val>
            <c:numRef>
              <c:f>'Weekly Data'!$H$2:$H$25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1-2100-4C09-B072-86C25CA55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8015344"/>
        <c:axId val="2131578416"/>
      </c:barChart>
      <c:lineChart>
        <c:grouping val="standard"/>
        <c:varyColors val="0"/>
        <c:ser>
          <c:idx val="2"/>
          <c:order val="2"/>
          <c:tx>
            <c:strRef>
              <c:f>'Weekly Data'!$I$1</c:f>
              <c:strCache>
                <c:ptCount val="1"/>
                <c:pt idx="0">
                  <c:v>Service Level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'Weekly Data'!$F$2:$F$25</c:f>
              <c:numCache>
                <c:formatCode>d\-mmm</c:formatCode>
                <c:ptCount val="0"/>
              </c:numCache>
            </c:numRef>
          </c:cat>
          <c:val>
            <c:numRef>
              <c:f>'Weekly Data'!$I$2:$I$25</c:f>
              <c:numCache>
                <c:formatCode>0%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100-4C09-B072-86C25CA55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7941728"/>
        <c:axId val="1047944608"/>
      </c:lineChart>
      <c:dateAx>
        <c:axId val="158015344"/>
        <c:scaling>
          <c:orientation val="minMax"/>
        </c:scaling>
        <c:delete val="0"/>
        <c:axPos val="b"/>
        <c:numFmt formatCode="d\-m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1578416"/>
        <c:crosses val="autoZero"/>
        <c:auto val="1"/>
        <c:lblOffset val="100"/>
        <c:baseTimeUnit val="days"/>
      </c:dateAx>
      <c:valAx>
        <c:axId val="2131578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15344"/>
        <c:crosses val="autoZero"/>
        <c:crossBetween val="between"/>
      </c:valAx>
      <c:valAx>
        <c:axId val="104794460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941728"/>
        <c:crosses val="max"/>
        <c:crossBetween val="between"/>
      </c:valAx>
      <c:dateAx>
        <c:axId val="1047941728"/>
        <c:scaling>
          <c:orientation val="minMax"/>
        </c:scaling>
        <c:delete val="1"/>
        <c:axPos val="b"/>
        <c:numFmt formatCode="d\-mmm" sourceLinked="1"/>
        <c:majorTickMark val="out"/>
        <c:minorTickMark val="none"/>
        <c:tickLblPos val="nextTo"/>
        <c:crossAx val="1047944608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'Weekly Data'!$Q$2</c:f>
              <c:strCache>
                <c:ptCount val="1"/>
                <c:pt idx="0">
                  <c:v>Calls Presented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'Weekly Data'!$P$45:$P$54</c:f>
              <c:strCache>
                <c:ptCount val="0"/>
              </c:strCache>
            </c:strRef>
          </c:cat>
          <c:val>
            <c:numRef>
              <c:f>'Weekly Data'!$Q$45:$Q$54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0-71D8-4273-BA2A-A669DCB83A5C}"/>
            </c:ext>
          </c:extLst>
        </c:ser>
        <c:ser>
          <c:idx val="1"/>
          <c:order val="1"/>
          <c:tx>
            <c:strRef>
              <c:f>'Weekly Data'!$R$2</c:f>
              <c:strCache>
                <c:ptCount val="1"/>
                <c:pt idx="0">
                  <c:v>Calls Handled</c:v>
                </c:pt>
              </c:strCache>
            </c:strRef>
          </c:tx>
          <c:spPr>
            <a:solidFill>
              <a:srgbClr val="009999"/>
            </a:solidFill>
            <a:ln>
              <a:noFill/>
            </a:ln>
            <a:effectLst/>
          </c:spPr>
          <c:invertIfNegative val="0"/>
          <c:cat>
            <c:strRef>
              <c:f>'Weekly Data'!$P$45:$P$54</c:f>
              <c:strCache>
                <c:ptCount val="0"/>
              </c:strCache>
            </c:strRef>
          </c:cat>
          <c:val>
            <c:numRef>
              <c:f>'Weekly Data'!$R$45:$R$54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1-71D8-4273-BA2A-A669DCB83A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42461839"/>
        <c:axId val="1642451279"/>
      </c:barChart>
      <c:lineChart>
        <c:grouping val="standard"/>
        <c:varyColors val="0"/>
        <c:ser>
          <c:idx val="2"/>
          <c:order val="2"/>
          <c:tx>
            <c:strRef>
              <c:f>'Weekly Data'!$S$2</c:f>
              <c:strCache>
                <c:ptCount val="1"/>
                <c:pt idx="0">
                  <c:v>Service Level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'Weekly Data'!$P$45:$P$54</c:f>
              <c:strCache>
                <c:ptCount val="0"/>
              </c:strCache>
            </c:strRef>
          </c:cat>
          <c:val>
            <c:numRef>
              <c:f>'Weekly Data'!$S$45:$S$54</c:f>
              <c:numCache>
                <c:formatCode>0%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1D8-4273-BA2A-A669DCB83A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4647791"/>
        <c:axId val="1694627151"/>
      </c:lineChart>
      <c:catAx>
        <c:axId val="164246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451279"/>
        <c:crosses val="autoZero"/>
        <c:auto val="1"/>
        <c:lblAlgn val="ctr"/>
        <c:lblOffset val="100"/>
        <c:noMultiLvlLbl val="0"/>
      </c:catAx>
      <c:valAx>
        <c:axId val="1642451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461839"/>
        <c:crosses val="autoZero"/>
        <c:crossBetween val="between"/>
      </c:valAx>
      <c:valAx>
        <c:axId val="1694627151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4647791"/>
        <c:crosses val="max"/>
        <c:crossBetween val="between"/>
      </c:valAx>
      <c:catAx>
        <c:axId val="16946477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946271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'Weekly Data'!$L$1</c:f>
              <c:strCache>
                <c:ptCount val="1"/>
                <c:pt idx="0">
                  <c:v>Calls Presented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numRef>
              <c:f>'Weekly Data'!$K$2:$K$25</c:f>
              <c:numCache>
                <c:formatCode>d\-mmm</c:formatCode>
                <c:ptCount val="0"/>
              </c:numCache>
            </c:numRef>
          </c:cat>
          <c:val>
            <c:numRef>
              <c:f>'Weekly Data'!$L$2:$L$25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0-F6BF-479A-9953-50019FCCE3AD}"/>
            </c:ext>
          </c:extLst>
        </c:ser>
        <c:ser>
          <c:idx val="1"/>
          <c:order val="1"/>
          <c:tx>
            <c:strRef>
              <c:f>'Weekly Data'!$M$1</c:f>
              <c:strCache>
                <c:ptCount val="1"/>
                <c:pt idx="0">
                  <c:v>Calls Handled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'Weekly Data'!$K$2:$K$25</c:f>
              <c:numCache>
                <c:formatCode>d\-mmm</c:formatCode>
                <c:ptCount val="0"/>
              </c:numCache>
            </c:numRef>
          </c:cat>
          <c:val>
            <c:numRef>
              <c:f>'Weekly Data'!$M$2:$M$25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1-F6BF-479A-9953-50019FCCE3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8029744"/>
        <c:axId val="162399024"/>
      </c:barChart>
      <c:lineChart>
        <c:grouping val="standard"/>
        <c:varyColors val="0"/>
        <c:ser>
          <c:idx val="2"/>
          <c:order val="2"/>
          <c:tx>
            <c:strRef>
              <c:f>'Weekly Data'!$N$1</c:f>
              <c:strCache>
                <c:ptCount val="1"/>
                <c:pt idx="0">
                  <c:v>Service Level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'Weekly Data'!$K$2:$K$25</c:f>
              <c:numCache>
                <c:formatCode>d\-mmm</c:formatCode>
                <c:ptCount val="0"/>
              </c:numCache>
            </c:numRef>
          </c:cat>
          <c:val>
            <c:numRef>
              <c:f>'Weekly Data'!$N$2:$N$25</c:f>
              <c:numCache>
                <c:formatCode>0%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6BF-479A-9953-50019FCCE3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024944"/>
        <c:axId val="61282464"/>
      </c:lineChart>
      <c:dateAx>
        <c:axId val="158029744"/>
        <c:scaling>
          <c:orientation val="minMax"/>
        </c:scaling>
        <c:delete val="0"/>
        <c:axPos val="b"/>
        <c:numFmt formatCode="d\-m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399024"/>
        <c:crosses val="autoZero"/>
        <c:auto val="1"/>
        <c:lblOffset val="100"/>
        <c:baseTimeUnit val="days"/>
      </c:dateAx>
      <c:valAx>
        <c:axId val="162399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29744"/>
        <c:crosses val="autoZero"/>
        <c:crossBetween val="between"/>
      </c:valAx>
      <c:valAx>
        <c:axId val="61282464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24944"/>
        <c:crosses val="max"/>
        <c:crossBetween val="between"/>
      </c:valAx>
      <c:dateAx>
        <c:axId val="158024944"/>
        <c:scaling>
          <c:orientation val="minMax"/>
        </c:scaling>
        <c:delete val="1"/>
        <c:axPos val="b"/>
        <c:numFmt formatCode="d\-mmm" sourceLinked="1"/>
        <c:majorTickMark val="out"/>
        <c:minorTickMark val="none"/>
        <c:tickLblPos val="nextTo"/>
        <c:crossAx val="61282464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'Weekly Data'!$Q$2</c:f>
              <c:strCache>
                <c:ptCount val="1"/>
                <c:pt idx="0">
                  <c:v>Calls Presented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'Weekly Data'!$P$72:$P$81</c:f>
              <c:strCache>
                <c:ptCount val="0"/>
              </c:strCache>
            </c:strRef>
          </c:cat>
          <c:val>
            <c:numRef>
              <c:f>'Weekly Data'!$Q$72:$Q$81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0-A267-48DC-B50E-54C2227B4B52}"/>
            </c:ext>
          </c:extLst>
        </c:ser>
        <c:ser>
          <c:idx val="1"/>
          <c:order val="1"/>
          <c:tx>
            <c:strRef>
              <c:f>'Weekly Data'!$R$2</c:f>
              <c:strCache>
                <c:ptCount val="1"/>
                <c:pt idx="0">
                  <c:v>Calls Handled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'Weekly Data'!$P$72:$P$81</c:f>
              <c:strCache>
                <c:ptCount val="0"/>
              </c:strCache>
            </c:strRef>
          </c:cat>
          <c:val>
            <c:numRef>
              <c:f>'Weekly Data'!$R$72:$R$81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1-A267-48DC-B50E-54C2227B4B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42461839"/>
        <c:axId val="1642451279"/>
      </c:barChart>
      <c:lineChart>
        <c:grouping val="standard"/>
        <c:varyColors val="0"/>
        <c:ser>
          <c:idx val="2"/>
          <c:order val="2"/>
          <c:tx>
            <c:strRef>
              <c:f>'Weekly Data'!$S$2</c:f>
              <c:strCache>
                <c:ptCount val="1"/>
                <c:pt idx="0">
                  <c:v>Service Level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'Weekly Data'!$P$72:$P$81</c:f>
              <c:strCache>
                <c:ptCount val="0"/>
              </c:strCache>
            </c:strRef>
          </c:cat>
          <c:val>
            <c:numRef>
              <c:f>'Weekly Data'!$S$72:$S$81</c:f>
              <c:numCache>
                <c:formatCode>0%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267-48DC-B50E-54C2227B4B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4647791"/>
        <c:axId val="1694627151"/>
      </c:lineChart>
      <c:catAx>
        <c:axId val="164246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451279"/>
        <c:crosses val="autoZero"/>
        <c:auto val="1"/>
        <c:lblAlgn val="ctr"/>
        <c:lblOffset val="100"/>
        <c:noMultiLvlLbl val="0"/>
      </c:catAx>
      <c:valAx>
        <c:axId val="1642451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461839"/>
        <c:crosses val="autoZero"/>
        <c:crossBetween val="between"/>
      </c:valAx>
      <c:valAx>
        <c:axId val="1694627151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4647791"/>
        <c:crosses val="max"/>
        <c:crossBetween val="between"/>
      </c:valAx>
      <c:catAx>
        <c:axId val="16946477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946271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'Postpaid Data'!$B$1</c:f>
              <c:strCache>
                <c:ptCount val="1"/>
                <c:pt idx="0">
                  <c:v>Calls Presented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numRef>
              <c:f>'Postpaid Data'!$A$2:$A$25</c:f>
              <c:numCache>
                <c:formatCode>d\-mmm</c:formatCode>
                <c:ptCount val="0"/>
              </c:numCache>
            </c:numRef>
          </c:cat>
          <c:val>
            <c:numRef>
              <c:f>'Postpaid Data'!$B$2:$B$25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0-14AE-43F2-8495-52CE9B665E1A}"/>
            </c:ext>
          </c:extLst>
        </c:ser>
        <c:ser>
          <c:idx val="1"/>
          <c:order val="1"/>
          <c:tx>
            <c:strRef>
              <c:f>'Postpaid Data'!$C$1</c:f>
              <c:strCache>
                <c:ptCount val="1"/>
                <c:pt idx="0">
                  <c:v>Calls Handled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numRef>
              <c:f>'Postpaid Data'!$A$2:$A$25</c:f>
              <c:numCache>
                <c:formatCode>d\-mmm</c:formatCode>
                <c:ptCount val="0"/>
              </c:numCache>
            </c:numRef>
          </c:cat>
          <c:val>
            <c:numRef>
              <c:f>'Postpaid Data'!$C$2:$C$25</c:f>
              <c:numCache>
                <c:formatCode>#,##0</c:formatCode>
                <c:ptCount val="0"/>
              </c:numCache>
            </c:numRef>
          </c:val>
          <c:extLst>
            <c:ext xmlns:c16="http://schemas.microsoft.com/office/drawing/2014/chart" uri="{C3380CC4-5D6E-409C-BE32-E72D297353CC}">
              <c16:uniqueId val="{00000001-14AE-43F2-8495-52CE9B665E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390281103"/>
        <c:axId val="1390295983"/>
      </c:barChart>
      <c:lineChart>
        <c:grouping val="standard"/>
        <c:varyColors val="0"/>
        <c:ser>
          <c:idx val="2"/>
          <c:order val="2"/>
          <c:tx>
            <c:strRef>
              <c:f>'Postpaid Data'!$D$1</c:f>
              <c:strCache>
                <c:ptCount val="1"/>
                <c:pt idx="0">
                  <c:v>Service Level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ar-SA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'Postpaid Data'!$A$2:$A$25</c:f>
              <c:numCache>
                <c:formatCode>d\-mmm</c:formatCode>
                <c:ptCount val="0"/>
              </c:numCache>
            </c:numRef>
          </c:cat>
          <c:val>
            <c:numRef>
              <c:f>'Postpaid Data'!$D$2:$D$25</c:f>
              <c:numCache>
                <c:formatCode>0%</c:formatCode>
                <c:ptCount val="0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4AE-43F2-8495-52CE9B665E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6364943"/>
        <c:axId val="1396316815"/>
      </c:lineChart>
      <c:dateAx>
        <c:axId val="1390281103"/>
        <c:scaling>
          <c:orientation val="minMax"/>
        </c:scaling>
        <c:delete val="0"/>
        <c:axPos val="b"/>
        <c:numFmt formatCode="d\-m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ar-SA"/>
          </a:p>
        </c:txPr>
        <c:crossAx val="1390295983"/>
        <c:crosses val="autoZero"/>
        <c:auto val="1"/>
        <c:lblOffset val="100"/>
        <c:baseTimeUnit val="days"/>
      </c:dateAx>
      <c:valAx>
        <c:axId val="139029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ar-SA"/>
          </a:p>
        </c:txPr>
        <c:crossAx val="1390281103"/>
        <c:crosses val="autoZero"/>
        <c:crossBetween val="between"/>
      </c:valAx>
      <c:valAx>
        <c:axId val="1396316815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ar-SA"/>
          </a:p>
        </c:txPr>
        <c:crossAx val="1816364943"/>
        <c:crosses val="max"/>
        <c:crossBetween val="between"/>
      </c:valAx>
      <c:dateAx>
        <c:axId val="1816364943"/>
        <c:scaling>
          <c:orientation val="minMax"/>
        </c:scaling>
        <c:delete val="1"/>
        <c:axPos val="b"/>
        <c:numFmt formatCode="d\-mmm" sourceLinked="1"/>
        <c:majorTickMark val="out"/>
        <c:minorTickMark val="none"/>
        <c:tickLblPos val="nextTo"/>
        <c:crossAx val="1396316815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ar-S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65000"/>
        </a:schemeClr>
      </a:solidFill>
      <a:round/>
    </a:ln>
    <a:effectLst/>
  </c:spPr>
  <c:txPr>
    <a:bodyPr/>
    <a:lstStyle/>
    <a:p>
      <a:pPr>
        <a:defRPr/>
      </a:pPr>
      <a:endParaRPr lang="ar-SA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372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chart" Target="../charts/chart5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120640"/>
            <a:ext cx="731520" cy="731520"/>
          </a:xfrm>
          <a:prstGeom prst="rect">
            <a:avLst/>
          </a:prstGeom>
          <a:solidFill>
            <a:srgbClr val="0976B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45952" y="5074920"/>
            <a:ext cx="502920" cy="502920"/>
          </a:xfrm>
          <a:prstGeom prst="rect">
            <a:avLst/>
          </a:prstGeom>
          <a:solidFill>
            <a:srgbClr val="047B94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899648" y="5742432"/>
            <a:ext cx="566928" cy="566928"/>
          </a:xfrm>
          <a:prstGeom prst="rect">
            <a:avLst/>
          </a:prstGeom>
          <a:solidFill>
            <a:srgbClr val="F5ACC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29800" y="5577840"/>
            <a:ext cx="384048" cy="384048"/>
          </a:xfrm>
          <a:prstGeom prst="rect">
            <a:avLst/>
          </a:prstGeom>
          <a:solidFill>
            <a:srgbClr val="8C3A5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503152" y="5504688"/>
            <a:ext cx="365760" cy="365760"/>
          </a:xfrm>
          <a:prstGeom prst="rect">
            <a:avLst/>
          </a:prstGeom>
          <a:solidFill>
            <a:srgbClr val="AD8A2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69880" y="4498848"/>
            <a:ext cx="329184" cy="329184"/>
          </a:xfrm>
          <a:prstGeom prst="rect">
            <a:avLst/>
          </a:prstGeom>
          <a:solidFill>
            <a:srgbClr val="3E7A4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assets/beyondone_mark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438912" cy="4407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576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ONE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2423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Care Performance Review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02920" y="3246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 Mobile  ·  FRiENDi Mobile · FRiENDi Pay —  Weekly Commercial Presentation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0352" y="3886200"/>
            <a:ext cx="2011680" cy="0"/>
          </a:xfrm>
          <a:prstGeom prst="line">
            <a:avLst/>
          </a:prstGeom>
          <a:noFill/>
          <a:ln w="12700">
            <a:solidFill>
              <a:srgbClr val="547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4041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5989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Rasha Mogaddam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9F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VP, Member Care — Beyond One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eyondone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274320" cy="417881"/>
          </a:xfrm>
          <a:prstGeom prst="rect">
            <a:avLst/>
          </a:prstGeom>
        </p:spPr>
      </p:pic>
      <p:pic>
        <p:nvPicPr>
          <p:cNvPr id="3" name="Image 1" descr="/home/claude/assets/virgi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7432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9520" y="678119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411480" y="93268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Insights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11480" y="142646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 Mobile — Contact Centre Voice Channel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9921240" y="868680"/>
            <a:ext cx="1856232" cy="1024128"/>
          </a:xfrm>
          <a:prstGeom prst="roundRect">
            <a:avLst>
              <a:gd name="adj" fmla="val 8036"/>
            </a:avLst>
          </a:prstGeom>
          <a:solidFill>
            <a:srgbClr val="D0021B"/>
          </a:solidFill>
          <a:ln/>
          <a:effectLst>
            <a:outerShdw blurRad="88900" dist="25400" dir="5400000" algn="bl" rotWithShape="0">
              <a:srgbClr val="1B1B1B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921240" y="896112"/>
            <a:ext cx="185623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11480" y="1920240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11480" y="4261104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— 2023 to Date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7882128" y="1920240"/>
            <a:ext cx="1255776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7882128" y="1920240"/>
            <a:ext cx="50292" cy="84124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7882128" y="1993392"/>
            <a:ext cx="1255776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00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</a:p>
        </p:txBody>
      </p:sp>
      <p:sp>
        <p:nvSpPr>
          <p:cNvPr id="16" name="Text 10"/>
          <p:cNvSpPr/>
          <p:nvPr/>
        </p:nvSpPr>
        <p:spPr>
          <a:xfrm>
            <a:off x="7927848" y="2424989"/>
            <a:ext cx="1164336" cy="3196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logged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9211056" y="1920240"/>
            <a:ext cx="1255776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9211056" y="1920240"/>
            <a:ext cx="50292" cy="84124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9211056" y="1993392"/>
            <a:ext cx="1255776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00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9256776" y="2424989"/>
            <a:ext cx="1164336" cy="3196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tickets resolved on time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10539984" y="1920240"/>
            <a:ext cx="1255776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10539984" y="1920240"/>
            <a:ext cx="50292" cy="84124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10539984" y="1993392"/>
            <a:ext cx="1255776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00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</a:p>
        </p:txBody>
      </p:sp>
      <p:sp>
        <p:nvSpPr>
          <p:cNvPr id="24" name="Text 18"/>
          <p:cNvSpPr/>
          <p:nvPr/>
        </p:nvSpPr>
        <p:spPr>
          <a:xfrm>
            <a:off x="10585704" y="2424989"/>
            <a:ext cx="1164336" cy="3196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still open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7882128" y="299008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Call Reasons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192267"/>
              </p:ext>
            </p:extLst>
          </p:nvPr>
        </p:nvGraphicFramePr>
        <p:xfrm>
          <a:off x="7882128" y="3246120"/>
          <a:ext cx="3913632" cy="1481328"/>
        </p:xfrm>
        <a:graphic>
          <a:graphicData uri="http://schemas.openxmlformats.org/drawingml/2006/table">
            <a:tbl>
              <a:tblPr/>
              <a:tblGrid>
                <a:gridCol w="2633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r>
                        <a:rPr lang="en-US" sz="900" kern="1200" dirty="0" err="1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r>
                        <a:rPr lang="en-US" sz="900" kern="1200" dirty="0" err="1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kern="1200" dirty="0">
                        <a:solidFill>
                          <a:srgbClr val="2B2F4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Text 20"/>
          <p:cNvSpPr/>
          <p:nvPr/>
        </p:nvSpPr>
        <p:spPr>
          <a:xfrm>
            <a:off x="7882128" y="491032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Complaint Drivers</a:t>
            </a:r>
            <a:endParaRPr lang="en-US" sz="1150" dirty="0"/>
          </a:p>
        </p:txBody>
      </p:sp>
      <p:graphicFrame>
        <p:nvGraphicFramePr>
          <p:cNvPr id="2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831775"/>
              </p:ext>
            </p:extLst>
          </p:nvPr>
        </p:nvGraphicFramePr>
        <p:xfrm>
          <a:off x="7882128" y="5166360"/>
          <a:ext cx="3913632" cy="1298448"/>
        </p:xfrm>
        <a:graphic>
          <a:graphicData uri="http://schemas.openxmlformats.org/drawingml/2006/table">
            <a:tbl>
              <a:tblPr/>
              <a:tblGrid>
                <a:gridCol w="318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4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08"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08"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 21"/>
          <p:cNvSpPr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One  |  Member Care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11368735" y="652881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CCB132C-5A14-7531-360D-A7F0B42731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1694506"/>
              </p:ext>
            </p:extLst>
          </p:nvPr>
        </p:nvGraphicFramePr>
        <p:xfrm>
          <a:off x="402579" y="2174629"/>
          <a:ext cx="6840432" cy="20590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02FBF72-1B57-0264-C989-239305B492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3655531"/>
              </p:ext>
            </p:extLst>
          </p:nvPr>
        </p:nvGraphicFramePr>
        <p:xfrm>
          <a:off x="396239" y="4544568"/>
          <a:ext cx="6840431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eyondone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274320" cy="417881"/>
          </a:xfrm>
          <a:prstGeom prst="rect">
            <a:avLst/>
          </a:prstGeom>
        </p:spPr>
      </p:pic>
      <p:pic>
        <p:nvPicPr>
          <p:cNvPr id="3" name="Image 1" descr="/home/claude/assets/friend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2201" y="274320"/>
            <a:ext cx="817839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9520" y="68133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411480" y="93268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Insights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11480" y="142646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FRiENDi Mobile — Contact Centre Voice Channel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9921240" y="868680"/>
            <a:ext cx="1856232" cy="1024128"/>
          </a:xfrm>
          <a:prstGeom prst="roundRect">
            <a:avLst>
              <a:gd name="adj" fmla="val 8036"/>
            </a:avLst>
          </a:prstGeom>
          <a:solidFill>
            <a:srgbClr val="119DA4"/>
          </a:solidFill>
          <a:ln/>
          <a:effectLst>
            <a:outerShdw blurRad="88900" dist="25400" dir="5400000" algn="bl" rotWithShape="0">
              <a:srgbClr val="1B1B1B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921240" y="896112"/>
            <a:ext cx="185623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11480" y="1920240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11480" y="4261104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— 2023 to Date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7882128" y="1920240"/>
            <a:ext cx="1255776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7882128" y="1920240"/>
            <a:ext cx="50292" cy="84124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7882128" y="1993392"/>
            <a:ext cx="1255776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9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</a:p>
        </p:txBody>
      </p:sp>
      <p:sp>
        <p:nvSpPr>
          <p:cNvPr id="16" name="Text 10"/>
          <p:cNvSpPr/>
          <p:nvPr/>
        </p:nvSpPr>
        <p:spPr>
          <a:xfrm>
            <a:off x="7927848" y="2424989"/>
            <a:ext cx="1164336" cy="3196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logged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9211056" y="1920240"/>
            <a:ext cx="1255776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9211056" y="1920240"/>
            <a:ext cx="50292" cy="84124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9211056" y="1993392"/>
            <a:ext cx="1255776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9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9256776" y="2424989"/>
            <a:ext cx="1164336" cy="3196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tickets resolved on time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10539984" y="1920240"/>
            <a:ext cx="1255776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10539984" y="1920240"/>
            <a:ext cx="50292" cy="84124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10539984" y="1993392"/>
            <a:ext cx="1255776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9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10585704" y="2424989"/>
            <a:ext cx="1164336" cy="3196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still open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7882128" y="299008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Call Reasons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855369"/>
              </p:ext>
            </p:extLst>
          </p:nvPr>
        </p:nvGraphicFramePr>
        <p:xfrm>
          <a:off x="7882128" y="3246120"/>
          <a:ext cx="3913632" cy="1481328"/>
        </p:xfrm>
        <a:graphic>
          <a:graphicData uri="http://schemas.openxmlformats.org/drawingml/2006/table">
            <a:tbl>
              <a:tblPr/>
              <a:tblGrid>
                <a:gridCol w="2633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Text 20"/>
          <p:cNvSpPr/>
          <p:nvPr/>
        </p:nvSpPr>
        <p:spPr>
          <a:xfrm>
            <a:off x="7882128" y="491032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Complaint Drivers</a:t>
            </a:r>
            <a:endParaRPr lang="en-US" sz="1150" dirty="0"/>
          </a:p>
        </p:txBody>
      </p:sp>
      <p:graphicFrame>
        <p:nvGraphicFramePr>
          <p:cNvPr id="2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177564"/>
              </p:ext>
            </p:extLst>
          </p:nvPr>
        </p:nvGraphicFramePr>
        <p:xfrm>
          <a:off x="7882128" y="5166360"/>
          <a:ext cx="3913632" cy="1298448"/>
        </p:xfrm>
        <a:graphic>
          <a:graphicData uri="http://schemas.openxmlformats.org/drawingml/2006/table">
            <a:tbl>
              <a:tblPr/>
              <a:tblGrid>
                <a:gridCol w="318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4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08"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08"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 21"/>
          <p:cNvSpPr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One  |  Member Care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11368735" y="652881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6047BE7-EAEE-6FE8-0D41-46C2A006EC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5896735"/>
              </p:ext>
            </p:extLst>
          </p:nvPr>
        </p:nvGraphicFramePr>
        <p:xfrm>
          <a:off x="411481" y="2211886"/>
          <a:ext cx="6834708" cy="2049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1DEB769-FB69-4D5C-A16D-E7A80A2149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2253217"/>
              </p:ext>
            </p:extLst>
          </p:nvPr>
        </p:nvGraphicFramePr>
        <p:xfrm>
          <a:off x="411481" y="4517137"/>
          <a:ext cx="6834708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eyondone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9184"/>
            <a:ext cx="274320" cy="417881"/>
          </a:xfrm>
          <a:prstGeom prst="rect">
            <a:avLst/>
          </a:prstGeom>
        </p:spPr>
      </p:pic>
      <p:pic>
        <p:nvPicPr>
          <p:cNvPr id="3" name="Image 1" descr="/home/claude/assets/friendipay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5960" y="274320"/>
            <a:ext cx="73408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9520" y="678119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411480" y="93268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Insights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11480" y="142646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FRiENDi Pay — Contact Centre Voice Channel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9921240" y="868680"/>
            <a:ext cx="1856232" cy="1024128"/>
          </a:xfrm>
          <a:prstGeom prst="roundRect">
            <a:avLst>
              <a:gd name="adj" fmla="val 8036"/>
            </a:avLst>
          </a:prstGeom>
          <a:solidFill>
            <a:srgbClr val="C8860D"/>
          </a:solidFill>
          <a:ln/>
          <a:effectLst>
            <a:outerShdw blurRad="88900" dist="25400" dir="5400000" algn="bl" rotWithShape="0">
              <a:srgbClr val="1B1B1B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921240" y="896112"/>
            <a:ext cx="185623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11480" y="1920240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11480" y="4261104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— 2023 to Date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7882128" y="1920240"/>
            <a:ext cx="1255776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7882128" y="1920240"/>
            <a:ext cx="50292" cy="84124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7882128" y="1993392"/>
            <a:ext cx="1255776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7927848" y="2424989"/>
            <a:ext cx="1164336" cy="3196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logged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9211056" y="1920240"/>
            <a:ext cx="1255776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9211056" y="1920240"/>
            <a:ext cx="50292" cy="84124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9211056" y="1993392"/>
            <a:ext cx="1255776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9256776" y="2424989"/>
            <a:ext cx="1164336" cy="3196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still open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10539984" y="1920240"/>
            <a:ext cx="1255776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10539984" y="1920240"/>
            <a:ext cx="50292" cy="84124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10539984" y="1993392"/>
            <a:ext cx="1255776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10585704" y="2424989"/>
            <a:ext cx="1164336" cy="3196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7882128" y="299008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Call Reasons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9342"/>
              </p:ext>
            </p:extLst>
          </p:nvPr>
        </p:nvGraphicFramePr>
        <p:xfrm>
          <a:off x="7882128" y="3246120"/>
          <a:ext cx="3913632" cy="1481328"/>
        </p:xfrm>
        <a:graphic>
          <a:graphicData uri="http://schemas.openxmlformats.org/drawingml/2006/table">
            <a:tbl>
              <a:tblPr/>
              <a:tblGrid>
                <a:gridCol w="2633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Text 20"/>
          <p:cNvSpPr/>
          <p:nvPr/>
        </p:nvSpPr>
        <p:spPr>
          <a:xfrm>
            <a:off x="7882128" y="491032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Complaint Drivers</a:t>
            </a:r>
            <a:endParaRPr lang="en-US" sz="1150" dirty="0"/>
          </a:p>
        </p:txBody>
      </p:sp>
      <p:graphicFrame>
        <p:nvGraphicFramePr>
          <p:cNvPr id="2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941062"/>
              </p:ext>
            </p:extLst>
          </p:nvPr>
        </p:nvGraphicFramePr>
        <p:xfrm>
          <a:off x="7882128" y="5166360"/>
          <a:ext cx="3913632" cy="1298448"/>
        </p:xfrm>
        <a:graphic>
          <a:graphicData uri="http://schemas.openxmlformats.org/drawingml/2006/table">
            <a:tbl>
              <a:tblPr/>
              <a:tblGrid>
                <a:gridCol w="318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4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08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08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 21"/>
          <p:cNvSpPr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One  |  Member Care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11368735" y="652881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0A8600C-E78C-FE2E-42D0-57A4E11D69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6481567"/>
              </p:ext>
            </p:extLst>
          </p:nvPr>
        </p:nvGraphicFramePr>
        <p:xfrm>
          <a:off x="411480" y="2176272"/>
          <a:ext cx="6710802" cy="2084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D674A2B-C7C7-45B8-957E-54894FE53D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9080344"/>
              </p:ext>
            </p:extLst>
          </p:nvPr>
        </p:nvGraphicFramePr>
        <p:xfrm>
          <a:off x="411480" y="4517136"/>
          <a:ext cx="6710804" cy="2267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eyondone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274320" cy="4178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9520" y="66880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411480" y="93268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Postpaid Insights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11480" y="142646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Cross-Brand Postpaid — Contact Centre Voice Channel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9921240" y="868680"/>
            <a:ext cx="1856232" cy="1024128"/>
          </a:xfrm>
          <a:prstGeom prst="roundRect">
            <a:avLst>
              <a:gd name="adj" fmla="val 8036"/>
            </a:avLst>
          </a:prstGeom>
          <a:solidFill>
            <a:srgbClr val="3A5A8C"/>
          </a:solidFill>
          <a:ln/>
          <a:effectLst>
            <a:outerShdw blurRad="88900" dist="25400" dir="5400000" algn="bl" rotWithShape="0">
              <a:srgbClr val="1B1B1B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21240" y="896112"/>
            <a:ext cx="185623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11480" y="2039112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11480" y="4974336"/>
            <a:ext cx="5532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Call Reasons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852419"/>
              </p:ext>
            </p:extLst>
          </p:nvPr>
        </p:nvGraphicFramePr>
        <p:xfrm>
          <a:off x="411480" y="5230368"/>
          <a:ext cx="5532120" cy="1234440"/>
        </p:xfrm>
        <a:graphic>
          <a:graphicData uri="http://schemas.openxmlformats.org/drawingml/2006/table">
            <a:tbl>
              <a:tblPr/>
              <a:tblGrid>
                <a:gridCol w="41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r>
                        <a:rPr lang="en-US" sz="900" kern="1200" dirty="0" err="1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00" kern="1200" dirty="0">
                        <a:solidFill>
                          <a:srgbClr val="2B2F4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7620" marR="7620" marT="7620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6245352" y="4974336"/>
            <a:ext cx="5532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Tickets</a:t>
            </a:r>
            <a:endParaRPr lang="en-US" sz="11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119106"/>
              </p:ext>
            </p:extLst>
          </p:nvPr>
        </p:nvGraphicFramePr>
        <p:xfrm>
          <a:off x="6245352" y="5230368"/>
          <a:ext cx="5532120" cy="1234440"/>
        </p:xfrm>
        <a:graphic>
          <a:graphicData uri="http://schemas.openxmlformats.org/drawingml/2006/table">
            <a:tbl>
              <a:tblPr/>
              <a:tblGrid>
                <a:gridCol w="41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buNone/>
                      </a:pPr>
                      <a:r>
                        <a:rPr lang="en-US" sz="900" kern="120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One  |  Member Care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11368735" y="652881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E2A0912-2BE4-8071-D862-498CDC9697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6817082"/>
              </p:ext>
            </p:extLst>
          </p:nvPr>
        </p:nvGraphicFramePr>
        <p:xfrm>
          <a:off x="411480" y="2295144"/>
          <a:ext cx="11338559" cy="2580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eyondone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274320" cy="4178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9520" y="329184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9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4" name="Text 1"/>
          <p:cNvSpPr/>
          <p:nvPr/>
        </p:nvSpPr>
        <p:spPr>
          <a:xfrm>
            <a:off x="411480" y="8412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Outages Insights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11480" y="13167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235440" y="822960"/>
            <a:ext cx="2542032" cy="841248"/>
          </a:xfrm>
          <a:prstGeom prst="roundRect">
            <a:avLst>
              <a:gd name="adj" fmla="val 978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235440" y="841248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6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600" dirty="0"/>
          </a:p>
        </p:txBody>
      </p:sp>
      <p:sp>
        <p:nvSpPr>
          <p:cNvPr id="10" name="Text 5"/>
          <p:cNvSpPr/>
          <p:nvPr/>
        </p:nvSpPr>
        <p:spPr>
          <a:xfrm>
            <a:off x="41148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One  |  Member Care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11368735" y="652881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42169D-FA7F-2D22-0523-0999E02E9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366196"/>
              </p:ext>
            </p:extLst>
          </p:nvPr>
        </p:nvGraphicFramePr>
        <p:xfrm>
          <a:off x="965200" y="2875047"/>
          <a:ext cx="10261600" cy="2926080"/>
        </p:xfrm>
        <a:graphic>
          <a:graphicData uri="http://schemas.openxmlformats.org/drawingml/2006/table">
            <a:tbl>
              <a:tblPr/>
              <a:tblGrid>
                <a:gridCol w="1460500">
                  <a:extLst>
                    <a:ext uri="{9D8B030D-6E8A-4147-A177-3AD203B41FA5}">
                      <a16:colId xmlns:a16="http://schemas.microsoft.com/office/drawing/2014/main" val="2810981789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4233669287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40617836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342272295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Outage and Issue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Affected Brand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9600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522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1469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731520" cy="731520"/>
          </a:xfrm>
          <a:prstGeom prst="rect">
            <a:avLst/>
          </a:prstGeom>
          <a:solidFill>
            <a:srgbClr val="0976B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-594360"/>
            <a:ext cx="502920" cy="502920"/>
          </a:xfrm>
          <a:prstGeom prst="rect">
            <a:avLst/>
          </a:prstGeom>
          <a:solidFill>
            <a:srgbClr val="047B94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" y="73152"/>
            <a:ext cx="566928" cy="566928"/>
          </a:xfrm>
          <a:prstGeom prst="rect">
            <a:avLst/>
          </a:prstGeom>
          <a:solidFill>
            <a:srgbClr val="F5ACC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051560" y="-91440"/>
            <a:ext cx="384048" cy="384048"/>
          </a:xfrm>
          <a:prstGeom prst="rect">
            <a:avLst/>
          </a:prstGeom>
          <a:solidFill>
            <a:srgbClr val="8C3A5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" y="-164592"/>
            <a:ext cx="365760" cy="365760"/>
          </a:xfrm>
          <a:prstGeom prst="rect">
            <a:avLst/>
          </a:prstGeom>
          <a:solidFill>
            <a:srgbClr val="AD8A2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411480" y="-1170432"/>
            <a:ext cx="329184" cy="329184"/>
          </a:xfrm>
          <a:prstGeom prst="rect">
            <a:avLst/>
          </a:prstGeom>
          <a:solidFill>
            <a:srgbClr val="3E7A4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0" y="5394960"/>
            <a:ext cx="621792" cy="621792"/>
          </a:xfrm>
          <a:prstGeom prst="rect">
            <a:avLst/>
          </a:prstGeom>
          <a:solidFill>
            <a:srgbClr val="0976B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21847" y="5356098"/>
            <a:ext cx="427482" cy="427482"/>
          </a:xfrm>
          <a:prstGeom prst="rect">
            <a:avLst/>
          </a:prstGeom>
          <a:solidFill>
            <a:srgbClr val="047B94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97489" y="5923483"/>
            <a:ext cx="481889" cy="481889"/>
          </a:xfrm>
          <a:prstGeom prst="rect">
            <a:avLst/>
          </a:prstGeom>
          <a:solidFill>
            <a:srgbClr val="F5ACCC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088118" y="5783580"/>
            <a:ext cx="326441" cy="326441"/>
          </a:xfrm>
          <a:prstGeom prst="rect">
            <a:avLst/>
          </a:prstGeom>
          <a:solidFill>
            <a:srgbClr val="8C3A5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510467" y="5721401"/>
            <a:ext cx="310896" cy="310896"/>
          </a:xfrm>
          <a:prstGeom prst="rect">
            <a:avLst/>
          </a:prstGeom>
          <a:solidFill>
            <a:srgbClr val="AD8A2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32186" y="4866437"/>
            <a:ext cx="279806" cy="279806"/>
          </a:xfrm>
          <a:prstGeom prst="rect">
            <a:avLst/>
          </a:prstGeom>
          <a:solidFill>
            <a:srgbClr val="3E7A4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/home/claude/assets/beyondone_mark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1965960"/>
            <a:ext cx="512064" cy="51480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Care Performance Review  —  Weekly Commercial Presentation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Rasha Mogaddam  ·  Group VP, Member Care  ·  Beyond 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defa4170-0d19-0005-0004-bc88714345d2}" enabled="1" method="Standard" siteId="{8b6da42e-737d-42b2-84a7-6056508aaf3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840</Words>
  <Application>Microsoft Office PowerPoint</Application>
  <PresentationFormat>Widescreen</PresentationFormat>
  <Paragraphs>274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Beyond 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Member Care Performance Review</dc:title>
  <dc:subject>Weekly Commercial Presentation</dc:subject>
  <dc:creator>MC Monthly Report Builder</dc:creator>
  <cp:lastModifiedBy>MC Monthly Report Builder</cp:lastModifiedBy>
  <cp:revision>3</cp:revision>
  <dcterms:created xsi:type="dcterms:W3CDTF">2026-08-04T09:53:50Z</dcterms:created>
  <dcterms:modified xsi:type="dcterms:W3CDTF">2026-10-26T13:43:27Z</dcterms:modified>
</cp:coreProperties>
</file>