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d456650-714b-9737-f770-031004fa1a0f}">
          <p14:sldIdLst>
            <p14:sldId id="256"/>
          </p14:sldIdLst>
        </p14:section>
        <p14:section name="Why" id="{b2be131d-f983-e909-7138-bf968d772e8e}">
          <p14:sldIdLst>
            <p14:sldId id="257"/>
          </p14:sldIdLst>
        </p14:section>
        <p14:section name="The tool" id="{8522a036-b9a4-892a-60d0-7c6029da9ad7}">
          <p14:sldIdLst>
            <p14:sldId id="258"/>
            <p14:sldId id="259"/>
            <p14:sldId id="260"/>
          </p14:sldIdLst>
        </p14:section>
        <p14:section name="What it does" id="{ed28d5a3-4181-cc12-1fbc-b7f981ebdc5d}">
          <p14:sldIdLst>
            <p14:sldId id="261"/>
            <p14:sldId id="262"/>
            <p14:sldId id="263"/>
            <p14:sldId id="264"/>
            <p14:sldId id="265"/>
            <p14:sldId id="266"/>
            <p14:sldId id="267"/>
          </p14:sldIdLst>
        </p14:section>
        <p14:section name="Benefits" id="{7d5b0f58-2a4c-fa9d-77bc-31c46cb2d58d}">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 Monthly Report Builder: one offline file that turns the month's Genesys exports and the supervisors' attendance into the monthly workbook, the incentive data and the emails, with a page for every 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tool, month end meant collecting ten or more files and joining them by hand. The numbers behind the bonus and the deduction were hard to check and hard to explain, and every email was built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tool is a single HTML file kept in the common folder next to the MC Data folder. It works offline, the data is shared and locked, and every role signs in to its own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month runs in four steps on the WFM team page: Import the files, Review what the checks found, Export the workbooks, and send the emails. Each step says what it still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counting is checked against the previous engine on ten thousand synthetic people, and the pages are covered by automated browser tests. The tool makes no network call: the data never leaves the computer and the shared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CC and SM attendance comes from Genesys by itself. The other departments get one template a month, per department: only the exceptions are written, every other day counts as worked, and each file opens on its own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incentive is counted from one set of rules, the same way for everyone, and the panel How this was counted shows every step for every person. The old Excel can be dropped in to explain any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deduction and incentive emails are made by the tool for review and final. The attachment is built automatically and carries no National IDs. The tool never sends anything: the WFM team sends from Outlook.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role signs in to its own pages: the WFM team builds the month, the senior manager decides and finalizes, supervisors run their team and one-to-ones, the quality team keeps the evaluations, and agents see their own results,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one-to-one form is prepared from the month's numbers and fits on one page. The agent fills in their part and signs on screen; next month's form starts with the actions agreed.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Privacy is built in: the shared files are encrypted, each person signs in with their own role, nothing is sent over the network, email attachments carry no National IDs, and only the WFM team can export the data, locked with a password.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morning the WFM analysts drop the day's exports: the daily review and the four brand emails are made in the tool and go to the WFM manager to send.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Member Care this means numbers that are right and explained, a faster month close, the same rules for everyone, clear deadlines, and a process that does not depend on one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tool is ready today: put the HTML next to the MC Data folder in the common folder, open it in Edge or Chrome, and each person makes an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2F2F7"/>
        </a:solidFill>
      </p:bgPr>
    </p:bg>
    <p:spTree>
      <p:nvGrpSpPr>
        <p:cNvPr id="1" name=""/>
        <p:cNvGrpSpPr/>
        <p:nvPr/>
      </p:nvGrpSpPr>
      <p:grpSpPr>
        <a:xfrm>
          <a:off x="0" y="0"/>
          <a:ext cx="0" cy="0"/>
          <a:chOff x="0" y="0"/>
          <a:chExt cx="0" cy="0"/>
        </a:xfrm>
      </p:grpSpPr>
      <p:sp>
        <p:nvSpPr>
          <p:cNvPr id="2" name="Text 0"/>
          <p:cNvSpPr/>
          <p:nvPr/>
        </p:nvSpPr>
        <p:spPr>
          <a:xfrm>
            <a:off x="548640" y="6419088"/>
            <a:ext cx="4572000" cy="256032"/>
          </a:xfrm>
          <a:prstGeom prst="rect">
            <a:avLst/>
          </a:prstGeom>
          <a:noFill/>
          <a:ln/>
        </p:spPr>
        <p:txBody>
          <a:bodyPr wrap="square" lIns="0" tIns="0" rIns="0" bIns="0" rtlCol="0" anchor="ctr"/>
          <a:lstStyle/>
          <a:p>
            <a:pPr indent="0" marL="0">
              <a:buNone/>
            </a:pPr>
            <a:r>
              <a:rPr lang="en-US" sz="900" dirty="0">
                <a:solidFill>
                  <a:srgbClr val="8E8E93"/>
                </a:solidFill>
                <a:latin typeface="Arial" pitchFamily="34" charset="0"/>
                <a:ea typeface="Arial" pitchFamily="34" charset="-122"/>
                <a:cs typeface="Arial" pitchFamily="34" charset="-120"/>
              </a:rPr>
              <a:t>MC Monthly Report Builder</a:t>
            </a:r>
            <a:endParaRPr lang="en-US" sz="900" dirty="0"/>
          </a:p>
        </p:txBody>
      </p:sp>
      <p:sp>
        <p:nvSpPr>
          <p:cNvPr id="3" name="Text 1"/>
          <p:cNvSpPr/>
          <p:nvPr>
            <p:ph idx="101" type="title" hasCustomPrompt="1"/>
          </p:nvPr>
        </p:nvSpPr>
        <p:spPr>
          <a:xfrm>
            <a:off x="548640" y="896112"/>
            <a:ext cx="6583680" cy="1207008"/>
          </a:xfrm>
          <a:prstGeom prst="rect">
            <a:avLst/>
          </a:prstGeom>
          <a:noFill/>
          <a:ln/>
        </p:spPr>
        <p:txBody>
          <a:bodyPr wrap="square" rtlCol="0"/>
          <a:lstStyle>
            <a:lvl1pPr algn="l" indent="0" marL="0">
              <a:buNone/>
              <a:defRPr lang="en-US" sz="3400" dirty="0">
                <a:solidFill>
                  <a:srgbClr val="1D1D1F"/>
                </a:solidFill>
                <a:latin typeface="Arial" pitchFamily="34" charset="0"/>
                <a:ea typeface="Arial" pitchFamily="34" charset="-122"/>
                <a:cs typeface="Arial"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E8E93"/>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0B0C"/>
        </a:solidFill>
      </p:bgPr>
    </p:bg>
    <p:spTree>
      <p:nvGrpSpPr>
        <p:cNvPr id="1" name=""/>
        <p:cNvGrpSpPr/>
        <p:nvPr/>
      </p:nvGrpSpPr>
      <p:grpSpPr>
        <a:xfrm>
          <a:off x="0" y="0"/>
          <a:ext cx="0" cy="0"/>
          <a:chOff x="0" y="0"/>
          <a:chExt cx="0" cy="0"/>
        </a:xfrm>
      </p:grpSpPr>
      <p:sp>
        <p:nvSpPr>
          <p:cNvPr id="2" name="Text 0"/>
          <p:cNvSpPr/>
          <p:nvPr/>
        </p:nvSpPr>
        <p:spPr>
          <a:xfrm>
            <a:off x="548640" y="6419088"/>
            <a:ext cx="4572000" cy="256032"/>
          </a:xfrm>
          <a:prstGeom prst="rect">
            <a:avLst/>
          </a:prstGeom>
          <a:noFill/>
          <a:ln/>
        </p:spPr>
        <p:txBody>
          <a:bodyPr wrap="square" lIns="0" tIns="0" rIns="0" bIns="0" rtlCol="0" anchor="ctr"/>
          <a:lstStyle/>
          <a:p>
            <a:pPr indent="0" marL="0">
              <a:buNone/>
            </a:pPr>
            <a:r>
              <a:rPr lang="en-US" sz="900" dirty="0">
                <a:solidFill>
                  <a:srgbClr val="6E6E73"/>
                </a:solidFill>
                <a:latin typeface="Arial" pitchFamily="34" charset="0"/>
                <a:ea typeface="Arial" pitchFamily="34" charset="-122"/>
                <a:cs typeface="Arial" pitchFamily="34" charset="-120"/>
              </a:rPr>
              <a:t>MC Monthly Report Builder</a:t>
            </a:r>
            <a:endParaRPr lang="en-US" sz="900" dirty="0"/>
          </a:p>
        </p:txBody>
      </p:sp>
      <p:sp>
        <p:nvSpPr>
          <p:cNvPr id="3" name="Text 1"/>
          <p:cNvSpPr/>
          <p:nvPr>
            <p:ph idx="101" type="title" hasCustomPrompt="1"/>
          </p:nvPr>
        </p:nvSpPr>
        <p:spPr>
          <a:xfrm>
            <a:off x="548640" y="896112"/>
            <a:ext cx="6583680" cy="1207008"/>
          </a:xfrm>
          <a:prstGeom prst="rect">
            <a:avLst/>
          </a:prstGeom>
          <a:noFill/>
          <a:ln/>
        </p:spPr>
        <p:txBody>
          <a:bodyPr wrap="square" rtlCol="0"/>
          <a:lstStyle>
            <a:lvl1pPr algn="l" indent="0" marL="0">
              <a:buNone/>
              <a:defRPr lang="en-US" sz="3400" dirty="0">
                <a:solidFill>
                  <a:srgbClr val="F5F5F7"/>
                </a:solidFill>
                <a:latin typeface="Arial" pitchFamily="34" charset="0"/>
                <a:ea typeface="Arial" pitchFamily="34" charset="-122"/>
                <a:cs typeface="Arial"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E6E73"/>
                </a:solidFill>
                <a:latin typeface="Arial"/>
                <a:ea typeface="Arial"/>
                <a:cs typeface="Aria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0B0B0C"/>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E8E93"/>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4.png"/><Relationship Id="rId6" Type="http://schemas.openxmlformats.org/officeDocument/2006/relationships/image" Target="../media/image-2-4.png"/><Relationship Id="rId7" Type="http://schemas.openxmlformats.org/officeDocument/2006/relationships/image" Target="../media/image-2-4.png"/><Relationship Id="rId8" Type="http://schemas.openxmlformats.org/officeDocument/2006/relationships/image" Target="../media/image-2-8.png"/><Relationship Id="rId9" Type="http://schemas.openxmlformats.org/officeDocument/2006/relationships/image" Target="../media/image-2-8.png"/><Relationship Id="rId10" Type="http://schemas.openxmlformats.org/officeDocument/2006/relationships/image" Target="../media/image-2-8.png"/><Relationship Id="rId11" Type="http://schemas.openxmlformats.org/officeDocument/2006/relationships/image" Target="../media/image-2-8.png"/><Relationship Id="rId12" Type="http://schemas.openxmlformats.org/officeDocument/2006/relationships/slideLayout" Target="../slideLayouts/slideLayout2.xml"/><Relationship Id="rId1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2.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3.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2.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2.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3.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2.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4.xml"/><Relationship Id="rId4"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glow" descr="">    </p:cNvPr>
          <p:cNvPicPr>
            <a:picLocks noChangeAspect="1"/>
          </p:cNvPicPr>
          <p:nvPr/>
        </p:nvPicPr>
        <p:blipFill>
          <a:blip r:embed="rId1"/>
          <a:stretch>
            <a:fillRect/>
          </a:stretch>
        </p:blipFill>
        <p:spPr>
          <a:xfrm>
            <a:off x="5394960" y="-365760"/>
            <a:ext cx="6766560" cy="6766560"/>
          </a:xfrm>
          <a:prstGeom prst="rect">
            <a:avLst/>
          </a:prstGeom>
        </p:spPr>
      </p:pic>
      <p:pic>
        <p:nvPicPr>
          <p:cNvPr id="3" name="laptop" descr="The dashboard, in dark, on a laptop">    </p:cNvPr>
          <p:cNvPicPr>
            <a:picLocks noChangeAspect="1"/>
          </p:cNvPicPr>
          <p:nvPr/>
        </p:nvPicPr>
        <p:blipFill>
          <a:blip r:embed="rId2"/>
          <a:stretch>
            <a:fillRect/>
          </a:stretch>
        </p:blipFill>
        <p:spPr>
          <a:xfrm>
            <a:off x="4754880" y="685800"/>
            <a:ext cx="7357017" cy="5303520"/>
          </a:xfrm>
          <a:prstGeom prst="rect">
            <a:avLst/>
          </a:prstGeom>
        </p:spPr>
      </p:pic>
      <p:sp>
        <p:nvSpPr>
          <p:cNvPr id="4" name="mark"/>
          <p:cNvSpPr/>
          <p:nvPr/>
        </p:nvSpPr>
        <p:spPr>
          <a:xfrm>
            <a:off x="777240" y="1600200"/>
            <a:ext cx="640080" cy="640080"/>
          </a:xfrm>
          <a:prstGeom prst="roundRect">
            <a:avLst>
              <a:gd name="adj" fmla="val 22857"/>
            </a:avLst>
          </a:prstGeom>
          <a:solidFill>
            <a:srgbClr val="C4511A"/>
          </a:solidFill>
          <a:ln/>
        </p:spPr>
      </p:sp>
      <p:sp>
        <p:nvSpPr>
          <p:cNvPr id="5" name="mark-text"/>
          <p:cNvSpPr txBox="1"/>
          <p:nvPr/>
        </p:nvSpPr>
        <p:spPr>
          <a:xfrm>
            <a:off x="777240" y="1600200"/>
            <a:ext cx="640080" cy="640080"/>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WF</a:t>
            </a:r>
            <a:endParaRPr lang="en-US" sz="1900" dirty="0"/>
          </a:p>
        </p:txBody>
      </p:sp>
      <p:sp>
        <p:nvSpPr>
          <p:cNvPr id="6" name="name"/>
          <p:cNvSpPr txBox="1"/>
          <p:nvPr/>
        </p:nvSpPr>
        <p:spPr>
          <a:xfrm>
            <a:off x="777240" y="2468880"/>
            <a:ext cx="5120640" cy="1600200"/>
          </a:xfrm>
          <a:prstGeom prst="rect">
            <a:avLst/>
          </a:prstGeom>
          <a:noFill/>
          <a:ln/>
        </p:spPr>
        <p:txBody>
          <a:bodyPr wrap="square" lIns="0" tIns="0" rIns="0" bIns="0" rtlCol="0" anchor="t"/>
          <a:lstStyle/>
          <a:p>
            <a:pPr indent="0" marL="0">
              <a:lnSpc>
                <a:spcPct val="92000"/>
              </a:lnSpc>
              <a:buNone/>
            </a:pPr>
            <a:r>
              <a:rPr lang="en-US" sz="4600" b="1" dirty="0">
                <a:solidFill>
                  <a:srgbClr val="FFFFFF"/>
                </a:solidFill>
                <a:latin typeface="Arial" pitchFamily="34" charset="0"/>
                <a:ea typeface="Arial" pitchFamily="34" charset="-122"/>
                <a:cs typeface="Arial" pitchFamily="34" charset="-120"/>
              </a:rPr>
              <a:t>MC Monthly</a:t>
            </a:r>
            <a:endParaRPr lang="en-US" sz="4600" dirty="0"/>
          </a:p>
          <a:p>
            <a:pPr indent="0" marL="0">
              <a:lnSpc>
                <a:spcPct val="92000"/>
              </a:lnSpc>
              <a:buNone/>
            </a:pPr>
            <a:r>
              <a:rPr lang="en-US" sz="4600" b="1" dirty="0">
                <a:solidFill>
                  <a:srgbClr val="FFFFFF"/>
                </a:solidFill>
                <a:latin typeface="Arial" pitchFamily="34" charset="0"/>
                <a:ea typeface="Arial" pitchFamily="34" charset="-122"/>
                <a:cs typeface="Arial" pitchFamily="34" charset="-120"/>
              </a:rPr>
              <a:t>Report Builder</a:t>
            </a:r>
            <a:endParaRPr lang="en-US" sz="4600" dirty="0"/>
          </a:p>
        </p:txBody>
      </p:sp>
      <p:sp>
        <p:nvSpPr>
          <p:cNvPr id="7" name="sub"/>
          <p:cNvSpPr txBox="1"/>
          <p:nvPr/>
        </p:nvSpPr>
        <p:spPr>
          <a:xfrm>
            <a:off x="777240" y="4160520"/>
            <a:ext cx="4663440" cy="822960"/>
          </a:xfrm>
          <a:prstGeom prst="rect">
            <a:avLst/>
          </a:prstGeom>
          <a:noFill/>
          <a:ln/>
        </p:spPr>
        <p:txBody>
          <a:bodyPr wrap="square" lIns="0" tIns="0" rIns="0" bIns="0" rtlCol="0" anchor="t"/>
          <a:lstStyle/>
          <a:p>
            <a:pPr indent="0" marL="0">
              <a:lnSpc>
                <a:spcPct val="110000"/>
              </a:lnSpc>
              <a:buNone/>
            </a:pPr>
            <a:r>
              <a:rPr lang="en-US" sz="1600" dirty="0">
                <a:solidFill>
                  <a:srgbClr val="A8A8AD"/>
                </a:solidFill>
                <a:latin typeface="Arial" pitchFamily="34" charset="0"/>
                <a:ea typeface="Arial" pitchFamily="34" charset="-122"/>
                <a:cs typeface="Arial" pitchFamily="34" charset="-120"/>
              </a:rPr>
              <a:t>Workforce management for Member Care: from the month's Genesys exports to the final emails, in one offline file.</a:t>
            </a:r>
            <a:endParaRPr lang="en-US" sz="1600" dirty="0"/>
          </a:p>
        </p:txBody>
      </p:sp>
      <p:sp>
        <p:nvSpPr>
          <p:cNvPr id="8" name="chip0"/>
          <p:cNvSpPr/>
          <p:nvPr/>
        </p:nvSpPr>
        <p:spPr>
          <a:xfrm>
            <a:off x="777240" y="5230368"/>
            <a:ext cx="1071677" cy="365760"/>
          </a:xfrm>
          <a:prstGeom prst="roundRect">
            <a:avLst>
              <a:gd name="adj" fmla="val 50000"/>
            </a:avLst>
          </a:prstGeom>
          <a:solidFill>
            <a:srgbClr val="1C1C1E"/>
          </a:solidFill>
          <a:ln w="9525">
            <a:solidFill>
              <a:srgbClr val="2C2C2E"/>
            </a:solidFill>
            <a:prstDash val="solid"/>
          </a:ln>
        </p:spPr>
      </p:sp>
      <p:sp>
        <p:nvSpPr>
          <p:cNvPr id="9" name="chip0-t"/>
          <p:cNvSpPr txBox="1"/>
          <p:nvPr/>
        </p:nvSpPr>
        <p:spPr>
          <a:xfrm>
            <a:off x="777240" y="5230368"/>
            <a:ext cx="1071677" cy="365760"/>
          </a:xfrm>
          <a:prstGeom prst="rect">
            <a:avLst/>
          </a:prstGeom>
          <a:noFill/>
          <a:ln/>
        </p:spPr>
        <p:txBody>
          <a:bodyPr wrap="square" lIns="0" tIns="0" rIns="0" bIns="0" rtlCol="0" anchor="ctr"/>
          <a:lstStyle/>
          <a:p>
            <a:pPr algn="ctr" indent="0" marL="0">
              <a:buNone/>
            </a:pPr>
            <a:r>
              <a:rPr lang="en-US" sz="1150" dirty="0">
                <a:solidFill>
                  <a:srgbClr val="F5F5F7"/>
                </a:solidFill>
                <a:latin typeface="Arial" pitchFamily="34" charset="0"/>
                <a:ea typeface="Arial" pitchFamily="34" charset="-122"/>
                <a:cs typeface="Arial" pitchFamily="34" charset="-120"/>
              </a:rPr>
              <a:t>One file</a:t>
            </a:r>
            <a:endParaRPr lang="en-US" sz="1150" dirty="0"/>
          </a:p>
        </p:txBody>
      </p:sp>
      <p:sp>
        <p:nvSpPr>
          <p:cNvPr id="10" name="chip1"/>
          <p:cNvSpPr/>
          <p:nvPr/>
        </p:nvSpPr>
        <p:spPr>
          <a:xfrm>
            <a:off x="1976933" y="5230368"/>
            <a:ext cx="1243584" cy="365760"/>
          </a:xfrm>
          <a:prstGeom prst="roundRect">
            <a:avLst>
              <a:gd name="adj" fmla="val 50000"/>
            </a:avLst>
          </a:prstGeom>
          <a:solidFill>
            <a:srgbClr val="1C1C1E"/>
          </a:solidFill>
          <a:ln w="9525">
            <a:solidFill>
              <a:srgbClr val="2C2C2E"/>
            </a:solidFill>
            <a:prstDash val="solid"/>
          </a:ln>
        </p:spPr>
      </p:sp>
      <p:sp>
        <p:nvSpPr>
          <p:cNvPr id="11" name="chip1-t"/>
          <p:cNvSpPr txBox="1"/>
          <p:nvPr/>
        </p:nvSpPr>
        <p:spPr>
          <a:xfrm>
            <a:off x="1976933" y="5230368"/>
            <a:ext cx="1243584" cy="365760"/>
          </a:xfrm>
          <a:prstGeom prst="rect">
            <a:avLst/>
          </a:prstGeom>
          <a:noFill/>
          <a:ln/>
        </p:spPr>
        <p:txBody>
          <a:bodyPr wrap="square" lIns="0" tIns="0" rIns="0" bIns="0" rtlCol="0" anchor="ctr"/>
          <a:lstStyle/>
          <a:p>
            <a:pPr algn="ctr" indent="0" marL="0">
              <a:buNone/>
            </a:pPr>
            <a:r>
              <a:rPr lang="en-US" sz="1150" dirty="0">
                <a:solidFill>
                  <a:srgbClr val="F5F5F7"/>
                </a:solidFill>
                <a:latin typeface="Arial" pitchFamily="34" charset="0"/>
                <a:ea typeface="Arial" pitchFamily="34" charset="-122"/>
                <a:cs typeface="Arial" pitchFamily="34" charset="-120"/>
              </a:rPr>
              <a:t>Every role</a:t>
            </a:r>
            <a:endParaRPr lang="en-US" sz="1150" dirty="0"/>
          </a:p>
        </p:txBody>
      </p:sp>
      <p:sp>
        <p:nvSpPr>
          <p:cNvPr id="12" name="chip2"/>
          <p:cNvSpPr/>
          <p:nvPr/>
        </p:nvSpPr>
        <p:spPr>
          <a:xfrm>
            <a:off x="3348533" y="5230368"/>
            <a:ext cx="2618842" cy="365760"/>
          </a:xfrm>
          <a:prstGeom prst="roundRect">
            <a:avLst>
              <a:gd name="adj" fmla="val 50000"/>
            </a:avLst>
          </a:prstGeom>
          <a:solidFill>
            <a:srgbClr val="1C1C1E"/>
          </a:solidFill>
          <a:ln w="9525">
            <a:solidFill>
              <a:srgbClr val="2C2C2E"/>
            </a:solidFill>
            <a:prstDash val="solid"/>
          </a:ln>
        </p:spPr>
      </p:sp>
      <p:sp>
        <p:nvSpPr>
          <p:cNvPr id="13" name="chip2-t"/>
          <p:cNvSpPr txBox="1"/>
          <p:nvPr/>
        </p:nvSpPr>
        <p:spPr>
          <a:xfrm>
            <a:off x="3348533" y="5230368"/>
            <a:ext cx="2618842" cy="365760"/>
          </a:xfrm>
          <a:prstGeom prst="rect">
            <a:avLst/>
          </a:prstGeom>
          <a:noFill/>
          <a:ln/>
        </p:spPr>
        <p:txBody>
          <a:bodyPr wrap="square" lIns="0" tIns="0" rIns="0" bIns="0" rtlCol="0" anchor="ctr"/>
          <a:lstStyle/>
          <a:p>
            <a:pPr algn="ctr" indent="0" marL="0">
              <a:buNone/>
            </a:pPr>
            <a:r>
              <a:rPr lang="en-US" sz="1150" dirty="0">
                <a:solidFill>
                  <a:srgbClr val="F5F5F7"/>
                </a:solidFill>
                <a:latin typeface="Arial" pitchFamily="34" charset="0"/>
                <a:ea typeface="Arial" pitchFamily="34" charset="-122"/>
                <a:cs typeface="Arial" pitchFamily="34" charset="-120"/>
              </a:rPr>
              <a:t>Nothing leaves the company</a:t>
            </a:r>
            <a:endParaRPr lang="en-US" sz="1150" dirty="0"/>
          </a:p>
        </p:txBody>
      </p:sp>
      <p:sp>
        <p:nvSpPr>
          <p:cNvPr id="14" name="date"/>
          <p:cNvSpPr txBox="1"/>
          <p:nvPr/>
        </p:nvSpPr>
        <p:spPr>
          <a:xfrm>
            <a:off x="777240" y="6263640"/>
            <a:ext cx="4572000" cy="274320"/>
          </a:xfrm>
          <a:prstGeom prst="rect">
            <a:avLst/>
          </a:prstGeom>
          <a:noFill/>
          <a:ln/>
        </p:spPr>
        <p:txBody>
          <a:bodyPr wrap="square" lIns="0" tIns="0" rIns="0" bIns="0" rtlCol="0" anchor="ctr"/>
          <a:lstStyle/>
          <a:p>
            <a:pPr indent="0" marL="0">
              <a:buNone/>
            </a:pPr>
            <a:r>
              <a:rPr lang="en-US" sz="1000" dirty="0">
                <a:solidFill>
                  <a:srgbClr val="6E6E73"/>
                </a:solidFill>
                <a:latin typeface="Arial" pitchFamily="34" charset="0"/>
                <a:ea typeface="Arial" pitchFamily="34" charset="-122"/>
                <a:cs typeface="Arial" pitchFamily="34" charset="-120"/>
              </a:rPr>
              <a:t>Member Care · WFM team · October 2026</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42" presetClass="entr" presetSubtype="0" fill="hold" grpId="0" nodeType="withEffect">
                                  <p:stCondLst>
                                    <p:cond delay="12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650"/>
                                        <p:tgtEl>
                                          <p:spTgt spid="6"/>
                                        </p:tgtEl>
                                      </p:cBhvr>
                                    </p:animEffect>
                                    <p:anim calcmode="lin" valueType="num">
                                      <p:cBhvr>
                                        <p:cTn id="17" dur="650" fill="hold"/>
                                        <p:tgtEl>
                                          <p:spTgt spid="6"/>
                                        </p:tgtEl>
                                        <p:attrNameLst>
                                          <p:attrName>ppt_x</p:attrName>
                                        </p:attrNameLst>
                                      </p:cBhvr>
                                      <p:tavLst>
                                        <p:tav tm="0">
                                          <p:val>
                                            <p:strVal val="#ppt_x"/>
                                          </p:val>
                                        </p:tav>
                                        <p:tav tm="100000">
                                          <p:val>
                                            <p:strVal val="#ppt_x"/>
                                          </p:val>
                                        </p:tav>
                                      </p:tavLst>
                                    </p:anim>
                                    <p:anim calcmode="lin" valueType="num">
                                      <p:cBhvr>
                                        <p:cTn id="18" dur="650" fill="hold"/>
                                        <p:tgtEl>
                                          <p:spTgt spid="6"/>
                                        </p:tgtEl>
                                        <p:attrNameLst>
                                          <p:attrName>ppt_y</p:attrName>
                                        </p:attrNameLst>
                                      </p:cBhvr>
                                      <p:tavLst>
                                        <p:tav tm="0">
                                          <p:val>
                                            <p:strVal val="#ppt_y+.05"/>
                                          </p:val>
                                        </p:tav>
                                        <p:tav tm="100000">
                                          <p:val>
                                            <p:strVal val="#ppt_y"/>
                                          </p:val>
                                        </p:tav>
                                      </p:tavLst>
                                    </p:anim>
                                  </p:childTnLst>
                                </p:cTn>
                              </p:par>
                              <p:par>
                                <p:cTn id="19" presetID="42" presetClass="entr" presetSubtype="0" fill="hold" grpId="0" nodeType="withEffect">
                                  <p:stCondLst>
                                    <p:cond delay="25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650"/>
                                        <p:tgtEl>
                                          <p:spTgt spid="3"/>
                                        </p:tgtEl>
                                      </p:cBhvr>
                                    </p:animEffect>
                                    <p:anim calcmode="lin" valueType="num">
                                      <p:cBhvr>
                                        <p:cTn id="22" dur="650" fill="hold"/>
                                        <p:tgtEl>
                                          <p:spTgt spid="3"/>
                                        </p:tgtEl>
                                        <p:attrNameLst>
                                          <p:attrName>ppt_x</p:attrName>
                                        </p:attrNameLst>
                                      </p:cBhvr>
                                      <p:tavLst>
                                        <p:tav tm="0">
                                          <p:val>
                                            <p:strVal val="#ppt_x"/>
                                          </p:val>
                                        </p:tav>
                                        <p:tav tm="100000">
                                          <p:val>
                                            <p:strVal val="#ppt_x"/>
                                          </p:val>
                                        </p:tav>
                                      </p:tavLst>
                                    </p:anim>
                                    <p:anim calcmode="lin" valueType="num">
                                      <p:cBhvr>
                                        <p:cTn id="23" dur="650" fill="hold"/>
                                        <p:tgtEl>
                                          <p:spTgt spid="3"/>
                                        </p:tgtEl>
                                        <p:attrNameLst>
                                          <p:attrName>ppt_y</p:attrName>
                                        </p:attrNameLst>
                                      </p:cBhvr>
                                      <p:tavLst>
                                        <p:tav tm="0">
                                          <p:val>
                                            <p:strVal val="#ppt_y+.05"/>
                                          </p:val>
                                        </p:tav>
                                        <p:tav tm="100000">
                                          <p:val>
                                            <p:strVal val="#ppt_y"/>
                                          </p:val>
                                        </p:tav>
                                      </p:tavLst>
                                    </p:anim>
                                  </p:childTnLst>
                                </p:cTn>
                              </p:par>
                              <p:par>
                                <p:cTn id="24" presetID="42" presetClass="entr" presetSubtype="0" fill="hold" grpId="0" nodeType="withEffect">
                                  <p:stCondLst>
                                    <p:cond delay="26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650"/>
                                        <p:tgtEl>
                                          <p:spTgt spid="7"/>
                                        </p:tgtEl>
                                      </p:cBhvr>
                                    </p:animEffect>
                                    <p:anim calcmode="lin" valueType="num">
                                      <p:cBhvr>
                                        <p:cTn id="27" dur="650" fill="hold"/>
                                        <p:tgtEl>
                                          <p:spTgt spid="7"/>
                                        </p:tgtEl>
                                        <p:attrNameLst>
                                          <p:attrName>ppt_x</p:attrName>
                                        </p:attrNameLst>
                                      </p:cBhvr>
                                      <p:tavLst>
                                        <p:tav tm="0">
                                          <p:val>
                                            <p:strVal val="#ppt_x"/>
                                          </p:val>
                                        </p:tav>
                                        <p:tav tm="100000">
                                          <p:val>
                                            <p:strVal val="#ppt_x"/>
                                          </p:val>
                                        </p:tav>
                                      </p:tavLst>
                                    </p:anim>
                                    <p:anim calcmode="lin" valueType="num">
                                      <p:cBhvr>
                                        <p:cTn id="28" dur="650" fill="hold"/>
                                        <p:tgtEl>
                                          <p:spTgt spid="7"/>
                                        </p:tgtEl>
                                        <p:attrNameLst>
                                          <p:attrName>ppt_y</p:attrName>
                                        </p:attrNameLst>
                                      </p:cBhvr>
                                      <p:tavLst>
                                        <p:tav tm="0">
                                          <p:val>
                                            <p:strVal val="#ppt_y+.05"/>
                                          </p:val>
                                        </p:tav>
                                        <p:tav tm="100000">
                                          <p:val>
                                            <p:strVal val="#ppt_y"/>
                                          </p:val>
                                        </p:tav>
                                      </p:tavLst>
                                    </p:anim>
                                  </p:childTnLst>
                                </p:cTn>
                              </p:par>
                              <p:par>
                                <p:cTn id="29" presetID="42" presetClass="entr" presetSubtype="0" fill="hold" grpId="0" nodeType="withEffect">
                                  <p:stCondLst>
                                    <p:cond delay="42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650"/>
                                        <p:tgtEl>
                                          <p:spTgt spid="8"/>
                                        </p:tgtEl>
                                      </p:cBhvr>
                                    </p:animEffect>
                                    <p:anim calcmode="lin" valueType="num">
                                      <p:cBhvr>
                                        <p:cTn id="32" dur="650" fill="hold"/>
                                        <p:tgtEl>
                                          <p:spTgt spid="8"/>
                                        </p:tgtEl>
                                        <p:attrNameLst>
                                          <p:attrName>ppt_x</p:attrName>
                                        </p:attrNameLst>
                                      </p:cBhvr>
                                      <p:tavLst>
                                        <p:tav tm="0">
                                          <p:val>
                                            <p:strVal val="#ppt_x"/>
                                          </p:val>
                                        </p:tav>
                                        <p:tav tm="100000">
                                          <p:val>
                                            <p:strVal val="#ppt_x"/>
                                          </p:val>
                                        </p:tav>
                                      </p:tavLst>
                                    </p:anim>
                                    <p:anim calcmode="lin" valueType="num">
                                      <p:cBhvr>
                                        <p:cTn id="33" dur="650" fill="hold"/>
                                        <p:tgtEl>
                                          <p:spTgt spid="8"/>
                                        </p:tgtEl>
                                        <p:attrNameLst>
                                          <p:attrName>ppt_y</p:attrName>
                                        </p:attrNameLst>
                                      </p:cBhvr>
                                      <p:tavLst>
                                        <p:tav tm="0">
                                          <p:val>
                                            <p:strVal val="#ppt_y+.05"/>
                                          </p:val>
                                        </p:tav>
                                        <p:tav tm="100000">
                                          <p:val>
                                            <p:strVal val="#ppt_y"/>
                                          </p:val>
                                        </p:tav>
                                      </p:tavLst>
                                    </p:anim>
                                  </p:childTnLst>
                                </p:cTn>
                              </p:par>
                              <p:par>
                                <p:cTn id="34" presetID="42" presetClass="entr" presetSubtype="0" fill="hold" grpId="0" nodeType="withEffect">
                                  <p:stCondLst>
                                    <p:cond delay="42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650"/>
                                        <p:tgtEl>
                                          <p:spTgt spid="9"/>
                                        </p:tgtEl>
                                      </p:cBhvr>
                                    </p:animEffect>
                                    <p:anim calcmode="lin" valueType="num">
                                      <p:cBhvr>
                                        <p:cTn id="37" dur="650" fill="hold"/>
                                        <p:tgtEl>
                                          <p:spTgt spid="9"/>
                                        </p:tgtEl>
                                        <p:attrNameLst>
                                          <p:attrName>ppt_x</p:attrName>
                                        </p:attrNameLst>
                                      </p:cBhvr>
                                      <p:tavLst>
                                        <p:tav tm="0">
                                          <p:val>
                                            <p:strVal val="#ppt_x"/>
                                          </p:val>
                                        </p:tav>
                                        <p:tav tm="100000">
                                          <p:val>
                                            <p:strVal val="#ppt_x"/>
                                          </p:val>
                                        </p:tav>
                                      </p:tavLst>
                                    </p:anim>
                                    <p:anim calcmode="lin" valueType="num">
                                      <p:cBhvr>
                                        <p:cTn id="38" dur="650" fill="hold"/>
                                        <p:tgtEl>
                                          <p:spTgt spid="9"/>
                                        </p:tgtEl>
                                        <p:attrNameLst>
                                          <p:attrName>ppt_y</p:attrName>
                                        </p:attrNameLst>
                                      </p:cBhvr>
                                      <p:tavLst>
                                        <p:tav tm="0">
                                          <p:val>
                                            <p:strVal val="#ppt_y+.05"/>
                                          </p:val>
                                        </p:tav>
                                        <p:tav tm="100000">
                                          <p:val>
                                            <p:strVal val="#ppt_y"/>
                                          </p:val>
                                        </p:tav>
                                      </p:tavLst>
                                    </p:anim>
                                  </p:childTnLst>
                                </p:cTn>
                              </p:par>
                              <p:par>
                                <p:cTn id="39" presetID="42" presetClass="entr" presetSubtype="0" fill="hold" grpId="0" nodeType="withEffect">
                                  <p:stCondLst>
                                    <p:cond delay="510"/>
                                  </p:stCondLst>
                                  <p:childTnLst>
                                    <p:set>
                                      <p:cBhvr>
                                        <p:cTn id="40" dur="1" fill="hold">
                                          <p:stCondLst>
                                            <p:cond delay="0"/>
                                          </p:stCondLst>
                                        </p:cTn>
                                        <p:tgtEl>
                                          <p:spTgt spid="10"/>
                                        </p:tgtEl>
                                        <p:attrNameLst>
                                          <p:attrName>style.visibility</p:attrName>
                                        </p:attrNameLst>
                                      </p:cBhvr>
                                      <p:to>
                                        <p:strVal val="visible"/>
                                      </p:to>
                                    </p:set>
                                    <p:animEffect transition="in" filter="fade">
                                      <p:cBhvr>
                                        <p:cTn id="41" dur="650"/>
                                        <p:tgtEl>
                                          <p:spTgt spid="10"/>
                                        </p:tgtEl>
                                      </p:cBhvr>
                                    </p:animEffect>
                                    <p:anim calcmode="lin" valueType="num">
                                      <p:cBhvr>
                                        <p:cTn id="42" dur="650" fill="hold"/>
                                        <p:tgtEl>
                                          <p:spTgt spid="10"/>
                                        </p:tgtEl>
                                        <p:attrNameLst>
                                          <p:attrName>ppt_x</p:attrName>
                                        </p:attrNameLst>
                                      </p:cBhvr>
                                      <p:tavLst>
                                        <p:tav tm="0">
                                          <p:val>
                                            <p:strVal val="#ppt_x"/>
                                          </p:val>
                                        </p:tav>
                                        <p:tav tm="100000">
                                          <p:val>
                                            <p:strVal val="#ppt_x"/>
                                          </p:val>
                                        </p:tav>
                                      </p:tavLst>
                                    </p:anim>
                                    <p:anim calcmode="lin" valueType="num">
                                      <p:cBhvr>
                                        <p:cTn id="43" dur="650" fill="hold"/>
                                        <p:tgtEl>
                                          <p:spTgt spid="10"/>
                                        </p:tgtEl>
                                        <p:attrNameLst>
                                          <p:attrName>ppt_y</p:attrName>
                                        </p:attrNameLst>
                                      </p:cBhvr>
                                      <p:tavLst>
                                        <p:tav tm="0">
                                          <p:val>
                                            <p:strVal val="#ppt_y+.05"/>
                                          </p:val>
                                        </p:tav>
                                        <p:tav tm="100000">
                                          <p:val>
                                            <p:strVal val="#ppt_y"/>
                                          </p:val>
                                        </p:tav>
                                      </p:tavLst>
                                    </p:anim>
                                  </p:childTnLst>
                                </p:cTn>
                              </p:par>
                              <p:par>
                                <p:cTn id="44" presetID="42" presetClass="entr" presetSubtype="0" fill="hold" grpId="0" nodeType="withEffect">
                                  <p:stCondLst>
                                    <p:cond delay="510"/>
                                  </p:stCondLst>
                                  <p:childTnLst>
                                    <p:set>
                                      <p:cBhvr>
                                        <p:cTn id="45" dur="1" fill="hold">
                                          <p:stCondLst>
                                            <p:cond delay="0"/>
                                          </p:stCondLst>
                                        </p:cTn>
                                        <p:tgtEl>
                                          <p:spTgt spid="11"/>
                                        </p:tgtEl>
                                        <p:attrNameLst>
                                          <p:attrName>style.visibility</p:attrName>
                                        </p:attrNameLst>
                                      </p:cBhvr>
                                      <p:to>
                                        <p:strVal val="visible"/>
                                      </p:to>
                                    </p:set>
                                    <p:animEffect transition="in" filter="fade">
                                      <p:cBhvr>
                                        <p:cTn id="46" dur="650"/>
                                        <p:tgtEl>
                                          <p:spTgt spid="11"/>
                                        </p:tgtEl>
                                      </p:cBhvr>
                                    </p:animEffect>
                                    <p:anim calcmode="lin" valueType="num">
                                      <p:cBhvr>
                                        <p:cTn id="47" dur="650" fill="hold"/>
                                        <p:tgtEl>
                                          <p:spTgt spid="11"/>
                                        </p:tgtEl>
                                        <p:attrNameLst>
                                          <p:attrName>ppt_x</p:attrName>
                                        </p:attrNameLst>
                                      </p:cBhvr>
                                      <p:tavLst>
                                        <p:tav tm="0">
                                          <p:val>
                                            <p:strVal val="#ppt_x"/>
                                          </p:val>
                                        </p:tav>
                                        <p:tav tm="100000">
                                          <p:val>
                                            <p:strVal val="#ppt_x"/>
                                          </p:val>
                                        </p:tav>
                                      </p:tavLst>
                                    </p:anim>
                                    <p:anim calcmode="lin" valueType="num">
                                      <p:cBhvr>
                                        <p:cTn id="48" dur="650" fill="hold"/>
                                        <p:tgtEl>
                                          <p:spTgt spid="11"/>
                                        </p:tgtEl>
                                        <p:attrNameLst>
                                          <p:attrName>ppt_y</p:attrName>
                                        </p:attrNameLst>
                                      </p:cBhvr>
                                      <p:tavLst>
                                        <p:tav tm="0">
                                          <p:val>
                                            <p:strVal val="#ppt_y+.05"/>
                                          </p:val>
                                        </p:tav>
                                        <p:tav tm="100000">
                                          <p:val>
                                            <p:strVal val="#ppt_y"/>
                                          </p:val>
                                        </p:tav>
                                      </p:tavLst>
                                    </p:anim>
                                  </p:childTnLst>
                                </p:cTn>
                              </p:par>
                              <p:par>
                                <p:cTn id="49" presetID="42" presetClass="entr" presetSubtype="0" fill="hold" grpId="0" nodeType="withEffect">
                                  <p:stCondLst>
                                    <p:cond delay="600"/>
                                  </p:stCondLst>
                                  <p:childTnLst>
                                    <p:set>
                                      <p:cBhvr>
                                        <p:cTn id="50" dur="1" fill="hold">
                                          <p:stCondLst>
                                            <p:cond delay="0"/>
                                          </p:stCondLst>
                                        </p:cTn>
                                        <p:tgtEl>
                                          <p:spTgt spid="12"/>
                                        </p:tgtEl>
                                        <p:attrNameLst>
                                          <p:attrName>style.visibility</p:attrName>
                                        </p:attrNameLst>
                                      </p:cBhvr>
                                      <p:to>
                                        <p:strVal val="visible"/>
                                      </p:to>
                                    </p:set>
                                    <p:animEffect transition="in" filter="fade">
                                      <p:cBhvr>
                                        <p:cTn id="51" dur="650"/>
                                        <p:tgtEl>
                                          <p:spTgt spid="12"/>
                                        </p:tgtEl>
                                      </p:cBhvr>
                                    </p:animEffect>
                                    <p:anim calcmode="lin" valueType="num">
                                      <p:cBhvr>
                                        <p:cTn id="52" dur="650" fill="hold"/>
                                        <p:tgtEl>
                                          <p:spTgt spid="12"/>
                                        </p:tgtEl>
                                        <p:attrNameLst>
                                          <p:attrName>ppt_x</p:attrName>
                                        </p:attrNameLst>
                                      </p:cBhvr>
                                      <p:tavLst>
                                        <p:tav tm="0">
                                          <p:val>
                                            <p:strVal val="#ppt_x"/>
                                          </p:val>
                                        </p:tav>
                                        <p:tav tm="100000">
                                          <p:val>
                                            <p:strVal val="#ppt_x"/>
                                          </p:val>
                                        </p:tav>
                                      </p:tavLst>
                                    </p:anim>
                                    <p:anim calcmode="lin" valueType="num">
                                      <p:cBhvr>
                                        <p:cTn id="53" dur="650" fill="hold"/>
                                        <p:tgtEl>
                                          <p:spTgt spid="12"/>
                                        </p:tgtEl>
                                        <p:attrNameLst>
                                          <p:attrName>ppt_y</p:attrName>
                                        </p:attrNameLst>
                                      </p:cBhvr>
                                      <p:tavLst>
                                        <p:tav tm="0">
                                          <p:val>
                                            <p:strVal val="#ppt_y+.05"/>
                                          </p:val>
                                        </p:tav>
                                        <p:tav tm="100000">
                                          <p:val>
                                            <p:strVal val="#ppt_y"/>
                                          </p:val>
                                        </p:tav>
                                      </p:tavLst>
                                    </p:anim>
                                  </p:childTnLst>
                                </p:cTn>
                              </p:par>
                              <p:par>
                                <p:cTn id="54" presetID="42" presetClass="entr" presetSubtype="0" fill="hold" grpId="0" nodeType="withEffect">
                                  <p:stCondLst>
                                    <p:cond delay="600"/>
                                  </p:stCondLst>
                                  <p:childTnLst>
                                    <p:set>
                                      <p:cBhvr>
                                        <p:cTn id="55" dur="1" fill="hold">
                                          <p:stCondLst>
                                            <p:cond delay="0"/>
                                          </p:stCondLst>
                                        </p:cTn>
                                        <p:tgtEl>
                                          <p:spTgt spid="13"/>
                                        </p:tgtEl>
                                        <p:attrNameLst>
                                          <p:attrName>style.visibility</p:attrName>
                                        </p:attrNameLst>
                                      </p:cBhvr>
                                      <p:to>
                                        <p:strVal val="visible"/>
                                      </p:to>
                                    </p:set>
                                    <p:animEffect transition="in" filter="fade">
                                      <p:cBhvr>
                                        <p:cTn id="56" dur="650"/>
                                        <p:tgtEl>
                                          <p:spTgt spid="13"/>
                                        </p:tgtEl>
                                      </p:cBhvr>
                                    </p:animEffect>
                                    <p:anim calcmode="lin" valueType="num">
                                      <p:cBhvr>
                                        <p:cTn id="57" dur="650" fill="hold"/>
                                        <p:tgtEl>
                                          <p:spTgt spid="13"/>
                                        </p:tgtEl>
                                        <p:attrNameLst>
                                          <p:attrName>ppt_x</p:attrName>
                                        </p:attrNameLst>
                                      </p:cBhvr>
                                      <p:tavLst>
                                        <p:tav tm="0">
                                          <p:val>
                                            <p:strVal val="#ppt_x"/>
                                          </p:val>
                                        </p:tav>
                                        <p:tav tm="100000">
                                          <p:val>
                                            <p:strVal val="#ppt_x"/>
                                          </p:val>
                                        </p:tav>
                                      </p:tavLst>
                                    </p:anim>
                                    <p:anim calcmode="lin" valueType="num">
                                      <p:cBhvr>
                                        <p:cTn id="58" dur="650" fill="hold"/>
                                        <p:tgtEl>
                                          <p:spTgt spid="13"/>
                                        </p:tgtEl>
                                        <p:attrNameLst>
                                          <p:attrName>ppt_y</p:attrName>
                                        </p:attrNameLst>
                                      </p:cBhvr>
                                      <p:tavLst>
                                        <p:tav tm="0">
                                          <p:val>
                                            <p:strVal val="#ppt_y+.05"/>
                                          </p:val>
                                        </p:tav>
                                        <p:tav tm="100000">
                                          <p:val>
                                            <p:strVal val="#ppt_y"/>
                                          </p:val>
                                        </p:tav>
                                      </p:tavLst>
                                    </p:anim>
                                  </p:childTnLst>
                                </p:cTn>
                              </p:par>
                              <p:par>
                                <p:cTn id="59" presetID="10" presetClass="entr" presetSubtype="0" fill="hold" grpId="0" nodeType="withEffect">
                                  <p:stCondLst>
                                    <p:cond delay="600"/>
                                  </p:stCondLst>
                                  <p:childTnLst>
                                    <p:set>
                                      <p:cBhvr>
                                        <p:cTn id="60" dur="1" fill="hold">
                                          <p:stCondLst>
                                            <p:cond delay="0"/>
                                          </p:stCondLst>
                                        </p:cTn>
                                        <p:tgtEl>
                                          <p:spTgt spid="14"/>
                                        </p:tgtEl>
                                        <p:attrNameLst>
                                          <p:attrName>style.visibility</p:attrName>
                                        </p:attrNameLst>
                                      </p:cBhvr>
                                      <p:to>
                                        <p:strVal val="visible"/>
                                      </p:to>
                                    </p:set>
                                    <p:animEffect transition="in" filter="fade">
                                      <p:cBhvr>
                                        <p:cTn id="6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eyebrow-pill"/>
          <p:cNvSpPr/>
          <p:nvPr/>
        </p:nvSpPr>
        <p:spPr>
          <a:xfrm>
            <a:off x="548640" y="475488"/>
            <a:ext cx="1356970" cy="274320"/>
          </a:xfrm>
          <a:prstGeom prst="roundRect">
            <a:avLst>
              <a:gd name="adj" fmla="val 50000"/>
            </a:avLst>
          </a:prstGeom>
          <a:solidFill>
            <a:srgbClr val="E5E5EA"/>
          </a:solidFill>
          <a:ln/>
        </p:spPr>
      </p:sp>
      <p:sp>
        <p:nvSpPr>
          <p:cNvPr id="3" name="eyebrow"/>
          <p:cNvSpPr txBox="1"/>
          <p:nvPr/>
        </p:nvSpPr>
        <p:spPr>
          <a:xfrm>
            <a:off x="548640" y="475488"/>
            <a:ext cx="1356970" cy="274320"/>
          </a:xfrm>
          <a:prstGeom prst="rect">
            <a:avLst/>
          </a:prstGeom>
          <a:noFill/>
          <a:ln/>
        </p:spPr>
        <p:txBody>
          <a:bodyPr wrap="square" lIns="0" tIns="0" rIns="0" bIns="0" rtlCol="0" anchor="ctr"/>
          <a:lstStyle/>
          <a:p>
            <a:pPr algn="ctr" indent="0" marL="0">
              <a:buNone/>
            </a:pPr>
            <a:r>
              <a:rPr lang="en-US" sz="900" b="1" spc="160" kern="0" dirty="0">
                <a:solidFill>
                  <a:srgbClr val="5C5C61"/>
                </a:solidFill>
                <a:latin typeface="Arial" pitchFamily="34" charset="0"/>
                <a:ea typeface="Arial" pitchFamily="34" charset="-122"/>
                <a:cs typeface="Arial" pitchFamily="34" charset="-120"/>
              </a:rPr>
              <a:t>THE CHALLENGE</a:t>
            </a:r>
            <a:endParaRPr lang="en-US" sz="900" dirty="0"/>
          </a:p>
        </p:txBody>
      </p:sp>
      <p:sp>
        <p:nvSpPr>
          <p:cNvPr id="4" name="Text 1"/>
          <p:cNvSpPr/>
          <p:nvPr>
            <p:ph idx="101" type="title" hasCustomPrompt="1"/>
          </p:nvPr>
        </p:nvSpPr>
        <p:spPr>
          <a:xfrm>
            <a:off x="548640" y="896112"/>
            <a:ext cx="6583680" cy="1207008"/>
          </a:xfrm>
          <a:prstGeom prst="rect">
            <a:avLst/>
          </a:prstGeom>
          <a:noFill/>
          <a:ln/>
        </p:spPr>
        <p:txBody>
          <a:bodyPr wrap="square" lIns="0" tIns="0" rIns="0" bIns="0" rtlCol="0" anchor="t"/>
          <a:lstStyle/>
          <a:p>
            <a:pPr algn="l" indent="0" marL="0">
              <a:buNone/>
            </a:pPr>
            <a:r>
              <a:rPr lang="en-US" sz="3400" b="1" dirty="0">
                <a:solidFill>
                  <a:srgbClr val="1D1D1F"/>
                </a:solidFill>
                <a:latin typeface="Arial" pitchFamily="34" charset="0"/>
                <a:ea typeface="Arial" pitchFamily="34" charset="-122"/>
                <a:cs typeface="Arial" pitchFamily="34" charset="-120"/>
              </a:rPr>
              <a:t>Month end was</a:t>
            </a:r>
            <a:endParaRPr lang="en-US" sz="3400" dirty="0"/>
          </a:p>
          <a:p>
            <a:pPr algn="l" indent="0" marL="0">
              <a:buNone/>
            </a:pPr>
            <a:r>
              <a:rPr lang="en-US" sz="3400" dirty="0">
                <a:solidFill>
                  <a:srgbClr val="8E8E93"/>
                </a:solidFill>
                <a:latin typeface="Arial" pitchFamily="34" charset="0"/>
                <a:ea typeface="Arial" pitchFamily="34" charset="-122"/>
                <a:cs typeface="Arial" pitchFamily="34" charset="-120"/>
              </a:rPr>
              <a:t>a manual marathon</a:t>
            </a:r>
            <a:endParaRPr lang="en-US" sz="3400" dirty="0"/>
          </a:p>
        </p:txBody>
      </p:sp>
      <p:sp>
        <p:nvSpPr>
          <p:cNvPr id="5" name="dot-file"/>
          <p:cNvSpPr/>
          <p:nvPr/>
        </p:nvSpPr>
        <p:spPr>
          <a:xfrm>
            <a:off x="548640" y="2514600"/>
            <a:ext cx="475488" cy="475488"/>
          </a:xfrm>
          <a:prstGeom prst="ellipse">
            <a:avLst/>
          </a:prstGeom>
          <a:solidFill>
            <a:srgbClr val="1D1D1F"/>
          </a:solidFill>
          <a:ln/>
        </p:spPr>
      </p:sp>
      <p:pic>
        <p:nvPicPr>
          <p:cNvPr id="6" name="icon-file" descr="">    </p:cNvPr>
          <p:cNvPicPr>
            <a:picLocks noChangeAspect="1"/>
          </p:cNvPicPr>
          <p:nvPr/>
        </p:nvPicPr>
        <p:blipFill>
          <a:blip r:embed="rId1"/>
          <a:stretch>
            <a:fillRect/>
          </a:stretch>
        </p:blipFill>
        <p:spPr>
          <a:xfrm>
            <a:off x="658002" y="2623962"/>
            <a:ext cx="256764" cy="256764"/>
          </a:xfrm>
          <a:prstGeom prst="rect">
            <a:avLst/>
          </a:prstGeom>
        </p:spPr>
      </p:pic>
      <p:sp>
        <p:nvSpPr>
          <p:cNvPr id="7" name="h"/>
          <p:cNvSpPr txBox="1"/>
          <p:nvPr/>
        </p:nvSpPr>
        <p:spPr>
          <a:xfrm>
            <a:off x="1225296" y="2496312"/>
            <a:ext cx="4809744" cy="310896"/>
          </a:xfrm>
          <a:prstGeom prst="rect">
            <a:avLst/>
          </a:prstGeom>
          <a:noFill/>
          <a:ln/>
        </p:spPr>
        <p:txBody>
          <a:bodyPr wrap="square" lIns="0" tIns="0" rIns="0" bIns="0" rtlCol="0" anchor="ctr"/>
          <a:lstStyle/>
          <a:p>
            <a:pPr indent="0" marL="0">
              <a:buNone/>
            </a:pPr>
            <a:r>
              <a:rPr lang="en-US" sz="1500" b="1" dirty="0">
                <a:solidFill>
                  <a:srgbClr val="1D1D1F"/>
                </a:solidFill>
                <a:latin typeface="Arial" pitchFamily="34" charset="0"/>
                <a:ea typeface="Arial" pitchFamily="34" charset="-122"/>
                <a:cs typeface="Arial" pitchFamily="34" charset="-120"/>
              </a:rPr>
              <a:t>Files gathered by hand</a:t>
            </a:r>
            <a:endParaRPr lang="en-US" sz="1500" dirty="0"/>
          </a:p>
        </p:txBody>
      </p:sp>
      <p:sp>
        <p:nvSpPr>
          <p:cNvPr id="8" name="t"/>
          <p:cNvSpPr txBox="1"/>
          <p:nvPr/>
        </p:nvSpPr>
        <p:spPr>
          <a:xfrm>
            <a:off x="1225296" y="2807208"/>
            <a:ext cx="4809744" cy="566928"/>
          </a:xfrm>
          <a:prstGeom prst="rect">
            <a:avLst/>
          </a:prstGeom>
          <a:noFill/>
          <a:ln/>
        </p:spPr>
        <p:txBody>
          <a:bodyPr wrap="square" lIns="0" tIns="0" rIns="0" bIns="0" rtlCol="0" anchor="t"/>
          <a:lstStyle/>
          <a:p>
            <a:pPr indent="0" marL="0">
              <a:lnSpc>
                <a:spcPct val="105000"/>
              </a:lnSpc>
              <a:buNone/>
            </a:pPr>
            <a:r>
              <a:rPr lang="en-US" sz="1250" dirty="0">
                <a:solidFill>
                  <a:srgbClr val="5C5C61"/>
                </a:solidFill>
                <a:latin typeface="Arial" pitchFamily="34" charset="0"/>
                <a:ea typeface="Arial" pitchFamily="34" charset="-122"/>
                <a:cs typeface="Arial" pitchFamily="34" charset="-120"/>
              </a:rPr>
              <a:t>Four Genesys exports, every supervisor's attendance sheet, the KPI and quality files, joined by copy and paste.</a:t>
            </a:r>
            <a:endParaRPr lang="en-US" sz="1250" dirty="0"/>
          </a:p>
        </p:txBody>
      </p:sp>
      <p:sp>
        <p:nvSpPr>
          <p:cNvPr id="9" name="dot-chart"/>
          <p:cNvSpPr/>
          <p:nvPr/>
        </p:nvSpPr>
        <p:spPr>
          <a:xfrm>
            <a:off x="548640" y="3685032"/>
            <a:ext cx="475488" cy="475488"/>
          </a:xfrm>
          <a:prstGeom prst="ellipse">
            <a:avLst/>
          </a:prstGeom>
          <a:solidFill>
            <a:srgbClr val="1D1D1F"/>
          </a:solidFill>
          <a:ln/>
        </p:spPr>
      </p:sp>
      <p:pic>
        <p:nvPicPr>
          <p:cNvPr id="10" name="icon-chart" descr="">    </p:cNvPr>
          <p:cNvPicPr>
            <a:picLocks noChangeAspect="1"/>
          </p:cNvPicPr>
          <p:nvPr/>
        </p:nvPicPr>
        <p:blipFill>
          <a:blip r:embed="rId2"/>
          <a:stretch>
            <a:fillRect/>
          </a:stretch>
        </p:blipFill>
        <p:spPr>
          <a:xfrm>
            <a:off x="658002" y="3794394"/>
            <a:ext cx="256764" cy="256764"/>
          </a:xfrm>
          <a:prstGeom prst="rect">
            <a:avLst/>
          </a:prstGeom>
        </p:spPr>
      </p:pic>
      <p:sp>
        <p:nvSpPr>
          <p:cNvPr id="11" name="h"/>
          <p:cNvSpPr txBox="1"/>
          <p:nvPr/>
        </p:nvSpPr>
        <p:spPr>
          <a:xfrm>
            <a:off x="1225296" y="3666744"/>
            <a:ext cx="4809744" cy="310896"/>
          </a:xfrm>
          <a:prstGeom prst="rect">
            <a:avLst/>
          </a:prstGeom>
          <a:noFill/>
          <a:ln/>
        </p:spPr>
        <p:txBody>
          <a:bodyPr wrap="square" lIns="0" tIns="0" rIns="0" bIns="0" rtlCol="0" anchor="ctr"/>
          <a:lstStyle/>
          <a:p>
            <a:pPr indent="0" marL="0">
              <a:buNone/>
            </a:pPr>
            <a:r>
              <a:rPr lang="en-US" sz="1500" b="1" dirty="0">
                <a:solidFill>
                  <a:srgbClr val="1D1D1F"/>
                </a:solidFill>
                <a:latin typeface="Arial" pitchFamily="34" charset="0"/>
                <a:ea typeface="Arial" pitchFamily="34" charset="-122"/>
                <a:cs typeface="Arial" pitchFamily="34" charset="-120"/>
              </a:rPr>
              <a:t>Numbers hard to explain</a:t>
            </a:r>
            <a:endParaRPr lang="en-US" sz="1500" dirty="0"/>
          </a:p>
        </p:txBody>
      </p:sp>
      <p:sp>
        <p:nvSpPr>
          <p:cNvPr id="12" name="t"/>
          <p:cNvSpPr txBox="1"/>
          <p:nvPr/>
        </p:nvSpPr>
        <p:spPr>
          <a:xfrm>
            <a:off x="1225296" y="3977640"/>
            <a:ext cx="4809744" cy="566928"/>
          </a:xfrm>
          <a:prstGeom prst="rect">
            <a:avLst/>
          </a:prstGeom>
          <a:noFill/>
          <a:ln/>
        </p:spPr>
        <p:txBody>
          <a:bodyPr wrap="square" lIns="0" tIns="0" rIns="0" bIns="0" rtlCol="0" anchor="t"/>
          <a:lstStyle/>
          <a:p>
            <a:pPr indent="0" marL="0">
              <a:lnSpc>
                <a:spcPct val="105000"/>
              </a:lnSpc>
              <a:buNone/>
            </a:pPr>
            <a:r>
              <a:rPr lang="en-US" sz="1250" dirty="0">
                <a:solidFill>
                  <a:srgbClr val="5C5C61"/>
                </a:solidFill>
                <a:latin typeface="Arial" pitchFamily="34" charset="0"/>
                <a:ea typeface="Arial" pitchFamily="34" charset="-122"/>
                <a:cs typeface="Arial" pitchFamily="34" charset="-120"/>
              </a:rPr>
              <a:t>Bonus and deduction worked out in spreadsheets: a rounding or a missed absence was hard to find, and harder to explain.</a:t>
            </a:r>
            <a:endParaRPr lang="en-US" sz="1250" dirty="0"/>
          </a:p>
        </p:txBody>
      </p:sp>
      <p:sp>
        <p:nvSpPr>
          <p:cNvPr id="13" name="dot-mail"/>
          <p:cNvSpPr/>
          <p:nvPr/>
        </p:nvSpPr>
        <p:spPr>
          <a:xfrm>
            <a:off x="548640" y="4855464"/>
            <a:ext cx="475488" cy="475488"/>
          </a:xfrm>
          <a:prstGeom prst="ellipse">
            <a:avLst/>
          </a:prstGeom>
          <a:solidFill>
            <a:srgbClr val="1D1D1F"/>
          </a:solidFill>
          <a:ln/>
        </p:spPr>
      </p:sp>
      <p:pic>
        <p:nvPicPr>
          <p:cNvPr id="14" name="icon-mail" descr="">    </p:cNvPr>
          <p:cNvPicPr>
            <a:picLocks noChangeAspect="1"/>
          </p:cNvPicPr>
          <p:nvPr/>
        </p:nvPicPr>
        <p:blipFill>
          <a:blip r:embed="rId3"/>
          <a:stretch>
            <a:fillRect/>
          </a:stretch>
        </p:blipFill>
        <p:spPr>
          <a:xfrm>
            <a:off x="658002" y="4964826"/>
            <a:ext cx="256764" cy="256764"/>
          </a:xfrm>
          <a:prstGeom prst="rect">
            <a:avLst/>
          </a:prstGeom>
        </p:spPr>
      </p:pic>
      <p:sp>
        <p:nvSpPr>
          <p:cNvPr id="15" name="h"/>
          <p:cNvSpPr txBox="1"/>
          <p:nvPr/>
        </p:nvSpPr>
        <p:spPr>
          <a:xfrm>
            <a:off x="1225296" y="4837176"/>
            <a:ext cx="4809744" cy="310896"/>
          </a:xfrm>
          <a:prstGeom prst="rect">
            <a:avLst/>
          </a:prstGeom>
          <a:noFill/>
          <a:ln/>
        </p:spPr>
        <p:txBody>
          <a:bodyPr wrap="square" lIns="0" tIns="0" rIns="0" bIns="0" rtlCol="0" anchor="ctr"/>
          <a:lstStyle/>
          <a:p>
            <a:pPr indent="0" marL="0">
              <a:buNone/>
            </a:pPr>
            <a:r>
              <a:rPr lang="en-US" sz="1500" b="1" dirty="0">
                <a:solidFill>
                  <a:srgbClr val="1D1D1F"/>
                </a:solidFill>
                <a:latin typeface="Arial" pitchFamily="34" charset="0"/>
                <a:ea typeface="Arial" pitchFamily="34" charset="-122"/>
                <a:cs typeface="Arial" pitchFamily="34" charset="-120"/>
              </a:rPr>
              <a:t>Emails built one by one</a:t>
            </a:r>
            <a:endParaRPr lang="en-US" sz="1500" dirty="0"/>
          </a:p>
        </p:txBody>
      </p:sp>
      <p:sp>
        <p:nvSpPr>
          <p:cNvPr id="16" name="t"/>
          <p:cNvSpPr txBox="1"/>
          <p:nvPr/>
        </p:nvSpPr>
        <p:spPr>
          <a:xfrm>
            <a:off x="1225296" y="5148072"/>
            <a:ext cx="4809744" cy="566928"/>
          </a:xfrm>
          <a:prstGeom prst="rect">
            <a:avLst/>
          </a:prstGeom>
          <a:noFill/>
          <a:ln/>
        </p:spPr>
        <p:txBody>
          <a:bodyPr wrap="square" lIns="0" tIns="0" rIns="0" bIns="0" rtlCol="0" anchor="t"/>
          <a:lstStyle/>
          <a:p>
            <a:pPr indent="0" marL="0">
              <a:lnSpc>
                <a:spcPct val="105000"/>
              </a:lnSpc>
              <a:buNone/>
            </a:pPr>
            <a:r>
              <a:rPr lang="en-US" sz="1250" dirty="0">
                <a:solidFill>
                  <a:srgbClr val="5C5C61"/>
                </a:solidFill>
                <a:latin typeface="Arial" pitchFamily="34" charset="0"/>
                <a:ea typeface="Arial" pitchFamily="34" charset="-122"/>
                <a:cs typeface="Arial" pitchFamily="34" charset="-120"/>
              </a:rPr>
              <a:t>The deduction and incentive emails, their tables and attachments, put together by hand every month.</a:t>
            </a:r>
            <a:endParaRPr lang="en-US" sz="1250" dirty="0"/>
          </a:p>
        </p:txBody>
      </p:sp>
      <p:sp>
        <p:nvSpPr>
          <p:cNvPr id="17" name="panel"/>
          <p:cNvSpPr/>
          <p:nvPr/>
        </p:nvSpPr>
        <p:spPr>
          <a:xfrm>
            <a:off x="6720840" y="0"/>
            <a:ext cx="5470855" cy="6858000"/>
          </a:xfrm>
          <a:prstGeom prst="rect">
            <a:avLst/>
          </a:prstGeom>
          <a:solidFill>
            <a:srgbClr val="0B0B0C"/>
          </a:solidFill>
          <a:ln/>
        </p:spPr>
      </p:sp>
      <p:sp>
        <p:nvSpPr>
          <p:cNvPr id="18" name="quote"/>
          <p:cNvSpPr txBox="1"/>
          <p:nvPr/>
        </p:nvSpPr>
        <p:spPr>
          <a:xfrm>
            <a:off x="7269480" y="822960"/>
            <a:ext cx="4389120" cy="1828800"/>
          </a:xfrm>
          <a:prstGeom prst="rect">
            <a:avLst/>
          </a:prstGeom>
          <a:noFill/>
          <a:ln/>
        </p:spPr>
        <p:txBody>
          <a:bodyPr wrap="square" lIns="0" tIns="0" rIns="0" bIns="0" rtlCol="0" anchor="t"/>
          <a:lstStyle/>
          <a:p>
            <a:pPr indent="0" marL="0">
              <a:lnSpc>
                <a:spcPct val="98000"/>
              </a:lnSpc>
              <a:buNone/>
            </a:pPr>
            <a:r>
              <a:rPr lang="en-US" sz="3200" b="1" dirty="0">
                <a:solidFill>
                  <a:srgbClr val="FFFFFF"/>
                </a:solidFill>
                <a:latin typeface="Arial" pitchFamily="34" charset="0"/>
                <a:ea typeface="Arial" pitchFamily="34" charset="-122"/>
                <a:cs typeface="Arial" pitchFamily="34" charset="-120"/>
              </a:rPr>
              <a:t>Ten files.</a:t>
            </a:r>
            <a:endParaRPr lang="en-US" sz="3200" dirty="0"/>
          </a:p>
          <a:p>
            <a:pPr indent="0" marL="0">
              <a:lnSpc>
                <a:spcPct val="98000"/>
              </a:lnSpc>
              <a:buNone/>
            </a:pPr>
            <a:r>
              <a:rPr lang="en-US" sz="3200" b="1" dirty="0">
                <a:solidFill>
                  <a:srgbClr val="FFFFFF"/>
                </a:solidFill>
                <a:latin typeface="Arial" pitchFamily="34" charset="0"/>
                <a:ea typeface="Arial" pitchFamily="34" charset="-122"/>
                <a:cs typeface="Arial" pitchFamily="34" charset="-120"/>
              </a:rPr>
              <a:t>Seven roles.</a:t>
            </a:r>
            <a:endParaRPr lang="en-US" sz="3200" dirty="0"/>
          </a:p>
          <a:p>
            <a:pPr indent="0" marL="0">
              <a:lnSpc>
                <a:spcPct val="98000"/>
              </a:lnSpc>
              <a:buNone/>
            </a:pPr>
            <a:r>
              <a:rPr lang="en-US" sz="3200" b="1" dirty="0">
                <a:solidFill>
                  <a:srgbClr val="F26722"/>
                </a:solidFill>
                <a:latin typeface="Arial" pitchFamily="34" charset="0"/>
                <a:ea typeface="Arial" pitchFamily="34" charset="-122"/>
                <a:cs typeface="Arial" pitchFamily="34" charset="-120"/>
              </a:rPr>
              <a:t>One deadline.</a:t>
            </a:r>
            <a:endParaRPr lang="en-US" sz="3200" dirty="0"/>
          </a:p>
        </p:txBody>
      </p:sp>
      <p:sp>
        <p:nvSpPr>
          <p:cNvPr id="19" name="file0"/>
          <p:cNvSpPr/>
          <p:nvPr/>
        </p:nvSpPr>
        <p:spPr>
          <a:xfrm>
            <a:off x="7269480" y="3063240"/>
            <a:ext cx="2157984" cy="512064"/>
          </a:xfrm>
          <a:prstGeom prst="roundRect">
            <a:avLst>
              <a:gd name="adj" fmla="val 21429"/>
            </a:avLst>
          </a:prstGeom>
          <a:solidFill>
            <a:srgbClr val="1C1C1E"/>
          </a:solidFill>
          <a:ln w="9525">
            <a:solidFill>
              <a:srgbClr val="2C2C2E"/>
            </a:solidFill>
            <a:prstDash val="solid"/>
          </a:ln>
        </p:spPr>
      </p:sp>
      <p:pic>
        <p:nvPicPr>
          <p:cNvPr id="20" name="file0-i" descr="">    </p:cNvPr>
          <p:cNvPicPr>
            <a:picLocks noChangeAspect="1"/>
          </p:cNvPicPr>
          <p:nvPr/>
        </p:nvPicPr>
        <p:blipFill>
          <a:blip r:embed="rId4"/>
          <a:stretch>
            <a:fillRect/>
          </a:stretch>
        </p:blipFill>
        <p:spPr>
          <a:xfrm>
            <a:off x="7397496" y="3182112"/>
            <a:ext cx="274320" cy="274320"/>
          </a:xfrm>
          <a:prstGeom prst="rect">
            <a:avLst/>
          </a:prstGeom>
        </p:spPr>
      </p:pic>
      <p:sp>
        <p:nvSpPr>
          <p:cNvPr id="21" name="file0-t"/>
          <p:cNvSpPr txBox="1"/>
          <p:nvPr/>
        </p:nvSpPr>
        <p:spPr>
          <a:xfrm>
            <a:off x="7744968" y="3063240"/>
            <a:ext cx="1609344" cy="512064"/>
          </a:xfrm>
          <a:prstGeom prst="rect">
            <a:avLst/>
          </a:prstGeom>
          <a:noFill/>
          <a:ln/>
        </p:spPr>
        <p:txBody>
          <a:bodyPr wrap="square" lIns="0" tIns="0" rIns="0" bIns="0" rtlCol="0" anchor="ctr"/>
          <a:lstStyle/>
          <a:p>
            <a:pPr indent="0" marL="0">
              <a:buNone/>
            </a:pPr>
            <a:r>
              <a:rPr lang="en-US" sz="950" dirty="0">
                <a:solidFill>
                  <a:srgbClr val="F5F5F7"/>
                </a:solidFill>
                <a:latin typeface="Arial" pitchFamily="34" charset="0"/>
                <a:ea typeface="Arial" pitchFamily="34" charset="-122"/>
                <a:cs typeface="Arial" pitchFamily="34" charset="-120"/>
              </a:rPr>
              <a:t>Monthly Adherence.csv</a:t>
            </a:r>
            <a:endParaRPr lang="en-US" sz="950" dirty="0"/>
          </a:p>
        </p:txBody>
      </p:sp>
      <p:sp>
        <p:nvSpPr>
          <p:cNvPr id="22" name="file1"/>
          <p:cNvSpPr/>
          <p:nvPr/>
        </p:nvSpPr>
        <p:spPr>
          <a:xfrm>
            <a:off x="9555480" y="3063240"/>
            <a:ext cx="2157984" cy="512064"/>
          </a:xfrm>
          <a:prstGeom prst="roundRect">
            <a:avLst>
              <a:gd name="adj" fmla="val 21429"/>
            </a:avLst>
          </a:prstGeom>
          <a:solidFill>
            <a:srgbClr val="1C1C1E"/>
          </a:solidFill>
          <a:ln w="9525">
            <a:solidFill>
              <a:srgbClr val="2C2C2E"/>
            </a:solidFill>
            <a:prstDash val="solid"/>
          </a:ln>
        </p:spPr>
      </p:sp>
      <p:pic>
        <p:nvPicPr>
          <p:cNvPr id="23" name="file1-i" descr="">    </p:cNvPr>
          <p:cNvPicPr>
            <a:picLocks noChangeAspect="1"/>
          </p:cNvPicPr>
          <p:nvPr/>
        </p:nvPicPr>
        <p:blipFill>
          <a:blip r:embed="rId5"/>
          <a:stretch>
            <a:fillRect/>
          </a:stretch>
        </p:blipFill>
        <p:spPr>
          <a:xfrm>
            <a:off x="9683496" y="3182112"/>
            <a:ext cx="274320" cy="274320"/>
          </a:xfrm>
          <a:prstGeom prst="rect">
            <a:avLst/>
          </a:prstGeom>
        </p:spPr>
      </p:pic>
      <p:sp>
        <p:nvSpPr>
          <p:cNvPr id="24" name="file1-t"/>
          <p:cNvSpPr txBox="1"/>
          <p:nvPr/>
        </p:nvSpPr>
        <p:spPr>
          <a:xfrm>
            <a:off x="10030968" y="3063240"/>
            <a:ext cx="1609344" cy="512064"/>
          </a:xfrm>
          <a:prstGeom prst="rect">
            <a:avLst/>
          </a:prstGeom>
          <a:noFill/>
          <a:ln/>
        </p:spPr>
        <p:txBody>
          <a:bodyPr wrap="square" lIns="0" tIns="0" rIns="0" bIns="0" rtlCol="0" anchor="ctr"/>
          <a:lstStyle/>
          <a:p>
            <a:pPr indent="0" marL="0">
              <a:buNone/>
            </a:pPr>
            <a:r>
              <a:rPr lang="en-US" sz="950" dirty="0">
                <a:solidFill>
                  <a:srgbClr val="F5F5F7"/>
                </a:solidFill>
                <a:latin typeface="Arial" pitchFamily="34" charset="0"/>
                <a:ea typeface="Arial" pitchFamily="34" charset="-122"/>
                <a:cs typeface="Arial" pitchFamily="34" charset="-120"/>
              </a:rPr>
              <a:t>Schedule activities.csv</a:t>
            </a:r>
            <a:endParaRPr lang="en-US" sz="950" dirty="0"/>
          </a:p>
        </p:txBody>
      </p:sp>
      <p:sp>
        <p:nvSpPr>
          <p:cNvPr id="25" name="file2"/>
          <p:cNvSpPr/>
          <p:nvPr/>
        </p:nvSpPr>
        <p:spPr>
          <a:xfrm>
            <a:off x="7470648" y="3813048"/>
            <a:ext cx="2157984" cy="512064"/>
          </a:xfrm>
          <a:prstGeom prst="roundRect">
            <a:avLst>
              <a:gd name="adj" fmla="val 21429"/>
            </a:avLst>
          </a:prstGeom>
          <a:solidFill>
            <a:srgbClr val="1C1C1E"/>
          </a:solidFill>
          <a:ln w="9525">
            <a:solidFill>
              <a:srgbClr val="2C2C2E"/>
            </a:solidFill>
            <a:prstDash val="solid"/>
          </a:ln>
        </p:spPr>
      </p:sp>
      <p:pic>
        <p:nvPicPr>
          <p:cNvPr id="26" name="file2-i" descr="">    </p:cNvPr>
          <p:cNvPicPr>
            <a:picLocks noChangeAspect="1"/>
          </p:cNvPicPr>
          <p:nvPr/>
        </p:nvPicPr>
        <p:blipFill>
          <a:blip r:embed="rId6"/>
          <a:stretch>
            <a:fillRect/>
          </a:stretch>
        </p:blipFill>
        <p:spPr>
          <a:xfrm>
            <a:off x="7598664" y="3931920"/>
            <a:ext cx="274320" cy="274320"/>
          </a:xfrm>
          <a:prstGeom prst="rect">
            <a:avLst/>
          </a:prstGeom>
        </p:spPr>
      </p:pic>
      <p:sp>
        <p:nvSpPr>
          <p:cNvPr id="27" name="file2-t"/>
          <p:cNvSpPr txBox="1"/>
          <p:nvPr/>
        </p:nvSpPr>
        <p:spPr>
          <a:xfrm>
            <a:off x="7946136" y="3813048"/>
            <a:ext cx="1609344" cy="512064"/>
          </a:xfrm>
          <a:prstGeom prst="rect">
            <a:avLst/>
          </a:prstGeom>
          <a:noFill/>
          <a:ln/>
        </p:spPr>
        <p:txBody>
          <a:bodyPr wrap="square" lIns="0" tIns="0" rIns="0" bIns="0" rtlCol="0" anchor="ctr"/>
          <a:lstStyle/>
          <a:p>
            <a:pPr indent="0" marL="0">
              <a:buNone/>
            </a:pPr>
            <a:r>
              <a:rPr lang="en-US" sz="950" dirty="0">
                <a:solidFill>
                  <a:srgbClr val="F5F5F7"/>
                </a:solidFill>
                <a:latin typeface="Arial" pitchFamily="34" charset="0"/>
                <a:ea typeface="Arial" pitchFamily="34" charset="-122"/>
                <a:cs typeface="Arial" pitchFamily="34" charset="-120"/>
              </a:rPr>
              <a:t>Agent Status Timeline.csv</a:t>
            </a:r>
            <a:endParaRPr lang="en-US" sz="950" dirty="0"/>
          </a:p>
        </p:txBody>
      </p:sp>
      <p:sp>
        <p:nvSpPr>
          <p:cNvPr id="28" name="file3"/>
          <p:cNvSpPr/>
          <p:nvPr/>
        </p:nvSpPr>
        <p:spPr>
          <a:xfrm>
            <a:off x="9756648" y="3813048"/>
            <a:ext cx="2157984" cy="512064"/>
          </a:xfrm>
          <a:prstGeom prst="roundRect">
            <a:avLst>
              <a:gd name="adj" fmla="val 21429"/>
            </a:avLst>
          </a:prstGeom>
          <a:solidFill>
            <a:srgbClr val="1C1C1E"/>
          </a:solidFill>
          <a:ln w="9525">
            <a:solidFill>
              <a:srgbClr val="2C2C2E"/>
            </a:solidFill>
            <a:prstDash val="solid"/>
          </a:ln>
        </p:spPr>
      </p:sp>
      <p:pic>
        <p:nvPicPr>
          <p:cNvPr id="29" name="file3-i" descr="">    </p:cNvPr>
          <p:cNvPicPr>
            <a:picLocks noChangeAspect="1"/>
          </p:cNvPicPr>
          <p:nvPr/>
        </p:nvPicPr>
        <p:blipFill>
          <a:blip r:embed="rId7"/>
          <a:stretch>
            <a:fillRect/>
          </a:stretch>
        </p:blipFill>
        <p:spPr>
          <a:xfrm>
            <a:off x="9884664" y="3931920"/>
            <a:ext cx="274320" cy="274320"/>
          </a:xfrm>
          <a:prstGeom prst="rect">
            <a:avLst/>
          </a:prstGeom>
        </p:spPr>
      </p:pic>
      <p:sp>
        <p:nvSpPr>
          <p:cNvPr id="30" name="file3-t"/>
          <p:cNvSpPr txBox="1"/>
          <p:nvPr/>
        </p:nvSpPr>
        <p:spPr>
          <a:xfrm>
            <a:off x="10232136" y="3813048"/>
            <a:ext cx="1609344" cy="512064"/>
          </a:xfrm>
          <a:prstGeom prst="rect">
            <a:avLst/>
          </a:prstGeom>
          <a:noFill/>
          <a:ln/>
        </p:spPr>
        <p:txBody>
          <a:bodyPr wrap="square" lIns="0" tIns="0" rIns="0" bIns="0" rtlCol="0" anchor="ctr"/>
          <a:lstStyle/>
          <a:p>
            <a:pPr indent="0" marL="0">
              <a:buNone/>
            </a:pPr>
            <a:r>
              <a:rPr lang="en-US" sz="950" dirty="0">
                <a:solidFill>
                  <a:srgbClr val="F5F5F7"/>
                </a:solidFill>
                <a:latin typeface="Arial" pitchFamily="34" charset="0"/>
                <a:ea typeface="Arial" pitchFamily="34" charset="-122"/>
                <a:cs typeface="Arial" pitchFamily="34" charset="-120"/>
              </a:rPr>
              <a:t>Agents Performance Summary.csv</a:t>
            </a:r>
            <a:endParaRPr lang="en-US" sz="950" dirty="0"/>
          </a:p>
        </p:txBody>
      </p:sp>
      <p:sp>
        <p:nvSpPr>
          <p:cNvPr id="31" name="file4"/>
          <p:cNvSpPr/>
          <p:nvPr/>
        </p:nvSpPr>
        <p:spPr>
          <a:xfrm>
            <a:off x="7269480" y="4562856"/>
            <a:ext cx="2157984" cy="512064"/>
          </a:xfrm>
          <a:prstGeom prst="roundRect">
            <a:avLst>
              <a:gd name="adj" fmla="val 21429"/>
            </a:avLst>
          </a:prstGeom>
          <a:solidFill>
            <a:srgbClr val="1C1C1E"/>
          </a:solidFill>
          <a:ln w="9525">
            <a:solidFill>
              <a:srgbClr val="2C2C2E"/>
            </a:solidFill>
            <a:prstDash val="solid"/>
          </a:ln>
        </p:spPr>
      </p:sp>
      <p:pic>
        <p:nvPicPr>
          <p:cNvPr id="32" name="file4-i" descr="">    </p:cNvPr>
          <p:cNvPicPr>
            <a:picLocks noChangeAspect="1"/>
          </p:cNvPicPr>
          <p:nvPr/>
        </p:nvPicPr>
        <p:blipFill>
          <a:blip r:embed="rId8"/>
          <a:stretch>
            <a:fillRect/>
          </a:stretch>
        </p:blipFill>
        <p:spPr>
          <a:xfrm>
            <a:off x="7397496" y="4681728"/>
            <a:ext cx="274320" cy="274320"/>
          </a:xfrm>
          <a:prstGeom prst="rect">
            <a:avLst/>
          </a:prstGeom>
        </p:spPr>
      </p:pic>
      <p:sp>
        <p:nvSpPr>
          <p:cNvPr id="33" name="file4-t"/>
          <p:cNvSpPr txBox="1"/>
          <p:nvPr/>
        </p:nvSpPr>
        <p:spPr>
          <a:xfrm>
            <a:off x="7744968" y="4562856"/>
            <a:ext cx="1609344" cy="512064"/>
          </a:xfrm>
          <a:prstGeom prst="rect">
            <a:avLst/>
          </a:prstGeom>
          <a:noFill/>
          <a:ln/>
        </p:spPr>
        <p:txBody>
          <a:bodyPr wrap="square" lIns="0" tIns="0" rIns="0" bIns="0" rtlCol="0" anchor="ctr"/>
          <a:lstStyle/>
          <a:p>
            <a:pPr indent="0" marL="0">
              <a:buNone/>
            </a:pPr>
            <a:r>
              <a:rPr lang="en-US" sz="950" dirty="0">
                <a:solidFill>
                  <a:srgbClr val="F5F5F7"/>
                </a:solidFill>
                <a:latin typeface="Arial" pitchFamily="34" charset="0"/>
                <a:ea typeface="Arial" pitchFamily="34" charset="-122"/>
                <a:cs typeface="Arial" pitchFamily="34" charset="-120"/>
              </a:rPr>
              <a:t>Attendance - CT.xlsx</a:t>
            </a:r>
            <a:endParaRPr lang="en-US" sz="950" dirty="0"/>
          </a:p>
        </p:txBody>
      </p:sp>
      <p:sp>
        <p:nvSpPr>
          <p:cNvPr id="34" name="file5"/>
          <p:cNvSpPr/>
          <p:nvPr/>
        </p:nvSpPr>
        <p:spPr>
          <a:xfrm>
            <a:off x="9555480" y="4562856"/>
            <a:ext cx="2157984" cy="512064"/>
          </a:xfrm>
          <a:prstGeom prst="roundRect">
            <a:avLst>
              <a:gd name="adj" fmla="val 21429"/>
            </a:avLst>
          </a:prstGeom>
          <a:solidFill>
            <a:srgbClr val="1C1C1E"/>
          </a:solidFill>
          <a:ln w="9525">
            <a:solidFill>
              <a:srgbClr val="2C2C2E"/>
            </a:solidFill>
            <a:prstDash val="solid"/>
          </a:ln>
        </p:spPr>
      </p:sp>
      <p:pic>
        <p:nvPicPr>
          <p:cNvPr id="35" name="file5-i" descr="">    </p:cNvPr>
          <p:cNvPicPr>
            <a:picLocks noChangeAspect="1"/>
          </p:cNvPicPr>
          <p:nvPr/>
        </p:nvPicPr>
        <p:blipFill>
          <a:blip r:embed="rId9"/>
          <a:stretch>
            <a:fillRect/>
          </a:stretch>
        </p:blipFill>
        <p:spPr>
          <a:xfrm>
            <a:off x="9683496" y="4681728"/>
            <a:ext cx="274320" cy="274320"/>
          </a:xfrm>
          <a:prstGeom prst="rect">
            <a:avLst/>
          </a:prstGeom>
        </p:spPr>
      </p:pic>
      <p:sp>
        <p:nvSpPr>
          <p:cNvPr id="36" name="file5-t"/>
          <p:cNvSpPr txBox="1"/>
          <p:nvPr/>
        </p:nvSpPr>
        <p:spPr>
          <a:xfrm>
            <a:off x="10030968" y="4562856"/>
            <a:ext cx="1609344" cy="512064"/>
          </a:xfrm>
          <a:prstGeom prst="rect">
            <a:avLst/>
          </a:prstGeom>
          <a:noFill/>
          <a:ln/>
        </p:spPr>
        <p:txBody>
          <a:bodyPr wrap="square" lIns="0" tIns="0" rIns="0" bIns="0" rtlCol="0" anchor="ctr"/>
          <a:lstStyle/>
          <a:p>
            <a:pPr indent="0" marL="0">
              <a:buNone/>
            </a:pPr>
            <a:r>
              <a:rPr lang="en-US" sz="950" dirty="0">
                <a:solidFill>
                  <a:srgbClr val="F5F5F7"/>
                </a:solidFill>
                <a:latin typeface="Arial" pitchFamily="34" charset="0"/>
                <a:ea typeface="Arial" pitchFamily="34" charset="-122"/>
                <a:cs typeface="Arial" pitchFamily="34" charset="-120"/>
              </a:rPr>
              <a:t>KPI results.xlsx</a:t>
            </a:r>
            <a:endParaRPr lang="en-US" sz="950" dirty="0"/>
          </a:p>
        </p:txBody>
      </p:sp>
      <p:sp>
        <p:nvSpPr>
          <p:cNvPr id="37" name="file6"/>
          <p:cNvSpPr/>
          <p:nvPr/>
        </p:nvSpPr>
        <p:spPr>
          <a:xfrm>
            <a:off x="7470648" y="5312664"/>
            <a:ext cx="2157984" cy="512064"/>
          </a:xfrm>
          <a:prstGeom prst="roundRect">
            <a:avLst>
              <a:gd name="adj" fmla="val 21429"/>
            </a:avLst>
          </a:prstGeom>
          <a:solidFill>
            <a:srgbClr val="1C1C1E"/>
          </a:solidFill>
          <a:ln w="9525">
            <a:solidFill>
              <a:srgbClr val="2C2C2E"/>
            </a:solidFill>
            <a:prstDash val="solid"/>
          </a:ln>
        </p:spPr>
      </p:sp>
      <p:pic>
        <p:nvPicPr>
          <p:cNvPr id="38" name="file6-i" descr="">    </p:cNvPr>
          <p:cNvPicPr>
            <a:picLocks noChangeAspect="1"/>
          </p:cNvPicPr>
          <p:nvPr/>
        </p:nvPicPr>
        <p:blipFill>
          <a:blip r:embed="rId10"/>
          <a:stretch>
            <a:fillRect/>
          </a:stretch>
        </p:blipFill>
        <p:spPr>
          <a:xfrm>
            <a:off x="7598664" y="5431536"/>
            <a:ext cx="274320" cy="274320"/>
          </a:xfrm>
          <a:prstGeom prst="rect">
            <a:avLst/>
          </a:prstGeom>
        </p:spPr>
      </p:pic>
      <p:sp>
        <p:nvSpPr>
          <p:cNvPr id="39" name="file6-t"/>
          <p:cNvSpPr txBox="1"/>
          <p:nvPr/>
        </p:nvSpPr>
        <p:spPr>
          <a:xfrm>
            <a:off x="7946136" y="5312664"/>
            <a:ext cx="1609344" cy="512064"/>
          </a:xfrm>
          <a:prstGeom prst="rect">
            <a:avLst/>
          </a:prstGeom>
          <a:noFill/>
          <a:ln/>
        </p:spPr>
        <p:txBody>
          <a:bodyPr wrap="square" lIns="0" tIns="0" rIns="0" bIns="0" rtlCol="0" anchor="ctr"/>
          <a:lstStyle/>
          <a:p>
            <a:pPr indent="0" marL="0">
              <a:buNone/>
            </a:pPr>
            <a:r>
              <a:rPr lang="en-US" sz="950" dirty="0">
                <a:solidFill>
                  <a:srgbClr val="F5F5F7"/>
                </a:solidFill>
                <a:latin typeface="Arial" pitchFamily="34" charset="0"/>
                <a:ea typeface="Arial" pitchFamily="34" charset="-122"/>
                <a:cs typeface="Arial" pitchFamily="34" charset="-120"/>
              </a:rPr>
              <a:t>Final EVAL.xlsx</a:t>
            </a:r>
            <a:endParaRPr lang="en-US" sz="950" dirty="0"/>
          </a:p>
        </p:txBody>
      </p:sp>
      <p:sp>
        <p:nvSpPr>
          <p:cNvPr id="40" name="file7"/>
          <p:cNvSpPr/>
          <p:nvPr/>
        </p:nvSpPr>
        <p:spPr>
          <a:xfrm>
            <a:off x="9756648" y="5312664"/>
            <a:ext cx="2157984" cy="512064"/>
          </a:xfrm>
          <a:prstGeom prst="roundRect">
            <a:avLst>
              <a:gd name="adj" fmla="val 21429"/>
            </a:avLst>
          </a:prstGeom>
          <a:solidFill>
            <a:srgbClr val="1C1C1E"/>
          </a:solidFill>
          <a:ln w="9525">
            <a:solidFill>
              <a:srgbClr val="2C2C2E"/>
            </a:solidFill>
            <a:prstDash val="solid"/>
          </a:ln>
        </p:spPr>
      </p:sp>
      <p:pic>
        <p:nvPicPr>
          <p:cNvPr id="41" name="file7-i" descr="">    </p:cNvPr>
          <p:cNvPicPr>
            <a:picLocks noChangeAspect="1"/>
          </p:cNvPicPr>
          <p:nvPr/>
        </p:nvPicPr>
        <p:blipFill>
          <a:blip r:embed="rId11"/>
          <a:stretch>
            <a:fillRect/>
          </a:stretch>
        </p:blipFill>
        <p:spPr>
          <a:xfrm>
            <a:off x="9884664" y="5431536"/>
            <a:ext cx="274320" cy="274320"/>
          </a:xfrm>
          <a:prstGeom prst="rect">
            <a:avLst/>
          </a:prstGeom>
        </p:spPr>
      </p:pic>
      <p:sp>
        <p:nvSpPr>
          <p:cNvPr id="42" name="file7-t"/>
          <p:cNvSpPr txBox="1"/>
          <p:nvPr/>
        </p:nvSpPr>
        <p:spPr>
          <a:xfrm>
            <a:off x="10232136" y="5312664"/>
            <a:ext cx="1609344" cy="512064"/>
          </a:xfrm>
          <a:prstGeom prst="rect">
            <a:avLst/>
          </a:prstGeom>
          <a:noFill/>
          <a:ln/>
        </p:spPr>
        <p:txBody>
          <a:bodyPr wrap="square" lIns="0" tIns="0" rIns="0" bIns="0" rtlCol="0" anchor="ctr"/>
          <a:lstStyle/>
          <a:p>
            <a:pPr indent="0" marL="0">
              <a:buNone/>
            </a:pPr>
            <a:r>
              <a:rPr lang="en-US" sz="950" dirty="0">
                <a:solidFill>
                  <a:srgbClr val="F5F5F7"/>
                </a:solidFill>
                <a:latin typeface="Arial" pitchFamily="34" charset="0"/>
                <a:ea typeface="Arial" pitchFamily="34" charset="-122"/>
                <a:cs typeface="Arial" pitchFamily="34" charset="-120"/>
              </a:rPr>
              <a:t>Incentive data.xlsx</a:t>
            </a:r>
            <a:endParaRPr lang="en-US" sz="95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E8E93"/>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par>
                                <p:cTn id="14" presetID="42" presetClass="entr" presetSubtype="0" fill="hold" grpId="0" nodeType="withEffect">
                                  <p:stCondLst>
                                    <p:cond delay="20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650"/>
                                        <p:tgtEl>
                                          <p:spTgt spid="18"/>
                                        </p:tgtEl>
                                      </p:cBhvr>
                                    </p:animEffect>
                                    <p:anim calcmode="lin" valueType="num">
                                      <p:cBhvr>
                                        <p:cTn id="17" dur="650" fill="hold"/>
                                        <p:tgtEl>
                                          <p:spTgt spid="18"/>
                                        </p:tgtEl>
                                        <p:attrNameLst>
                                          <p:attrName>ppt_x</p:attrName>
                                        </p:attrNameLst>
                                      </p:cBhvr>
                                      <p:tavLst>
                                        <p:tav tm="0">
                                          <p:val>
                                            <p:strVal val="#ppt_x"/>
                                          </p:val>
                                        </p:tav>
                                        <p:tav tm="100000">
                                          <p:val>
                                            <p:strVal val="#ppt_x"/>
                                          </p:val>
                                        </p:tav>
                                      </p:tavLst>
                                    </p:anim>
                                    <p:anim calcmode="lin" valueType="num">
                                      <p:cBhvr>
                                        <p:cTn id="18" dur="650" fill="hold"/>
                                        <p:tgtEl>
                                          <p:spTgt spid="18"/>
                                        </p:tgtEl>
                                        <p:attrNameLst>
                                          <p:attrName>ppt_y</p:attrName>
                                        </p:attrNameLst>
                                      </p:cBhvr>
                                      <p:tavLst>
                                        <p:tav tm="0">
                                          <p:val>
                                            <p:strVal val="#ppt_y+.05"/>
                                          </p:val>
                                        </p:tav>
                                        <p:tav tm="100000">
                                          <p:val>
                                            <p:strVal val="#ppt_y"/>
                                          </p:val>
                                        </p:tav>
                                      </p:tavLst>
                                    </p:anim>
                                  </p:childTnLst>
                                </p:cTn>
                              </p:par>
                              <p:par>
                                <p:cTn id="19" presetID="42" presetClass="entr" presetSubtype="0" fill="hold" grpId="0" nodeType="withEffect">
                                  <p:stCondLst>
                                    <p:cond delay="30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650"/>
                                        <p:tgtEl>
                                          <p:spTgt spid="5"/>
                                        </p:tgtEl>
                                      </p:cBhvr>
                                    </p:animEffect>
                                    <p:anim calcmode="lin" valueType="num">
                                      <p:cBhvr>
                                        <p:cTn id="22" dur="650" fill="hold"/>
                                        <p:tgtEl>
                                          <p:spTgt spid="5"/>
                                        </p:tgtEl>
                                        <p:attrNameLst>
                                          <p:attrName>ppt_x</p:attrName>
                                        </p:attrNameLst>
                                      </p:cBhvr>
                                      <p:tavLst>
                                        <p:tav tm="0">
                                          <p:val>
                                            <p:strVal val="#ppt_x"/>
                                          </p:val>
                                        </p:tav>
                                        <p:tav tm="100000">
                                          <p:val>
                                            <p:strVal val="#ppt_x"/>
                                          </p:val>
                                        </p:tav>
                                      </p:tavLst>
                                    </p:anim>
                                    <p:anim calcmode="lin" valueType="num">
                                      <p:cBhvr>
                                        <p:cTn id="23" dur="650" fill="hold"/>
                                        <p:tgtEl>
                                          <p:spTgt spid="5"/>
                                        </p:tgtEl>
                                        <p:attrNameLst>
                                          <p:attrName>ppt_y</p:attrName>
                                        </p:attrNameLst>
                                      </p:cBhvr>
                                      <p:tavLst>
                                        <p:tav tm="0">
                                          <p:val>
                                            <p:strVal val="#ppt_y+.05"/>
                                          </p:val>
                                        </p:tav>
                                        <p:tav tm="100000">
                                          <p:val>
                                            <p:strVal val="#ppt_y"/>
                                          </p:val>
                                        </p:tav>
                                      </p:tavLst>
                                    </p:anim>
                                  </p:childTnLst>
                                </p:cTn>
                              </p:par>
                              <p:par>
                                <p:cTn id="24" presetID="42" presetClass="entr" presetSubtype="0" fill="hold" grpId="0" nodeType="withEffect">
                                  <p:stCondLst>
                                    <p:cond delay="30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650"/>
                                        <p:tgtEl>
                                          <p:spTgt spid="6"/>
                                        </p:tgtEl>
                                      </p:cBhvr>
                                    </p:animEffect>
                                    <p:anim calcmode="lin" valueType="num">
                                      <p:cBhvr>
                                        <p:cTn id="27" dur="650" fill="hold"/>
                                        <p:tgtEl>
                                          <p:spTgt spid="6"/>
                                        </p:tgtEl>
                                        <p:attrNameLst>
                                          <p:attrName>ppt_x</p:attrName>
                                        </p:attrNameLst>
                                      </p:cBhvr>
                                      <p:tavLst>
                                        <p:tav tm="0">
                                          <p:val>
                                            <p:strVal val="#ppt_x"/>
                                          </p:val>
                                        </p:tav>
                                        <p:tav tm="100000">
                                          <p:val>
                                            <p:strVal val="#ppt_x"/>
                                          </p:val>
                                        </p:tav>
                                      </p:tavLst>
                                    </p:anim>
                                    <p:anim calcmode="lin" valueType="num">
                                      <p:cBhvr>
                                        <p:cTn id="28" dur="650" fill="hold"/>
                                        <p:tgtEl>
                                          <p:spTgt spid="6"/>
                                        </p:tgtEl>
                                        <p:attrNameLst>
                                          <p:attrName>ppt_y</p:attrName>
                                        </p:attrNameLst>
                                      </p:cBhvr>
                                      <p:tavLst>
                                        <p:tav tm="0">
                                          <p:val>
                                            <p:strVal val="#ppt_y+.05"/>
                                          </p:val>
                                        </p:tav>
                                        <p:tav tm="100000">
                                          <p:val>
                                            <p:strVal val="#ppt_y"/>
                                          </p:val>
                                        </p:tav>
                                      </p:tavLst>
                                    </p:anim>
                                  </p:childTnLst>
                                </p:cTn>
                              </p:par>
                              <p:par>
                                <p:cTn id="29" presetID="42" presetClass="entr" presetSubtype="0" fill="hold" grpId="0" nodeType="withEffect">
                                  <p:stCondLst>
                                    <p:cond delay="30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650"/>
                                        <p:tgtEl>
                                          <p:spTgt spid="7"/>
                                        </p:tgtEl>
                                      </p:cBhvr>
                                    </p:animEffect>
                                    <p:anim calcmode="lin" valueType="num">
                                      <p:cBhvr>
                                        <p:cTn id="32" dur="650" fill="hold"/>
                                        <p:tgtEl>
                                          <p:spTgt spid="7"/>
                                        </p:tgtEl>
                                        <p:attrNameLst>
                                          <p:attrName>ppt_x</p:attrName>
                                        </p:attrNameLst>
                                      </p:cBhvr>
                                      <p:tavLst>
                                        <p:tav tm="0">
                                          <p:val>
                                            <p:strVal val="#ppt_x"/>
                                          </p:val>
                                        </p:tav>
                                        <p:tav tm="100000">
                                          <p:val>
                                            <p:strVal val="#ppt_x"/>
                                          </p:val>
                                        </p:tav>
                                      </p:tavLst>
                                    </p:anim>
                                    <p:anim calcmode="lin" valueType="num">
                                      <p:cBhvr>
                                        <p:cTn id="33" dur="650" fill="hold"/>
                                        <p:tgtEl>
                                          <p:spTgt spid="7"/>
                                        </p:tgtEl>
                                        <p:attrNameLst>
                                          <p:attrName>ppt_y</p:attrName>
                                        </p:attrNameLst>
                                      </p:cBhvr>
                                      <p:tavLst>
                                        <p:tav tm="0">
                                          <p:val>
                                            <p:strVal val="#ppt_y+.05"/>
                                          </p:val>
                                        </p:tav>
                                        <p:tav tm="100000">
                                          <p:val>
                                            <p:strVal val="#ppt_y"/>
                                          </p:val>
                                        </p:tav>
                                      </p:tavLst>
                                    </p:anim>
                                  </p:childTnLst>
                                </p:cTn>
                              </p:par>
                              <p:par>
                                <p:cTn id="34" presetID="42" presetClass="entr" presetSubtype="0" fill="hold" grpId="0" nodeType="withEffect">
                                  <p:stCondLst>
                                    <p:cond delay="30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650"/>
                                        <p:tgtEl>
                                          <p:spTgt spid="8"/>
                                        </p:tgtEl>
                                      </p:cBhvr>
                                    </p:animEffect>
                                    <p:anim calcmode="lin" valueType="num">
                                      <p:cBhvr>
                                        <p:cTn id="37" dur="650" fill="hold"/>
                                        <p:tgtEl>
                                          <p:spTgt spid="8"/>
                                        </p:tgtEl>
                                        <p:attrNameLst>
                                          <p:attrName>ppt_x</p:attrName>
                                        </p:attrNameLst>
                                      </p:cBhvr>
                                      <p:tavLst>
                                        <p:tav tm="0">
                                          <p:val>
                                            <p:strVal val="#ppt_x"/>
                                          </p:val>
                                        </p:tav>
                                        <p:tav tm="100000">
                                          <p:val>
                                            <p:strVal val="#ppt_x"/>
                                          </p:val>
                                        </p:tav>
                                      </p:tavLst>
                                    </p:anim>
                                    <p:anim calcmode="lin" valueType="num">
                                      <p:cBhvr>
                                        <p:cTn id="38" dur="650" fill="hold"/>
                                        <p:tgtEl>
                                          <p:spTgt spid="8"/>
                                        </p:tgtEl>
                                        <p:attrNameLst>
                                          <p:attrName>ppt_y</p:attrName>
                                        </p:attrNameLst>
                                      </p:cBhvr>
                                      <p:tavLst>
                                        <p:tav tm="0">
                                          <p:val>
                                            <p:strVal val="#ppt_y+.05"/>
                                          </p:val>
                                        </p:tav>
                                        <p:tav tm="100000">
                                          <p:val>
                                            <p:strVal val="#ppt_y"/>
                                          </p:val>
                                        </p:tav>
                                      </p:tavLst>
                                    </p:anim>
                                  </p:childTnLst>
                                </p:cTn>
                              </p:par>
                              <p:par>
                                <p:cTn id="39" presetID="42" presetClass="entr" presetSubtype="0" fill="hold" grpId="0" nodeType="withEffect">
                                  <p:stCondLst>
                                    <p:cond delay="450"/>
                                  </p:stCondLst>
                                  <p:childTnLst>
                                    <p:set>
                                      <p:cBhvr>
                                        <p:cTn id="40" dur="1" fill="hold">
                                          <p:stCondLst>
                                            <p:cond delay="0"/>
                                          </p:stCondLst>
                                        </p:cTn>
                                        <p:tgtEl>
                                          <p:spTgt spid="9"/>
                                        </p:tgtEl>
                                        <p:attrNameLst>
                                          <p:attrName>style.visibility</p:attrName>
                                        </p:attrNameLst>
                                      </p:cBhvr>
                                      <p:to>
                                        <p:strVal val="visible"/>
                                      </p:to>
                                    </p:set>
                                    <p:animEffect transition="in" filter="fade">
                                      <p:cBhvr>
                                        <p:cTn id="41" dur="650"/>
                                        <p:tgtEl>
                                          <p:spTgt spid="9"/>
                                        </p:tgtEl>
                                      </p:cBhvr>
                                    </p:animEffect>
                                    <p:anim calcmode="lin" valueType="num">
                                      <p:cBhvr>
                                        <p:cTn id="42" dur="650" fill="hold"/>
                                        <p:tgtEl>
                                          <p:spTgt spid="9"/>
                                        </p:tgtEl>
                                        <p:attrNameLst>
                                          <p:attrName>ppt_x</p:attrName>
                                        </p:attrNameLst>
                                      </p:cBhvr>
                                      <p:tavLst>
                                        <p:tav tm="0">
                                          <p:val>
                                            <p:strVal val="#ppt_x"/>
                                          </p:val>
                                        </p:tav>
                                        <p:tav tm="100000">
                                          <p:val>
                                            <p:strVal val="#ppt_x"/>
                                          </p:val>
                                        </p:tav>
                                      </p:tavLst>
                                    </p:anim>
                                    <p:anim calcmode="lin" valueType="num">
                                      <p:cBhvr>
                                        <p:cTn id="43" dur="650" fill="hold"/>
                                        <p:tgtEl>
                                          <p:spTgt spid="9"/>
                                        </p:tgtEl>
                                        <p:attrNameLst>
                                          <p:attrName>ppt_y</p:attrName>
                                        </p:attrNameLst>
                                      </p:cBhvr>
                                      <p:tavLst>
                                        <p:tav tm="0">
                                          <p:val>
                                            <p:strVal val="#ppt_y+.05"/>
                                          </p:val>
                                        </p:tav>
                                        <p:tav tm="100000">
                                          <p:val>
                                            <p:strVal val="#ppt_y"/>
                                          </p:val>
                                        </p:tav>
                                      </p:tavLst>
                                    </p:anim>
                                  </p:childTnLst>
                                </p:cTn>
                              </p:par>
                              <p:par>
                                <p:cTn id="44" presetID="42" presetClass="entr" presetSubtype="0" fill="hold" grpId="0" nodeType="withEffect">
                                  <p:stCondLst>
                                    <p:cond delay="45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650"/>
                                        <p:tgtEl>
                                          <p:spTgt spid="10"/>
                                        </p:tgtEl>
                                      </p:cBhvr>
                                    </p:animEffect>
                                    <p:anim calcmode="lin" valueType="num">
                                      <p:cBhvr>
                                        <p:cTn id="47" dur="650" fill="hold"/>
                                        <p:tgtEl>
                                          <p:spTgt spid="10"/>
                                        </p:tgtEl>
                                        <p:attrNameLst>
                                          <p:attrName>ppt_x</p:attrName>
                                        </p:attrNameLst>
                                      </p:cBhvr>
                                      <p:tavLst>
                                        <p:tav tm="0">
                                          <p:val>
                                            <p:strVal val="#ppt_x"/>
                                          </p:val>
                                        </p:tav>
                                        <p:tav tm="100000">
                                          <p:val>
                                            <p:strVal val="#ppt_x"/>
                                          </p:val>
                                        </p:tav>
                                      </p:tavLst>
                                    </p:anim>
                                    <p:anim calcmode="lin" valueType="num">
                                      <p:cBhvr>
                                        <p:cTn id="48" dur="650" fill="hold"/>
                                        <p:tgtEl>
                                          <p:spTgt spid="10"/>
                                        </p:tgtEl>
                                        <p:attrNameLst>
                                          <p:attrName>ppt_y</p:attrName>
                                        </p:attrNameLst>
                                      </p:cBhvr>
                                      <p:tavLst>
                                        <p:tav tm="0">
                                          <p:val>
                                            <p:strVal val="#ppt_y+.05"/>
                                          </p:val>
                                        </p:tav>
                                        <p:tav tm="100000">
                                          <p:val>
                                            <p:strVal val="#ppt_y"/>
                                          </p:val>
                                        </p:tav>
                                      </p:tavLst>
                                    </p:anim>
                                  </p:childTnLst>
                                </p:cTn>
                              </p:par>
                              <p:par>
                                <p:cTn id="49" presetID="42" presetClass="entr" presetSubtype="0" fill="hold" grpId="0" nodeType="withEffect">
                                  <p:stCondLst>
                                    <p:cond delay="450"/>
                                  </p:stCondLst>
                                  <p:childTnLst>
                                    <p:set>
                                      <p:cBhvr>
                                        <p:cTn id="50" dur="1" fill="hold">
                                          <p:stCondLst>
                                            <p:cond delay="0"/>
                                          </p:stCondLst>
                                        </p:cTn>
                                        <p:tgtEl>
                                          <p:spTgt spid="11"/>
                                        </p:tgtEl>
                                        <p:attrNameLst>
                                          <p:attrName>style.visibility</p:attrName>
                                        </p:attrNameLst>
                                      </p:cBhvr>
                                      <p:to>
                                        <p:strVal val="visible"/>
                                      </p:to>
                                    </p:set>
                                    <p:animEffect transition="in" filter="fade">
                                      <p:cBhvr>
                                        <p:cTn id="51" dur="650"/>
                                        <p:tgtEl>
                                          <p:spTgt spid="11"/>
                                        </p:tgtEl>
                                      </p:cBhvr>
                                    </p:animEffect>
                                    <p:anim calcmode="lin" valueType="num">
                                      <p:cBhvr>
                                        <p:cTn id="52" dur="650" fill="hold"/>
                                        <p:tgtEl>
                                          <p:spTgt spid="11"/>
                                        </p:tgtEl>
                                        <p:attrNameLst>
                                          <p:attrName>ppt_x</p:attrName>
                                        </p:attrNameLst>
                                      </p:cBhvr>
                                      <p:tavLst>
                                        <p:tav tm="0">
                                          <p:val>
                                            <p:strVal val="#ppt_x"/>
                                          </p:val>
                                        </p:tav>
                                        <p:tav tm="100000">
                                          <p:val>
                                            <p:strVal val="#ppt_x"/>
                                          </p:val>
                                        </p:tav>
                                      </p:tavLst>
                                    </p:anim>
                                    <p:anim calcmode="lin" valueType="num">
                                      <p:cBhvr>
                                        <p:cTn id="53" dur="650" fill="hold"/>
                                        <p:tgtEl>
                                          <p:spTgt spid="11"/>
                                        </p:tgtEl>
                                        <p:attrNameLst>
                                          <p:attrName>ppt_y</p:attrName>
                                        </p:attrNameLst>
                                      </p:cBhvr>
                                      <p:tavLst>
                                        <p:tav tm="0">
                                          <p:val>
                                            <p:strVal val="#ppt_y+.05"/>
                                          </p:val>
                                        </p:tav>
                                        <p:tav tm="100000">
                                          <p:val>
                                            <p:strVal val="#ppt_y"/>
                                          </p:val>
                                        </p:tav>
                                      </p:tavLst>
                                    </p:anim>
                                  </p:childTnLst>
                                </p:cTn>
                              </p:par>
                              <p:par>
                                <p:cTn id="54" presetID="42" presetClass="entr" presetSubtype="0" fill="hold" grpId="0" nodeType="withEffect">
                                  <p:stCondLst>
                                    <p:cond delay="450"/>
                                  </p:stCondLst>
                                  <p:childTnLst>
                                    <p:set>
                                      <p:cBhvr>
                                        <p:cTn id="55" dur="1" fill="hold">
                                          <p:stCondLst>
                                            <p:cond delay="0"/>
                                          </p:stCondLst>
                                        </p:cTn>
                                        <p:tgtEl>
                                          <p:spTgt spid="12"/>
                                        </p:tgtEl>
                                        <p:attrNameLst>
                                          <p:attrName>style.visibility</p:attrName>
                                        </p:attrNameLst>
                                      </p:cBhvr>
                                      <p:to>
                                        <p:strVal val="visible"/>
                                      </p:to>
                                    </p:set>
                                    <p:animEffect transition="in" filter="fade">
                                      <p:cBhvr>
                                        <p:cTn id="56" dur="650"/>
                                        <p:tgtEl>
                                          <p:spTgt spid="12"/>
                                        </p:tgtEl>
                                      </p:cBhvr>
                                    </p:animEffect>
                                    <p:anim calcmode="lin" valueType="num">
                                      <p:cBhvr>
                                        <p:cTn id="57" dur="650" fill="hold"/>
                                        <p:tgtEl>
                                          <p:spTgt spid="12"/>
                                        </p:tgtEl>
                                        <p:attrNameLst>
                                          <p:attrName>ppt_x</p:attrName>
                                        </p:attrNameLst>
                                      </p:cBhvr>
                                      <p:tavLst>
                                        <p:tav tm="0">
                                          <p:val>
                                            <p:strVal val="#ppt_x"/>
                                          </p:val>
                                        </p:tav>
                                        <p:tav tm="100000">
                                          <p:val>
                                            <p:strVal val="#ppt_x"/>
                                          </p:val>
                                        </p:tav>
                                      </p:tavLst>
                                    </p:anim>
                                    <p:anim calcmode="lin" valueType="num">
                                      <p:cBhvr>
                                        <p:cTn id="58" dur="650" fill="hold"/>
                                        <p:tgtEl>
                                          <p:spTgt spid="12"/>
                                        </p:tgtEl>
                                        <p:attrNameLst>
                                          <p:attrName>ppt_y</p:attrName>
                                        </p:attrNameLst>
                                      </p:cBhvr>
                                      <p:tavLst>
                                        <p:tav tm="0">
                                          <p:val>
                                            <p:strVal val="#ppt_y+.05"/>
                                          </p:val>
                                        </p:tav>
                                        <p:tav tm="100000">
                                          <p:val>
                                            <p:strVal val="#ppt_y"/>
                                          </p:val>
                                        </p:tav>
                                      </p:tavLst>
                                    </p:anim>
                                  </p:childTnLst>
                                </p:cTn>
                              </p:par>
                              <p:par>
                                <p:cTn id="59" presetID="42" presetClass="entr" presetSubtype="0" fill="hold" grpId="0" nodeType="withEffect">
                                  <p:stCondLst>
                                    <p:cond delay="450"/>
                                  </p:stCondLst>
                                  <p:childTnLst>
                                    <p:set>
                                      <p:cBhvr>
                                        <p:cTn id="60" dur="1" fill="hold">
                                          <p:stCondLst>
                                            <p:cond delay="0"/>
                                          </p:stCondLst>
                                        </p:cTn>
                                        <p:tgtEl>
                                          <p:spTgt spid="19"/>
                                        </p:tgtEl>
                                        <p:attrNameLst>
                                          <p:attrName>style.visibility</p:attrName>
                                        </p:attrNameLst>
                                      </p:cBhvr>
                                      <p:to>
                                        <p:strVal val="visible"/>
                                      </p:to>
                                    </p:set>
                                    <p:animEffect transition="in" filter="fade">
                                      <p:cBhvr>
                                        <p:cTn id="61" dur="650"/>
                                        <p:tgtEl>
                                          <p:spTgt spid="19"/>
                                        </p:tgtEl>
                                      </p:cBhvr>
                                    </p:animEffect>
                                    <p:anim calcmode="lin" valueType="num">
                                      <p:cBhvr>
                                        <p:cTn id="62" dur="650" fill="hold"/>
                                        <p:tgtEl>
                                          <p:spTgt spid="19"/>
                                        </p:tgtEl>
                                        <p:attrNameLst>
                                          <p:attrName>ppt_x</p:attrName>
                                        </p:attrNameLst>
                                      </p:cBhvr>
                                      <p:tavLst>
                                        <p:tav tm="0">
                                          <p:val>
                                            <p:strVal val="#ppt_x"/>
                                          </p:val>
                                        </p:tav>
                                        <p:tav tm="100000">
                                          <p:val>
                                            <p:strVal val="#ppt_x"/>
                                          </p:val>
                                        </p:tav>
                                      </p:tavLst>
                                    </p:anim>
                                    <p:anim calcmode="lin" valueType="num">
                                      <p:cBhvr>
                                        <p:cTn id="63" dur="650" fill="hold"/>
                                        <p:tgtEl>
                                          <p:spTgt spid="19"/>
                                        </p:tgtEl>
                                        <p:attrNameLst>
                                          <p:attrName>ppt_y</p:attrName>
                                        </p:attrNameLst>
                                      </p:cBhvr>
                                      <p:tavLst>
                                        <p:tav tm="0">
                                          <p:val>
                                            <p:strVal val="#ppt_y+.05"/>
                                          </p:val>
                                        </p:tav>
                                        <p:tav tm="100000">
                                          <p:val>
                                            <p:strVal val="#ppt_y"/>
                                          </p:val>
                                        </p:tav>
                                      </p:tavLst>
                                    </p:anim>
                                  </p:childTnLst>
                                </p:cTn>
                              </p:par>
                              <p:par>
                                <p:cTn id="64" presetID="42" presetClass="entr" presetSubtype="0" fill="hold" grpId="0" nodeType="withEffect">
                                  <p:stCondLst>
                                    <p:cond delay="450"/>
                                  </p:stCondLst>
                                  <p:childTnLst>
                                    <p:set>
                                      <p:cBhvr>
                                        <p:cTn id="65" dur="1" fill="hold">
                                          <p:stCondLst>
                                            <p:cond delay="0"/>
                                          </p:stCondLst>
                                        </p:cTn>
                                        <p:tgtEl>
                                          <p:spTgt spid="20"/>
                                        </p:tgtEl>
                                        <p:attrNameLst>
                                          <p:attrName>style.visibility</p:attrName>
                                        </p:attrNameLst>
                                      </p:cBhvr>
                                      <p:to>
                                        <p:strVal val="visible"/>
                                      </p:to>
                                    </p:set>
                                    <p:animEffect transition="in" filter="fade">
                                      <p:cBhvr>
                                        <p:cTn id="66" dur="650"/>
                                        <p:tgtEl>
                                          <p:spTgt spid="20"/>
                                        </p:tgtEl>
                                      </p:cBhvr>
                                    </p:animEffect>
                                    <p:anim calcmode="lin" valueType="num">
                                      <p:cBhvr>
                                        <p:cTn id="67" dur="650" fill="hold"/>
                                        <p:tgtEl>
                                          <p:spTgt spid="20"/>
                                        </p:tgtEl>
                                        <p:attrNameLst>
                                          <p:attrName>ppt_x</p:attrName>
                                        </p:attrNameLst>
                                      </p:cBhvr>
                                      <p:tavLst>
                                        <p:tav tm="0">
                                          <p:val>
                                            <p:strVal val="#ppt_x"/>
                                          </p:val>
                                        </p:tav>
                                        <p:tav tm="100000">
                                          <p:val>
                                            <p:strVal val="#ppt_x"/>
                                          </p:val>
                                        </p:tav>
                                      </p:tavLst>
                                    </p:anim>
                                    <p:anim calcmode="lin" valueType="num">
                                      <p:cBhvr>
                                        <p:cTn id="68" dur="650" fill="hold"/>
                                        <p:tgtEl>
                                          <p:spTgt spid="20"/>
                                        </p:tgtEl>
                                        <p:attrNameLst>
                                          <p:attrName>ppt_y</p:attrName>
                                        </p:attrNameLst>
                                      </p:cBhvr>
                                      <p:tavLst>
                                        <p:tav tm="0">
                                          <p:val>
                                            <p:strVal val="#ppt_y+.05"/>
                                          </p:val>
                                        </p:tav>
                                        <p:tav tm="100000">
                                          <p:val>
                                            <p:strVal val="#ppt_y"/>
                                          </p:val>
                                        </p:tav>
                                      </p:tavLst>
                                    </p:anim>
                                  </p:childTnLst>
                                </p:cTn>
                              </p:par>
                              <p:par>
                                <p:cTn id="69" presetID="42" presetClass="entr" presetSubtype="0" fill="hold" grpId="0" nodeType="withEffect">
                                  <p:stCondLst>
                                    <p:cond delay="450"/>
                                  </p:stCondLst>
                                  <p:childTnLst>
                                    <p:set>
                                      <p:cBhvr>
                                        <p:cTn id="70" dur="1" fill="hold">
                                          <p:stCondLst>
                                            <p:cond delay="0"/>
                                          </p:stCondLst>
                                        </p:cTn>
                                        <p:tgtEl>
                                          <p:spTgt spid="21"/>
                                        </p:tgtEl>
                                        <p:attrNameLst>
                                          <p:attrName>style.visibility</p:attrName>
                                        </p:attrNameLst>
                                      </p:cBhvr>
                                      <p:to>
                                        <p:strVal val="visible"/>
                                      </p:to>
                                    </p:set>
                                    <p:animEffect transition="in" filter="fade">
                                      <p:cBhvr>
                                        <p:cTn id="71" dur="650"/>
                                        <p:tgtEl>
                                          <p:spTgt spid="21"/>
                                        </p:tgtEl>
                                      </p:cBhvr>
                                    </p:animEffect>
                                    <p:anim calcmode="lin" valueType="num">
                                      <p:cBhvr>
                                        <p:cTn id="72" dur="650" fill="hold"/>
                                        <p:tgtEl>
                                          <p:spTgt spid="21"/>
                                        </p:tgtEl>
                                        <p:attrNameLst>
                                          <p:attrName>ppt_x</p:attrName>
                                        </p:attrNameLst>
                                      </p:cBhvr>
                                      <p:tavLst>
                                        <p:tav tm="0">
                                          <p:val>
                                            <p:strVal val="#ppt_x"/>
                                          </p:val>
                                        </p:tav>
                                        <p:tav tm="100000">
                                          <p:val>
                                            <p:strVal val="#ppt_x"/>
                                          </p:val>
                                        </p:tav>
                                      </p:tavLst>
                                    </p:anim>
                                    <p:anim calcmode="lin" valueType="num">
                                      <p:cBhvr>
                                        <p:cTn id="73" dur="650" fill="hold"/>
                                        <p:tgtEl>
                                          <p:spTgt spid="21"/>
                                        </p:tgtEl>
                                        <p:attrNameLst>
                                          <p:attrName>ppt_y</p:attrName>
                                        </p:attrNameLst>
                                      </p:cBhvr>
                                      <p:tavLst>
                                        <p:tav tm="0">
                                          <p:val>
                                            <p:strVal val="#ppt_y+.05"/>
                                          </p:val>
                                        </p:tav>
                                        <p:tav tm="100000">
                                          <p:val>
                                            <p:strVal val="#ppt_y"/>
                                          </p:val>
                                        </p:tav>
                                      </p:tavLst>
                                    </p:anim>
                                  </p:childTnLst>
                                </p:cTn>
                              </p:par>
                              <p:par>
                                <p:cTn id="74" presetID="42" presetClass="entr" presetSubtype="0" fill="hold" grpId="0" nodeType="withEffect">
                                  <p:stCondLst>
                                    <p:cond delay="520"/>
                                  </p:stCondLst>
                                  <p:childTnLst>
                                    <p:set>
                                      <p:cBhvr>
                                        <p:cTn id="75" dur="1" fill="hold">
                                          <p:stCondLst>
                                            <p:cond delay="0"/>
                                          </p:stCondLst>
                                        </p:cTn>
                                        <p:tgtEl>
                                          <p:spTgt spid="22"/>
                                        </p:tgtEl>
                                        <p:attrNameLst>
                                          <p:attrName>style.visibility</p:attrName>
                                        </p:attrNameLst>
                                      </p:cBhvr>
                                      <p:to>
                                        <p:strVal val="visible"/>
                                      </p:to>
                                    </p:set>
                                    <p:animEffect transition="in" filter="fade">
                                      <p:cBhvr>
                                        <p:cTn id="76" dur="650"/>
                                        <p:tgtEl>
                                          <p:spTgt spid="22"/>
                                        </p:tgtEl>
                                      </p:cBhvr>
                                    </p:animEffect>
                                    <p:anim calcmode="lin" valueType="num">
                                      <p:cBhvr>
                                        <p:cTn id="77" dur="650" fill="hold"/>
                                        <p:tgtEl>
                                          <p:spTgt spid="22"/>
                                        </p:tgtEl>
                                        <p:attrNameLst>
                                          <p:attrName>ppt_x</p:attrName>
                                        </p:attrNameLst>
                                      </p:cBhvr>
                                      <p:tavLst>
                                        <p:tav tm="0">
                                          <p:val>
                                            <p:strVal val="#ppt_x"/>
                                          </p:val>
                                        </p:tav>
                                        <p:tav tm="100000">
                                          <p:val>
                                            <p:strVal val="#ppt_x"/>
                                          </p:val>
                                        </p:tav>
                                      </p:tavLst>
                                    </p:anim>
                                    <p:anim calcmode="lin" valueType="num">
                                      <p:cBhvr>
                                        <p:cTn id="78" dur="650" fill="hold"/>
                                        <p:tgtEl>
                                          <p:spTgt spid="22"/>
                                        </p:tgtEl>
                                        <p:attrNameLst>
                                          <p:attrName>ppt_y</p:attrName>
                                        </p:attrNameLst>
                                      </p:cBhvr>
                                      <p:tavLst>
                                        <p:tav tm="0">
                                          <p:val>
                                            <p:strVal val="#ppt_y+.05"/>
                                          </p:val>
                                        </p:tav>
                                        <p:tav tm="100000">
                                          <p:val>
                                            <p:strVal val="#ppt_y"/>
                                          </p:val>
                                        </p:tav>
                                      </p:tavLst>
                                    </p:anim>
                                  </p:childTnLst>
                                </p:cTn>
                              </p:par>
                              <p:par>
                                <p:cTn id="79" presetID="42" presetClass="entr" presetSubtype="0" fill="hold" grpId="0" nodeType="withEffect">
                                  <p:stCondLst>
                                    <p:cond delay="520"/>
                                  </p:stCondLst>
                                  <p:childTnLst>
                                    <p:set>
                                      <p:cBhvr>
                                        <p:cTn id="80" dur="1" fill="hold">
                                          <p:stCondLst>
                                            <p:cond delay="0"/>
                                          </p:stCondLst>
                                        </p:cTn>
                                        <p:tgtEl>
                                          <p:spTgt spid="23"/>
                                        </p:tgtEl>
                                        <p:attrNameLst>
                                          <p:attrName>style.visibility</p:attrName>
                                        </p:attrNameLst>
                                      </p:cBhvr>
                                      <p:to>
                                        <p:strVal val="visible"/>
                                      </p:to>
                                    </p:set>
                                    <p:animEffect transition="in" filter="fade">
                                      <p:cBhvr>
                                        <p:cTn id="81" dur="650"/>
                                        <p:tgtEl>
                                          <p:spTgt spid="23"/>
                                        </p:tgtEl>
                                      </p:cBhvr>
                                    </p:animEffect>
                                    <p:anim calcmode="lin" valueType="num">
                                      <p:cBhvr>
                                        <p:cTn id="82" dur="650" fill="hold"/>
                                        <p:tgtEl>
                                          <p:spTgt spid="23"/>
                                        </p:tgtEl>
                                        <p:attrNameLst>
                                          <p:attrName>ppt_x</p:attrName>
                                        </p:attrNameLst>
                                      </p:cBhvr>
                                      <p:tavLst>
                                        <p:tav tm="0">
                                          <p:val>
                                            <p:strVal val="#ppt_x"/>
                                          </p:val>
                                        </p:tav>
                                        <p:tav tm="100000">
                                          <p:val>
                                            <p:strVal val="#ppt_x"/>
                                          </p:val>
                                        </p:tav>
                                      </p:tavLst>
                                    </p:anim>
                                    <p:anim calcmode="lin" valueType="num">
                                      <p:cBhvr>
                                        <p:cTn id="83" dur="650" fill="hold"/>
                                        <p:tgtEl>
                                          <p:spTgt spid="23"/>
                                        </p:tgtEl>
                                        <p:attrNameLst>
                                          <p:attrName>ppt_y</p:attrName>
                                        </p:attrNameLst>
                                      </p:cBhvr>
                                      <p:tavLst>
                                        <p:tav tm="0">
                                          <p:val>
                                            <p:strVal val="#ppt_y+.05"/>
                                          </p:val>
                                        </p:tav>
                                        <p:tav tm="100000">
                                          <p:val>
                                            <p:strVal val="#ppt_y"/>
                                          </p:val>
                                        </p:tav>
                                      </p:tavLst>
                                    </p:anim>
                                  </p:childTnLst>
                                </p:cTn>
                              </p:par>
                              <p:par>
                                <p:cTn id="84" presetID="42" presetClass="entr" presetSubtype="0" fill="hold" grpId="0" nodeType="withEffect">
                                  <p:stCondLst>
                                    <p:cond delay="520"/>
                                  </p:stCondLst>
                                  <p:childTnLst>
                                    <p:set>
                                      <p:cBhvr>
                                        <p:cTn id="85" dur="1" fill="hold">
                                          <p:stCondLst>
                                            <p:cond delay="0"/>
                                          </p:stCondLst>
                                        </p:cTn>
                                        <p:tgtEl>
                                          <p:spTgt spid="24"/>
                                        </p:tgtEl>
                                        <p:attrNameLst>
                                          <p:attrName>style.visibility</p:attrName>
                                        </p:attrNameLst>
                                      </p:cBhvr>
                                      <p:to>
                                        <p:strVal val="visible"/>
                                      </p:to>
                                    </p:set>
                                    <p:animEffect transition="in" filter="fade">
                                      <p:cBhvr>
                                        <p:cTn id="86" dur="650"/>
                                        <p:tgtEl>
                                          <p:spTgt spid="24"/>
                                        </p:tgtEl>
                                      </p:cBhvr>
                                    </p:animEffect>
                                    <p:anim calcmode="lin" valueType="num">
                                      <p:cBhvr>
                                        <p:cTn id="87" dur="650" fill="hold"/>
                                        <p:tgtEl>
                                          <p:spTgt spid="24"/>
                                        </p:tgtEl>
                                        <p:attrNameLst>
                                          <p:attrName>ppt_x</p:attrName>
                                        </p:attrNameLst>
                                      </p:cBhvr>
                                      <p:tavLst>
                                        <p:tav tm="0">
                                          <p:val>
                                            <p:strVal val="#ppt_x"/>
                                          </p:val>
                                        </p:tav>
                                        <p:tav tm="100000">
                                          <p:val>
                                            <p:strVal val="#ppt_x"/>
                                          </p:val>
                                        </p:tav>
                                      </p:tavLst>
                                    </p:anim>
                                    <p:anim calcmode="lin" valueType="num">
                                      <p:cBhvr>
                                        <p:cTn id="88" dur="650" fill="hold"/>
                                        <p:tgtEl>
                                          <p:spTgt spid="24"/>
                                        </p:tgtEl>
                                        <p:attrNameLst>
                                          <p:attrName>ppt_y</p:attrName>
                                        </p:attrNameLst>
                                      </p:cBhvr>
                                      <p:tavLst>
                                        <p:tav tm="0">
                                          <p:val>
                                            <p:strVal val="#ppt_y+.05"/>
                                          </p:val>
                                        </p:tav>
                                        <p:tav tm="100000">
                                          <p:val>
                                            <p:strVal val="#ppt_y"/>
                                          </p:val>
                                        </p:tav>
                                      </p:tavLst>
                                    </p:anim>
                                  </p:childTnLst>
                                </p:cTn>
                              </p:par>
                              <p:par>
                                <p:cTn id="89" presetID="42" presetClass="entr" presetSubtype="0" fill="hold" grpId="0" nodeType="withEffect">
                                  <p:stCondLst>
                                    <p:cond delay="590"/>
                                  </p:stCondLst>
                                  <p:childTnLst>
                                    <p:set>
                                      <p:cBhvr>
                                        <p:cTn id="90" dur="1" fill="hold">
                                          <p:stCondLst>
                                            <p:cond delay="0"/>
                                          </p:stCondLst>
                                        </p:cTn>
                                        <p:tgtEl>
                                          <p:spTgt spid="25"/>
                                        </p:tgtEl>
                                        <p:attrNameLst>
                                          <p:attrName>style.visibility</p:attrName>
                                        </p:attrNameLst>
                                      </p:cBhvr>
                                      <p:to>
                                        <p:strVal val="visible"/>
                                      </p:to>
                                    </p:set>
                                    <p:animEffect transition="in" filter="fade">
                                      <p:cBhvr>
                                        <p:cTn id="91" dur="650"/>
                                        <p:tgtEl>
                                          <p:spTgt spid="25"/>
                                        </p:tgtEl>
                                      </p:cBhvr>
                                    </p:animEffect>
                                    <p:anim calcmode="lin" valueType="num">
                                      <p:cBhvr>
                                        <p:cTn id="92" dur="650" fill="hold"/>
                                        <p:tgtEl>
                                          <p:spTgt spid="25"/>
                                        </p:tgtEl>
                                        <p:attrNameLst>
                                          <p:attrName>ppt_x</p:attrName>
                                        </p:attrNameLst>
                                      </p:cBhvr>
                                      <p:tavLst>
                                        <p:tav tm="0">
                                          <p:val>
                                            <p:strVal val="#ppt_x"/>
                                          </p:val>
                                        </p:tav>
                                        <p:tav tm="100000">
                                          <p:val>
                                            <p:strVal val="#ppt_x"/>
                                          </p:val>
                                        </p:tav>
                                      </p:tavLst>
                                    </p:anim>
                                    <p:anim calcmode="lin" valueType="num">
                                      <p:cBhvr>
                                        <p:cTn id="93" dur="650" fill="hold"/>
                                        <p:tgtEl>
                                          <p:spTgt spid="25"/>
                                        </p:tgtEl>
                                        <p:attrNameLst>
                                          <p:attrName>ppt_y</p:attrName>
                                        </p:attrNameLst>
                                      </p:cBhvr>
                                      <p:tavLst>
                                        <p:tav tm="0">
                                          <p:val>
                                            <p:strVal val="#ppt_y+.05"/>
                                          </p:val>
                                        </p:tav>
                                        <p:tav tm="100000">
                                          <p:val>
                                            <p:strVal val="#ppt_y"/>
                                          </p:val>
                                        </p:tav>
                                      </p:tavLst>
                                    </p:anim>
                                  </p:childTnLst>
                                </p:cTn>
                              </p:par>
                              <p:par>
                                <p:cTn id="94" presetID="42" presetClass="entr" presetSubtype="0" fill="hold" grpId="0" nodeType="withEffect">
                                  <p:stCondLst>
                                    <p:cond delay="590"/>
                                  </p:stCondLst>
                                  <p:childTnLst>
                                    <p:set>
                                      <p:cBhvr>
                                        <p:cTn id="95" dur="1" fill="hold">
                                          <p:stCondLst>
                                            <p:cond delay="0"/>
                                          </p:stCondLst>
                                        </p:cTn>
                                        <p:tgtEl>
                                          <p:spTgt spid="26"/>
                                        </p:tgtEl>
                                        <p:attrNameLst>
                                          <p:attrName>style.visibility</p:attrName>
                                        </p:attrNameLst>
                                      </p:cBhvr>
                                      <p:to>
                                        <p:strVal val="visible"/>
                                      </p:to>
                                    </p:set>
                                    <p:animEffect transition="in" filter="fade">
                                      <p:cBhvr>
                                        <p:cTn id="96" dur="650"/>
                                        <p:tgtEl>
                                          <p:spTgt spid="26"/>
                                        </p:tgtEl>
                                      </p:cBhvr>
                                    </p:animEffect>
                                    <p:anim calcmode="lin" valueType="num">
                                      <p:cBhvr>
                                        <p:cTn id="97" dur="650" fill="hold"/>
                                        <p:tgtEl>
                                          <p:spTgt spid="26"/>
                                        </p:tgtEl>
                                        <p:attrNameLst>
                                          <p:attrName>ppt_x</p:attrName>
                                        </p:attrNameLst>
                                      </p:cBhvr>
                                      <p:tavLst>
                                        <p:tav tm="0">
                                          <p:val>
                                            <p:strVal val="#ppt_x"/>
                                          </p:val>
                                        </p:tav>
                                        <p:tav tm="100000">
                                          <p:val>
                                            <p:strVal val="#ppt_x"/>
                                          </p:val>
                                        </p:tav>
                                      </p:tavLst>
                                    </p:anim>
                                    <p:anim calcmode="lin" valueType="num">
                                      <p:cBhvr>
                                        <p:cTn id="98" dur="650" fill="hold"/>
                                        <p:tgtEl>
                                          <p:spTgt spid="26"/>
                                        </p:tgtEl>
                                        <p:attrNameLst>
                                          <p:attrName>ppt_y</p:attrName>
                                        </p:attrNameLst>
                                      </p:cBhvr>
                                      <p:tavLst>
                                        <p:tav tm="0">
                                          <p:val>
                                            <p:strVal val="#ppt_y+.05"/>
                                          </p:val>
                                        </p:tav>
                                        <p:tav tm="100000">
                                          <p:val>
                                            <p:strVal val="#ppt_y"/>
                                          </p:val>
                                        </p:tav>
                                      </p:tavLst>
                                    </p:anim>
                                  </p:childTnLst>
                                </p:cTn>
                              </p:par>
                              <p:par>
                                <p:cTn id="99" presetID="42" presetClass="entr" presetSubtype="0" fill="hold" grpId="0" nodeType="withEffect">
                                  <p:stCondLst>
                                    <p:cond delay="590"/>
                                  </p:stCondLst>
                                  <p:childTnLst>
                                    <p:set>
                                      <p:cBhvr>
                                        <p:cTn id="100" dur="1" fill="hold">
                                          <p:stCondLst>
                                            <p:cond delay="0"/>
                                          </p:stCondLst>
                                        </p:cTn>
                                        <p:tgtEl>
                                          <p:spTgt spid="27"/>
                                        </p:tgtEl>
                                        <p:attrNameLst>
                                          <p:attrName>style.visibility</p:attrName>
                                        </p:attrNameLst>
                                      </p:cBhvr>
                                      <p:to>
                                        <p:strVal val="visible"/>
                                      </p:to>
                                    </p:set>
                                    <p:animEffect transition="in" filter="fade">
                                      <p:cBhvr>
                                        <p:cTn id="101" dur="650"/>
                                        <p:tgtEl>
                                          <p:spTgt spid="27"/>
                                        </p:tgtEl>
                                      </p:cBhvr>
                                    </p:animEffect>
                                    <p:anim calcmode="lin" valueType="num">
                                      <p:cBhvr>
                                        <p:cTn id="102" dur="650" fill="hold"/>
                                        <p:tgtEl>
                                          <p:spTgt spid="27"/>
                                        </p:tgtEl>
                                        <p:attrNameLst>
                                          <p:attrName>ppt_x</p:attrName>
                                        </p:attrNameLst>
                                      </p:cBhvr>
                                      <p:tavLst>
                                        <p:tav tm="0">
                                          <p:val>
                                            <p:strVal val="#ppt_x"/>
                                          </p:val>
                                        </p:tav>
                                        <p:tav tm="100000">
                                          <p:val>
                                            <p:strVal val="#ppt_x"/>
                                          </p:val>
                                        </p:tav>
                                      </p:tavLst>
                                    </p:anim>
                                    <p:anim calcmode="lin" valueType="num">
                                      <p:cBhvr>
                                        <p:cTn id="103" dur="650" fill="hold"/>
                                        <p:tgtEl>
                                          <p:spTgt spid="27"/>
                                        </p:tgtEl>
                                        <p:attrNameLst>
                                          <p:attrName>ppt_y</p:attrName>
                                        </p:attrNameLst>
                                      </p:cBhvr>
                                      <p:tavLst>
                                        <p:tav tm="0">
                                          <p:val>
                                            <p:strVal val="#ppt_y+.05"/>
                                          </p:val>
                                        </p:tav>
                                        <p:tav tm="100000">
                                          <p:val>
                                            <p:strVal val="#ppt_y"/>
                                          </p:val>
                                        </p:tav>
                                      </p:tavLst>
                                    </p:anim>
                                  </p:childTnLst>
                                </p:cTn>
                              </p:par>
                              <p:par>
                                <p:cTn id="104" presetID="42" presetClass="entr" presetSubtype="0" fill="hold" grpId="0" nodeType="withEffect">
                                  <p:stCondLst>
                                    <p:cond delay="600"/>
                                  </p:stCondLst>
                                  <p:childTnLst>
                                    <p:set>
                                      <p:cBhvr>
                                        <p:cTn id="105" dur="1" fill="hold">
                                          <p:stCondLst>
                                            <p:cond delay="0"/>
                                          </p:stCondLst>
                                        </p:cTn>
                                        <p:tgtEl>
                                          <p:spTgt spid="13"/>
                                        </p:tgtEl>
                                        <p:attrNameLst>
                                          <p:attrName>style.visibility</p:attrName>
                                        </p:attrNameLst>
                                      </p:cBhvr>
                                      <p:to>
                                        <p:strVal val="visible"/>
                                      </p:to>
                                    </p:set>
                                    <p:animEffect transition="in" filter="fade">
                                      <p:cBhvr>
                                        <p:cTn id="106" dur="650"/>
                                        <p:tgtEl>
                                          <p:spTgt spid="13"/>
                                        </p:tgtEl>
                                      </p:cBhvr>
                                    </p:animEffect>
                                    <p:anim calcmode="lin" valueType="num">
                                      <p:cBhvr>
                                        <p:cTn id="107" dur="650" fill="hold"/>
                                        <p:tgtEl>
                                          <p:spTgt spid="13"/>
                                        </p:tgtEl>
                                        <p:attrNameLst>
                                          <p:attrName>ppt_x</p:attrName>
                                        </p:attrNameLst>
                                      </p:cBhvr>
                                      <p:tavLst>
                                        <p:tav tm="0">
                                          <p:val>
                                            <p:strVal val="#ppt_x"/>
                                          </p:val>
                                        </p:tav>
                                        <p:tav tm="100000">
                                          <p:val>
                                            <p:strVal val="#ppt_x"/>
                                          </p:val>
                                        </p:tav>
                                      </p:tavLst>
                                    </p:anim>
                                    <p:anim calcmode="lin" valueType="num">
                                      <p:cBhvr>
                                        <p:cTn id="108" dur="650" fill="hold"/>
                                        <p:tgtEl>
                                          <p:spTgt spid="13"/>
                                        </p:tgtEl>
                                        <p:attrNameLst>
                                          <p:attrName>ppt_y</p:attrName>
                                        </p:attrNameLst>
                                      </p:cBhvr>
                                      <p:tavLst>
                                        <p:tav tm="0">
                                          <p:val>
                                            <p:strVal val="#ppt_y+.05"/>
                                          </p:val>
                                        </p:tav>
                                        <p:tav tm="100000">
                                          <p:val>
                                            <p:strVal val="#ppt_y"/>
                                          </p:val>
                                        </p:tav>
                                      </p:tavLst>
                                    </p:anim>
                                  </p:childTnLst>
                                </p:cTn>
                              </p:par>
                              <p:par>
                                <p:cTn id="109" presetID="42" presetClass="entr" presetSubtype="0" fill="hold" grpId="0" nodeType="withEffect">
                                  <p:stCondLst>
                                    <p:cond delay="600"/>
                                  </p:stCondLst>
                                  <p:childTnLst>
                                    <p:set>
                                      <p:cBhvr>
                                        <p:cTn id="110" dur="1" fill="hold">
                                          <p:stCondLst>
                                            <p:cond delay="0"/>
                                          </p:stCondLst>
                                        </p:cTn>
                                        <p:tgtEl>
                                          <p:spTgt spid="14"/>
                                        </p:tgtEl>
                                        <p:attrNameLst>
                                          <p:attrName>style.visibility</p:attrName>
                                        </p:attrNameLst>
                                      </p:cBhvr>
                                      <p:to>
                                        <p:strVal val="visible"/>
                                      </p:to>
                                    </p:set>
                                    <p:animEffect transition="in" filter="fade">
                                      <p:cBhvr>
                                        <p:cTn id="111" dur="650"/>
                                        <p:tgtEl>
                                          <p:spTgt spid="14"/>
                                        </p:tgtEl>
                                      </p:cBhvr>
                                    </p:animEffect>
                                    <p:anim calcmode="lin" valueType="num">
                                      <p:cBhvr>
                                        <p:cTn id="112" dur="650" fill="hold"/>
                                        <p:tgtEl>
                                          <p:spTgt spid="14"/>
                                        </p:tgtEl>
                                        <p:attrNameLst>
                                          <p:attrName>ppt_x</p:attrName>
                                        </p:attrNameLst>
                                      </p:cBhvr>
                                      <p:tavLst>
                                        <p:tav tm="0">
                                          <p:val>
                                            <p:strVal val="#ppt_x"/>
                                          </p:val>
                                        </p:tav>
                                        <p:tav tm="100000">
                                          <p:val>
                                            <p:strVal val="#ppt_x"/>
                                          </p:val>
                                        </p:tav>
                                      </p:tavLst>
                                    </p:anim>
                                    <p:anim calcmode="lin" valueType="num">
                                      <p:cBhvr>
                                        <p:cTn id="113" dur="650" fill="hold"/>
                                        <p:tgtEl>
                                          <p:spTgt spid="14"/>
                                        </p:tgtEl>
                                        <p:attrNameLst>
                                          <p:attrName>ppt_y</p:attrName>
                                        </p:attrNameLst>
                                      </p:cBhvr>
                                      <p:tavLst>
                                        <p:tav tm="0">
                                          <p:val>
                                            <p:strVal val="#ppt_y+.05"/>
                                          </p:val>
                                        </p:tav>
                                        <p:tav tm="100000">
                                          <p:val>
                                            <p:strVal val="#ppt_y"/>
                                          </p:val>
                                        </p:tav>
                                      </p:tavLst>
                                    </p:anim>
                                  </p:childTnLst>
                                </p:cTn>
                              </p:par>
                              <p:par>
                                <p:cTn id="114" presetID="42" presetClass="entr" presetSubtype="0" fill="hold" grpId="0" nodeType="withEffect">
                                  <p:stCondLst>
                                    <p:cond delay="600"/>
                                  </p:stCondLst>
                                  <p:childTnLst>
                                    <p:set>
                                      <p:cBhvr>
                                        <p:cTn id="115" dur="1" fill="hold">
                                          <p:stCondLst>
                                            <p:cond delay="0"/>
                                          </p:stCondLst>
                                        </p:cTn>
                                        <p:tgtEl>
                                          <p:spTgt spid="15"/>
                                        </p:tgtEl>
                                        <p:attrNameLst>
                                          <p:attrName>style.visibility</p:attrName>
                                        </p:attrNameLst>
                                      </p:cBhvr>
                                      <p:to>
                                        <p:strVal val="visible"/>
                                      </p:to>
                                    </p:set>
                                    <p:animEffect transition="in" filter="fade">
                                      <p:cBhvr>
                                        <p:cTn id="116" dur="650"/>
                                        <p:tgtEl>
                                          <p:spTgt spid="15"/>
                                        </p:tgtEl>
                                      </p:cBhvr>
                                    </p:animEffect>
                                    <p:anim calcmode="lin" valueType="num">
                                      <p:cBhvr>
                                        <p:cTn id="117" dur="650" fill="hold"/>
                                        <p:tgtEl>
                                          <p:spTgt spid="15"/>
                                        </p:tgtEl>
                                        <p:attrNameLst>
                                          <p:attrName>ppt_x</p:attrName>
                                        </p:attrNameLst>
                                      </p:cBhvr>
                                      <p:tavLst>
                                        <p:tav tm="0">
                                          <p:val>
                                            <p:strVal val="#ppt_x"/>
                                          </p:val>
                                        </p:tav>
                                        <p:tav tm="100000">
                                          <p:val>
                                            <p:strVal val="#ppt_x"/>
                                          </p:val>
                                        </p:tav>
                                      </p:tavLst>
                                    </p:anim>
                                    <p:anim calcmode="lin" valueType="num">
                                      <p:cBhvr>
                                        <p:cTn id="118" dur="650" fill="hold"/>
                                        <p:tgtEl>
                                          <p:spTgt spid="15"/>
                                        </p:tgtEl>
                                        <p:attrNameLst>
                                          <p:attrName>ppt_y</p:attrName>
                                        </p:attrNameLst>
                                      </p:cBhvr>
                                      <p:tavLst>
                                        <p:tav tm="0">
                                          <p:val>
                                            <p:strVal val="#ppt_y+.05"/>
                                          </p:val>
                                        </p:tav>
                                        <p:tav tm="100000">
                                          <p:val>
                                            <p:strVal val="#ppt_y"/>
                                          </p:val>
                                        </p:tav>
                                      </p:tavLst>
                                    </p:anim>
                                  </p:childTnLst>
                                </p:cTn>
                              </p:par>
                              <p:par>
                                <p:cTn id="119" presetID="42" presetClass="entr" presetSubtype="0" fill="hold" grpId="0" nodeType="withEffect">
                                  <p:stCondLst>
                                    <p:cond delay="600"/>
                                  </p:stCondLst>
                                  <p:childTnLst>
                                    <p:set>
                                      <p:cBhvr>
                                        <p:cTn id="120" dur="1" fill="hold">
                                          <p:stCondLst>
                                            <p:cond delay="0"/>
                                          </p:stCondLst>
                                        </p:cTn>
                                        <p:tgtEl>
                                          <p:spTgt spid="16"/>
                                        </p:tgtEl>
                                        <p:attrNameLst>
                                          <p:attrName>style.visibility</p:attrName>
                                        </p:attrNameLst>
                                      </p:cBhvr>
                                      <p:to>
                                        <p:strVal val="visible"/>
                                      </p:to>
                                    </p:set>
                                    <p:animEffect transition="in" filter="fade">
                                      <p:cBhvr>
                                        <p:cTn id="121" dur="650"/>
                                        <p:tgtEl>
                                          <p:spTgt spid="16"/>
                                        </p:tgtEl>
                                      </p:cBhvr>
                                    </p:animEffect>
                                    <p:anim calcmode="lin" valueType="num">
                                      <p:cBhvr>
                                        <p:cTn id="122" dur="650" fill="hold"/>
                                        <p:tgtEl>
                                          <p:spTgt spid="16"/>
                                        </p:tgtEl>
                                        <p:attrNameLst>
                                          <p:attrName>ppt_x</p:attrName>
                                        </p:attrNameLst>
                                      </p:cBhvr>
                                      <p:tavLst>
                                        <p:tav tm="0">
                                          <p:val>
                                            <p:strVal val="#ppt_x"/>
                                          </p:val>
                                        </p:tav>
                                        <p:tav tm="100000">
                                          <p:val>
                                            <p:strVal val="#ppt_x"/>
                                          </p:val>
                                        </p:tav>
                                      </p:tavLst>
                                    </p:anim>
                                    <p:anim calcmode="lin" valueType="num">
                                      <p:cBhvr>
                                        <p:cTn id="123" dur="650" fill="hold"/>
                                        <p:tgtEl>
                                          <p:spTgt spid="16"/>
                                        </p:tgtEl>
                                        <p:attrNameLst>
                                          <p:attrName>ppt_y</p:attrName>
                                        </p:attrNameLst>
                                      </p:cBhvr>
                                      <p:tavLst>
                                        <p:tav tm="0">
                                          <p:val>
                                            <p:strVal val="#ppt_y+.05"/>
                                          </p:val>
                                        </p:tav>
                                        <p:tav tm="100000">
                                          <p:val>
                                            <p:strVal val="#ppt_y"/>
                                          </p:val>
                                        </p:tav>
                                      </p:tavLst>
                                    </p:anim>
                                  </p:childTnLst>
                                </p:cTn>
                              </p:par>
                              <p:par>
                                <p:cTn id="124" presetID="42" presetClass="entr" presetSubtype="0" fill="hold" grpId="0" nodeType="withEffect">
                                  <p:stCondLst>
                                    <p:cond delay="660"/>
                                  </p:stCondLst>
                                  <p:childTnLst>
                                    <p:set>
                                      <p:cBhvr>
                                        <p:cTn id="125" dur="1" fill="hold">
                                          <p:stCondLst>
                                            <p:cond delay="0"/>
                                          </p:stCondLst>
                                        </p:cTn>
                                        <p:tgtEl>
                                          <p:spTgt spid="28"/>
                                        </p:tgtEl>
                                        <p:attrNameLst>
                                          <p:attrName>style.visibility</p:attrName>
                                        </p:attrNameLst>
                                      </p:cBhvr>
                                      <p:to>
                                        <p:strVal val="visible"/>
                                      </p:to>
                                    </p:set>
                                    <p:animEffect transition="in" filter="fade">
                                      <p:cBhvr>
                                        <p:cTn id="126" dur="650"/>
                                        <p:tgtEl>
                                          <p:spTgt spid="28"/>
                                        </p:tgtEl>
                                      </p:cBhvr>
                                    </p:animEffect>
                                    <p:anim calcmode="lin" valueType="num">
                                      <p:cBhvr>
                                        <p:cTn id="127" dur="650" fill="hold"/>
                                        <p:tgtEl>
                                          <p:spTgt spid="28"/>
                                        </p:tgtEl>
                                        <p:attrNameLst>
                                          <p:attrName>ppt_x</p:attrName>
                                        </p:attrNameLst>
                                      </p:cBhvr>
                                      <p:tavLst>
                                        <p:tav tm="0">
                                          <p:val>
                                            <p:strVal val="#ppt_x"/>
                                          </p:val>
                                        </p:tav>
                                        <p:tav tm="100000">
                                          <p:val>
                                            <p:strVal val="#ppt_x"/>
                                          </p:val>
                                        </p:tav>
                                      </p:tavLst>
                                    </p:anim>
                                    <p:anim calcmode="lin" valueType="num">
                                      <p:cBhvr>
                                        <p:cTn id="128" dur="650" fill="hold"/>
                                        <p:tgtEl>
                                          <p:spTgt spid="28"/>
                                        </p:tgtEl>
                                        <p:attrNameLst>
                                          <p:attrName>ppt_y</p:attrName>
                                        </p:attrNameLst>
                                      </p:cBhvr>
                                      <p:tavLst>
                                        <p:tav tm="0">
                                          <p:val>
                                            <p:strVal val="#ppt_y+.05"/>
                                          </p:val>
                                        </p:tav>
                                        <p:tav tm="100000">
                                          <p:val>
                                            <p:strVal val="#ppt_y"/>
                                          </p:val>
                                        </p:tav>
                                      </p:tavLst>
                                    </p:anim>
                                  </p:childTnLst>
                                </p:cTn>
                              </p:par>
                              <p:par>
                                <p:cTn id="129" presetID="42" presetClass="entr" presetSubtype="0" fill="hold" grpId="0" nodeType="withEffect">
                                  <p:stCondLst>
                                    <p:cond delay="660"/>
                                  </p:stCondLst>
                                  <p:childTnLst>
                                    <p:set>
                                      <p:cBhvr>
                                        <p:cTn id="130" dur="1" fill="hold">
                                          <p:stCondLst>
                                            <p:cond delay="0"/>
                                          </p:stCondLst>
                                        </p:cTn>
                                        <p:tgtEl>
                                          <p:spTgt spid="29"/>
                                        </p:tgtEl>
                                        <p:attrNameLst>
                                          <p:attrName>style.visibility</p:attrName>
                                        </p:attrNameLst>
                                      </p:cBhvr>
                                      <p:to>
                                        <p:strVal val="visible"/>
                                      </p:to>
                                    </p:set>
                                    <p:animEffect transition="in" filter="fade">
                                      <p:cBhvr>
                                        <p:cTn id="131" dur="650"/>
                                        <p:tgtEl>
                                          <p:spTgt spid="29"/>
                                        </p:tgtEl>
                                      </p:cBhvr>
                                    </p:animEffect>
                                    <p:anim calcmode="lin" valueType="num">
                                      <p:cBhvr>
                                        <p:cTn id="132" dur="650" fill="hold"/>
                                        <p:tgtEl>
                                          <p:spTgt spid="29"/>
                                        </p:tgtEl>
                                        <p:attrNameLst>
                                          <p:attrName>ppt_x</p:attrName>
                                        </p:attrNameLst>
                                      </p:cBhvr>
                                      <p:tavLst>
                                        <p:tav tm="0">
                                          <p:val>
                                            <p:strVal val="#ppt_x"/>
                                          </p:val>
                                        </p:tav>
                                        <p:tav tm="100000">
                                          <p:val>
                                            <p:strVal val="#ppt_x"/>
                                          </p:val>
                                        </p:tav>
                                      </p:tavLst>
                                    </p:anim>
                                    <p:anim calcmode="lin" valueType="num">
                                      <p:cBhvr>
                                        <p:cTn id="133" dur="650" fill="hold"/>
                                        <p:tgtEl>
                                          <p:spTgt spid="29"/>
                                        </p:tgtEl>
                                        <p:attrNameLst>
                                          <p:attrName>ppt_y</p:attrName>
                                        </p:attrNameLst>
                                      </p:cBhvr>
                                      <p:tavLst>
                                        <p:tav tm="0">
                                          <p:val>
                                            <p:strVal val="#ppt_y+.05"/>
                                          </p:val>
                                        </p:tav>
                                        <p:tav tm="100000">
                                          <p:val>
                                            <p:strVal val="#ppt_y"/>
                                          </p:val>
                                        </p:tav>
                                      </p:tavLst>
                                    </p:anim>
                                  </p:childTnLst>
                                </p:cTn>
                              </p:par>
                              <p:par>
                                <p:cTn id="134" presetID="42" presetClass="entr" presetSubtype="0" fill="hold" grpId="0" nodeType="withEffect">
                                  <p:stCondLst>
                                    <p:cond delay="660"/>
                                  </p:stCondLst>
                                  <p:childTnLst>
                                    <p:set>
                                      <p:cBhvr>
                                        <p:cTn id="135" dur="1" fill="hold">
                                          <p:stCondLst>
                                            <p:cond delay="0"/>
                                          </p:stCondLst>
                                        </p:cTn>
                                        <p:tgtEl>
                                          <p:spTgt spid="30"/>
                                        </p:tgtEl>
                                        <p:attrNameLst>
                                          <p:attrName>style.visibility</p:attrName>
                                        </p:attrNameLst>
                                      </p:cBhvr>
                                      <p:to>
                                        <p:strVal val="visible"/>
                                      </p:to>
                                    </p:set>
                                    <p:animEffect transition="in" filter="fade">
                                      <p:cBhvr>
                                        <p:cTn id="136" dur="650"/>
                                        <p:tgtEl>
                                          <p:spTgt spid="30"/>
                                        </p:tgtEl>
                                      </p:cBhvr>
                                    </p:animEffect>
                                    <p:anim calcmode="lin" valueType="num">
                                      <p:cBhvr>
                                        <p:cTn id="137" dur="650" fill="hold"/>
                                        <p:tgtEl>
                                          <p:spTgt spid="30"/>
                                        </p:tgtEl>
                                        <p:attrNameLst>
                                          <p:attrName>ppt_x</p:attrName>
                                        </p:attrNameLst>
                                      </p:cBhvr>
                                      <p:tavLst>
                                        <p:tav tm="0">
                                          <p:val>
                                            <p:strVal val="#ppt_x"/>
                                          </p:val>
                                        </p:tav>
                                        <p:tav tm="100000">
                                          <p:val>
                                            <p:strVal val="#ppt_x"/>
                                          </p:val>
                                        </p:tav>
                                      </p:tavLst>
                                    </p:anim>
                                    <p:anim calcmode="lin" valueType="num">
                                      <p:cBhvr>
                                        <p:cTn id="138" dur="650" fill="hold"/>
                                        <p:tgtEl>
                                          <p:spTgt spid="30"/>
                                        </p:tgtEl>
                                        <p:attrNameLst>
                                          <p:attrName>ppt_y</p:attrName>
                                        </p:attrNameLst>
                                      </p:cBhvr>
                                      <p:tavLst>
                                        <p:tav tm="0">
                                          <p:val>
                                            <p:strVal val="#ppt_y+.05"/>
                                          </p:val>
                                        </p:tav>
                                        <p:tav tm="100000">
                                          <p:val>
                                            <p:strVal val="#ppt_y"/>
                                          </p:val>
                                        </p:tav>
                                      </p:tavLst>
                                    </p:anim>
                                  </p:childTnLst>
                                </p:cTn>
                              </p:par>
                              <p:par>
                                <p:cTn id="139" presetID="42" presetClass="entr" presetSubtype="0" fill="hold" grpId="0" nodeType="withEffect">
                                  <p:stCondLst>
                                    <p:cond delay="730"/>
                                  </p:stCondLst>
                                  <p:childTnLst>
                                    <p:set>
                                      <p:cBhvr>
                                        <p:cTn id="140" dur="1" fill="hold">
                                          <p:stCondLst>
                                            <p:cond delay="0"/>
                                          </p:stCondLst>
                                        </p:cTn>
                                        <p:tgtEl>
                                          <p:spTgt spid="31"/>
                                        </p:tgtEl>
                                        <p:attrNameLst>
                                          <p:attrName>style.visibility</p:attrName>
                                        </p:attrNameLst>
                                      </p:cBhvr>
                                      <p:to>
                                        <p:strVal val="visible"/>
                                      </p:to>
                                    </p:set>
                                    <p:animEffect transition="in" filter="fade">
                                      <p:cBhvr>
                                        <p:cTn id="141" dur="650"/>
                                        <p:tgtEl>
                                          <p:spTgt spid="31"/>
                                        </p:tgtEl>
                                      </p:cBhvr>
                                    </p:animEffect>
                                    <p:anim calcmode="lin" valueType="num">
                                      <p:cBhvr>
                                        <p:cTn id="142" dur="650" fill="hold"/>
                                        <p:tgtEl>
                                          <p:spTgt spid="31"/>
                                        </p:tgtEl>
                                        <p:attrNameLst>
                                          <p:attrName>ppt_x</p:attrName>
                                        </p:attrNameLst>
                                      </p:cBhvr>
                                      <p:tavLst>
                                        <p:tav tm="0">
                                          <p:val>
                                            <p:strVal val="#ppt_x"/>
                                          </p:val>
                                        </p:tav>
                                        <p:tav tm="100000">
                                          <p:val>
                                            <p:strVal val="#ppt_x"/>
                                          </p:val>
                                        </p:tav>
                                      </p:tavLst>
                                    </p:anim>
                                    <p:anim calcmode="lin" valueType="num">
                                      <p:cBhvr>
                                        <p:cTn id="143" dur="650" fill="hold"/>
                                        <p:tgtEl>
                                          <p:spTgt spid="31"/>
                                        </p:tgtEl>
                                        <p:attrNameLst>
                                          <p:attrName>ppt_y</p:attrName>
                                        </p:attrNameLst>
                                      </p:cBhvr>
                                      <p:tavLst>
                                        <p:tav tm="0">
                                          <p:val>
                                            <p:strVal val="#ppt_y+.05"/>
                                          </p:val>
                                        </p:tav>
                                        <p:tav tm="100000">
                                          <p:val>
                                            <p:strVal val="#ppt_y"/>
                                          </p:val>
                                        </p:tav>
                                      </p:tavLst>
                                    </p:anim>
                                  </p:childTnLst>
                                </p:cTn>
                              </p:par>
                              <p:par>
                                <p:cTn id="144" presetID="42" presetClass="entr" presetSubtype="0" fill="hold" grpId="0" nodeType="withEffect">
                                  <p:stCondLst>
                                    <p:cond delay="730"/>
                                  </p:stCondLst>
                                  <p:childTnLst>
                                    <p:set>
                                      <p:cBhvr>
                                        <p:cTn id="145" dur="1" fill="hold">
                                          <p:stCondLst>
                                            <p:cond delay="0"/>
                                          </p:stCondLst>
                                        </p:cTn>
                                        <p:tgtEl>
                                          <p:spTgt spid="32"/>
                                        </p:tgtEl>
                                        <p:attrNameLst>
                                          <p:attrName>style.visibility</p:attrName>
                                        </p:attrNameLst>
                                      </p:cBhvr>
                                      <p:to>
                                        <p:strVal val="visible"/>
                                      </p:to>
                                    </p:set>
                                    <p:animEffect transition="in" filter="fade">
                                      <p:cBhvr>
                                        <p:cTn id="146" dur="650"/>
                                        <p:tgtEl>
                                          <p:spTgt spid="32"/>
                                        </p:tgtEl>
                                      </p:cBhvr>
                                    </p:animEffect>
                                    <p:anim calcmode="lin" valueType="num">
                                      <p:cBhvr>
                                        <p:cTn id="147" dur="650" fill="hold"/>
                                        <p:tgtEl>
                                          <p:spTgt spid="32"/>
                                        </p:tgtEl>
                                        <p:attrNameLst>
                                          <p:attrName>ppt_x</p:attrName>
                                        </p:attrNameLst>
                                      </p:cBhvr>
                                      <p:tavLst>
                                        <p:tav tm="0">
                                          <p:val>
                                            <p:strVal val="#ppt_x"/>
                                          </p:val>
                                        </p:tav>
                                        <p:tav tm="100000">
                                          <p:val>
                                            <p:strVal val="#ppt_x"/>
                                          </p:val>
                                        </p:tav>
                                      </p:tavLst>
                                    </p:anim>
                                    <p:anim calcmode="lin" valueType="num">
                                      <p:cBhvr>
                                        <p:cTn id="148" dur="650" fill="hold"/>
                                        <p:tgtEl>
                                          <p:spTgt spid="32"/>
                                        </p:tgtEl>
                                        <p:attrNameLst>
                                          <p:attrName>ppt_y</p:attrName>
                                        </p:attrNameLst>
                                      </p:cBhvr>
                                      <p:tavLst>
                                        <p:tav tm="0">
                                          <p:val>
                                            <p:strVal val="#ppt_y+.05"/>
                                          </p:val>
                                        </p:tav>
                                        <p:tav tm="100000">
                                          <p:val>
                                            <p:strVal val="#ppt_y"/>
                                          </p:val>
                                        </p:tav>
                                      </p:tavLst>
                                    </p:anim>
                                  </p:childTnLst>
                                </p:cTn>
                              </p:par>
                              <p:par>
                                <p:cTn id="149" presetID="42" presetClass="entr" presetSubtype="0" fill="hold" grpId="0" nodeType="withEffect">
                                  <p:stCondLst>
                                    <p:cond delay="730"/>
                                  </p:stCondLst>
                                  <p:childTnLst>
                                    <p:set>
                                      <p:cBhvr>
                                        <p:cTn id="150" dur="1" fill="hold">
                                          <p:stCondLst>
                                            <p:cond delay="0"/>
                                          </p:stCondLst>
                                        </p:cTn>
                                        <p:tgtEl>
                                          <p:spTgt spid="33"/>
                                        </p:tgtEl>
                                        <p:attrNameLst>
                                          <p:attrName>style.visibility</p:attrName>
                                        </p:attrNameLst>
                                      </p:cBhvr>
                                      <p:to>
                                        <p:strVal val="visible"/>
                                      </p:to>
                                    </p:set>
                                    <p:animEffect transition="in" filter="fade">
                                      <p:cBhvr>
                                        <p:cTn id="151" dur="650"/>
                                        <p:tgtEl>
                                          <p:spTgt spid="33"/>
                                        </p:tgtEl>
                                      </p:cBhvr>
                                    </p:animEffect>
                                    <p:anim calcmode="lin" valueType="num">
                                      <p:cBhvr>
                                        <p:cTn id="152" dur="650" fill="hold"/>
                                        <p:tgtEl>
                                          <p:spTgt spid="33"/>
                                        </p:tgtEl>
                                        <p:attrNameLst>
                                          <p:attrName>ppt_x</p:attrName>
                                        </p:attrNameLst>
                                      </p:cBhvr>
                                      <p:tavLst>
                                        <p:tav tm="0">
                                          <p:val>
                                            <p:strVal val="#ppt_x"/>
                                          </p:val>
                                        </p:tav>
                                        <p:tav tm="100000">
                                          <p:val>
                                            <p:strVal val="#ppt_x"/>
                                          </p:val>
                                        </p:tav>
                                      </p:tavLst>
                                    </p:anim>
                                    <p:anim calcmode="lin" valueType="num">
                                      <p:cBhvr>
                                        <p:cTn id="153" dur="650" fill="hold"/>
                                        <p:tgtEl>
                                          <p:spTgt spid="33"/>
                                        </p:tgtEl>
                                        <p:attrNameLst>
                                          <p:attrName>ppt_y</p:attrName>
                                        </p:attrNameLst>
                                      </p:cBhvr>
                                      <p:tavLst>
                                        <p:tav tm="0">
                                          <p:val>
                                            <p:strVal val="#ppt_y+.05"/>
                                          </p:val>
                                        </p:tav>
                                        <p:tav tm="100000">
                                          <p:val>
                                            <p:strVal val="#ppt_y"/>
                                          </p:val>
                                        </p:tav>
                                      </p:tavLst>
                                    </p:anim>
                                  </p:childTnLst>
                                </p:cTn>
                              </p:par>
                              <p:par>
                                <p:cTn id="154" presetID="42" presetClass="entr" presetSubtype="0" fill="hold" grpId="0" nodeType="withEffect">
                                  <p:stCondLst>
                                    <p:cond delay="800"/>
                                  </p:stCondLst>
                                  <p:childTnLst>
                                    <p:set>
                                      <p:cBhvr>
                                        <p:cTn id="155" dur="1" fill="hold">
                                          <p:stCondLst>
                                            <p:cond delay="0"/>
                                          </p:stCondLst>
                                        </p:cTn>
                                        <p:tgtEl>
                                          <p:spTgt spid="34"/>
                                        </p:tgtEl>
                                        <p:attrNameLst>
                                          <p:attrName>style.visibility</p:attrName>
                                        </p:attrNameLst>
                                      </p:cBhvr>
                                      <p:to>
                                        <p:strVal val="visible"/>
                                      </p:to>
                                    </p:set>
                                    <p:animEffect transition="in" filter="fade">
                                      <p:cBhvr>
                                        <p:cTn id="156" dur="650"/>
                                        <p:tgtEl>
                                          <p:spTgt spid="34"/>
                                        </p:tgtEl>
                                      </p:cBhvr>
                                    </p:animEffect>
                                    <p:anim calcmode="lin" valueType="num">
                                      <p:cBhvr>
                                        <p:cTn id="157" dur="650" fill="hold"/>
                                        <p:tgtEl>
                                          <p:spTgt spid="34"/>
                                        </p:tgtEl>
                                        <p:attrNameLst>
                                          <p:attrName>ppt_x</p:attrName>
                                        </p:attrNameLst>
                                      </p:cBhvr>
                                      <p:tavLst>
                                        <p:tav tm="0">
                                          <p:val>
                                            <p:strVal val="#ppt_x"/>
                                          </p:val>
                                        </p:tav>
                                        <p:tav tm="100000">
                                          <p:val>
                                            <p:strVal val="#ppt_x"/>
                                          </p:val>
                                        </p:tav>
                                      </p:tavLst>
                                    </p:anim>
                                    <p:anim calcmode="lin" valueType="num">
                                      <p:cBhvr>
                                        <p:cTn id="158" dur="650" fill="hold"/>
                                        <p:tgtEl>
                                          <p:spTgt spid="34"/>
                                        </p:tgtEl>
                                        <p:attrNameLst>
                                          <p:attrName>ppt_y</p:attrName>
                                        </p:attrNameLst>
                                      </p:cBhvr>
                                      <p:tavLst>
                                        <p:tav tm="0">
                                          <p:val>
                                            <p:strVal val="#ppt_y+.05"/>
                                          </p:val>
                                        </p:tav>
                                        <p:tav tm="100000">
                                          <p:val>
                                            <p:strVal val="#ppt_y"/>
                                          </p:val>
                                        </p:tav>
                                      </p:tavLst>
                                    </p:anim>
                                  </p:childTnLst>
                                </p:cTn>
                              </p:par>
                              <p:par>
                                <p:cTn id="159" presetID="42" presetClass="entr" presetSubtype="0" fill="hold" grpId="0" nodeType="withEffect">
                                  <p:stCondLst>
                                    <p:cond delay="800"/>
                                  </p:stCondLst>
                                  <p:childTnLst>
                                    <p:set>
                                      <p:cBhvr>
                                        <p:cTn id="160" dur="1" fill="hold">
                                          <p:stCondLst>
                                            <p:cond delay="0"/>
                                          </p:stCondLst>
                                        </p:cTn>
                                        <p:tgtEl>
                                          <p:spTgt spid="35"/>
                                        </p:tgtEl>
                                        <p:attrNameLst>
                                          <p:attrName>style.visibility</p:attrName>
                                        </p:attrNameLst>
                                      </p:cBhvr>
                                      <p:to>
                                        <p:strVal val="visible"/>
                                      </p:to>
                                    </p:set>
                                    <p:animEffect transition="in" filter="fade">
                                      <p:cBhvr>
                                        <p:cTn id="161" dur="650"/>
                                        <p:tgtEl>
                                          <p:spTgt spid="35"/>
                                        </p:tgtEl>
                                      </p:cBhvr>
                                    </p:animEffect>
                                    <p:anim calcmode="lin" valueType="num">
                                      <p:cBhvr>
                                        <p:cTn id="162" dur="650" fill="hold"/>
                                        <p:tgtEl>
                                          <p:spTgt spid="35"/>
                                        </p:tgtEl>
                                        <p:attrNameLst>
                                          <p:attrName>ppt_x</p:attrName>
                                        </p:attrNameLst>
                                      </p:cBhvr>
                                      <p:tavLst>
                                        <p:tav tm="0">
                                          <p:val>
                                            <p:strVal val="#ppt_x"/>
                                          </p:val>
                                        </p:tav>
                                        <p:tav tm="100000">
                                          <p:val>
                                            <p:strVal val="#ppt_x"/>
                                          </p:val>
                                        </p:tav>
                                      </p:tavLst>
                                    </p:anim>
                                    <p:anim calcmode="lin" valueType="num">
                                      <p:cBhvr>
                                        <p:cTn id="163" dur="650" fill="hold"/>
                                        <p:tgtEl>
                                          <p:spTgt spid="35"/>
                                        </p:tgtEl>
                                        <p:attrNameLst>
                                          <p:attrName>ppt_y</p:attrName>
                                        </p:attrNameLst>
                                      </p:cBhvr>
                                      <p:tavLst>
                                        <p:tav tm="0">
                                          <p:val>
                                            <p:strVal val="#ppt_y+.05"/>
                                          </p:val>
                                        </p:tav>
                                        <p:tav tm="100000">
                                          <p:val>
                                            <p:strVal val="#ppt_y"/>
                                          </p:val>
                                        </p:tav>
                                      </p:tavLst>
                                    </p:anim>
                                  </p:childTnLst>
                                </p:cTn>
                              </p:par>
                              <p:par>
                                <p:cTn id="164" presetID="42" presetClass="entr" presetSubtype="0" fill="hold" grpId="0" nodeType="withEffect">
                                  <p:stCondLst>
                                    <p:cond delay="800"/>
                                  </p:stCondLst>
                                  <p:childTnLst>
                                    <p:set>
                                      <p:cBhvr>
                                        <p:cTn id="165" dur="1" fill="hold">
                                          <p:stCondLst>
                                            <p:cond delay="0"/>
                                          </p:stCondLst>
                                        </p:cTn>
                                        <p:tgtEl>
                                          <p:spTgt spid="36"/>
                                        </p:tgtEl>
                                        <p:attrNameLst>
                                          <p:attrName>style.visibility</p:attrName>
                                        </p:attrNameLst>
                                      </p:cBhvr>
                                      <p:to>
                                        <p:strVal val="visible"/>
                                      </p:to>
                                    </p:set>
                                    <p:animEffect transition="in" filter="fade">
                                      <p:cBhvr>
                                        <p:cTn id="166" dur="650"/>
                                        <p:tgtEl>
                                          <p:spTgt spid="36"/>
                                        </p:tgtEl>
                                      </p:cBhvr>
                                    </p:animEffect>
                                    <p:anim calcmode="lin" valueType="num">
                                      <p:cBhvr>
                                        <p:cTn id="167" dur="650" fill="hold"/>
                                        <p:tgtEl>
                                          <p:spTgt spid="36"/>
                                        </p:tgtEl>
                                        <p:attrNameLst>
                                          <p:attrName>ppt_x</p:attrName>
                                        </p:attrNameLst>
                                      </p:cBhvr>
                                      <p:tavLst>
                                        <p:tav tm="0">
                                          <p:val>
                                            <p:strVal val="#ppt_x"/>
                                          </p:val>
                                        </p:tav>
                                        <p:tav tm="100000">
                                          <p:val>
                                            <p:strVal val="#ppt_x"/>
                                          </p:val>
                                        </p:tav>
                                      </p:tavLst>
                                    </p:anim>
                                    <p:anim calcmode="lin" valueType="num">
                                      <p:cBhvr>
                                        <p:cTn id="168" dur="650" fill="hold"/>
                                        <p:tgtEl>
                                          <p:spTgt spid="36"/>
                                        </p:tgtEl>
                                        <p:attrNameLst>
                                          <p:attrName>ppt_y</p:attrName>
                                        </p:attrNameLst>
                                      </p:cBhvr>
                                      <p:tavLst>
                                        <p:tav tm="0">
                                          <p:val>
                                            <p:strVal val="#ppt_y+.05"/>
                                          </p:val>
                                        </p:tav>
                                        <p:tav tm="100000">
                                          <p:val>
                                            <p:strVal val="#ppt_y"/>
                                          </p:val>
                                        </p:tav>
                                      </p:tavLst>
                                    </p:anim>
                                  </p:childTnLst>
                                </p:cTn>
                              </p:par>
                              <p:par>
                                <p:cTn id="169" presetID="42" presetClass="entr" presetSubtype="0" fill="hold" grpId="0" nodeType="withEffect">
                                  <p:stCondLst>
                                    <p:cond delay="870"/>
                                  </p:stCondLst>
                                  <p:childTnLst>
                                    <p:set>
                                      <p:cBhvr>
                                        <p:cTn id="170" dur="1" fill="hold">
                                          <p:stCondLst>
                                            <p:cond delay="0"/>
                                          </p:stCondLst>
                                        </p:cTn>
                                        <p:tgtEl>
                                          <p:spTgt spid="37"/>
                                        </p:tgtEl>
                                        <p:attrNameLst>
                                          <p:attrName>style.visibility</p:attrName>
                                        </p:attrNameLst>
                                      </p:cBhvr>
                                      <p:to>
                                        <p:strVal val="visible"/>
                                      </p:to>
                                    </p:set>
                                    <p:animEffect transition="in" filter="fade">
                                      <p:cBhvr>
                                        <p:cTn id="171" dur="650"/>
                                        <p:tgtEl>
                                          <p:spTgt spid="37"/>
                                        </p:tgtEl>
                                      </p:cBhvr>
                                    </p:animEffect>
                                    <p:anim calcmode="lin" valueType="num">
                                      <p:cBhvr>
                                        <p:cTn id="172" dur="650" fill="hold"/>
                                        <p:tgtEl>
                                          <p:spTgt spid="37"/>
                                        </p:tgtEl>
                                        <p:attrNameLst>
                                          <p:attrName>ppt_x</p:attrName>
                                        </p:attrNameLst>
                                      </p:cBhvr>
                                      <p:tavLst>
                                        <p:tav tm="0">
                                          <p:val>
                                            <p:strVal val="#ppt_x"/>
                                          </p:val>
                                        </p:tav>
                                        <p:tav tm="100000">
                                          <p:val>
                                            <p:strVal val="#ppt_x"/>
                                          </p:val>
                                        </p:tav>
                                      </p:tavLst>
                                    </p:anim>
                                    <p:anim calcmode="lin" valueType="num">
                                      <p:cBhvr>
                                        <p:cTn id="173" dur="650" fill="hold"/>
                                        <p:tgtEl>
                                          <p:spTgt spid="37"/>
                                        </p:tgtEl>
                                        <p:attrNameLst>
                                          <p:attrName>ppt_y</p:attrName>
                                        </p:attrNameLst>
                                      </p:cBhvr>
                                      <p:tavLst>
                                        <p:tav tm="0">
                                          <p:val>
                                            <p:strVal val="#ppt_y+.05"/>
                                          </p:val>
                                        </p:tav>
                                        <p:tav tm="100000">
                                          <p:val>
                                            <p:strVal val="#ppt_y"/>
                                          </p:val>
                                        </p:tav>
                                      </p:tavLst>
                                    </p:anim>
                                  </p:childTnLst>
                                </p:cTn>
                              </p:par>
                              <p:par>
                                <p:cTn id="174" presetID="42" presetClass="entr" presetSubtype="0" fill="hold" grpId="0" nodeType="withEffect">
                                  <p:stCondLst>
                                    <p:cond delay="870"/>
                                  </p:stCondLst>
                                  <p:childTnLst>
                                    <p:set>
                                      <p:cBhvr>
                                        <p:cTn id="175" dur="1" fill="hold">
                                          <p:stCondLst>
                                            <p:cond delay="0"/>
                                          </p:stCondLst>
                                        </p:cTn>
                                        <p:tgtEl>
                                          <p:spTgt spid="38"/>
                                        </p:tgtEl>
                                        <p:attrNameLst>
                                          <p:attrName>style.visibility</p:attrName>
                                        </p:attrNameLst>
                                      </p:cBhvr>
                                      <p:to>
                                        <p:strVal val="visible"/>
                                      </p:to>
                                    </p:set>
                                    <p:animEffect transition="in" filter="fade">
                                      <p:cBhvr>
                                        <p:cTn id="176" dur="650"/>
                                        <p:tgtEl>
                                          <p:spTgt spid="38"/>
                                        </p:tgtEl>
                                      </p:cBhvr>
                                    </p:animEffect>
                                    <p:anim calcmode="lin" valueType="num">
                                      <p:cBhvr>
                                        <p:cTn id="177" dur="650" fill="hold"/>
                                        <p:tgtEl>
                                          <p:spTgt spid="38"/>
                                        </p:tgtEl>
                                        <p:attrNameLst>
                                          <p:attrName>ppt_x</p:attrName>
                                        </p:attrNameLst>
                                      </p:cBhvr>
                                      <p:tavLst>
                                        <p:tav tm="0">
                                          <p:val>
                                            <p:strVal val="#ppt_x"/>
                                          </p:val>
                                        </p:tav>
                                        <p:tav tm="100000">
                                          <p:val>
                                            <p:strVal val="#ppt_x"/>
                                          </p:val>
                                        </p:tav>
                                      </p:tavLst>
                                    </p:anim>
                                    <p:anim calcmode="lin" valueType="num">
                                      <p:cBhvr>
                                        <p:cTn id="178" dur="650" fill="hold"/>
                                        <p:tgtEl>
                                          <p:spTgt spid="38"/>
                                        </p:tgtEl>
                                        <p:attrNameLst>
                                          <p:attrName>ppt_y</p:attrName>
                                        </p:attrNameLst>
                                      </p:cBhvr>
                                      <p:tavLst>
                                        <p:tav tm="0">
                                          <p:val>
                                            <p:strVal val="#ppt_y+.05"/>
                                          </p:val>
                                        </p:tav>
                                        <p:tav tm="100000">
                                          <p:val>
                                            <p:strVal val="#ppt_y"/>
                                          </p:val>
                                        </p:tav>
                                      </p:tavLst>
                                    </p:anim>
                                  </p:childTnLst>
                                </p:cTn>
                              </p:par>
                              <p:par>
                                <p:cTn id="179" presetID="42" presetClass="entr" presetSubtype="0" fill="hold" grpId="0" nodeType="withEffect">
                                  <p:stCondLst>
                                    <p:cond delay="870"/>
                                  </p:stCondLst>
                                  <p:childTnLst>
                                    <p:set>
                                      <p:cBhvr>
                                        <p:cTn id="180" dur="1" fill="hold">
                                          <p:stCondLst>
                                            <p:cond delay="0"/>
                                          </p:stCondLst>
                                        </p:cTn>
                                        <p:tgtEl>
                                          <p:spTgt spid="39"/>
                                        </p:tgtEl>
                                        <p:attrNameLst>
                                          <p:attrName>style.visibility</p:attrName>
                                        </p:attrNameLst>
                                      </p:cBhvr>
                                      <p:to>
                                        <p:strVal val="visible"/>
                                      </p:to>
                                    </p:set>
                                    <p:animEffect transition="in" filter="fade">
                                      <p:cBhvr>
                                        <p:cTn id="181" dur="650"/>
                                        <p:tgtEl>
                                          <p:spTgt spid="39"/>
                                        </p:tgtEl>
                                      </p:cBhvr>
                                    </p:animEffect>
                                    <p:anim calcmode="lin" valueType="num">
                                      <p:cBhvr>
                                        <p:cTn id="182" dur="650" fill="hold"/>
                                        <p:tgtEl>
                                          <p:spTgt spid="39"/>
                                        </p:tgtEl>
                                        <p:attrNameLst>
                                          <p:attrName>ppt_x</p:attrName>
                                        </p:attrNameLst>
                                      </p:cBhvr>
                                      <p:tavLst>
                                        <p:tav tm="0">
                                          <p:val>
                                            <p:strVal val="#ppt_x"/>
                                          </p:val>
                                        </p:tav>
                                        <p:tav tm="100000">
                                          <p:val>
                                            <p:strVal val="#ppt_x"/>
                                          </p:val>
                                        </p:tav>
                                      </p:tavLst>
                                    </p:anim>
                                    <p:anim calcmode="lin" valueType="num">
                                      <p:cBhvr>
                                        <p:cTn id="183" dur="650" fill="hold"/>
                                        <p:tgtEl>
                                          <p:spTgt spid="39"/>
                                        </p:tgtEl>
                                        <p:attrNameLst>
                                          <p:attrName>ppt_y</p:attrName>
                                        </p:attrNameLst>
                                      </p:cBhvr>
                                      <p:tavLst>
                                        <p:tav tm="0">
                                          <p:val>
                                            <p:strVal val="#ppt_y+.05"/>
                                          </p:val>
                                        </p:tav>
                                        <p:tav tm="100000">
                                          <p:val>
                                            <p:strVal val="#ppt_y"/>
                                          </p:val>
                                        </p:tav>
                                      </p:tavLst>
                                    </p:anim>
                                  </p:childTnLst>
                                </p:cTn>
                              </p:par>
                              <p:par>
                                <p:cTn id="184" presetID="42" presetClass="entr" presetSubtype="0" fill="hold" grpId="0" nodeType="withEffect">
                                  <p:stCondLst>
                                    <p:cond delay="940"/>
                                  </p:stCondLst>
                                  <p:childTnLst>
                                    <p:set>
                                      <p:cBhvr>
                                        <p:cTn id="185" dur="1" fill="hold">
                                          <p:stCondLst>
                                            <p:cond delay="0"/>
                                          </p:stCondLst>
                                        </p:cTn>
                                        <p:tgtEl>
                                          <p:spTgt spid="40"/>
                                        </p:tgtEl>
                                        <p:attrNameLst>
                                          <p:attrName>style.visibility</p:attrName>
                                        </p:attrNameLst>
                                      </p:cBhvr>
                                      <p:to>
                                        <p:strVal val="visible"/>
                                      </p:to>
                                    </p:set>
                                    <p:animEffect transition="in" filter="fade">
                                      <p:cBhvr>
                                        <p:cTn id="186" dur="650"/>
                                        <p:tgtEl>
                                          <p:spTgt spid="40"/>
                                        </p:tgtEl>
                                      </p:cBhvr>
                                    </p:animEffect>
                                    <p:anim calcmode="lin" valueType="num">
                                      <p:cBhvr>
                                        <p:cTn id="187" dur="650" fill="hold"/>
                                        <p:tgtEl>
                                          <p:spTgt spid="40"/>
                                        </p:tgtEl>
                                        <p:attrNameLst>
                                          <p:attrName>ppt_x</p:attrName>
                                        </p:attrNameLst>
                                      </p:cBhvr>
                                      <p:tavLst>
                                        <p:tav tm="0">
                                          <p:val>
                                            <p:strVal val="#ppt_x"/>
                                          </p:val>
                                        </p:tav>
                                        <p:tav tm="100000">
                                          <p:val>
                                            <p:strVal val="#ppt_x"/>
                                          </p:val>
                                        </p:tav>
                                      </p:tavLst>
                                    </p:anim>
                                    <p:anim calcmode="lin" valueType="num">
                                      <p:cBhvr>
                                        <p:cTn id="188" dur="650" fill="hold"/>
                                        <p:tgtEl>
                                          <p:spTgt spid="40"/>
                                        </p:tgtEl>
                                        <p:attrNameLst>
                                          <p:attrName>ppt_y</p:attrName>
                                        </p:attrNameLst>
                                      </p:cBhvr>
                                      <p:tavLst>
                                        <p:tav tm="0">
                                          <p:val>
                                            <p:strVal val="#ppt_y+.05"/>
                                          </p:val>
                                        </p:tav>
                                        <p:tav tm="100000">
                                          <p:val>
                                            <p:strVal val="#ppt_y"/>
                                          </p:val>
                                        </p:tav>
                                      </p:tavLst>
                                    </p:anim>
                                  </p:childTnLst>
                                </p:cTn>
                              </p:par>
                              <p:par>
                                <p:cTn id="189" presetID="42" presetClass="entr" presetSubtype="0" fill="hold" grpId="0" nodeType="withEffect">
                                  <p:stCondLst>
                                    <p:cond delay="940"/>
                                  </p:stCondLst>
                                  <p:childTnLst>
                                    <p:set>
                                      <p:cBhvr>
                                        <p:cTn id="190" dur="1" fill="hold">
                                          <p:stCondLst>
                                            <p:cond delay="0"/>
                                          </p:stCondLst>
                                        </p:cTn>
                                        <p:tgtEl>
                                          <p:spTgt spid="41"/>
                                        </p:tgtEl>
                                        <p:attrNameLst>
                                          <p:attrName>style.visibility</p:attrName>
                                        </p:attrNameLst>
                                      </p:cBhvr>
                                      <p:to>
                                        <p:strVal val="visible"/>
                                      </p:to>
                                    </p:set>
                                    <p:animEffect transition="in" filter="fade">
                                      <p:cBhvr>
                                        <p:cTn id="191" dur="650"/>
                                        <p:tgtEl>
                                          <p:spTgt spid="41"/>
                                        </p:tgtEl>
                                      </p:cBhvr>
                                    </p:animEffect>
                                    <p:anim calcmode="lin" valueType="num">
                                      <p:cBhvr>
                                        <p:cTn id="192" dur="650" fill="hold"/>
                                        <p:tgtEl>
                                          <p:spTgt spid="41"/>
                                        </p:tgtEl>
                                        <p:attrNameLst>
                                          <p:attrName>ppt_x</p:attrName>
                                        </p:attrNameLst>
                                      </p:cBhvr>
                                      <p:tavLst>
                                        <p:tav tm="0">
                                          <p:val>
                                            <p:strVal val="#ppt_x"/>
                                          </p:val>
                                        </p:tav>
                                        <p:tav tm="100000">
                                          <p:val>
                                            <p:strVal val="#ppt_x"/>
                                          </p:val>
                                        </p:tav>
                                      </p:tavLst>
                                    </p:anim>
                                    <p:anim calcmode="lin" valueType="num">
                                      <p:cBhvr>
                                        <p:cTn id="193" dur="650" fill="hold"/>
                                        <p:tgtEl>
                                          <p:spTgt spid="41"/>
                                        </p:tgtEl>
                                        <p:attrNameLst>
                                          <p:attrName>ppt_y</p:attrName>
                                        </p:attrNameLst>
                                      </p:cBhvr>
                                      <p:tavLst>
                                        <p:tav tm="0">
                                          <p:val>
                                            <p:strVal val="#ppt_y+.05"/>
                                          </p:val>
                                        </p:tav>
                                        <p:tav tm="100000">
                                          <p:val>
                                            <p:strVal val="#ppt_y"/>
                                          </p:val>
                                        </p:tav>
                                      </p:tavLst>
                                    </p:anim>
                                  </p:childTnLst>
                                </p:cTn>
                              </p:par>
                              <p:par>
                                <p:cTn id="194" presetID="42" presetClass="entr" presetSubtype="0" fill="hold" grpId="0" nodeType="withEffect">
                                  <p:stCondLst>
                                    <p:cond delay="940"/>
                                  </p:stCondLst>
                                  <p:childTnLst>
                                    <p:set>
                                      <p:cBhvr>
                                        <p:cTn id="195" dur="1" fill="hold">
                                          <p:stCondLst>
                                            <p:cond delay="0"/>
                                          </p:stCondLst>
                                        </p:cTn>
                                        <p:tgtEl>
                                          <p:spTgt spid="42"/>
                                        </p:tgtEl>
                                        <p:attrNameLst>
                                          <p:attrName>style.visibility</p:attrName>
                                        </p:attrNameLst>
                                      </p:cBhvr>
                                      <p:to>
                                        <p:strVal val="visible"/>
                                      </p:to>
                                    </p:set>
                                    <p:animEffect transition="in" filter="fade">
                                      <p:cBhvr>
                                        <p:cTn id="196" dur="650"/>
                                        <p:tgtEl>
                                          <p:spTgt spid="42"/>
                                        </p:tgtEl>
                                      </p:cBhvr>
                                    </p:animEffect>
                                    <p:anim calcmode="lin" valueType="num">
                                      <p:cBhvr>
                                        <p:cTn id="197" dur="650" fill="hold"/>
                                        <p:tgtEl>
                                          <p:spTgt spid="42"/>
                                        </p:tgtEl>
                                        <p:attrNameLst>
                                          <p:attrName>ppt_x</p:attrName>
                                        </p:attrNameLst>
                                      </p:cBhvr>
                                      <p:tavLst>
                                        <p:tav tm="0">
                                          <p:val>
                                            <p:strVal val="#ppt_x"/>
                                          </p:val>
                                        </p:tav>
                                        <p:tav tm="100000">
                                          <p:val>
                                            <p:strVal val="#ppt_x"/>
                                          </p:val>
                                        </p:tav>
                                      </p:tavLst>
                                    </p:anim>
                                    <p:anim calcmode="lin" valueType="num">
                                      <p:cBhvr>
                                        <p:cTn id="198" dur="650" fill="hold"/>
                                        <p:tgtEl>
                                          <p:spTgt spid="42"/>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7" grpId="0" animBg="1"/>
      <p:bldP spid="8" grpId="0" animBg="1"/>
      <p:bldP spid="9" grpId="0" animBg="1"/>
      <p:bldP spid="11" grpId="0" animBg="1"/>
      <p:bldP spid="12" grpId="0" animBg="1"/>
      <p:bldP spid="13" grpId="0" animBg="1"/>
      <p:bldP spid="15" grpId="0" animBg="1"/>
      <p:bldP spid="16" grpId="0" animBg="1"/>
      <p:bldP spid="17" grpId="0" animBg="1"/>
      <p:bldP spid="18" grpId="0" animBg="1"/>
      <p:bldP spid="19" grpId="0" animBg="1"/>
      <p:bldP spid="21" grpId="0" animBg="1"/>
      <p:bldP spid="22" grpId="0" animBg="1"/>
      <p:bldP spid="24" grpId="0" animBg="1"/>
      <p:bldP spid="25" grpId="0" animBg="1"/>
      <p:bldP spid="27" grpId="0" animBg="1"/>
      <p:bldP spid="28" grpId="0" animBg="1"/>
      <p:bldP spid="30" grpId="0" animBg="1"/>
      <p:bldP spid="31" grpId="0" animBg="1"/>
      <p:bldP spid="33" grpId="0" animBg="1"/>
      <p:bldP spid="34" grpId="0" animBg="1"/>
      <p:bldP spid="36" grpId="0" animBg="1"/>
      <p:bldP spid="37" grpId="0" animBg="1"/>
      <p:bldP spid="39" grpId="0" animBg="1"/>
      <p:bldP spid="40" grpId="0" animBg="1"/>
      <p:bldP spid="4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eyebrow-pill"/>
          <p:cNvSpPr/>
          <p:nvPr/>
        </p:nvSpPr>
        <p:spPr>
          <a:xfrm>
            <a:off x="548640" y="475488"/>
            <a:ext cx="954634" cy="274320"/>
          </a:xfrm>
          <a:prstGeom prst="roundRect">
            <a:avLst>
              <a:gd name="adj" fmla="val 50000"/>
            </a:avLst>
          </a:prstGeom>
          <a:solidFill>
            <a:srgbClr val="E5E5EA"/>
          </a:solidFill>
          <a:ln/>
        </p:spPr>
      </p:sp>
      <p:sp>
        <p:nvSpPr>
          <p:cNvPr id="3" name="eyebrow"/>
          <p:cNvSpPr txBox="1"/>
          <p:nvPr/>
        </p:nvSpPr>
        <p:spPr>
          <a:xfrm>
            <a:off x="548640" y="475488"/>
            <a:ext cx="954634" cy="274320"/>
          </a:xfrm>
          <a:prstGeom prst="rect">
            <a:avLst/>
          </a:prstGeom>
          <a:noFill/>
          <a:ln/>
        </p:spPr>
        <p:txBody>
          <a:bodyPr wrap="square" lIns="0" tIns="0" rIns="0" bIns="0" rtlCol="0" anchor="ctr"/>
          <a:lstStyle/>
          <a:p>
            <a:pPr algn="ctr" indent="0" marL="0">
              <a:buNone/>
            </a:pPr>
            <a:r>
              <a:rPr lang="en-US" sz="900" b="1" spc="160" kern="0" dirty="0">
                <a:solidFill>
                  <a:srgbClr val="5C5C61"/>
                </a:solidFill>
                <a:latin typeface="Arial" pitchFamily="34" charset="0"/>
                <a:ea typeface="Arial" pitchFamily="34" charset="-122"/>
                <a:cs typeface="Arial" pitchFamily="34" charset="-120"/>
              </a:rPr>
              <a:t>THE TOOL</a:t>
            </a:r>
            <a:endParaRPr lang="en-US" sz="900" dirty="0"/>
          </a:p>
        </p:txBody>
      </p:sp>
      <p:sp>
        <p:nvSpPr>
          <p:cNvPr id="4" name="Text 1"/>
          <p:cNvSpPr/>
          <p:nvPr>
            <p:ph idx="101" type="title" hasCustomPrompt="1"/>
          </p:nvPr>
        </p:nvSpPr>
        <p:spPr>
          <a:xfrm>
            <a:off x="548640" y="896112"/>
            <a:ext cx="6583680" cy="1207008"/>
          </a:xfrm>
          <a:prstGeom prst="rect">
            <a:avLst/>
          </a:prstGeom>
          <a:noFill/>
          <a:ln/>
        </p:spPr>
        <p:txBody>
          <a:bodyPr wrap="square" lIns="0" tIns="0" rIns="0" bIns="0" rtlCol="0" anchor="t"/>
          <a:lstStyle/>
          <a:p>
            <a:pPr algn="l" indent="0" marL="0">
              <a:buNone/>
            </a:pPr>
            <a:r>
              <a:rPr lang="en-US" sz="3400" b="1" dirty="0">
                <a:solidFill>
                  <a:srgbClr val="1D1D1F"/>
                </a:solidFill>
                <a:latin typeface="Arial" pitchFamily="34" charset="0"/>
                <a:ea typeface="Arial" pitchFamily="34" charset="-122"/>
                <a:cs typeface="Arial" pitchFamily="34" charset="-120"/>
              </a:rPr>
              <a:t>One file.</a:t>
            </a:r>
            <a:endParaRPr lang="en-US" sz="3400" dirty="0"/>
          </a:p>
          <a:p>
            <a:pPr algn="l" indent="0" marL="0">
              <a:buNone/>
            </a:pPr>
            <a:r>
              <a:rPr lang="en-US" sz="3400" dirty="0">
                <a:solidFill>
                  <a:srgbClr val="8E8E93"/>
                </a:solidFill>
                <a:latin typeface="Arial" pitchFamily="34" charset="0"/>
                <a:ea typeface="Arial" pitchFamily="34" charset="-122"/>
                <a:cs typeface="Arial" pitchFamily="34" charset="-120"/>
              </a:rPr>
              <a:t>Your month in one place</a:t>
            </a:r>
            <a:endParaRPr lang="en-US" sz="3400" dirty="0"/>
          </a:p>
        </p:txBody>
      </p:sp>
      <p:sp>
        <p:nvSpPr>
          <p:cNvPr id="5" name="card0"/>
          <p:cNvSpPr/>
          <p:nvPr/>
        </p:nvSpPr>
        <p:spPr>
          <a:xfrm>
            <a:off x="548640" y="2286000"/>
            <a:ext cx="4572000" cy="896112"/>
          </a:xfrm>
          <a:prstGeom prst="roundRect">
            <a:avLst>
              <a:gd name="adj" fmla="val 16327"/>
            </a:avLst>
          </a:prstGeom>
          <a:solidFill>
            <a:srgbClr val="FFFFFF"/>
          </a:solidFill>
          <a:ln w="9525">
            <a:solidFill>
              <a:srgbClr val="E5E5EA"/>
            </a:solidFill>
            <a:prstDash val="solid"/>
          </a:ln>
          <a:effectLst>
            <a:outerShdw sx="100000" sy="100000" kx="0" ky="0" algn="bl" rotWithShape="0" blurRad="177800" dist="38100" dir="5400000">
              <a:srgbClr val="000000">
                <a:alpha val="7000"/>
              </a:srgbClr>
            </a:outerShdw>
          </a:effectLst>
        </p:spPr>
      </p:sp>
      <p:sp>
        <p:nvSpPr>
          <p:cNvPr id="6" name="dot-offline"/>
          <p:cNvSpPr/>
          <p:nvPr/>
        </p:nvSpPr>
        <p:spPr>
          <a:xfrm>
            <a:off x="749808" y="2487168"/>
            <a:ext cx="457200" cy="457200"/>
          </a:xfrm>
          <a:prstGeom prst="ellipse">
            <a:avLst/>
          </a:prstGeom>
          <a:solidFill>
            <a:srgbClr val="1D1D1F"/>
          </a:solidFill>
          <a:ln/>
        </p:spPr>
      </p:sp>
      <p:pic>
        <p:nvPicPr>
          <p:cNvPr id="7" name="icon-offline" descr="">    </p:cNvPr>
          <p:cNvPicPr>
            <a:picLocks noChangeAspect="1"/>
          </p:cNvPicPr>
          <p:nvPr/>
        </p:nvPicPr>
        <p:blipFill>
          <a:blip r:embed="rId1"/>
          <a:stretch>
            <a:fillRect/>
          </a:stretch>
        </p:blipFill>
        <p:spPr>
          <a:xfrm>
            <a:off x="854964" y="2592324"/>
            <a:ext cx="246888" cy="246888"/>
          </a:xfrm>
          <a:prstGeom prst="rect">
            <a:avLst/>
          </a:prstGeom>
        </p:spPr>
      </p:pic>
      <p:sp>
        <p:nvSpPr>
          <p:cNvPr id="8" name="h"/>
          <p:cNvSpPr txBox="1"/>
          <p:nvPr/>
        </p:nvSpPr>
        <p:spPr>
          <a:xfrm>
            <a:off x="1408176" y="2468880"/>
            <a:ext cx="3593592" cy="310896"/>
          </a:xfrm>
          <a:prstGeom prst="rect">
            <a:avLst/>
          </a:prstGeom>
          <a:noFill/>
          <a:ln/>
        </p:spPr>
        <p:txBody>
          <a:bodyPr wrap="square" lIns="0" tIns="0" rIns="0" bIns="0" rtlCol="0" anchor="ctr"/>
          <a:lstStyle/>
          <a:p>
            <a:pPr indent="0" marL="0">
              <a:buNone/>
            </a:pPr>
            <a:r>
              <a:rPr lang="en-US" sz="1350" b="1" dirty="0">
                <a:solidFill>
                  <a:srgbClr val="1D1D1F"/>
                </a:solidFill>
                <a:latin typeface="Arial" pitchFamily="34" charset="0"/>
                <a:ea typeface="Arial" pitchFamily="34" charset="-122"/>
                <a:cs typeface="Arial" pitchFamily="34" charset="-120"/>
              </a:rPr>
              <a:t>Works offline</a:t>
            </a:r>
            <a:endParaRPr lang="en-US" sz="1350" dirty="0"/>
          </a:p>
        </p:txBody>
      </p:sp>
      <p:sp>
        <p:nvSpPr>
          <p:cNvPr id="9" name="t"/>
          <p:cNvSpPr txBox="1"/>
          <p:nvPr/>
        </p:nvSpPr>
        <p:spPr>
          <a:xfrm>
            <a:off x="1408176" y="2779776"/>
            <a:ext cx="3593592" cy="411480"/>
          </a:xfrm>
          <a:prstGeom prst="rect">
            <a:avLst/>
          </a:prstGeom>
          <a:noFill/>
          <a:ln/>
        </p:spPr>
        <p:txBody>
          <a:bodyPr wrap="square" lIns="0" tIns="0" rIns="0" bIns="0" rtlCol="0" anchor="t"/>
          <a:lstStyle/>
          <a:p>
            <a:pPr indent="0" marL="0">
              <a:lnSpc>
                <a:spcPct val="105000"/>
              </a:lnSpc>
              <a:buNone/>
            </a:pPr>
            <a:r>
              <a:rPr lang="en-US" sz="1100" dirty="0">
                <a:solidFill>
                  <a:srgbClr val="5C5C61"/>
                </a:solidFill>
                <a:latin typeface="Arial" pitchFamily="34" charset="0"/>
                <a:ea typeface="Arial" pitchFamily="34" charset="-122"/>
                <a:cs typeface="Arial" pitchFamily="34" charset="-120"/>
              </a:rPr>
              <a:t>Opens in Edge or Chrome: nothing to install, no server.</a:t>
            </a:r>
            <a:endParaRPr lang="en-US" sz="1100" dirty="0"/>
          </a:p>
        </p:txBody>
      </p:sp>
      <p:sp>
        <p:nvSpPr>
          <p:cNvPr id="10" name="card1"/>
          <p:cNvSpPr/>
          <p:nvPr/>
        </p:nvSpPr>
        <p:spPr>
          <a:xfrm>
            <a:off x="548640" y="3291840"/>
            <a:ext cx="4572000" cy="896112"/>
          </a:xfrm>
          <a:prstGeom prst="roundRect">
            <a:avLst>
              <a:gd name="adj" fmla="val 16327"/>
            </a:avLst>
          </a:prstGeom>
          <a:solidFill>
            <a:srgbClr val="FFFFFF"/>
          </a:solidFill>
          <a:ln w="9525">
            <a:solidFill>
              <a:srgbClr val="E5E5EA"/>
            </a:solidFill>
            <a:prstDash val="solid"/>
          </a:ln>
          <a:effectLst>
            <a:outerShdw sx="100000" sy="100000" kx="0" ky="0" algn="bl" rotWithShape="0" blurRad="177800" dist="38100" dir="5400000">
              <a:srgbClr val="000000">
                <a:alpha val="7000"/>
              </a:srgbClr>
            </a:outerShdw>
          </a:effectLst>
        </p:spPr>
      </p:sp>
      <p:sp>
        <p:nvSpPr>
          <p:cNvPr id="11" name="dot-folder"/>
          <p:cNvSpPr/>
          <p:nvPr/>
        </p:nvSpPr>
        <p:spPr>
          <a:xfrm>
            <a:off x="749808" y="3493008"/>
            <a:ext cx="457200" cy="457200"/>
          </a:xfrm>
          <a:prstGeom prst="ellipse">
            <a:avLst/>
          </a:prstGeom>
          <a:solidFill>
            <a:srgbClr val="1D1D1F"/>
          </a:solidFill>
          <a:ln/>
        </p:spPr>
      </p:sp>
      <p:pic>
        <p:nvPicPr>
          <p:cNvPr id="12" name="icon-folder" descr="">    </p:cNvPr>
          <p:cNvPicPr>
            <a:picLocks noChangeAspect="1"/>
          </p:cNvPicPr>
          <p:nvPr/>
        </p:nvPicPr>
        <p:blipFill>
          <a:blip r:embed="rId2"/>
          <a:stretch>
            <a:fillRect/>
          </a:stretch>
        </p:blipFill>
        <p:spPr>
          <a:xfrm>
            <a:off x="854964" y="3598164"/>
            <a:ext cx="246888" cy="246888"/>
          </a:xfrm>
          <a:prstGeom prst="rect">
            <a:avLst/>
          </a:prstGeom>
        </p:spPr>
      </p:pic>
      <p:sp>
        <p:nvSpPr>
          <p:cNvPr id="13" name="h"/>
          <p:cNvSpPr txBox="1"/>
          <p:nvPr/>
        </p:nvSpPr>
        <p:spPr>
          <a:xfrm>
            <a:off x="1408176" y="3474720"/>
            <a:ext cx="3593592" cy="310896"/>
          </a:xfrm>
          <a:prstGeom prst="rect">
            <a:avLst/>
          </a:prstGeom>
          <a:noFill/>
          <a:ln/>
        </p:spPr>
        <p:txBody>
          <a:bodyPr wrap="square" lIns="0" tIns="0" rIns="0" bIns="0" rtlCol="0" anchor="ctr"/>
          <a:lstStyle/>
          <a:p>
            <a:pPr indent="0" marL="0">
              <a:buNone/>
            </a:pPr>
            <a:r>
              <a:rPr lang="en-US" sz="1350" b="1" dirty="0">
                <a:solidFill>
                  <a:srgbClr val="1D1D1F"/>
                </a:solidFill>
                <a:latin typeface="Arial" pitchFamily="34" charset="0"/>
                <a:ea typeface="Arial" pitchFamily="34" charset="-122"/>
                <a:cs typeface="Arial" pitchFamily="34" charset="-120"/>
              </a:rPr>
              <a:t>Shared</a:t>
            </a:r>
            <a:endParaRPr lang="en-US" sz="1350" dirty="0"/>
          </a:p>
        </p:txBody>
      </p:sp>
      <p:sp>
        <p:nvSpPr>
          <p:cNvPr id="14" name="t"/>
          <p:cNvSpPr txBox="1"/>
          <p:nvPr/>
        </p:nvSpPr>
        <p:spPr>
          <a:xfrm>
            <a:off x="1408176" y="3785616"/>
            <a:ext cx="3593592" cy="411480"/>
          </a:xfrm>
          <a:prstGeom prst="rect">
            <a:avLst/>
          </a:prstGeom>
          <a:noFill/>
          <a:ln/>
        </p:spPr>
        <p:txBody>
          <a:bodyPr wrap="square" lIns="0" tIns="0" rIns="0" bIns="0" rtlCol="0" anchor="t"/>
          <a:lstStyle/>
          <a:p>
            <a:pPr indent="0" marL="0">
              <a:lnSpc>
                <a:spcPct val="105000"/>
              </a:lnSpc>
              <a:buNone/>
            </a:pPr>
            <a:r>
              <a:rPr lang="en-US" sz="1100" dirty="0">
                <a:solidFill>
                  <a:srgbClr val="5C5C61"/>
                </a:solidFill>
                <a:latin typeface="Arial" pitchFamily="34" charset="0"/>
                <a:ea typeface="Arial" pitchFamily="34" charset="-122"/>
                <a:cs typeface="Arial" pitchFamily="34" charset="-120"/>
              </a:rPr>
              <a:t>Everyone works on the same data folder, next to the HTML.</a:t>
            </a:r>
            <a:endParaRPr lang="en-US" sz="1100" dirty="0"/>
          </a:p>
        </p:txBody>
      </p:sp>
      <p:sp>
        <p:nvSpPr>
          <p:cNvPr id="15" name="card2"/>
          <p:cNvSpPr/>
          <p:nvPr/>
        </p:nvSpPr>
        <p:spPr>
          <a:xfrm>
            <a:off x="548640" y="4297680"/>
            <a:ext cx="4572000" cy="896112"/>
          </a:xfrm>
          <a:prstGeom prst="roundRect">
            <a:avLst>
              <a:gd name="adj" fmla="val 16327"/>
            </a:avLst>
          </a:prstGeom>
          <a:solidFill>
            <a:srgbClr val="FFFFFF"/>
          </a:solidFill>
          <a:ln w="9525">
            <a:solidFill>
              <a:srgbClr val="E5E5EA"/>
            </a:solidFill>
            <a:prstDash val="solid"/>
          </a:ln>
          <a:effectLst>
            <a:outerShdw sx="100000" sy="100000" kx="0" ky="0" algn="bl" rotWithShape="0" blurRad="177800" dist="38100" dir="5400000">
              <a:srgbClr val="000000">
                <a:alpha val="7000"/>
              </a:srgbClr>
            </a:outerShdw>
          </a:effectLst>
        </p:spPr>
      </p:sp>
      <p:sp>
        <p:nvSpPr>
          <p:cNvPr id="16" name="dot-lock"/>
          <p:cNvSpPr/>
          <p:nvPr/>
        </p:nvSpPr>
        <p:spPr>
          <a:xfrm>
            <a:off x="749808" y="4498848"/>
            <a:ext cx="457200" cy="457200"/>
          </a:xfrm>
          <a:prstGeom prst="ellipse">
            <a:avLst/>
          </a:prstGeom>
          <a:solidFill>
            <a:srgbClr val="1D1D1F"/>
          </a:solidFill>
          <a:ln/>
        </p:spPr>
      </p:sp>
      <p:pic>
        <p:nvPicPr>
          <p:cNvPr id="17" name="icon-lock" descr="">    </p:cNvPr>
          <p:cNvPicPr>
            <a:picLocks noChangeAspect="1"/>
          </p:cNvPicPr>
          <p:nvPr/>
        </p:nvPicPr>
        <p:blipFill>
          <a:blip r:embed="rId3"/>
          <a:stretch>
            <a:fillRect/>
          </a:stretch>
        </p:blipFill>
        <p:spPr>
          <a:xfrm>
            <a:off x="854964" y="4604004"/>
            <a:ext cx="246888" cy="246888"/>
          </a:xfrm>
          <a:prstGeom prst="rect">
            <a:avLst/>
          </a:prstGeom>
        </p:spPr>
      </p:pic>
      <p:sp>
        <p:nvSpPr>
          <p:cNvPr id="18" name="h"/>
          <p:cNvSpPr txBox="1"/>
          <p:nvPr/>
        </p:nvSpPr>
        <p:spPr>
          <a:xfrm>
            <a:off x="1408176" y="4480560"/>
            <a:ext cx="3593592" cy="310896"/>
          </a:xfrm>
          <a:prstGeom prst="rect">
            <a:avLst/>
          </a:prstGeom>
          <a:noFill/>
          <a:ln/>
        </p:spPr>
        <p:txBody>
          <a:bodyPr wrap="square" lIns="0" tIns="0" rIns="0" bIns="0" rtlCol="0" anchor="ctr"/>
          <a:lstStyle/>
          <a:p>
            <a:pPr indent="0" marL="0">
              <a:buNone/>
            </a:pPr>
            <a:r>
              <a:rPr lang="en-US" sz="1350" b="1" dirty="0">
                <a:solidFill>
                  <a:srgbClr val="1D1D1F"/>
                </a:solidFill>
                <a:latin typeface="Arial" pitchFamily="34" charset="0"/>
                <a:ea typeface="Arial" pitchFamily="34" charset="-122"/>
                <a:cs typeface="Arial" pitchFamily="34" charset="-120"/>
              </a:rPr>
              <a:t>Locked</a:t>
            </a:r>
            <a:endParaRPr lang="en-US" sz="1350" dirty="0"/>
          </a:p>
        </p:txBody>
      </p:sp>
      <p:sp>
        <p:nvSpPr>
          <p:cNvPr id="19" name="t"/>
          <p:cNvSpPr txBox="1"/>
          <p:nvPr/>
        </p:nvSpPr>
        <p:spPr>
          <a:xfrm>
            <a:off x="1408176" y="4791456"/>
            <a:ext cx="3593592" cy="411480"/>
          </a:xfrm>
          <a:prstGeom prst="rect">
            <a:avLst/>
          </a:prstGeom>
          <a:noFill/>
          <a:ln/>
        </p:spPr>
        <p:txBody>
          <a:bodyPr wrap="square" lIns="0" tIns="0" rIns="0" bIns="0" rtlCol="0" anchor="t"/>
          <a:lstStyle/>
          <a:p>
            <a:pPr indent="0" marL="0">
              <a:lnSpc>
                <a:spcPct val="105000"/>
              </a:lnSpc>
              <a:buNone/>
            </a:pPr>
            <a:r>
              <a:rPr lang="en-US" sz="1100" dirty="0">
                <a:solidFill>
                  <a:srgbClr val="5C5C61"/>
                </a:solidFill>
                <a:latin typeface="Arial" pitchFamily="34" charset="0"/>
                <a:ea typeface="Arial" pitchFamily="34" charset="-122"/>
                <a:cs typeface="Arial" pitchFamily="34" charset="-120"/>
              </a:rPr>
              <a:t>The data files are encrypted: only accounts made in the tool read them.</a:t>
            </a:r>
            <a:endParaRPr lang="en-US" sz="1100" dirty="0"/>
          </a:p>
        </p:txBody>
      </p:sp>
      <p:sp>
        <p:nvSpPr>
          <p:cNvPr id="20" name="card3"/>
          <p:cNvSpPr/>
          <p:nvPr/>
        </p:nvSpPr>
        <p:spPr>
          <a:xfrm>
            <a:off x="548640" y="5303520"/>
            <a:ext cx="4572000" cy="896112"/>
          </a:xfrm>
          <a:prstGeom prst="roundRect">
            <a:avLst>
              <a:gd name="adj" fmla="val 16327"/>
            </a:avLst>
          </a:prstGeom>
          <a:solidFill>
            <a:srgbClr val="FFFFFF"/>
          </a:solidFill>
          <a:ln w="9525">
            <a:solidFill>
              <a:srgbClr val="E5E5EA"/>
            </a:solidFill>
            <a:prstDash val="solid"/>
          </a:ln>
          <a:effectLst>
            <a:outerShdw sx="100000" sy="100000" kx="0" ky="0" algn="bl" rotWithShape="0" blurRad="177800" dist="38100" dir="5400000">
              <a:srgbClr val="000000">
                <a:alpha val="7000"/>
              </a:srgbClr>
            </a:outerShdw>
          </a:effectLst>
        </p:spPr>
      </p:sp>
      <p:sp>
        <p:nvSpPr>
          <p:cNvPr id="21" name="dot-team"/>
          <p:cNvSpPr/>
          <p:nvPr/>
        </p:nvSpPr>
        <p:spPr>
          <a:xfrm>
            <a:off x="749808" y="5504688"/>
            <a:ext cx="457200" cy="457200"/>
          </a:xfrm>
          <a:prstGeom prst="ellipse">
            <a:avLst/>
          </a:prstGeom>
          <a:solidFill>
            <a:srgbClr val="1D1D1F"/>
          </a:solidFill>
          <a:ln/>
        </p:spPr>
      </p:sp>
      <p:pic>
        <p:nvPicPr>
          <p:cNvPr id="22" name="icon-team" descr="">    </p:cNvPr>
          <p:cNvPicPr>
            <a:picLocks noChangeAspect="1"/>
          </p:cNvPicPr>
          <p:nvPr/>
        </p:nvPicPr>
        <p:blipFill>
          <a:blip r:embed="rId4"/>
          <a:stretch>
            <a:fillRect/>
          </a:stretch>
        </p:blipFill>
        <p:spPr>
          <a:xfrm>
            <a:off x="854964" y="5609844"/>
            <a:ext cx="246888" cy="246888"/>
          </a:xfrm>
          <a:prstGeom prst="rect">
            <a:avLst/>
          </a:prstGeom>
        </p:spPr>
      </p:pic>
      <p:sp>
        <p:nvSpPr>
          <p:cNvPr id="23" name="h"/>
          <p:cNvSpPr txBox="1"/>
          <p:nvPr/>
        </p:nvSpPr>
        <p:spPr>
          <a:xfrm>
            <a:off x="1408176" y="5486400"/>
            <a:ext cx="3593592" cy="310896"/>
          </a:xfrm>
          <a:prstGeom prst="rect">
            <a:avLst/>
          </a:prstGeom>
          <a:noFill/>
          <a:ln/>
        </p:spPr>
        <p:txBody>
          <a:bodyPr wrap="square" lIns="0" tIns="0" rIns="0" bIns="0" rtlCol="0" anchor="ctr"/>
          <a:lstStyle/>
          <a:p>
            <a:pPr indent="0" marL="0">
              <a:buNone/>
            </a:pPr>
            <a:r>
              <a:rPr lang="en-US" sz="1350" b="1" dirty="0">
                <a:solidFill>
                  <a:srgbClr val="1D1D1F"/>
                </a:solidFill>
                <a:latin typeface="Arial" pitchFamily="34" charset="0"/>
                <a:ea typeface="Arial" pitchFamily="34" charset="-122"/>
                <a:cs typeface="Arial" pitchFamily="34" charset="-120"/>
              </a:rPr>
              <a:t>For every role</a:t>
            </a:r>
            <a:endParaRPr lang="en-US" sz="1350" dirty="0"/>
          </a:p>
        </p:txBody>
      </p:sp>
      <p:sp>
        <p:nvSpPr>
          <p:cNvPr id="24" name="t"/>
          <p:cNvSpPr txBox="1"/>
          <p:nvPr/>
        </p:nvSpPr>
        <p:spPr>
          <a:xfrm>
            <a:off x="1408176" y="5797296"/>
            <a:ext cx="3593592" cy="411480"/>
          </a:xfrm>
          <a:prstGeom prst="rect">
            <a:avLst/>
          </a:prstGeom>
          <a:noFill/>
          <a:ln/>
        </p:spPr>
        <p:txBody>
          <a:bodyPr wrap="square" lIns="0" tIns="0" rIns="0" bIns="0" rtlCol="0" anchor="t"/>
          <a:lstStyle/>
          <a:p>
            <a:pPr indent="0" marL="0">
              <a:lnSpc>
                <a:spcPct val="105000"/>
              </a:lnSpc>
              <a:buNone/>
            </a:pPr>
            <a:r>
              <a:rPr lang="en-US" sz="1100" dirty="0">
                <a:solidFill>
                  <a:srgbClr val="5C5C61"/>
                </a:solidFill>
                <a:latin typeface="Arial" pitchFamily="34" charset="0"/>
                <a:ea typeface="Arial" pitchFamily="34" charset="-122"/>
                <a:cs typeface="Arial" pitchFamily="34" charset="-120"/>
              </a:rPr>
              <a:t>WFM, supervisors, the senior manager, quality and agents.</a:t>
            </a:r>
            <a:endParaRPr lang="en-US" sz="1100" dirty="0"/>
          </a:p>
        </p:txBody>
      </p:sp>
      <p:pic>
        <p:nvPicPr>
          <p:cNvPr id="25" name="laptop" descr="The dashboard on a laptop">    </p:cNvPr>
          <p:cNvPicPr>
            <a:picLocks noChangeAspect="1"/>
          </p:cNvPicPr>
          <p:nvPr/>
        </p:nvPicPr>
        <p:blipFill>
          <a:blip r:embed="rId5"/>
          <a:stretch>
            <a:fillRect/>
          </a:stretch>
        </p:blipFill>
        <p:spPr>
          <a:xfrm>
            <a:off x="5669280" y="1234440"/>
            <a:ext cx="6263640" cy="4369635"/>
          </a:xfrm>
          <a:prstGeom prst="rect">
            <a:avLst/>
          </a:prstGeom>
        </p:spPr>
      </p:pic>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E8E93"/>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42" presetClass="entr" presetSubtype="0" fill="hold" grpId="0" nodeType="withEffect">
                                  <p:stCondLst>
                                    <p:cond delay="20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650"/>
                                        <p:tgtEl>
                                          <p:spTgt spid="25"/>
                                        </p:tgtEl>
                                      </p:cBhvr>
                                    </p:animEffect>
                                    <p:anim calcmode="lin" valueType="num">
                                      <p:cBhvr>
                                        <p:cTn id="14" dur="650" fill="hold"/>
                                        <p:tgtEl>
                                          <p:spTgt spid="25"/>
                                        </p:tgtEl>
                                        <p:attrNameLst>
                                          <p:attrName>ppt_x</p:attrName>
                                        </p:attrNameLst>
                                      </p:cBhvr>
                                      <p:tavLst>
                                        <p:tav tm="0">
                                          <p:val>
                                            <p:strVal val="#ppt_x"/>
                                          </p:val>
                                        </p:tav>
                                        <p:tav tm="100000">
                                          <p:val>
                                            <p:strVal val="#ppt_x"/>
                                          </p:val>
                                        </p:tav>
                                      </p:tavLst>
                                    </p:anim>
                                    <p:anim calcmode="lin" valueType="num">
                                      <p:cBhvr>
                                        <p:cTn id="15" dur="650" fill="hold"/>
                                        <p:tgtEl>
                                          <p:spTgt spid="25"/>
                                        </p:tgtEl>
                                        <p:attrNameLst>
                                          <p:attrName>ppt_y</p:attrName>
                                        </p:attrNameLst>
                                      </p:cBhvr>
                                      <p:tavLst>
                                        <p:tav tm="0">
                                          <p:val>
                                            <p:strVal val="#ppt_y+.05"/>
                                          </p:val>
                                        </p:tav>
                                        <p:tav tm="100000">
                                          <p:val>
                                            <p:strVal val="#ppt_y"/>
                                          </p:val>
                                        </p:tav>
                                      </p:tavLst>
                                    </p:anim>
                                  </p:childTnLst>
                                </p:cTn>
                              </p:par>
                              <p:par>
                                <p:cTn id="16" presetID="42" presetClass="entr" presetSubtype="0" fill="hold" grpId="0" nodeType="withEffect">
                                  <p:stCondLst>
                                    <p:cond delay="30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650"/>
                                        <p:tgtEl>
                                          <p:spTgt spid="5"/>
                                        </p:tgtEl>
                                      </p:cBhvr>
                                    </p:animEffect>
                                    <p:anim calcmode="lin" valueType="num">
                                      <p:cBhvr>
                                        <p:cTn id="19" dur="650" fill="hold"/>
                                        <p:tgtEl>
                                          <p:spTgt spid="5"/>
                                        </p:tgtEl>
                                        <p:attrNameLst>
                                          <p:attrName>ppt_x</p:attrName>
                                        </p:attrNameLst>
                                      </p:cBhvr>
                                      <p:tavLst>
                                        <p:tav tm="0">
                                          <p:val>
                                            <p:strVal val="#ppt_x"/>
                                          </p:val>
                                        </p:tav>
                                        <p:tav tm="100000">
                                          <p:val>
                                            <p:strVal val="#ppt_x"/>
                                          </p:val>
                                        </p:tav>
                                      </p:tavLst>
                                    </p:anim>
                                    <p:anim calcmode="lin" valueType="num">
                                      <p:cBhvr>
                                        <p:cTn id="20" dur="650" fill="hold"/>
                                        <p:tgtEl>
                                          <p:spTgt spid="5"/>
                                        </p:tgtEl>
                                        <p:attrNameLst>
                                          <p:attrName>ppt_y</p:attrName>
                                        </p:attrNameLst>
                                      </p:cBhvr>
                                      <p:tavLst>
                                        <p:tav tm="0">
                                          <p:val>
                                            <p:strVal val="#ppt_y+.05"/>
                                          </p:val>
                                        </p:tav>
                                        <p:tav tm="100000">
                                          <p:val>
                                            <p:strVal val="#ppt_y"/>
                                          </p:val>
                                        </p:tav>
                                      </p:tavLst>
                                    </p:anim>
                                  </p:childTnLst>
                                </p:cTn>
                              </p:par>
                              <p:par>
                                <p:cTn id="21" presetID="42" presetClass="entr" presetSubtype="0" fill="hold" grpId="0" nodeType="withEffect">
                                  <p:stCondLst>
                                    <p:cond delay="30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650"/>
                                        <p:tgtEl>
                                          <p:spTgt spid="6"/>
                                        </p:tgtEl>
                                      </p:cBhvr>
                                    </p:animEffect>
                                    <p:anim calcmode="lin" valueType="num">
                                      <p:cBhvr>
                                        <p:cTn id="24" dur="650" fill="hold"/>
                                        <p:tgtEl>
                                          <p:spTgt spid="6"/>
                                        </p:tgtEl>
                                        <p:attrNameLst>
                                          <p:attrName>ppt_x</p:attrName>
                                        </p:attrNameLst>
                                      </p:cBhvr>
                                      <p:tavLst>
                                        <p:tav tm="0">
                                          <p:val>
                                            <p:strVal val="#ppt_x"/>
                                          </p:val>
                                        </p:tav>
                                        <p:tav tm="100000">
                                          <p:val>
                                            <p:strVal val="#ppt_x"/>
                                          </p:val>
                                        </p:tav>
                                      </p:tavLst>
                                    </p:anim>
                                    <p:anim calcmode="lin" valueType="num">
                                      <p:cBhvr>
                                        <p:cTn id="25" dur="650" fill="hold"/>
                                        <p:tgtEl>
                                          <p:spTgt spid="6"/>
                                        </p:tgtEl>
                                        <p:attrNameLst>
                                          <p:attrName>ppt_y</p:attrName>
                                        </p:attrNameLst>
                                      </p:cBhvr>
                                      <p:tavLst>
                                        <p:tav tm="0">
                                          <p:val>
                                            <p:strVal val="#ppt_y+.05"/>
                                          </p:val>
                                        </p:tav>
                                        <p:tav tm="100000">
                                          <p:val>
                                            <p:strVal val="#ppt_y"/>
                                          </p:val>
                                        </p:tav>
                                      </p:tavLst>
                                    </p:anim>
                                  </p:childTnLst>
                                </p:cTn>
                              </p:par>
                              <p:par>
                                <p:cTn id="26" presetID="42" presetClass="entr" presetSubtype="0" fill="hold" grpId="0" nodeType="withEffect">
                                  <p:stCondLst>
                                    <p:cond delay="30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650"/>
                                        <p:tgtEl>
                                          <p:spTgt spid="7"/>
                                        </p:tgtEl>
                                      </p:cBhvr>
                                    </p:animEffect>
                                    <p:anim calcmode="lin" valueType="num">
                                      <p:cBhvr>
                                        <p:cTn id="29" dur="650" fill="hold"/>
                                        <p:tgtEl>
                                          <p:spTgt spid="7"/>
                                        </p:tgtEl>
                                        <p:attrNameLst>
                                          <p:attrName>ppt_x</p:attrName>
                                        </p:attrNameLst>
                                      </p:cBhvr>
                                      <p:tavLst>
                                        <p:tav tm="0">
                                          <p:val>
                                            <p:strVal val="#ppt_x"/>
                                          </p:val>
                                        </p:tav>
                                        <p:tav tm="100000">
                                          <p:val>
                                            <p:strVal val="#ppt_x"/>
                                          </p:val>
                                        </p:tav>
                                      </p:tavLst>
                                    </p:anim>
                                    <p:anim calcmode="lin" valueType="num">
                                      <p:cBhvr>
                                        <p:cTn id="30" dur="650" fill="hold"/>
                                        <p:tgtEl>
                                          <p:spTgt spid="7"/>
                                        </p:tgtEl>
                                        <p:attrNameLst>
                                          <p:attrName>ppt_y</p:attrName>
                                        </p:attrNameLst>
                                      </p:cBhvr>
                                      <p:tavLst>
                                        <p:tav tm="0">
                                          <p:val>
                                            <p:strVal val="#ppt_y+.05"/>
                                          </p:val>
                                        </p:tav>
                                        <p:tav tm="100000">
                                          <p:val>
                                            <p:strVal val="#ppt_y"/>
                                          </p:val>
                                        </p:tav>
                                      </p:tavLst>
                                    </p:anim>
                                  </p:childTnLst>
                                </p:cTn>
                              </p:par>
                              <p:par>
                                <p:cTn id="31" presetID="42" presetClass="entr" presetSubtype="0" fill="hold" grpId="0" nodeType="withEffect">
                                  <p:stCondLst>
                                    <p:cond delay="30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650"/>
                                        <p:tgtEl>
                                          <p:spTgt spid="8"/>
                                        </p:tgtEl>
                                      </p:cBhvr>
                                    </p:animEffect>
                                    <p:anim calcmode="lin" valueType="num">
                                      <p:cBhvr>
                                        <p:cTn id="34" dur="650" fill="hold"/>
                                        <p:tgtEl>
                                          <p:spTgt spid="8"/>
                                        </p:tgtEl>
                                        <p:attrNameLst>
                                          <p:attrName>ppt_x</p:attrName>
                                        </p:attrNameLst>
                                      </p:cBhvr>
                                      <p:tavLst>
                                        <p:tav tm="0">
                                          <p:val>
                                            <p:strVal val="#ppt_x"/>
                                          </p:val>
                                        </p:tav>
                                        <p:tav tm="100000">
                                          <p:val>
                                            <p:strVal val="#ppt_x"/>
                                          </p:val>
                                        </p:tav>
                                      </p:tavLst>
                                    </p:anim>
                                    <p:anim calcmode="lin" valueType="num">
                                      <p:cBhvr>
                                        <p:cTn id="35" dur="650" fill="hold"/>
                                        <p:tgtEl>
                                          <p:spTgt spid="8"/>
                                        </p:tgtEl>
                                        <p:attrNameLst>
                                          <p:attrName>ppt_y</p:attrName>
                                        </p:attrNameLst>
                                      </p:cBhvr>
                                      <p:tavLst>
                                        <p:tav tm="0">
                                          <p:val>
                                            <p:strVal val="#ppt_y+.05"/>
                                          </p:val>
                                        </p:tav>
                                        <p:tav tm="100000">
                                          <p:val>
                                            <p:strVal val="#ppt_y"/>
                                          </p:val>
                                        </p:tav>
                                      </p:tavLst>
                                    </p:anim>
                                  </p:childTnLst>
                                </p:cTn>
                              </p:par>
                              <p:par>
                                <p:cTn id="36" presetID="42" presetClass="entr" presetSubtype="0" fill="hold" grpId="0" nodeType="withEffect">
                                  <p:stCondLst>
                                    <p:cond delay="30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650"/>
                                        <p:tgtEl>
                                          <p:spTgt spid="9"/>
                                        </p:tgtEl>
                                      </p:cBhvr>
                                    </p:animEffect>
                                    <p:anim calcmode="lin" valueType="num">
                                      <p:cBhvr>
                                        <p:cTn id="39" dur="650" fill="hold"/>
                                        <p:tgtEl>
                                          <p:spTgt spid="9"/>
                                        </p:tgtEl>
                                        <p:attrNameLst>
                                          <p:attrName>ppt_x</p:attrName>
                                        </p:attrNameLst>
                                      </p:cBhvr>
                                      <p:tavLst>
                                        <p:tav tm="0">
                                          <p:val>
                                            <p:strVal val="#ppt_x"/>
                                          </p:val>
                                        </p:tav>
                                        <p:tav tm="100000">
                                          <p:val>
                                            <p:strVal val="#ppt_x"/>
                                          </p:val>
                                        </p:tav>
                                      </p:tavLst>
                                    </p:anim>
                                    <p:anim calcmode="lin" valueType="num">
                                      <p:cBhvr>
                                        <p:cTn id="40" dur="650" fill="hold"/>
                                        <p:tgtEl>
                                          <p:spTgt spid="9"/>
                                        </p:tgtEl>
                                        <p:attrNameLst>
                                          <p:attrName>ppt_y</p:attrName>
                                        </p:attrNameLst>
                                      </p:cBhvr>
                                      <p:tavLst>
                                        <p:tav tm="0">
                                          <p:val>
                                            <p:strVal val="#ppt_y+.05"/>
                                          </p:val>
                                        </p:tav>
                                        <p:tav tm="100000">
                                          <p:val>
                                            <p:strVal val="#ppt_y"/>
                                          </p:val>
                                        </p:tav>
                                      </p:tavLst>
                                    </p:anim>
                                  </p:childTnLst>
                                </p:cTn>
                              </p:par>
                              <p:par>
                                <p:cTn id="41" presetID="42" presetClass="entr" presetSubtype="0" fill="hold" grpId="0" nodeType="withEffect">
                                  <p:stCondLst>
                                    <p:cond delay="42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650"/>
                                        <p:tgtEl>
                                          <p:spTgt spid="10"/>
                                        </p:tgtEl>
                                      </p:cBhvr>
                                    </p:animEffect>
                                    <p:anim calcmode="lin" valueType="num">
                                      <p:cBhvr>
                                        <p:cTn id="44" dur="650" fill="hold"/>
                                        <p:tgtEl>
                                          <p:spTgt spid="10"/>
                                        </p:tgtEl>
                                        <p:attrNameLst>
                                          <p:attrName>ppt_x</p:attrName>
                                        </p:attrNameLst>
                                      </p:cBhvr>
                                      <p:tavLst>
                                        <p:tav tm="0">
                                          <p:val>
                                            <p:strVal val="#ppt_x"/>
                                          </p:val>
                                        </p:tav>
                                        <p:tav tm="100000">
                                          <p:val>
                                            <p:strVal val="#ppt_x"/>
                                          </p:val>
                                        </p:tav>
                                      </p:tavLst>
                                    </p:anim>
                                    <p:anim calcmode="lin" valueType="num">
                                      <p:cBhvr>
                                        <p:cTn id="45" dur="650" fill="hold"/>
                                        <p:tgtEl>
                                          <p:spTgt spid="10"/>
                                        </p:tgtEl>
                                        <p:attrNameLst>
                                          <p:attrName>ppt_y</p:attrName>
                                        </p:attrNameLst>
                                      </p:cBhvr>
                                      <p:tavLst>
                                        <p:tav tm="0">
                                          <p:val>
                                            <p:strVal val="#ppt_y+.05"/>
                                          </p:val>
                                        </p:tav>
                                        <p:tav tm="100000">
                                          <p:val>
                                            <p:strVal val="#ppt_y"/>
                                          </p:val>
                                        </p:tav>
                                      </p:tavLst>
                                    </p:anim>
                                  </p:childTnLst>
                                </p:cTn>
                              </p:par>
                              <p:par>
                                <p:cTn id="46" presetID="42" presetClass="entr" presetSubtype="0" fill="hold" grpId="0" nodeType="withEffect">
                                  <p:stCondLst>
                                    <p:cond delay="42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650"/>
                                        <p:tgtEl>
                                          <p:spTgt spid="11"/>
                                        </p:tgtEl>
                                      </p:cBhvr>
                                    </p:animEffect>
                                    <p:anim calcmode="lin" valueType="num">
                                      <p:cBhvr>
                                        <p:cTn id="49" dur="650" fill="hold"/>
                                        <p:tgtEl>
                                          <p:spTgt spid="11"/>
                                        </p:tgtEl>
                                        <p:attrNameLst>
                                          <p:attrName>ppt_x</p:attrName>
                                        </p:attrNameLst>
                                      </p:cBhvr>
                                      <p:tavLst>
                                        <p:tav tm="0">
                                          <p:val>
                                            <p:strVal val="#ppt_x"/>
                                          </p:val>
                                        </p:tav>
                                        <p:tav tm="100000">
                                          <p:val>
                                            <p:strVal val="#ppt_x"/>
                                          </p:val>
                                        </p:tav>
                                      </p:tavLst>
                                    </p:anim>
                                    <p:anim calcmode="lin" valueType="num">
                                      <p:cBhvr>
                                        <p:cTn id="50" dur="650" fill="hold"/>
                                        <p:tgtEl>
                                          <p:spTgt spid="11"/>
                                        </p:tgtEl>
                                        <p:attrNameLst>
                                          <p:attrName>ppt_y</p:attrName>
                                        </p:attrNameLst>
                                      </p:cBhvr>
                                      <p:tavLst>
                                        <p:tav tm="0">
                                          <p:val>
                                            <p:strVal val="#ppt_y+.05"/>
                                          </p:val>
                                        </p:tav>
                                        <p:tav tm="100000">
                                          <p:val>
                                            <p:strVal val="#ppt_y"/>
                                          </p:val>
                                        </p:tav>
                                      </p:tavLst>
                                    </p:anim>
                                  </p:childTnLst>
                                </p:cTn>
                              </p:par>
                              <p:par>
                                <p:cTn id="51" presetID="42" presetClass="entr" presetSubtype="0" fill="hold" grpId="0" nodeType="withEffect">
                                  <p:stCondLst>
                                    <p:cond delay="420"/>
                                  </p:stCondLst>
                                  <p:childTnLst>
                                    <p:set>
                                      <p:cBhvr>
                                        <p:cTn id="52" dur="1" fill="hold">
                                          <p:stCondLst>
                                            <p:cond delay="0"/>
                                          </p:stCondLst>
                                        </p:cTn>
                                        <p:tgtEl>
                                          <p:spTgt spid="12"/>
                                        </p:tgtEl>
                                        <p:attrNameLst>
                                          <p:attrName>style.visibility</p:attrName>
                                        </p:attrNameLst>
                                      </p:cBhvr>
                                      <p:to>
                                        <p:strVal val="visible"/>
                                      </p:to>
                                    </p:set>
                                    <p:animEffect transition="in" filter="fade">
                                      <p:cBhvr>
                                        <p:cTn id="53" dur="650"/>
                                        <p:tgtEl>
                                          <p:spTgt spid="12"/>
                                        </p:tgtEl>
                                      </p:cBhvr>
                                    </p:animEffect>
                                    <p:anim calcmode="lin" valueType="num">
                                      <p:cBhvr>
                                        <p:cTn id="54" dur="650" fill="hold"/>
                                        <p:tgtEl>
                                          <p:spTgt spid="12"/>
                                        </p:tgtEl>
                                        <p:attrNameLst>
                                          <p:attrName>ppt_x</p:attrName>
                                        </p:attrNameLst>
                                      </p:cBhvr>
                                      <p:tavLst>
                                        <p:tav tm="0">
                                          <p:val>
                                            <p:strVal val="#ppt_x"/>
                                          </p:val>
                                        </p:tav>
                                        <p:tav tm="100000">
                                          <p:val>
                                            <p:strVal val="#ppt_x"/>
                                          </p:val>
                                        </p:tav>
                                      </p:tavLst>
                                    </p:anim>
                                    <p:anim calcmode="lin" valueType="num">
                                      <p:cBhvr>
                                        <p:cTn id="55" dur="650" fill="hold"/>
                                        <p:tgtEl>
                                          <p:spTgt spid="12"/>
                                        </p:tgtEl>
                                        <p:attrNameLst>
                                          <p:attrName>ppt_y</p:attrName>
                                        </p:attrNameLst>
                                      </p:cBhvr>
                                      <p:tavLst>
                                        <p:tav tm="0">
                                          <p:val>
                                            <p:strVal val="#ppt_y+.05"/>
                                          </p:val>
                                        </p:tav>
                                        <p:tav tm="100000">
                                          <p:val>
                                            <p:strVal val="#ppt_y"/>
                                          </p:val>
                                        </p:tav>
                                      </p:tavLst>
                                    </p:anim>
                                  </p:childTnLst>
                                </p:cTn>
                              </p:par>
                              <p:par>
                                <p:cTn id="56" presetID="42" presetClass="entr" presetSubtype="0" fill="hold" grpId="0" nodeType="withEffect">
                                  <p:stCondLst>
                                    <p:cond delay="420"/>
                                  </p:stCondLst>
                                  <p:childTnLst>
                                    <p:set>
                                      <p:cBhvr>
                                        <p:cTn id="57" dur="1" fill="hold">
                                          <p:stCondLst>
                                            <p:cond delay="0"/>
                                          </p:stCondLst>
                                        </p:cTn>
                                        <p:tgtEl>
                                          <p:spTgt spid="13"/>
                                        </p:tgtEl>
                                        <p:attrNameLst>
                                          <p:attrName>style.visibility</p:attrName>
                                        </p:attrNameLst>
                                      </p:cBhvr>
                                      <p:to>
                                        <p:strVal val="visible"/>
                                      </p:to>
                                    </p:set>
                                    <p:animEffect transition="in" filter="fade">
                                      <p:cBhvr>
                                        <p:cTn id="58" dur="650"/>
                                        <p:tgtEl>
                                          <p:spTgt spid="13"/>
                                        </p:tgtEl>
                                      </p:cBhvr>
                                    </p:animEffect>
                                    <p:anim calcmode="lin" valueType="num">
                                      <p:cBhvr>
                                        <p:cTn id="59" dur="650" fill="hold"/>
                                        <p:tgtEl>
                                          <p:spTgt spid="13"/>
                                        </p:tgtEl>
                                        <p:attrNameLst>
                                          <p:attrName>ppt_x</p:attrName>
                                        </p:attrNameLst>
                                      </p:cBhvr>
                                      <p:tavLst>
                                        <p:tav tm="0">
                                          <p:val>
                                            <p:strVal val="#ppt_x"/>
                                          </p:val>
                                        </p:tav>
                                        <p:tav tm="100000">
                                          <p:val>
                                            <p:strVal val="#ppt_x"/>
                                          </p:val>
                                        </p:tav>
                                      </p:tavLst>
                                    </p:anim>
                                    <p:anim calcmode="lin" valueType="num">
                                      <p:cBhvr>
                                        <p:cTn id="60" dur="650" fill="hold"/>
                                        <p:tgtEl>
                                          <p:spTgt spid="13"/>
                                        </p:tgtEl>
                                        <p:attrNameLst>
                                          <p:attrName>ppt_y</p:attrName>
                                        </p:attrNameLst>
                                      </p:cBhvr>
                                      <p:tavLst>
                                        <p:tav tm="0">
                                          <p:val>
                                            <p:strVal val="#ppt_y+.05"/>
                                          </p:val>
                                        </p:tav>
                                        <p:tav tm="100000">
                                          <p:val>
                                            <p:strVal val="#ppt_y"/>
                                          </p:val>
                                        </p:tav>
                                      </p:tavLst>
                                    </p:anim>
                                  </p:childTnLst>
                                </p:cTn>
                              </p:par>
                              <p:par>
                                <p:cTn id="61" presetID="42" presetClass="entr" presetSubtype="0" fill="hold" grpId="0" nodeType="withEffect">
                                  <p:stCondLst>
                                    <p:cond delay="42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650"/>
                                        <p:tgtEl>
                                          <p:spTgt spid="14"/>
                                        </p:tgtEl>
                                      </p:cBhvr>
                                    </p:animEffect>
                                    <p:anim calcmode="lin" valueType="num">
                                      <p:cBhvr>
                                        <p:cTn id="64" dur="650" fill="hold"/>
                                        <p:tgtEl>
                                          <p:spTgt spid="14"/>
                                        </p:tgtEl>
                                        <p:attrNameLst>
                                          <p:attrName>ppt_x</p:attrName>
                                        </p:attrNameLst>
                                      </p:cBhvr>
                                      <p:tavLst>
                                        <p:tav tm="0">
                                          <p:val>
                                            <p:strVal val="#ppt_x"/>
                                          </p:val>
                                        </p:tav>
                                        <p:tav tm="100000">
                                          <p:val>
                                            <p:strVal val="#ppt_x"/>
                                          </p:val>
                                        </p:tav>
                                      </p:tavLst>
                                    </p:anim>
                                    <p:anim calcmode="lin" valueType="num">
                                      <p:cBhvr>
                                        <p:cTn id="65" dur="650" fill="hold"/>
                                        <p:tgtEl>
                                          <p:spTgt spid="14"/>
                                        </p:tgtEl>
                                        <p:attrNameLst>
                                          <p:attrName>ppt_y</p:attrName>
                                        </p:attrNameLst>
                                      </p:cBhvr>
                                      <p:tavLst>
                                        <p:tav tm="0">
                                          <p:val>
                                            <p:strVal val="#ppt_y+.05"/>
                                          </p:val>
                                        </p:tav>
                                        <p:tav tm="100000">
                                          <p:val>
                                            <p:strVal val="#ppt_y"/>
                                          </p:val>
                                        </p:tav>
                                      </p:tavLst>
                                    </p:anim>
                                  </p:childTnLst>
                                </p:cTn>
                              </p:par>
                              <p:par>
                                <p:cTn id="66" presetID="42" presetClass="entr" presetSubtype="0" fill="hold" grpId="0" nodeType="withEffect">
                                  <p:stCondLst>
                                    <p:cond delay="540"/>
                                  </p:stCondLst>
                                  <p:childTnLst>
                                    <p:set>
                                      <p:cBhvr>
                                        <p:cTn id="67" dur="1" fill="hold">
                                          <p:stCondLst>
                                            <p:cond delay="0"/>
                                          </p:stCondLst>
                                        </p:cTn>
                                        <p:tgtEl>
                                          <p:spTgt spid="15"/>
                                        </p:tgtEl>
                                        <p:attrNameLst>
                                          <p:attrName>style.visibility</p:attrName>
                                        </p:attrNameLst>
                                      </p:cBhvr>
                                      <p:to>
                                        <p:strVal val="visible"/>
                                      </p:to>
                                    </p:set>
                                    <p:animEffect transition="in" filter="fade">
                                      <p:cBhvr>
                                        <p:cTn id="68" dur="650"/>
                                        <p:tgtEl>
                                          <p:spTgt spid="15"/>
                                        </p:tgtEl>
                                      </p:cBhvr>
                                    </p:animEffect>
                                    <p:anim calcmode="lin" valueType="num">
                                      <p:cBhvr>
                                        <p:cTn id="69" dur="650" fill="hold"/>
                                        <p:tgtEl>
                                          <p:spTgt spid="15"/>
                                        </p:tgtEl>
                                        <p:attrNameLst>
                                          <p:attrName>ppt_x</p:attrName>
                                        </p:attrNameLst>
                                      </p:cBhvr>
                                      <p:tavLst>
                                        <p:tav tm="0">
                                          <p:val>
                                            <p:strVal val="#ppt_x"/>
                                          </p:val>
                                        </p:tav>
                                        <p:tav tm="100000">
                                          <p:val>
                                            <p:strVal val="#ppt_x"/>
                                          </p:val>
                                        </p:tav>
                                      </p:tavLst>
                                    </p:anim>
                                    <p:anim calcmode="lin" valueType="num">
                                      <p:cBhvr>
                                        <p:cTn id="70" dur="650" fill="hold"/>
                                        <p:tgtEl>
                                          <p:spTgt spid="15"/>
                                        </p:tgtEl>
                                        <p:attrNameLst>
                                          <p:attrName>ppt_y</p:attrName>
                                        </p:attrNameLst>
                                      </p:cBhvr>
                                      <p:tavLst>
                                        <p:tav tm="0">
                                          <p:val>
                                            <p:strVal val="#ppt_y+.05"/>
                                          </p:val>
                                        </p:tav>
                                        <p:tav tm="100000">
                                          <p:val>
                                            <p:strVal val="#ppt_y"/>
                                          </p:val>
                                        </p:tav>
                                      </p:tavLst>
                                    </p:anim>
                                  </p:childTnLst>
                                </p:cTn>
                              </p:par>
                              <p:par>
                                <p:cTn id="71" presetID="42" presetClass="entr" presetSubtype="0" fill="hold" grpId="0" nodeType="withEffect">
                                  <p:stCondLst>
                                    <p:cond delay="540"/>
                                  </p:stCondLst>
                                  <p:childTnLst>
                                    <p:set>
                                      <p:cBhvr>
                                        <p:cTn id="72" dur="1" fill="hold">
                                          <p:stCondLst>
                                            <p:cond delay="0"/>
                                          </p:stCondLst>
                                        </p:cTn>
                                        <p:tgtEl>
                                          <p:spTgt spid="16"/>
                                        </p:tgtEl>
                                        <p:attrNameLst>
                                          <p:attrName>style.visibility</p:attrName>
                                        </p:attrNameLst>
                                      </p:cBhvr>
                                      <p:to>
                                        <p:strVal val="visible"/>
                                      </p:to>
                                    </p:set>
                                    <p:animEffect transition="in" filter="fade">
                                      <p:cBhvr>
                                        <p:cTn id="73" dur="650"/>
                                        <p:tgtEl>
                                          <p:spTgt spid="16"/>
                                        </p:tgtEl>
                                      </p:cBhvr>
                                    </p:animEffect>
                                    <p:anim calcmode="lin" valueType="num">
                                      <p:cBhvr>
                                        <p:cTn id="74" dur="650" fill="hold"/>
                                        <p:tgtEl>
                                          <p:spTgt spid="16"/>
                                        </p:tgtEl>
                                        <p:attrNameLst>
                                          <p:attrName>ppt_x</p:attrName>
                                        </p:attrNameLst>
                                      </p:cBhvr>
                                      <p:tavLst>
                                        <p:tav tm="0">
                                          <p:val>
                                            <p:strVal val="#ppt_x"/>
                                          </p:val>
                                        </p:tav>
                                        <p:tav tm="100000">
                                          <p:val>
                                            <p:strVal val="#ppt_x"/>
                                          </p:val>
                                        </p:tav>
                                      </p:tavLst>
                                    </p:anim>
                                    <p:anim calcmode="lin" valueType="num">
                                      <p:cBhvr>
                                        <p:cTn id="75" dur="650" fill="hold"/>
                                        <p:tgtEl>
                                          <p:spTgt spid="16"/>
                                        </p:tgtEl>
                                        <p:attrNameLst>
                                          <p:attrName>ppt_y</p:attrName>
                                        </p:attrNameLst>
                                      </p:cBhvr>
                                      <p:tavLst>
                                        <p:tav tm="0">
                                          <p:val>
                                            <p:strVal val="#ppt_y+.05"/>
                                          </p:val>
                                        </p:tav>
                                        <p:tav tm="100000">
                                          <p:val>
                                            <p:strVal val="#ppt_y"/>
                                          </p:val>
                                        </p:tav>
                                      </p:tavLst>
                                    </p:anim>
                                  </p:childTnLst>
                                </p:cTn>
                              </p:par>
                              <p:par>
                                <p:cTn id="76" presetID="42" presetClass="entr" presetSubtype="0" fill="hold" grpId="0" nodeType="withEffect">
                                  <p:stCondLst>
                                    <p:cond delay="540"/>
                                  </p:stCondLst>
                                  <p:childTnLst>
                                    <p:set>
                                      <p:cBhvr>
                                        <p:cTn id="77" dur="1" fill="hold">
                                          <p:stCondLst>
                                            <p:cond delay="0"/>
                                          </p:stCondLst>
                                        </p:cTn>
                                        <p:tgtEl>
                                          <p:spTgt spid="17"/>
                                        </p:tgtEl>
                                        <p:attrNameLst>
                                          <p:attrName>style.visibility</p:attrName>
                                        </p:attrNameLst>
                                      </p:cBhvr>
                                      <p:to>
                                        <p:strVal val="visible"/>
                                      </p:to>
                                    </p:set>
                                    <p:animEffect transition="in" filter="fade">
                                      <p:cBhvr>
                                        <p:cTn id="78" dur="650"/>
                                        <p:tgtEl>
                                          <p:spTgt spid="17"/>
                                        </p:tgtEl>
                                      </p:cBhvr>
                                    </p:animEffect>
                                    <p:anim calcmode="lin" valueType="num">
                                      <p:cBhvr>
                                        <p:cTn id="79" dur="650" fill="hold"/>
                                        <p:tgtEl>
                                          <p:spTgt spid="17"/>
                                        </p:tgtEl>
                                        <p:attrNameLst>
                                          <p:attrName>ppt_x</p:attrName>
                                        </p:attrNameLst>
                                      </p:cBhvr>
                                      <p:tavLst>
                                        <p:tav tm="0">
                                          <p:val>
                                            <p:strVal val="#ppt_x"/>
                                          </p:val>
                                        </p:tav>
                                        <p:tav tm="100000">
                                          <p:val>
                                            <p:strVal val="#ppt_x"/>
                                          </p:val>
                                        </p:tav>
                                      </p:tavLst>
                                    </p:anim>
                                    <p:anim calcmode="lin" valueType="num">
                                      <p:cBhvr>
                                        <p:cTn id="80" dur="650" fill="hold"/>
                                        <p:tgtEl>
                                          <p:spTgt spid="17"/>
                                        </p:tgtEl>
                                        <p:attrNameLst>
                                          <p:attrName>ppt_y</p:attrName>
                                        </p:attrNameLst>
                                      </p:cBhvr>
                                      <p:tavLst>
                                        <p:tav tm="0">
                                          <p:val>
                                            <p:strVal val="#ppt_y+.05"/>
                                          </p:val>
                                        </p:tav>
                                        <p:tav tm="100000">
                                          <p:val>
                                            <p:strVal val="#ppt_y"/>
                                          </p:val>
                                        </p:tav>
                                      </p:tavLst>
                                    </p:anim>
                                  </p:childTnLst>
                                </p:cTn>
                              </p:par>
                              <p:par>
                                <p:cTn id="81" presetID="42" presetClass="entr" presetSubtype="0" fill="hold" grpId="0" nodeType="withEffect">
                                  <p:stCondLst>
                                    <p:cond delay="540"/>
                                  </p:stCondLst>
                                  <p:childTnLst>
                                    <p:set>
                                      <p:cBhvr>
                                        <p:cTn id="82" dur="1" fill="hold">
                                          <p:stCondLst>
                                            <p:cond delay="0"/>
                                          </p:stCondLst>
                                        </p:cTn>
                                        <p:tgtEl>
                                          <p:spTgt spid="18"/>
                                        </p:tgtEl>
                                        <p:attrNameLst>
                                          <p:attrName>style.visibility</p:attrName>
                                        </p:attrNameLst>
                                      </p:cBhvr>
                                      <p:to>
                                        <p:strVal val="visible"/>
                                      </p:to>
                                    </p:set>
                                    <p:animEffect transition="in" filter="fade">
                                      <p:cBhvr>
                                        <p:cTn id="83" dur="650"/>
                                        <p:tgtEl>
                                          <p:spTgt spid="18"/>
                                        </p:tgtEl>
                                      </p:cBhvr>
                                    </p:animEffect>
                                    <p:anim calcmode="lin" valueType="num">
                                      <p:cBhvr>
                                        <p:cTn id="84" dur="650" fill="hold"/>
                                        <p:tgtEl>
                                          <p:spTgt spid="18"/>
                                        </p:tgtEl>
                                        <p:attrNameLst>
                                          <p:attrName>ppt_x</p:attrName>
                                        </p:attrNameLst>
                                      </p:cBhvr>
                                      <p:tavLst>
                                        <p:tav tm="0">
                                          <p:val>
                                            <p:strVal val="#ppt_x"/>
                                          </p:val>
                                        </p:tav>
                                        <p:tav tm="100000">
                                          <p:val>
                                            <p:strVal val="#ppt_x"/>
                                          </p:val>
                                        </p:tav>
                                      </p:tavLst>
                                    </p:anim>
                                    <p:anim calcmode="lin" valueType="num">
                                      <p:cBhvr>
                                        <p:cTn id="85" dur="650" fill="hold"/>
                                        <p:tgtEl>
                                          <p:spTgt spid="18"/>
                                        </p:tgtEl>
                                        <p:attrNameLst>
                                          <p:attrName>ppt_y</p:attrName>
                                        </p:attrNameLst>
                                      </p:cBhvr>
                                      <p:tavLst>
                                        <p:tav tm="0">
                                          <p:val>
                                            <p:strVal val="#ppt_y+.05"/>
                                          </p:val>
                                        </p:tav>
                                        <p:tav tm="100000">
                                          <p:val>
                                            <p:strVal val="#ppt_y"/>
                                          </p:val>
                                        </p:tav>
                                      </p:tavLst>
                                    </p:anim>
                                  </p:childTnLst>
                                </p:cTn>
                              </p:par>
                              <p:par>
                                <p:cTn id="86" presetID="42" presetClass="entr" presetSubtype="0" fill="hold" grpId="0" nodeType="withEffect">
                                  <p:stCondLst>
                                    <p:cond delay="540"/>
                                  </p:stCondLst>
                                  <p:childTnLst>
                                    <p:set>
                                      <p:cBhvr>
                                        <p:cTn id="87" dur="1" fill="hold">
                                          <p:stCondLst>
                                            <p:cond delay="0"/>
                                          </p:stCondLst>
                                        </p:cTn>
                                        <p:tgtEl>
                                          <p:spTgt spid="19"/>
                                        </p:tgtEl>
                                        <p:attrNameLst>
                                          <p:attrName>style.visibility</p:attrName>
                                        </p:attrNameLst>
                                      </p:cBhvr>
                                      <p:to>
                                        <p:strVal val="visible"/>
                                      </p:to>
                                    </p:set>
                                    <p:animEffect transition="in" filter="fade">
                                      <p:cBhvr>
                                        <p:cTn id="88" dur="650"/>
                                        <p:tgtEl>
                                          <p:spTgt spid="19"/>
                                        </p:tgtEl>
                                      </p:cBhvr>
                                    </p:animEffect>
                                    <p:anim calcmode="lin" valueType="num">
                                      <p:cBhvr>
                                        <p:cTn id="89" dur="650" fill="hold"/>
                                        <p:tgtEl>
                                          <p:spTgt spid="19"/>
                                        </p:tgtEl>
                                        <p:attrNameLst>
                                          <p:attrName>ppt_x</p:attrName>
                                        </p:attrNameLst>
                                      </p:cBhvr>
                                      <p:tavLst>
                                        <p:tav tm="0">
                                          <p:val>
                                            <p:strVal val="#ppt_x"/>
                                          </p:val>
                                        </p:tav>
                                        <p:tav tm="100000">
                                          <p:val>
                                            <p:strVal val="#ppt_x"/>
                                          </p:val>
                                        </p:tav>
                                      </p:tavLst>
                                    </p:anim>
                                    <p:anim calcmode="lin" valueType="num">
                                      <p:cBhvr>
                                        <p:cTn id="90" dur="650" fill="hold"/>
                                        <p:tgtEl>
                                          <p:spTgt spid="19"/>
                                        </p:tgtEl>
                                        <p:attrNameLst>
                                          <p:attrName>ppt_y</p:attrName>
                                        </p:attrNameLst>
                                      </p:cBhvr>
                                      <p:tavLst>
                                        <p:tav tm="0">
                                          <p:val>
                                            <p:strVal val="#ppt_y+.05"/>
                                          </p:val>
                                        </p:tav>
                                        <p:tav tm="100000">
                                          <p:val>
                                            <p:strVal val="#ppt_y"/>
                                          </p:val>
                                        </p:tav>
                                      </p:tavLst>
                                    </p:anim>
                                  </p:childTnLst>
                                </p:cTn>
                              </p:par>
                              <p:par>
                                <p:cTn id="91" presetID="42" presetClass="entr" presetSubtype="0" fill="hold" grpId="0" nodeType="withEffect">
                                  <p:stCondLst>
                                    <p:cond delay="660"/>
                                  </p:stCondLst>
                                  <p:childTnLst>
                                    <p:set>
                                      <p:cBhvr>
                                        <p:cTn id="92" dur="1" fill="hold">
                                          <p:stCondLst>
                                            <p:cond delay="0"/>
                                          </p:stCondLst>
                                        </p:cTn>
                                        <p:tgtEl>
                                          <p:spTgt spid="20"/>
                                        </p:tgtEl>
                                        <p:attrNameLst>
                                          <p:attrName>style.visibility</p:attrName>
                                        </p:attrNameLst>
                                      </p:cBhvr>
                                      <p:to>
                                        <p:strVal val="visible"/>
                                      </p:to>
                                    </p:set>
                                    <p:animEffect transition="in" filter="fade">
                                      <p:cBhvr>
                                        <p:cTn id="93" dur="650"/>
                                        <p:tgtEl>
                                          <p:spTgt spid="20"/>
                                        </p:tgtEl>
                                      </p:cBhvr>
                                    </p:animEffect>
                                    <p:anim calcmode="lin" valueType="num">
                                      <p:cBhvr>
                                        <p:cTn id="94" dur="650" fill="hold"/>
                                        <p:tgtEl>
                                          <p:spTgt spid="20"/>
                                        </p:tgtEl>
                                        <p:attrNameLst>
                                          <p:attrName>ppt_x</p:attrName>
                                        </p:attrNameLst>
                                      </p:cBhvr>
                                      <p:tavLst>
                                        <p:tav tm="0">
                                          <p:val>
                                            <p:strVal val="#ppt_x"/>
                                          </p:val>
                                        </p:tav>
                                        <p:tav tm="100000">
                                          <p:val>
                                            <p:strVal val="#ppt_x"/>
                                          </p:val>
                                        </p:tav>
                                      </p:tavLst>
                                    </p:anim>
                                    <p:anim calcmode="lin" valueType="num">
                                      <p:cBhvr>
                                        <p:cTn id="95" dur="650" fill="hold"/>
                                        <p:tgtEl>
                                          <p:spTgt spid="20"/>
                                        </p:tgtEl>
                                        <p:attrNameLst>
                                          <p:attrName>ppt_y</p:attrName>
                                        </p:attrNameLst>
                                      </p:cBhvr>
                                      <p:tavLst>
                                        <p:tav tm="0">
                                          <p:val>
                                            <p:strVal val="#ppt_y+.05"/>
                                          </p:val>
                                        </p:tav>
                                        <p:tav tm="100000">
                                          <p:val>
                                            <p:strVal val="#ppt_y"/>
                                          </p:val>
                                        </p:tav>
                                      </p:tavLst>
                                    </p:anim>
                                  </p:childTnLst>
                                </p:cTn>
                              </p:par>
                              <p:par>
                                <p:cTn id="96" presetID="42" presetClass="entr" presetSubtype="0" fill="hold" grpId="0" nodeType="withEffect">
                                  <p:stCondLst>
                                    <p:cond delay="660"/>
                                  </p:stCondLst>
                                  <p:childTnLst>
                                    <p:set>
                                      <p:cBhvr>
                                        <p:cTn id="97" dur="1" fill="hold">
                                          <p:stCondLst>
                                            <p:cond delay="0"/>
                                          </p:stCondLst>
                                        </p:cTn>
                                        <p:tgtEl>
                                          <p:spTgt spid="21"/>
                                        </p:tgtEl>
                                        <p:attrNameLst>
                                          <p:attrName>style.visibility</p:attrName>
                                        </p:attrNameLst>
                                      </p:cBhvr>
                                      <p:to>
                                        <p:strVal val="visible"/>
                                      </p:to>
                                    </p:set>
                                    <p:animEffect transition="in" filter="fade">
                                      <p:cBhvr>
                                        <p:cTn id="98" dur="650"/>
                                        <p:tgtEl>
                                          <p:spTgt spid="21"/>
                                        </p:tgtEl>
                                      </p:cBhvr>
                                    </p:animEffect>
                                    <p:anim calcmode="lin" valueType="num">
                                      <p:cBhvr>
                                        <p:cTn id="99" dur="650" fill="hold"/>
                                        <p:tgtEl>
                                          <p:spTgt spid="21"/>
                                        </p:tgtEl>
                                        <p:attrNameLst>
                                          <p:attrName>ppt_x</p:attrName>
                                        </p:attrNameLst>
                                      </p:cBhvr>
                                      <p:tavLst>
                                        <p:tav tm="0">
                                          <p:val>
                                            <p:strVal val="#ppt_x"/>
                                          </p:val>
                                        </p:tav>
                                        <p:tav tm="100000">
                                          <p:val>
                                            <p:strVal val="#ppt_x"/>
                                          </p:val>
                                        </p:tav>
                                      </p:tavLst>
                                    </p:anim>
                                    <p:anim calcmode="lin" valueType="num">
                                      <p:cBhvr>
                                        <p:cTn id="100" dur="650" fill="hold"/>
                                        <p:tgtEl>
                                          <p:spTgt spid="21"/>
                                        </p:tgtEl>
                                        <p:attrNameLst>
                                          <p:attrName>ppt_y</p:attrName>
                                        </p:attrNameLst>
                                      </p:cBhvr>
                                      <p:tavLst>
                                        <p:tav tm="0">
                                          <p:val>
                                            <p:strVal val="#ppt_y+.05"/>
                                          </p:val>
                                        </p:tav>
                                        <p:tav tm="100000">
                                          <p:val>
                                            <p:strVal val="#ppt_y"/>
                                          </p:val>
                                        </p:tav>
                                      </p:tavLst>
                                    </p:anim>
                                  </p:childTnLst>
                                </p:cTn>
                              </p:par>
                              <p:par>
                                <p:cTn id="101" presetID="42" presetClass="entr" presetSubtype="0" fill="hold" grpId="0" nodeType="withEffect">
                                  <p:stCondLst>
                                    <p:cond delay="660"/>
                                  </p:stCondLst>
                                  <p:childTnLst>
                                    <p:set>
                                      <p:cBhvr>
                                        <p:cTn id="102" dur="1" fill="hold">
                                          <p:stCondLst>
                                            <p:cond delay="0"/>
                                          </p:stCondLst>
                                        </p:cTn>
                                        <p:tgtEl>
                                          <p:spTgt spid="22"/>
                                        </p:tgtEl>
                                        <p:attrNameLst>
                                          <p:attrName>style.visibility</p:attrName>
                                        </p:attrNameLst>
                                      </p:cBhvr>
                                      <p:to>
                                        <p:strVal val="visible"/>
                                      </p:to>
                                    </p:set>
                                    <p:animEffect transition="in" filter="fade">
                                      <p:cBhvr>
                                        <p:cTn id="103" dur="650"/>
                                        <p:tgtEl>
                                          <p:spTgt spid="22"/>
                                        </p:tgtEl>
                                      </p:cBhvr>
                                    </p:animEffect>
                                    <p:anim calcmode="lin" valueType="num">
                                      <p:cBhvr>
                                        <p:cTn id="104" dur="650" fill="hold"/>
                                        <p:tgtEl>
                                          <p:spTgt spid="22"/>
                                        </p:tgtEl>
                                        <p:attrNameLst>
                                          <p:attrName>ppt_x</p:attrName>
                                        </p:attrNameLst>
                                      </p:cBhvr>
                                      <p:tavLst>
                                        <p:tav tm="0">
                                          <p:val>
                                            <p:strVal val="#ppt_x"/>
                                          </p:val>
                                        </p:tav>
                                        <p:tav tm="100000">
                                          <p:val>
                                            <p:strVal val="#ppt_x"/>
                                          </p:val>
                                        </p:tav>
                                      </p:tavLst>
                                    </p:anim>
                                    <p:anim calcmode="lin" valueType="num">
                                      <p:cBhvr>
                                        <p:cTn id="105" dur="650" fill="hold"/>
                                        <p:tgtEl>
                                          <p:spTgt spid="22"/>
                                        </p:tgtEl>
                                        <p:attrNameLst>
                                          <p:attrName>ppt_y</p:attrName>
                                        </p:attrNameLst>
                                      </p:cBhvr>
                                      <p:tavLst>
                                        <p:tav tm="0">
                                          <p:val>
                                            <p:strVal val="#ppt_y+.05"/>
                                          </p:val>
                                        </p:tav>
                                        <p:tav tm="100000">
                                          <p:val>
                                            <p:strVal val="#ppt_y"/>
                                          </p:val>
                                        </p:tav>
                                      </p:tavLst>
                                    </p:anim>
                                  </p:childTnLst>
                                </p:cTn>
                              </p:par>
                              <p:par>
                                <p:cTn id="106" presetID="42" presetClass="entr" presetSubtype="0" fill="hold" grpId="0" nodeType="withEffect">
                                  <p:stCondLst>
                                    <p:cond delay="660"/>
                                  </p:stCondLst>
                                  <p:childTnLst>
                                    <p:set>
                                      <p:cBhvr>
                                        <p:cTn id="107" dur="1" fill="hold">
                                          <p:stCondLst>
                                            <p:cond delay="0"/>
                                          </p:stCondLst>
                                        </p:cTn>
                                        <p:tgtEl>
                                          <p:spTgt spid="23"/>
                                        </p:tgtEl>
                                        <p:attrNameLst>
                                          <p:attrName>style.visibility</p:attrName>
                                        </p:attrNameLst>
                                      </p:cBhvr>
                                      <p:to>
                                        <p:strVal val="visible"/>
                                      </p:to>
                                    </p:set>
                                    <p:animEffect transition="in" filter="fade">
                                      <p:cBhvr>
                                        <p:cTn id="108" dur="650"/>
                                        <p:tgtEl>
                                          <p:spTgt spid="23"/>
                                        </p:tgtEl>
                                      </p:cBhvr>
                                    </p:animEffect>
                                    <p:anim calcmode="lin" valueType="num">
                                      <p:cBhvr>
                                        <p:cTn id="109" dur="650" fill="hold"/>
                                        <p:tgtEl>
                                          <p:spTgt spid="23"/>
                                        </p:tgtEl>
                                        <p:attrNameLst>
                                          <p:attrName>ppt_x</p:attrName>
                                        </p:attrNameLst>
                                      </p:cBhvr>
                                      <p:tavLst>
                                        <p:tav tm="0">
                                          <p:val>
                                            <p:strVal val="#ppt_x"/>
                                          </p:val>
                                        </p:tav>
                                        <p:tav tm="100000">
                                          <p:val>
                                            <p:strVal val="#ppt_x"/>
                                          </p:val>
                                        </p:tav>
                                      </p:tavLst>
                                    </p:anim>
                                    <p:anim calcmode="lin" valueType="num">
                                      <p:cBhvr>
                                        <p:cTn id="110" dur="650" fill="hold"/>
                                        <p:tgtEl>
                                          <p:spTgt spid="23"/>
                                        </p:tgtEl>
                                        <p:attrNameLst>
                                          <p:attrName>ppt_y</p:attrName>
                                        </p:attrNameLst>
                                      </p:cBhvr>
                                      <p:tavLst>
                                        <p:tav tm="0">
                                          <p:val>
                                            <p:strVal val="#ppt_y+.05"/>
                                          </p:val>
                                        </p:tav>
                                        <p:tav tm="100000">
                                          <p:val>
                                            <p:strVal val="#ppt_y"/>
                                          </p:val>
                                        </p:tav>
                                      </p:tavLst>
                                    </p:anim>
                                  </p:childTnLst>
                                </p:cTn>
                              </p:par>
                              <p:par>
                                <p:cTn id="111" presetID="42" presetClass="entr" presetSubtype="0" fill="hold" grpId="0" nodeType="withEffect">
                                  <p:stCondLst>
                                    <p:cond delay="660"/>
                                  </p:stCondLst>
                                  <p:childTnLst>
                                    <p:set>
                                      <p:cBhvr>
                                        <p:cTn id="112" dur="1" fill="hold">
                                          <p:stCondLst>
                                            <p:cond delay="0"/>
                                          </p:stCondLst>
                                        </p:cTn>
                                        <p:tgtEl>
                                          <p:spTgt spid="24"/>
                                        </p:tgtEl>
                                        <p:attrNameLst>
                                          <p:attrName>style.visibility</p:attrName>
                                        </p:attrNameLst>
                                      </p:cBhvr>
                                      <p:to>
                                        <p:strVal val="visible"/>
                                      </p:to>
                                    </p:set>
                                    <p:animEffect transition="in" filter="fade">
                                      <p:cBhvr>
                                        <p:cTn id="113" dur="650"/>
                                        <p:tgtEl>
                                          <p:spTgt spid="24"/>
                                        </p:tgtEl>
                                      </p:cBhvr>
                                    </p:animEffect>
                                    <p:anim calcmode="lin" valueType="num">
                                      <p:cBhvr>
                                        <p:cTn id="114" dur="650" fill="hold"/>
                                        <p:tgtEl>
                                          <p:spTgt spid="24"/>
                                        </p:tgtEl>
                                        <p:attrNameLst>
                                          <p:attrName>ppt_x</p:attrName>
                                        </p:attrNameLst>
                                      </p:cBhvr>
                                      <p:tavLst>
                                        <p:tav tm="0">
                                          <p:val>
                                            <p:strVal val="#ppt_x"/>
                                          </p:val>
                                        </p:tav>
                                        <p:tav tm="100000">
                                          <p:val>
                                            <p:strVal val="#ppt_x"/>
                                          </p:val>
                                        </p:tav>
                                      </p:tavLst>
                                    </p:anim>
                                    <p:anim calcmode="lin" valueType="num">
                                      <p:cBhvr>
                                        <p:cTn id="115" dur="650" fill="hold"/>
                                        <p:tgtEl>
                                          <p:spTgt spid="24"/>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6" grpId="0" animBg="1"/>
      <p:bldP spid="8" grpId="0" animBg="1"/>
      <p:bldP spid="9" grpId="0" animBg="1"/>
      <p:bldP spid="10" grpId="0" animBg="1"/>
      <p:bldP spid="11" grpId="0" animBg="1"/>
      <p:bldP spid="13" grpId="0" animBg="1"/>
      <p:bldP spid="14" grpId="0" animBg="1"/>
      <p:bldP spid="15" grpId="0" animBg="1"/>
      <p:bldP spid="16" grpId="0" animBg="1"/>
      <p:bldP spid="18" grpId="0" animBg="1"/>
      <p:bldP spid="19" grpId="0" animBg="1"/>
      <p:bldP spid="20" grpId="0" animBg="1"/>
      <p:bldP spid="21" grpId="0" animBg="1"/>
      <p:bldP spid="23" grpId="0" animBg="1"/>
      <p:bldP spid="2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eyebrow-pill"/>
          <p:cNvSpPr/>
          <p:nvPr/>
        </p:nvSpPr>
        <p:spPr>
          <a:xfrm>
            <a:off x="548640" y="475488"/>
            <a:ext cx="1598371" cy="274320"/>
          </a:xfrm>
          <a:prstGeom prst="roundRect">
            <a:avLst>
              <a:gd name="adj" fmla="val 50000"/>
            </a:avLst>
          </a:prstGeom>
          <a:solidFill>
            <a:srgbClr val="E5E5EA"/>
          </a:solidFill>
          <a:ln/>
        </p:spPr>
      </p:sp>
      <p:sp>
        <p:nvSpPr>
          <p:cNvPr id="3" name="eyebrow"/>
          <p:cNvSpPr txBox="1"/>
          <p:nvPr/>
        </p:nvSpPr>
        <p:spPr>
          <a:xfrm>
            <a:off x="548640" y="475488"/>
            <a:ext cx="1598371" cy="274320"/>
          </a:xfrm>
          <a:prstGeom prst="rect">
            <a:avLst/>
          </a:prstGeom>
          <a:noFill/>
          <a:ln/>
        </p:spPr>
        <p:txBody>
          <a:bodyPr wrap="square" lIns="0" tIns="0" rIns="0" bIns="0" rtlCol="0" anchor="ctr"/>
          <a:lstStyle/>
          <a:p>
            <a:pPr algn="ctr" indent="0" marL="0">
              <a:buNone/>
            </a:pPr>
            <a:r>
              <a:rPr lang="en-US" sz="900" b="1" spc="160" kern="0" dirty="0">
                <a:solidFill>
                  <a:srgbClr val="5C5C61"/>
                </a:solidFill>
                <a:latin typeface="Arial" pitchFamily="34" charset="0"/>
                <a:ea typeface="Arial" pitchFamily="34" charset="-122"/>
                <a:cs typeface="Arial" pitchFamily="34" charset="-120"/>
              </a:rPr>
              <a:t>HOW A MONTH RUNS</a:t>
            </a:r>
            <a:endParaRPr lang="en-US" sz="900" dirty="0"/>
          </a:p>
        </p:txBody>
      </p:sp>
      <p:sp>
        <p:nvSpPr>
          <p:cNvPr id="4" name="Text 1"/>
          <p:cNvSpPr/>
          <p:nvPr>
            <p:ph idx="101" type="title" hasCustomPrompt="1"/>
          </p:nvPr>
        </p:nvSpPr>
        <p:spPr>
          <a:xfrm>
            <a:off x="548640" y="896112"/>
            <a:ext cx="6583680" cy="1207008"/>
          </a:xfrm>
          <a:prstGeom prst="rect">
            <a:avLst/>
          </a:prstGeom>
          <a:noFill/>
          <a:ln/>
        </p:spPr>
        <p:txBody>
          <a:bodyPr wrap="square" lIns="0" tIns="0" rIns="0" bIns="0" rtlCol="0" anchor="t"/>
          <a:lstStyle/>
          <a:p>
            <a:pPr algn="l" indent="0" marL="0">
              <a:buNone/>
            </a:pPr>
            <a:r>
              <a:rPr lang="en-US" sz="3400" b="1" dirty="0">
                <a:solidFill>
                  <a:srgbClr val="1D1D1F"/>
                </a:solidFill>
                <a:latin typeface="Arial" pitchFamily="34" charset="0"/>
                <a:ea typeface="Arial" pitchFamily="34" charset="-122"/>
                <a:cs typeface="Arial" pitchFamily="34" charset="-120"/>
              </a:rPr>
              <a:t>From the exports</a:t>
            </a:r>
            <a:endParaRPr lang="en-US" sz="3400" dirty="0"/>
          </a:p>
          <a:p>
            <a:pPr algn="l" indent="0" marL="0">
              <a:buNone/>
            </a:pPr>
            <a:r>
              <a:rPr lang="en-US" sz="3400" dirty="0">
                <a:solidFill>
                  <a:srgbClr val="8E8E93"/>
                </a:solidFill>
                <a:latin typeface="Arial" pitchFamily="34" charset="0"/>
                <a:ea typeface="Arial" pitchFamily="34" charset="-122"/>
                <a:cs typeface="Arial" pitchFamily="34" charset="-120"/>
              </a:rPr>
              <a:t>to the final emails</a:t>
            </a:r>
            <a:endParaRPr lang="en-US" sz="3400" dirty="0"/>
          </a:p>
        </p:txBody>
      </p:sp>
      <p:sp>
        <p:nvSpPr>
          <p:cNvPr id="5" name="step0"/>
          <p:cNvSpPr/>
          <p:nvPr/>
        </p:nvSpPr>
        <p:spPr>
          <a:xfrm>
            <a:off x="548640" y="2377440"/>
            <a:ext cx="2602154" cy="3749040"/>
          </a:xfrm>
          <a:prstGeom prst="roundRect">
            <a:avLst>
              <a:gd name="adj" fmla="val 5622"/>
            </a:avLst>
          </a:prstGeom>
          <a:solidFill>
            <a:srgbClr val="FFFFFF"/>
          </a:solidFill>
          <a:ln w="9525">
            <a:solidFill>
              <a:srgbClr val="E5E5EA"/>
            </a:solidFill>
            <a:prstDash val="solid"/>
          </a:ln>
          <a:effectLst>
            <a:outerShdw sx="100000" sy="100000" kx="0" ky="0" algn="bl" rotWithShape="0" blurRad="177800" dist="38100" dir="5400000">
              <a:srgbClr val="000000">
                <a:alpha val="7000"/>
              </a:srgbClr>
            </a:outerShdw>
          </a:effectLst>
        </p:spPr>
      </p:sp>
      <p:pic>
        <p:nvPicPr>
          <p:cNvPr id="6" name="shot0" descr="WFM team, Import: the four Genesys exports read">    </p:cNvPr>
          <p:cNvPicPr>
            <a:picLocks noChangeAspect="1"/>
          </p:cNvPicPr>
          <p:nvPr/>
        </p:nvPicPr>
        <p:blipFill>
          <a:blip r:embed="rId1"/>
          <a:stretch>
            <a:fillRect/>
          </a:stretch>
        </p:blipFill>
        <p:spPr>
          <a:xfrm>
            <a:off x="603504" y="2468880"/>
            <a:ext cx="2492426" cy="1726895"/>
          </a:xfrm>
          <a:prstGeom prst="rect">
            <a:avLst/>
          </a:prstGeom>
        </p:spPr>
      </p:pic>
      <p:sp>
        <p:nvSpPr>
          <p:cNvPr id="7" name="n0"/>
          <p:cNvSpPr/>
          <p:nvPr/>
        </p:nvSpPr>
        <p:spPr>
          <a:xfrm>
            <a:off x="777240" y="4389120"/>
            <a:ext cx="384048" cy="384048"/>
          </a:xfrm>
          <a:prstGeom prst="ellipse">
            <a:avLst/>
          </a:prstGeom>
          <a:solidFill>
            <a:srgbClr val="C4511A"/>
          </a:solidFill>
          <a:ln/>
        </p:spPr>
      </p:sp>
      <p:sp>
        <p:nvSpPr>
          <p:cNvPr id="8" name="n0t"/>
          <p:cNvSpPr txBox="1"/>
          <p:nvPr/>
        </p:nvSpPr>
        <p:spPr>
          <a:xfrm>
            <a:off x="777240" y="43891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9" name="h0"/>
          <p:cNvSpPr txBox="1"/>
          <p:nvPr/>
        </p:nvSpPr>
        <p:spPr>
          <a:xfrm>
            <a:off x="1298448" y="4389120"/>
            <a:ext cx="1687754" cy="384048"/>
          </a:xfrm>
          <a:prstGeom prst="rect">
            <a:avLst/>
          </a:prstGeom>
          <a:noFill/>
          <a:ln/>
        </p:spPr>
        <p:txBody>
          <a:bodyPr wrap="square" lIns="0" tIns="0" rIns="0" bIns="0" rtlCol="0" anchor="ctr"/>
          <a:lstStyle/>
          <a:p>
            <a:pPr indent="0" marL="0">
              <a:buNone/>
            </a:pPr>
            <a:r>
              <a:rPr lang="en-US" sz="1600" b="1" dirty="0">
                <a:solidFill>
                  <a:srgbClr val="1D1D1F"/>
                </a:solidFill>
                <a:latin typeface="Arial" pitchFamily="34" charset="0"/>
                <a:ea typeface="Arial" pitchFamily="34" charset="-122"/>
                <a:cs typeface="Arial" pitchFamily="34" charset="-120"/>
              </a:rPr>
              <a:t>Import</a:t>
            </a:r>
            <a:endParaRPr lang="en-US" sz="1600" dirty="0"/>
          </a:p>
        </p:txBody>
      </p:sp>
      <p:sp>
        <p:nvSpPr>
          <p:cNvPr id="10" name="t0"/>
          <p:cNvSpPr txBox="1"/>
          <p:nvPr/>
        </p:nvSpPr>
        <p:spPr>
          <a:xfrm>
            <a:off x="777240" y="4937760"/>
            <a:ext cx="2144954" cy="1005840"/>
          </a:xfrm>
          <a:prstGeom prst="rect">
            <a:avLst/>
          </a:prstGeom>
          <a:noFill/>
          <a:ln/>
        </p:spPr>
        <p:txBody>
          <a:bodyPr wrap="square" lIns="0" tIns="0" rIns="0" bIns="0" rtlCol="0" anchor="t"/>
          <a:lstStyle/>
          <a:p>
            <a:pPr indent="0" marL="0">
              <a:lnSpc>
                <a:spcPct val="105000"/>
              </a:lnSpc>
              <a:buNone/>
            </a:pPr>
            <a:r>
              <a:rPr lang="en-US" sz="1200" dirty="0">
                <a:solidFill>
                  <a:srgbClr val="5C5C61"/>
                </a:solidFill>
                <a:latin typeface="Arial" pitchFamily="34" charset="0"/>
                <a:ea typeface="Arial" pitchFamily="34" charset="-122"/>
                <a:cs typeface="Arial" pitchFamily="34" charset="-120"/>
              </a:rPr>
              <a:t>Drop the month's files at once: each one is recognised by its columns.</a:t>
            </a:r>
            <a:endParaRPr lang="en-US" sz="1200" dirty="0"/>
          </a:p>
        </p:txBody>
      </p:sp>
      <p:sp>
        <p:nvSpPr>
          <p:cNvPr id="11" name="step1"/>
          <p:cNvSpPr/>
          <p:nvPr/>
        </p:nvSpPr>
        <p:spPr>
          <a:xfrm>
            <a:off x="3379394" y="2377440"/>
            <a:ext cx="2602154" cy="3749040"/>
          </a:xfrm>
          <a:prstGeom prst="roundRect">
            <a:avLst>
              <a:gd name="adj" fmla="val 5622"/>
            </a:avLst>
          </a:prstGeom>
          <a:solidFill>
            <a:srgbClr val="FFFFFF"/>
          </a:solidFill>
          <a:ln w="9525">
            <a:solidFill>
              <a:srgbClr val="E5E5EA"/>
            </a:solidFill>
            <a:prstDash val="solid"/>
          </a:ln>
          <a:effectLst>
            <a:outerShdw sx="100000" sy="100000" kx="0" ky="0" algn="bl" rotWithShape="0" blurRad="177800" dist="38100" dir="5400000">
              <a:srgbClr val="000000">
                <a:alpha val="7000"/>
              </a:srgbClr>
            </a:outerShdw>
          </a:effectLst>
        </p:spPr>
      </p:sp>
      <p:pic>
        <p:nvPicPr>
          <p:cNvPr id="12" name="shot1" descr="Review, Checks">    </p:cNvPr>
          <p:cNvPicPr>
            <a:picLocks noChangeAspect="1"/>
          </p:cNvPicPr>
          <p:nvPr/>
        </p:nvPicPr>
        <p:blipFill>
          <a:blip r:embed="rId2"/>
          <a:stretch>
            <a:fillRect/>
          </a:stretch>
        </p:blipFill>
        <p:spPr>
          <a:xfrm>
            <a:off x="3434258" y="2468880"/>
            <a:ext cx="2492426" cy="1726895"/>
          </a:xfrm>
          <a:prstGeom prst="rect">
            <a:avLst/>
          </a:prstGeom>
        </p:spPr>
      </p:pic>
      <p:sp>
        <p:nvSpPr>
          <p:cNvPr id="13" name="n1"/>
          <p:cNvSpPr/>
          <p:nvPr/>
        </p:nvSpPr>
        <p:spPr>
          <a:xfrm>
            <a:off x="3607994" y="4389120"/>
            <a:ext cx="384048" cy="384048"/>
          </a:xfrm>
          <a:prstGeom prst="ellipse">
            <a:avLst/>
          </a:prstGeom>
          <a:solidFill>
            <a:srgbClr val="1D1D1F"/>
          </a:solidFill>
          <a:ln/>
        </p:spPr>
      </p:sp>
      <p:sp>
        <p:nvSpPr>
          <p:cNvPr id="14" name="n1t"/>
          <p:cNvSpPr txBox="1"/>
          <p:nvPr/>
        </p:nvSpPr>
        <p:spPr>
          <a:xfrm>
            <a:off x="3607994" y="43891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5" name="h1"/>
          <p:cNvSpPr txBox="1"/>
          <p:nvPr/>
        </p:nvSpPr>
        <p:spPr>
          <a:xfrm>
            <a:off x="4129202" y="4389120"/>
            <a:ext cx="1687754" cy="384048"/>
          </a:xfrm>
          <a:prstGeom prst="rect">
            <a:avLst/>
          </a:prstGeom>
          <a:noFill/>
          <a:ln/>
        </p:spPr>
        <p:txBody>
          <a:bodyPr wrap="square" lIns="0" tIns="0" rIns="0" bIns="0" rtlCol="0" anchor="ctr"/>
          <a:lstStyle/>
          <a:p>
            <a:pPr indent="0" marL="0">
              <a:buNone/>
            </a:pPr>
            <a:r>
              <a:rPr lang="en-US" sz="1600" b="1" dirty="0">
                <a:solidFill>
                  <a:srgbClr val="1D1D1F"/>
                </a:solidFill>
                <a:latin typeface="Arial" pitchFamily="34" charset="0"/>
                <a:ea typeface="Arial" pitchFamily="34" charset="-122"/>
                <a:cs typeface="Arial" pitchFamily="34" charset="-120"/>
              </a:rPr>
              <a:t>Review</a:t>
            </a:r>
            <a:endParaRPr lang="en-US" sz="1600" dirty="0"/>
          </a:p>
        </p:txBody>
      </p:sp>
      <p:sp>
        <p:nvSpPr>
          <p:cNvPr id="16" name="t1"/>
          <p:cNvSpPr txBox="1"/>
          <p:nvPr/>
        </p:nvSpPr>
        <p:spPr>
          <a:xfrm>
            <a:off x="3607994" y="4937760"/>
            <a:ext cx="2144954" cy="1005840"/>
          </a:xfrm>
          <a:prstGeom prst="rect">
            <a:avLst/>
          </a:prstGeom>
          <a:noFill/>
          <a:ln/>
        </p:spPr>
        <p:txBody>
          <a:bodyPr wrap="square" lIns="0" tIns="0" rIns="0" bIns="0" rtlCol="0" anchor="t"/>
          <a:lstStyle/>
          <a:p>
            <a:pPr indent="0" marL="0">
              <a:lnSpc>
                <a:spcPct val="105000"/>
              </a:lnSpc>
              <a:buNone/>
            </a:pPr>
            <a:r>
              <a:rPr lang="en-US" sz="1200" dirty="0">
                <a:solidFill>
                  <a:srgbClr val="5C5C61"/>
                </a:solidFill>
                <a:latin typeface="Arial" pitchFamily="34" charset="0"/>
                <a:ea typeface="Arial" pitchFamily="34" charset="-122"/>
                <a:cs typeface="Arial" pitchFamily="34" charset="-120"/>
              </a:rPr>
              <a:t>Checks list what needs a decision: names, duplicates, attendance.</a:t>
            </a:r>
            <a:endParaRPr lang="en-US" sz="1200" dirty="0"/>
          </a:p>
        </p:txBody>
      </p:sp>
      <p:sp>
        <p:nvSpPr>
          <p:cNvPr id="17" name="step2"/>
          <p:cNvSpPr/>
          <p:nvPr/>
        </p:nvSpPr>
        <p:spPr>
          <a:xfrm>
            <a:off x="6210148" y="2377440"/>
            <a:ext cx="2602154" cy="3749040"/>
          </a:xfrm>
          <a:prstGeom prst="roundRect">
            <a:avLst>
              <a:gd name="adj" fmla="val 5622"/>
            </a:avLst>
          </a:prstGeom>
          <a:solidFill>
            <a:srgbClr val="FFFFFF"/>
          </a:solidFill>
          <a:ln w="9525">
            <a:solidFill>
              <a:srgbClr val="E5E5EA"/>
            </a:solidFill>
            <a:prstDash val="solid"/>
          </a:ln>
          <a:effectLst>
            <a:outerShdw sx="100000" sy="100000" kx="0" ky="0" algn="bl" rotWithShape="0" blurRad="177800" dist="38100" dir="5400000">
              <a:srgbClr val="000000">
                <a:alpha val="7000"/>
              </a:srgbClr>
            </a:outerShdw>
          </a:effectLst>
        </p:spPr>
      </p:sp>
      <p:pic>
        <p:nvPicPr>
          <p:cNvPr id="18" name="shot2" descr="Export: the monthly workbook">    </p:cNvPr>
          <p:cNvPicPr>
            <a:picLocks noChangeAspect="1"/>
          </p:cNvPicPr>
          <p:nvPr/>
        </p:nvPicPr>
        <p:blipFill>
          <a:blip r:embed="rId3"/>
          <a:stretch>
            <a:fillRect/>
          </a:stretch>
        </p:blipFill>
        <p:spPr>
          <a:xfrm>
            <a:off x="6265012" y="2468880"/>
            <a:ext cx="2492426" cy="1726895"/>
          </a:xfrm>
          <a:prstGeom prst="rect">
            <a:avLst/>
          </a:prstGeom>
        </p:spPr>
      </p:pic>
      <p:sp>
        <p:nvSpPr>
          <p:cNvPr id="19" name="n2"/>
          <p:cNvSpPr/>
          <p:nvPr/>
        </p:nvSpPr>
        <p:spPr>
          <a:xfrm>
            <a:off x="6438748" y="4389120"/>
            <a:ext cx="384048" cy="384048"/>
          </a:xfrm>
          <a:prstGeom prst="ellipse">
            <a:avLst/>
          </a:prstGeom>
          <a:solidFill>
            <a:srgbClr val="1D1D1F"/>
          </a:solidFill>
          <a:ln/>
        </p:spPr>
      </p:sp>
      <p:sp>
        <p:nvSpPr>
          <p:cNvPr id="20" name="n2t"/>
          <p:cNvSpPr txBox="1"/>
          <p:nvPr/>
        </p:nvSpPr>
        <p:spPr>
          <a:xfrm>
            <a:off x="6438748" y="43891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1" name="h2"/>
          <p:cNvSpPr txBox="1"/>
          <p:nvPr/>
        </p:nvSpPr>
        <p:spPr>
          <a:xfrm>
            <a:off x="6959956" y="4389120"/>
            <a:ext cx="1687754" cy="384048"/>
          </a:xfrm>
          <a:prstGeom prst="rect">
            <a:avLst/>
          </a:prstGeom>
          <a:noFill/>
          <a:ln/>
        </p:spPr>
        <p:txBody>
          <a:bodyPr wrap="square" lIns="0" tIns="0" rIns="0" bIns="0" rtlCol="0" anchor="ctr"/>
          <a:lstStyle/>
          <a:p>
            <a:pPr indent="0" marL="0">
              <a:buNone/>
            </a:pPr>
            <a:r>
              <a:rPr lang="en-US" sz="1600" b="1" dirty="0">
                <a:solidFill>
                  <a:srgbClr val="1D1D1F"/>
                </a:solidFill>
                <a:latin typeface="Arial" pitchFamily="34" charset="0"/>
                <a:ea typeface="Arial" pitchFamily="34" charset="-122"/>
                <a:cs typeface="Arial" pitchFamily="34" charset="-120"/>
              </a:rPr>
              <a:t>Export</a:t>
            </a:r>
            <a:endParaRPr lang="en-US" sz="1600" dirty="0"/>
          </a:p>
        </p:txBody>
      </p:sp>
      <p:sp>
        <p:nvSpPr>
          <p:cNvPr id="22" name="t2"/>
          <p:cNvSpPr txBox="1"/>
          <p:nvPr/>
        </p:nvSpPr>
        <p:spPr>
          <a:xfrm>
            <a:off x="6438748" y="4937760"/>
            <a:ext cx="2144954" cy="1005840"/>
          </a:xfrm>
          <a:prstGeom prst="rect">
            <a:avLst/>
          </a:prstGeom>
          <a:noFill/>
          <a:ln/>
        </p:spPr>
        <p:txBody>
          <a:bodyPr wrap="square" lIns="0" tIns="0" rIns="0" bIns="0" rtlCol="0" anchor="t"/>
          <a:lstStyle/>
          <a:p>
            <a:pPr indent="0" marL="0">
              <a:lnSpc>
                <a:spcPct val="105000"/>
              </a:lnSpc>
              <a:buNone/>
            </a:pPr>
            <a:r>
              <a:rPr lang="en-US" sz="1200" dirty="0">
                <a:solidFill>
                  <a:srgbClr val="5C5C61"/>
                </a:solidFill>
                <a:latin typeface="Arial" pitchFamily="34" charset="0"/>
                <a:ea typeface="Arial" pitchFamily="34" charset="-122"/>
                <a:cs typeface="Arial" pitchFamily="34" charset="-120"/>
              </a:rPr>
              <a:t>The monthly workbook and the incentive data, kept with the shared data.</a:t>
            </a:r>
            <a:endParaRPr lang="en-US" sz="1200" dirty="0"/>
          </a:p>
        </p:txBody>
      </p:sp>
      <p:sp>
        <p:nvSpPr>
          <p:cNvPr id="23" name="step3"/>
          <p:cNvSpPr/>
          <p:nvPr/>
        </p:nvSpPr>
        <p:spPr>
          <a:xfrm>
            <a:off x="9040901" y="2377440"/>
            <a:ext cx="2602154" cy="3749040"/>
          </a:xfrm>
          <a:prstGeom prst="roundRect">
            <a:avLst>
              <a:gd name="adj" fmla="val 5622"/>
            </a:avLst>
          </a:prstGeom>
          <a:solidFill>
            <a:srgbClr val="FFFFFF"/>
          </a:solidFill>
          <a:ln w="9525">
            <a:solidFill>
              <a:srgbClr val="E5E5EA"/>
            </a:solidFill>
            <a:prstDash val="solid"/>
          </a:ln>
          <a:effectLst>
            <a:outerShdw sx="100000" sy="100000" kx="0" ky="0" algn="bl" rotWithShape="0" blurRad="177800" dist="38100" dir="5400000">
              <a:srgbClr val="000000">
                <a:alpha val="7000"/>
              </a:srgbClr>
            </a:outerShdw>
          </a:effectLst>
        </p:spPr>
      </p:sp>
      <p:pic>
        <p:nvPicPr>
          <p:cNvPr id="24" name="shot3" descr="Emails: the deduction email for review">    </p:cNvPr>
          <p:cNvPicPr>
            <a:picLocks noChangeAspect="1"/>
          </p:cNvPicPr>
          <p:nvPr/>
        </p:nvPicPr>
        <p:blipFill>
          <a:blip r:embed="rId4"/>
          <a:stretch>
            <a:fillRect/>
          </a:stretch>
        </p:blipFill>
        <p:spPr>
          <a:xfrm>
            <a:off x="9095765" y="2468880"/>
            <a:ext cx="2492426" cy="1726895"/>
          </a:xfrm>
          <a:prstGeom prst="rect">
            <a:avLst/>
          </a:prstGeom>
        </p:spPr>
      </p:pic>
      <p:sp>
        <p:nvSpPr>
          <p:cNvPr id="25" name="n3"/>
          <p:cNvSpPr/>
          <p:nvPr/>
        </p:nvSpPr>
        <p:spPr>
          <a:xfrm>
            <a:off x="9269501" y="4389120"/>
            <a:ext cx="384048" cy="384048"/>
          </a:xfrm>
          <a:prstGeom prst="ellipse">
            <a:avLst/>
          </a:prstGeom>
          <a:solidFill>
            <a:srgbClr val="1D1D1F"/>
          </a:solidFill>
          <a:ln/>
        </p:spPr>
      </p:sp>
      <p:sp>
        <p:nvSpPr>
          <p:cNvPr id="26" name="n3t"/>
          <p:cNvSpPr txBox="1"/>
          <p:nvPr/>
        </p:nvSpPr>
        <p:spPr>
          <a:xfrm>
            <a:off x="9269501" y="43891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7" name="h3"/>
          <p:cNvSpPr txBox="1"/>
          <p:nvPr/>
        </p:nvSpPr>
        <p:spPr>
          <a:xfrm>
            <a:off x="9790709" y="4389120"/>
            <a:ext cx="1687754" cy="384048"/>
          </a:xfrm>
          <a:prstGeom prst="rect">
            <a:avLst/>
          </a:prstGeom>
          <a:noFill/>
          <a:ln/>
        </p:spPr>
        <p:txBody>
          <a:bodyPr wrap="square" lIns="0" tIns="0" rIns="0" bIns="0" rtlCol="0" anchor="ctr"/>
          <a:lstStyle/>
          <a:p>
            <a:pPr indent="0" marL="0">
              <a:buNone/>
            </a:pPr>
            <a:r>
              <a:rPr lang="en-US" sz="1600" b="1" dirty="0">
                <a:solidFill>
                  <a:srgbClr val="1D1D1F"/>
                </a:solidFill>
                <a:latin typeface="Arial" pitchFamily="34" charset="0"/>
                <a:ea typeface="Arial" pitchFamily="34" charset="-122"/>
                <a:cs typeface="Arial" pitchFamily="34" charset="-120"/>
              </a:rPr>
              <a:t>Emails</a:t>
            </a:r>
            <a:endParaRPr lang="en-US" sz="1600" dirty="0"/>
          </a:p>
        </p:txBody>
      </p:sp>
      <p:sp>
        <p:nvSpPr>
          <p:cNvPr id="28" name="t3"/>
          <p:cNvSpPr txBox="1"/>
          <p:nvPr/>
        </p:nvSpPr>
        <p:spPr>
          <a:xfrm>
            <a:off x="9269501" y="4937760"/>
            <a:ext cx="2144954" cy="1005840"/>
          </a:xfrm>
          <a:prstGeom prst="rect">
            <a:avLst/>
          </a:prstGeom>
          <a:noFill/>
          <a:ln/>
        </p:spPr>
        <p:txBody>
          <a:bodyPr wrap="square" lIns="0" tIns="0" rIns="0" bIns="0" rtlCol="0" anchor="t"/>
          <a:lstStyle/>
          <a:p>
            <a:pPr indent="0" marL="0">
              <a:lnSpc>
                <a:spcPct val="105000"/>
              </a:lnSpc>
              <a:buNone/>
            </a:pPr>
            <a:r>
              <a:rPr lang="en-US" sz="1200" dirty="0">
                <a:solidFill>
                  <a:srgbClr val="5C5C61"/>
                </a:solidFill>
                <a:latin typeface="Arial" pitchFamily="34" charset="0"/>
                <a:ea typeface="Arial" pitchFamily="34" charset="-122"/>
                <a:cs typeface="Arial" pitchFamily="34" charset="-120"/>
              </a:rPr>
              <a:t>Deduction and incentive emails, for review and final, ready for Outlook.</a:t>
            </a:r>
            <a:endParaRPr lang="en-US" sz="12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E8E93"/>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42" presetClass="entr" presetSubtype="0" fill="hold" grpId="0" nodeType="withEffect">
                                  <p:stCondLst>
                                    <p:cond delay="3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650"/>
                                        <p:tgtEl>
                                          <p:spTgt spid="5"/>
                                        </p:tgtEl>
                                      </p:cBhvr>
                                    </p:animEffect>
                                    <p:anim calcmode="lin" valueType="num">
                                      <p:cBhvr>
                                        <p:cTn id="14" dur="650" fill="hold"/>
                                        <p:tgtEl>
                                          <p:spTgt spid="5"/>
                                        </p:tgtEl>
                                        <p:attrNameLst>
                                          <p:attrName>ppt_x</p:attrName>
                                        </p:attrNameLst>
                                      </p:cBhvr>
                                      <p:tavLst>
                                        <p:tav tm="0">
                                          <p:val>
                                            <p:strVal val="#ppt_x"/>
                                          </p:val>
                                        </p:tav>
                                        <p:tav tm="100000">
                                          <p:val>
                                            <p:strVal val="#ppt_x"/>
                                          </p:val>
                                        </p:tav>
                                      </p:tavLst>
                                    </p:anim>
                                    <p:anim calcmode="lin" valueType="num">
                                      <p:cBhvr>
                                        <p:cTn id="15" dur="650" fill="hold"/>
                                        <p:tgtEl>
                                          <p:spTgt spid="5"/>
                                        </p:tgtEl>
                                        <p:attrNameLst>
                                          <p:attrName>ppt_y</p:attrName>
                                        </p:attrNameLst>
                                      </p:cBhvr>
                                      <p:tavLst>
                                        <p:tav tm="0">
                                          <p:val>
                                            <p:strVal val="#ppt_y+.05"/>
                                          </p:val>
                                        </p:tav>
                                        <p:tav tm="100000">
                                          <p:val>
                                            <p:strVal val="#ppt_y"/>
                                          </p:val>
                                        </p:tav>
                                      </p:tavLst>
                                    </p:anim>
                                  </p:childTnLst>
                                </p:cTn>
                              </p:par>
                              <p:par>
                                <p:cTn id="16" presetID="42" presetClass="entr" presetSubtype="0" fill="hold" grpId="0" nodeType="withEffect">
                                  <p:stCondLst>
                                    <p:cond delay="30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650"/>
                                        <p:tgtEl>
                                          <p:spTgt spid="6"/>
                                        </p:tgtEl>
                                      </p:cBhvr>
                                    </p:animEffect>
                                    <p:anim calcmode="lin" valueType="num">
                                      <p:cBhvr>
                                        <p:cTn id="19" dur="650" fill="hold"/>
                                        <p:tgtEl>
                                          <p:spTgt spid="6"/>
                                        </p:tgtEl>
                                        <p:attrNameLst>
                                          <p:attrName>ppt_x</p:attrName>
                                        </p:attrNameLst>
                                      </p:cBhvr>
                                      <p:tavLst>
                                        <p:tav tm="0">
                                          <p:val>
                                            <p:strVal val="#ppt_x"/>
                                          </p:val>
                                        </p:tav>
                                        <p:tav tm="100000">
                                          <p:val>
                                            <p:strVal val="#ppt_x"/>
                                          </p:val>
                                        </p:tav>
                                      </p:tavLst>
                                    </p:anim>
                                    <p:anim calcmode="lin" valueType="num">
                                      <p:cBhvr>
                                        <p:cTn id="20" dur="650" fill="hold"/>
                                        <p:tgtEl>
                                          <p:spTgt spid="6"/>
                                        </p:tgtEl>
                                        <p:attrNameLst>
                                          <p:attrName>ppt_y</p:attrName>
                                        </p:attrNameLst>
                                      </p:cBhvr>
                                      <p:tavLst>
                                        <p:tav tm="0">
                                          <p:val>
                                            <p:strVal val="#ppt_y+.05"/>
                                          </p:val>
                                        </p:tav>
                                        <p:tav tm="100000">
                                          <p:val>
                                            <p:strVal val="#ppt_y"/>
                                          </p:val>
                                        </p:tav>
                                      </p:tavLst>
                                    </p:anim>
                                  </p:childTnLst>
                                </p:cTn>
                              </p:par>
                              <p:par>
                                <p:cTn id="21" presetID="42" presetClass="entr" presetSubtype="0" fill="hold" grpId="0" nodeType="withEffect">
                                  <p:stCondLst>
                                    <p:cond delay="30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650"/>
                                        <p:tgtEl>
                                          <p:spTgt spid="7"/>
                                        </p:tgtEl>
                                      </p:cBhvr>
                                    </p:animEffect>
                                    <p:anim calcmode="lin" valueType="num">
                                      <p:cBhvr>
                                        <p:cTn id="24" dur="650" fill="hold"/>
                                        <p:tgtEl>
                                          <p:spTgt spid="7"/>
                                        </p:tgtEl>
                                        <p:attrNameLst>
                                          <p:attrName>ppt_x</p:attrName>
                                        </p:attrNameLst>
                                      </p:cBhvr>
                                      <p:tavLst>
                                        <p:tav tm="0">
                                          <p:val>
                                            <p:strVal val="#ppt_x"/>
                                          </p:val>
                                        </p:tav>
                                        <p:tav tm="100000">
                                          <p:val>
                                            <p:strVal val="#ppt_x"/>
                                          </p:val>
                                        </p:tav>
                                      </p:tavLst>
                                    </p:anim>
                                    <p:anim calcmode="lin" valueType="num">
                                      <p:cBhvr>
                                        <p:cTn id="25" dur="650" fill="hold"/>
                                        <p:tgtEl>
                                          <p:spTgt spid="7"/>
                                        </p:tgtEl>
                                        <p:attrNameLst>
                                          <p:attrName>ppt_y</p:attrName>
                                        </p:attrNameLst>
                                      </p:cBhvr>
                                      <p:tavLst>
                                        <p:tav tm="0">
                                          <p:val>
                                            <p:strVal val="#ppt_y+.05"/>
                                          </p:val>
                                        </p:tav>
                                        <p:tav tm="100000">
                                          <p:val>
                                            <p:strVal val="#ppt_y"/>
                                          </p:val>
                                        </p:tav>
                                      </p:tavLst>
                                    </p:anim>
                                  </p:childTnLst>
                                </p:cTn>
                              </p:par>
                              <p:par>
                                <p:cTn id="26" presetID="42" presetClass="entr" presetSubtype="0" fill="hold" grpId="0" nodeType="withEffect">
                                  <p:stCondLst>
                                    <p:cond delay="30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650"/>
                                        <p:tgtEl>
                                          <p:spTgt spid="8"/>
                                        </p:tgtEl>
                                      </p:cBhvr>
                                    </p:animEffect>
                                    <p:anim calcmode="lin" valueType="num">
                                      <p:cBhvr>
                                        <p:cTn id="29" dur="650" fill="hold"/>
                                        <p:tgtEl>
                                          <p:spTgt spid="8"/>
                                        </p:tgtEl>
                                        <p:attrNameLst>
                                          <p:attrName>ppt_x</p:attrName>
                                        </p:attrNameLst>
                                      </p:cBhvr>
                                      <p:tavLst>
                                        <p:tav tm="0">
                                          <p:val>
                                            <p:strVal val="#ppt_x"/>
                                          </p:val>
                                        </p:tav>
                                        <p:tav tm="100000">
                                          <p:val>
                                            <p:strVal val="#ppt_x"/>
                                          </p:val>
                                        </p:tav>
                                      </p:tavLst>
                                    </p:anim>
                                    <p:anim calcmode="lin" valueType="num">
                                      <p:cBhvr>
                                        <p:cTn id="30" dur="650" fill="hold"/>
                                        <p:tgtEl>
                                          <p:spTgt spid="8"/>
                                        </p:tgtEl>
                                        <p:attrNameLst>
                                          <p:attrName>ppt_y</p:attrName>
                                        </p:attrNameLst>
                                      </p:cBhvr>
                                      <p:tavLst>
                                        <p:tav tm="0">
                                          <p:val>
                                            <p:strVal val="#ppt_y+.05"/>
                                          </p:val>
                                        </p:tav>
                                        <p:tav tm="100000">
                                          <p:val>
                                            <p:strVal val="#ppt_y"/>
                                          </p:val>
                                        </p:tav>
                                      </p:tavLst>
                                    </p:anim>
                                  </p:childTnLst>
                                </p:cTn>
                              </p:par>
                              <p:par>
                                <p:cTn id="31" presetID="42" presetClass="entr" presetSubtype="0" fill="hold" grpId="0" nodeType="withEffect">
                                  <p:stCondLst>
                                    <p:cond delay="30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650"/>
                                        <p:tgtEl>
                                          <p:spTgt spid="9"/>
                                        </p:tgtEl>
                                      </p:cBhvr>
                                    </p:animEffect>
                                    <p:anim calcmode="lin" valueType="num">
                                      <p:cBhvr>
                                        <p:cTn id="34" dur="650" fill="hold"/>
                                        <p:tgtEl>
                                          <p:spTgt spid="9"/>
                                        </p:tgtEl>
                                        <p:attrNameLst>
                                          <p:attrName>ppt_x</p:attrName>
                                        </p:attrNameLst>
                                      </p:cBhvr>
                                      <p:tavLst>
                                        <p:tav tm="0">
                                          <p:val>
                                            <p:strVal val="#ppt_x"/>
                                          </p:val>
                                        </p:tav>
                                        <p:tav tm="100000">
                                          <p:val>
                                            <p:strVal val="#ppt_x"/>
                                          </p:val>
                                        </p:tav>
                                      </p:tavLst>
                                    </p:anim>
                                    <p:anim calcmode="lin" valueType="num">
                                      <p:cBhvr>
                                        <p:cTn id="35" dur="650" fill="hold"/>
                                        <p:tgtEl>
                                          <p:spTgt spid="9"/>
                                        </p:tgtEl>
                                        <p:attrNameLst>
                                          <p:attrName>ppt_y</p:attrName>
                                        </p:attrNameLst>
                                      </p:cBhvr>
                                      <p:tavLst>
                                        <p:tav tm="0">
                                          <p:val>
                                            <p:strVal val="#ppt_y+.05"/>
                                          </p:val>
                                        </p:tav>
                                        <p:tav tm="100000">
                                          <p:val>
                                            <p:strVal val="#ppt_y"/>
                                          </p:val>
                                        </p:tav>
                                      </p:tavLst>
                                    </p:anim>
                                  </p:childTnLst>
                                </p:cTn>
                              </p:par>
                              <p:par>
                                <p:cTn id="36" presetID="42" presetClass="entr" presetSubtype="0" fill="hold" grpId="0" nodeType="withEffect">
                                  <p:stCondLst>
                                    <p:cond delay="30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650"/>
                                        <p:tgtEl>
                                          <p:spTgt spid="10"/>
                                        </p:tgtEl>
                                      </p:cBhvr>
                                    </p:animEffect>
                                    <p:anim calcmode="lin" valueType="num">
                                      <p:cBhvr>
                                        <p:cTn id="39" dur="650" fill="hold"/>
                                        <p:tgtEl>
                                          <p:spTgt spid="10"/>
                                        </p:tgtEl>
                                        <p:attrNameLst>
                                          <p:attrName>ppt_x</p:attrName>
                                        </p:attrNameLst>
                                      </p:cBhvr>
                                      <p:tavLst>
                                        <p:tav tm="0">
                                          <p:val>
                                            <p:strVal val="#ppt_x"/>
                                          </p:val>
                                        </p:tav>
                                        <p:tav tm="100000">
                                          <p:val>
                                            <p:strVal val="#ppt_x"/>
                                          </p:val>
                                        </p:tav>
                                      </p:tavLst>
                                    </p:anim>
                                    <p:anim calcmode="lin" valueType="num">
                                      <p:cBhvr>
                                        <p:cTn id="40" dur="650" fill="hold"/>
                                        <p:tgtEl>
                                          <p:spTgt spid="10"/>
                                        </p:tgtEl>
                                        <p:attrNameLst>
                                          <p:attrName>ppt_y</p:attrName>
                                        </p:attrNameLst>
                                      </p:cBhvr>
                                      <p:tavLst>
                                        <p:tav tm="0">
                                          <p:val>
                                            <p:strVal val="#ppt_y+.05"/>
                                          </p:val>
                                        </p:tav>
                                        <p:tav tm="100000">
                                          <p:val>
                                            <p:strVal val="#ppt_y"/>
                                          </p:val>
                                        </p:tav>
                                      </p:tavLst>
                                    </p:anim>
                                  </p:childTnLst>
                                </p:cTn>
                              </p:par>
                              <p:par>
                                <p:cTn id="41" presetID="42" presetClass="entr" presetSubtype="0" fill="hold" grpId="0" nodeType="withEffect">
                                  <p:stCondLst>
                                    <p:cond delay="46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650"/>
                                        <p:tgtEl>
                                          <p:spTgt spid="11"/>
                                        </p:tgtEl>
                                      </p:cBhvr>
                                    </p:animEffect>
                                    <p:anim calcmode="lin" valueType="num">
                                      <p:cBhvr>
                                        <p:cTn id="44" dur="650" fill="hold"/>
                                        <p:tgtEl>
                                          <p:spTgt spid="11"/>
                                        </p:tgtEl>
                                        <p:attrNameLst>
                                          <p:attrName>ppt_x</p:attrName>
                                        </p:attrNameLst>
                                      </p:cBhvr>
                                      <p:tavLst>
                                        <p:tav tm="0">
                                          <p:val>
                                            <p:strVal val="#ppt_x"/>
                                          </p:val>
                                        </p:tav>
                                        <p:tav tm="100000">
                                          <p:val>
                                            <p:strVal val="#ppt_x"/>
                                          </p:val>
                                        </p:tav>
                                      </p:tavLst>
                                    </p:anim>
                                    <p:anim calcmode="lin" valueType="num">
                                      <p:cBhvr>
                                        <p:cTn id="45" dur="650" fill="hold"/>
                                        <p:tgtEl>
                                          <p:spTgt spid="11"/>
                                        </p:tgtEl>
                                        <p:attrNameLst>
                                          <p:attrName>ppt_y</p:attrName>
                                        </p:attrNameLst>
                                      </p:cBhvr>
                                      <p:tavLst>
                                        <p:tav tm="0">
                                          <p:val>
                                            <p:strVal val="#ppt_y+.05"/>
                                          </p:val>
                                        </p:tav>
                                        <p:tav tm="100000">
                                          <p:val>
                                            <p:strVal val="#ppt_y"/>
                                          </p:val>
                                        </p:tav>
                                      </p:tavLst>
                                    </p:anim>
                                  </p:childTnLst>
                                </p:cTn>
                              </p:par>
                              <p:par>
                                <p:cTn id="46" presetID="42" presetClass="entr" presetSubtype="0" fill="hold" grpId="0" nodeType="withEffect">
                                  <p:stCondLst>
                                    <p:cond delay="460"/>
                                  </p:stCondLst>
                                  <p:childTnLst>
                                    <p:set>
                                      <p:cBhvr>
                                        <p:cTn id="47" dur="1" fill="hold">
                                          <p:stCondLst>
                                            <p:cond delay="0"/>
                                          </p:stCondLst>
                                        </p:cTn>
                                        <p:tgtEl>
                                          <p:spTgt spid="12"/>
                                        </p:tgtEl>
                                        <p:attrNameLst>
                                          <p:attrName>style.visibility</p:attrName>
                                        </p:attrNameLst>
                                      </p:cBhvr>
                                      <p:to>
                                        <p:strVal val="visible"/>
                                      </p:to>
                                    </p:set>
                                    <p:animEffect transition="in" filter="fade">
                                      <p:cBhvr>
                                        <p:cTn id="48" dur="650"/>
                                        <p:tgtEl>
                                          <p:spTgt spid="12"/>
                                        </p:tgtEl>
                                      </p:cBhvr>
                                    </p:animEffect>
                                    <p:anim calcmode="lin" valueType="num">
                                      <p:cBhvr>
                                        <p:cTn id="49" dur="650" fill="hold"/>
                                        <p:tgtEl>
                                          <p:spTgt spid="12"/>
                                        </p:tgtEl>
                                        <p:attrNameLst>
                                          <p:attrName>ppt_x</p:attrName>
                                        </p:attrNameLst>
                                      </p:cBhvr>
                                      <p:tavLst>
                                        <p:tav tm="0">
                                          <p:val>
                                            <p:strVal val="#ppt_x"/>
                                          </p:val>
                                        </p:tav>
                                        <p:tav tm="100000">
                                          <p:val>
                                            <p:strVal val="#ppt_x"/>
                                          </p:val>
                                        </p:tav>
                                      </p:tavLst>
                                    </p:anim>
                                    <p:anim calcmode="lin" valueType="num">
                                      <p:cBhvr>
                                        <p:cTn id="50" dur="650" fill="hold"/>
                                        <p:tgtEl>
                                          <p:spTgt spid="12"/>
                                        </p:tgtEl>
                                        <p:attrNameLst>
                                          <p:attrName>ppt_y</p:attrName>
                                        </p:attrNameLst>
                                      </p:cBhvr>
                                      <p:tavLst>
                                        <p:tav tm="0">
                                          <p:val>
                                            <p:strVal val="#ppt_y+.05"/>
                                          </p:val>
                                        </p:tav>
                                        <p:tav tm="100000">
                                          <p:val>
                                            <p:strVal val="#ppt_y"/>
                                          </p:val>
                                        </p:tav>
                                      </p:tavLst>
                                    </p:anim>
                                  </p:childTnLst>
                                </p:cTn>
                              </p:par>
                              <p:par>
                                <p:cTn id="51" presetID="42" presetClass="entr" presetSubtype="0" fill="hold" grpId="0" nodeType="withEffect">
                                  <p:stCondLst>
                                    <p:cond delay="460"/>
                                  </p:stCondLst>
                                  <p:childTnLst>
                                    <p:set>
                                      <p:cBhvr>
                                        <p:cTn id="52" dur="1" fill="hold">
                                          <p:stCondLst>
                                            <p:cond delay="0"/>
                                          </p:stCondLst>
                                        </p:cTn>
                                        <p:tgtEl>
                                          <p:spTgt spid="13"/>
                                        </p:tgtEl>
                                        <p:attrNameLst>
                                          <p:attrName>style.visibility</p:attrName>
                                        </p:attrNameLst>
                                      </p:cBhvr>
                                      <p:to>
                                        <p:strVal val="visible"/>
                                      </p:to>
                                    </p:set>
                                    <p:animEffect transition="in" filter="fade">
                                      <p:cBhvr>
                                        <p:cTn id="53" dur="650"/>
                                        <p:tgtEl>
                                          <p:spTgt spid="13"/>
                                        </p:tgtEl>
                                      </p:cBhvr>
                                    </p:animEffect>
                                    <p:anim calcmode="lin" valueType="num">
                                      <p:cBhvr>
                                        <p:cTn id="54" dur="650" fill="hold"/>
                                        <p:tgtEl>
                                          <p:spTgt spid="13"/>
                                        </p:tgtEl>
                                        <p:attrNameLst>
                                          <p:attrName>ppt_x</p:attrName>
                                        </p:attrNameLst>
                                      </p:cBhvr>
                                      <p:tavLst>
                                        <p:tav tm="0">
                                          <p:val>
                                            <p:strVal val="#ppt_x"/>
                                          </p:val>
                                        </p:tav>
                                        <p:tav tm="100000">
                                          <p:val>
                                            <p:strVal val="#ppt_x"/>
                                          </p:val>
                                        </p:tav>
                                      </p:tavLst>
                                    </p:anim>
                                    <p:anim calcmode="lin" valueType="num">
                                      <p:cBhvr>
                                        <p:cTn id="55" dur="650" fill="hold"/>
                                        <p:tgtEl>
                                          <p:spTgt spid="13"/>
                                        </p:tgtEl>
                                        <p:attrNameLst>
                                          <p:attrName>ppt_y</p:attrName>
                                        </p:attrNameLst>
                                      </p:cBhvr>
                                      <p:tavLst>
                                        <p:tav tm="0">
                                          <p:val>
                                            <p:strVal val="#ppt_y+.05"/>
                                          </p:val>
                                        </p:tav>
                                        <p:tav tm="100000">
                                          <p:val>
                                            <p:strVal val="#ppt_y"/>
                                          </p:val>
                                        </p:tav>
                                      </p:tavLst>
                                    </p:anim>
                                  </p:childTnLst>
                                </p:cTn>
                              </p:par>
                              <p:par>
                                <p:cTn id="56" presetID="42" presetClass="entr" presetSubtype="0" fill="hold" grpId="0" nodeType="withEffect">
                                  <p:stCondLst>
                                    <p:cond delay="460"/>
                                  </p:stCondLst>
                                  <p:childTnLst>
                                    <p:set>
                                      <p:cBhvr>
                                        <p:cTn id="57" dur="1" fill="hold">
                                          <p:stCondLst>
                                            <p:cond delay="0"/>
                                          </p:stCondLst>
                                        </p:cTn>
                                        <p:tgtEl>
                                          <p:spTgt spid="14"/>
                                        </p:tgtEl>
                                        <p:attrNameLst>
                                          <p:attrName>style.visibility</p:attrName>
                                        </p:attrNameLst>
                                      </p:cBhvr>
                                      <p:to>
                                        <p:strVal val="visible"/>
                                      </p:to>
                                    </p:set>
                                    <p:animEffect transition="in" filter="fade">
                                      <p:cBhvr>
                                        <p:cTn id="58" dur="650"/>
                                        <p:tgtEl>
                                          <p:spTgt spid="14"/>
                                        </p:tgtEl>
                                      </p:cBhvr>
                                    </p:animEffect>
                                    <p:anim calcmode="lin" valueType="num">
                                      <p:cBhvr>
                                        <p:cTn id="59" dur="650" fill="hold"/>
                                        <p:tgtEl>
                                          <p:spTgt spid="14"/>
                                        </p:tgtEl>
                                        <p:attrNameLst>
                                          <p:attrName>ppt_x</p:attrName>
                                        </p:attrNameLst>
                                      </p:cBhvr>
                                      <p:tavLst>
                                        <p:tav tm="0">
                                          <p:val>
                                            <p:strVal val="#ppt_x"/>
                                          </p:val>
                                        </p:tav>
                                        <p:tav tm="100000">
                                          <p:val>
                                            <p:strVal val="#ppt_x"/>
                                          </p:val>
                                        </p:tav>
                                      </p:tavLst>
                                    </p:anim>
                                    <p:anim calcmode="lin" valueType="num">
                                      <p:cBhvr>
                                        <p:cTn id="60" dur="650" fill="hold"/>
                                        <p:tgtEl>
                                          <p:spTgt spid="14"/>
                                        </p:tgtEl>
                                        <p:attrNameLst>
                                          <p:attrName>ppt_y</p:attrName>
                                        </p:attrNameLst>
                                      </p:cBhvr>
                                      <p:tavLst>
                                        <p:tav tm="0">
                                          <p:val>
                                            <p:strVal val="#ppt_y+.05"/>
                                          </p:val>
                                        </p:tav>
                                        <p:tav tm="100000">
                                          <p:val>
                                            <p:strVal val="#ppt_y"/>
                                          </p:val>
                                        </p:tav>
                                      </p:tavLst>
                                    </p:anim>
                                  </p:childTnLst>
                                </p:cTn>
                              </p:par>
                              <p:par>
                                <p:cTn id="61" presetID="42" presetClass="entr" presetSubtype="0" fill="hold" grpId="0" nodeType="withEffect">
                                  <p:stCondLst>
                                    <p:cond delay="460"/>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650"/>
                                        <p:tgtEl>
                                          <p:spTgt spid="15"/>
                                        </p:tgtEl>
                                      </p:cBhvr>
                                    </p:animEffect>
                                    <p:anim calcmode="lin" valueType="num">
                                      <p:cBhvr>
                                        <p:cTn id="64" dur="650" fill="hold"/>
                                        <p:tgtEl>
                                          <p:spTgt spid="15"/>
                                        </p:tgtEl>
                                        <p:attrNameLst>
                                          <p:attrName>ppt_x</p:attrName>
                                        </p:attrNameLst>
                                      </p:cBhvr>
                                      <p:tavLst>
                                        <p:tav tm="0">
                                          <p:val>
                                            <p:strVal val="#ppt_x"/>
                                          </p:val>
                                        </p:tav>
                                        <p:tav tm="100000">
                                          <p:val>
                                            <p:strVal val="#ppt_x"/>
                                          </p:val>
                                        </p:tav>
                                      </p:tavLst>
                                    </p:anim>
                                    <p:anim calcmode="lin" valueType="num">
                                      <p:cBhvr>
                                        <p:cTn id="65" dur="650" fill="hold"/>
                                        <p:tgtEl>
                                          <p:spTgt spid="15"/>
                                        </p:tgtEl>
                                        <p:attrNameLst>
                                          <p:attrName>ppt_y</p:attrName>
                                        </p:attrNameLst>
                                      </p:cBhvr>
                                      <p:tavLst>
                                        <p:tav tm="0">
                                          <p:val>
                                            <p:strVal val="#ppt_y+.05"/>
                                          </p:val>
                                        </p:tav>
                                        <p:tav tm="100000">
                                          <p:val>
                                            <p:strVal val="#ppt_y"/>
                                          </p:val>
                                        </p:tav>
                                      </p:tavLst>
                                    </p:anim>
                                  </p:childTnLst>
                                </p:cTn>
                              </p:par>
                              <p:par>
                                <p:cTn id="66" presetID="42" presetClass="entr" presetSubtype="0" fill="hold" grpId="0" nodeType="withEffect">
                                  <p:stCondLst>
                                    <p:cond delay="460"/>
                                  </p:stCondLst>
                                  <p:childTnLst>
                                    <p:set>
                                      <p:cBhvr>
                                        <p:cTn id="67" dur="1" fill="hold">
                                          <p:stCondLst>
                                            <p:cond delay="0"/>
                                          </p:stCondLst>
                                        </p:cTn>
                                        <p:tgtEl>
                                          <p:spTgt spid="16"/>
                                        </p:tgtEl>
                                        <p:attrNameLst>
                                          <p:attrName>style.visibility</p:attrName>
                                        </p:attrNameLst>
                                      </p:cBhvr>
                                      <p:to>
                                        <p:strVal val="visible"/>
                                      </p:to>
                                    </p:set>
                                    <p:animEffect transition="in" filter="fade">
                                      <p:cBhvr>
                                        <p:cTn id="68" dur="650"/>
                                        <p:tgtEl>
                                          <p:spTgt spid="16"/>
                                        </p:tgtEl>
                                      </p:cBhvr>
                                    </p:animEffect>
                                    <p:anim calcmode="lin" valueType="num">
                                      <p:cBhvr>
                                        <p:cTn id="69" dur="650" fill="hold"/>
                                        <p:tgtEl>
                                          <p:spTgt spid="16"/>
                                        </p:tgtEl>
                                        <p:attrNameLst>
                                          <p:attrName>ppt_x</p:attrName>
                                        </p:attrNameLst>
                                      </p:cBhvr>
                                      <p:tavLst>
                                        <p:tav tm="0">
                                          <p:val>
                                            <p:strVal val="#ppt_x"/>
                                          </p:val>
                                        </p:tav>
                                        <p:tav tm="100000">
                                          <p:val>
                                            <p:strVal val="#ppt_x"/>
                                          </p:val>
                                        </p:tav>
                                      </p:tavLst>
                                    </p:anim>
                                    <p:anim calcmode="lin" valueType="num">
                                      <p:cBhvr>
                                        <p:cTn id="70" dur="650" fill="hold"/>
                                        <p:tgtEl>
                                          <p:spTgt spid="16"/>
                                        </p:tgtEl>
                                        <p:attrNameLst>
                                          <p:attrName>ppt_y</p:attrName>
                                        </p:attrNameLst>
                                      </p:cBhvr>
                                      <p:tavLst>
                                        <p:tav tm="0">
                                          <p:val>
                                            <p:strVal val="#ppt_y+.05"/>
                                          </p:val>
                                        </p:tav>
                                        <p:tav tm="100000">
                                          <p:val>
                                            <p:strVal val="#ppt_y"/>
                                          </p:val>
                                        </p:tav>
                                      </p:tavLst>
                                    </p:anim>
                                  </p:childTnLst>
                                </p:cTn>
                              </p:par>
                              <p:par>
                                <p:cTn id="71" presetID="42" presetClass="entr" presetSubtype="0" fill="hold" grpId="0" nodeType="withEffect">
                                  <p:stCondLst>
                                    <p:cond delay="620"/>
                                  </p:stCondLst>
                                  <p:childTnLst>
                                    <p:set>
                                      <p:cBhvr>
                                        <p:cTn id="72" dur="1" fill="hold">
                                          <p:stCondLst>
                                            <p:cond delay="0"/>
                                          </p:stCondLst>
                                        </p:cTn>
                                        <p:tgtEl>
                                          <p:spTgt spid="17"/>
                                        </p:tgtEl>
                                        <p:attrNameLst>
                                          <p:attrName>style.visibility</p:attrName>
                                        </p:attrNameLst>
                                      </p:cBhvr>
                                      <p:to>
                                        <p:strVal val="visible"/>
                                      </p:to>
                                    </p:set>
                                    <p:animEffect transition="in" filter="fade">
                                      <p:cBhvr>
                                        <p:cTn id="73" dur="650"/>
                                        <p:tgtEl>
                                          <p:spTgt spid="17"/>
                                        </p:tgtEl>
                                      </p:cBhvr>
                                    </p:animEffect>
                                    <p:anim calcmode="lin" valueType="num">
                                      <p:cBhvr>
                                        <p:cTn id="74" dur="650" fill="hold"/>
                                        <p:tgtEl>
                                          <p:spTgt spid="17"/>
                                        </p:tgtEl>
                                        <p:attrNameLst>
                                          <p:attrName>ppt_x</p:attrName>
                                        </p:attrNameLst>
                                      </p:cBhvr>
                                      <p:tavLst>
                                        <p:tav tm="0">
                                          <p:val>
                                            <p:strVal val="#ppt_x"/>
                                          </p:val>
                                        </p:tav>
                                        <p:tav tm="100000">
                                          <p:val>
                                            <p:strVal val="#ppt_x"/>
                                          </p:val>
                                        </p:tav>
                                      </p:tavLst>
                                    </p:anim>
                                    <p:anim calcmode="lin" valueType="num">
                                      <p:cBhvr>
                                        <p:cTn id="75" dur="650" fill="hold"/>
                                        <p:tgtEl>
                                          <p:spTgt spid="17"/>
                                        </p:tgtEl>
                                        <p:attrNameLst>
                                          <p:attrName>ppt_y</p:attrName>
                                        </p:attrNameLst>
                                      </p:cBhvr>
                                      <p:tavLst>
                                        <p:tav tm="0">
                                          <p:val>
                                            <p:strVal val="#ppt_y+.05"/>
                                          </p:val>
                                        </p:tav>
                                        <p:tav tm="100000">
                                          <p:val>
                                            <p:strVal val="#ppt_y"/>
                                          </p:val>
                                        </p:tav>
                                      </p:tavLst>
                                    </p:anim>
                                  </p:childTnLst>
                                </p:cTn>
                              </p:par>
                              <p:par>
                                <p:cTn id="76" presetID="42" presetClass="entr" presetSubtype="0" fill="hold" grpId="0" nodeType="withEffect">
                                  <p:stCondLst>
                                    <p:cond delay="620"/>
                                  </p:stCondLst>
                                  <p:childTnLst>
                                    <p:set>
                                      <p:cBhvr>
                                        <p:cTn id="77" dur="1" fill="hold">
                                          <p:stCondLst>
                                            <p:cond delay="0"/>
                                          </p:stCondLst>
                                        </p:cTn>
                                        <p:tgtEl>
                                          <p:spTgt spid="18"/>
                                        </p:tgtEl>
                                        <p:attrNameLst>
                                          <p:attrName>style.visibility</p:attrName>
                                        </p:attrNameLst>
                                      </p:cBhvr>
                                      <p:to>
                                        <p:strVal val="visible"/>
                                      </p:to>
                                    </p:set>
                                    <p:animEffect transition="in" filter="fade">
                                      <p:cBhvr>
                                        <p:cTn id="78" dur="650"/>
                                        <p:tgtEl>
                                          <p:spTgt spid="18"/>
                                        </p:tgtEl>
                                      </p:cBhvr>
                                    </p:animEffect>
                                    <p:anim calcmode="lin" valueType="num">
                                      <p:cBhvr>
                                        <p:cTn id="79" dur="650" fill="hold"/>
                                        <p:tgtEl>
                                          <p:spTgt spid="18"/>
                                        </p:tgtEl>
                                        <p:attrNameLst>
                                          <p:attrName>ppt_x</p:attrName>
                                        </p:attrNameLst>
                                      </p:cBhvr>
                                      <p:tavLst>
                                        <p:tav tm="0">
                                          <p:val>
                                            <p:strVal val="#ppt_x"/>
                                          </p:val>
                                        </p:tav>
                                        <p:tav tm="100000">
                                          <p:val>
                                            <p:strVal val="#ppt_x"/>
                                          </p:val>
                                        </p:tav>
                                      </p:tavLst>
                                    </p:anim>
                                    <p:anim calcmode="lin" valueType="num">
                                      <p:cBhvr>
                                        <p:cTn id="80" dur="650" fill="hold"/>
                                        <p:tgtEl>
                                          <p:spTgt spid="18"/>
                                        </p:tgtEl>
                                        <p:attrNameLst>
                                          <p:attrName>ppt_y</p:attrName>
                                        </p:attrNameLst>
                                      </p:cBhvr>
                                      <p:tavLst>
                                        <p:tav tm="0">
                                          <p:val>
                                            <p:strVal val="#ppt_y+.05"/>
                                          </p:val>
                                        </p:tav>
                                        <p:tav tm="100000">
                                          <p:val>
                                            <p:strVal val="#ppt_y"/>
                                          </p:val>
                                        </p:tav>
                                      </p:tavLst>
                                    </p:anim>
                                  </p:childTnLst>
                                </p:cTn>
                              </p:par>
                              <p:par>
                                <p:cTn id="81" presetID="42" presetClass="entr" presetSubtype="0" fill="hold" grpId="0" nodeType="withEffect">
                                  <p:stCondLst>
                                    <p:cond delay="620"/>
                                  </p:stCondLst>
                                  <p:childTnLst>
                                    <p:set>
                                      <p:cBhvr>
                                        <p:cTn id="82" dur="1" fill="hold">
                                          <p:stCondLst>
                                            <p:cond delay="0"/>
                                          </p:stCondLst>
                                        </p:cTn>
                                        <p:tgtEl>
                                          <p:spTgt spid="19"/>
                                        </p:tgtEl>
                                        <p:attrNameLst>
                                          <p:attrName>style.visibility</p:attrName>
                                        </p:attrNameLst>
                                      </p:cBhvr>
                                      <p:to>
                                        <p:strVal val="visible"/>
                                      </p:to>
                                    </p:set>
                                    <p:animEffect transition="in" filter="fade">
                                      <p:cBhvr>
                                        <p:cTn id="83" dur="650"/>
                                        <p:tgtEl>
                                          <p:spTgt spid="19"/>
                                        </p:tgtEl>
                                      </p:cBhvr>
                                    </p:animEffect>
                                    <p:anim calcmode="lin" valueType="num">
                                      <p:cBhvr>
                                        <p:cTn id="84" dur="650" fill="hold"/>
                                        <p:tgtEl>
                                          <p:spTgt spid="19"/>
                                        </p:tgtEl>
                                        <p:attrNameLst>
                                          <p:attrName>ppt_x</p:attrName>
                                        </p:attrNameLst>
                                      </p:cBhvr>
                                      <p:tavLst>
                                        <p:tav tm="0">
                                          <p:val>
                                            <p:strVal val="#ppt_x"/>
                                          </p:val>
                                        </p:tav>
                                        <p:tav tm="100000">
                                          <p:val>
                                            <p:strVal val="#ppt_x"/>
                                          </p:val>
                                        </p:tav>
                                      </p:tavLst>
                                    </p:anim>
                                    <p:anim calcmode="lin" valueType="num">
                                      <p:cBhvr>
                                        <p:cTn id="85" dur="650" fill="hold"/>
                                        <p:tgtEl>
                                          <p:spTgt spid="19"/>
                                        </p:tgtEl>
                                        <p:attrNameLst>
                                          <p:attrName>ppt_y</p:attrName>
                                        </p:attrNameLst>
                                      </p:cBhvr>
                                      <p:tavLst>
                                        <p:tav tm="0">
                                          <p:val>
                                            <p:strVal val="#ppt_y+.05"/>
                                          </p:val>
                                        </p:tav>
                                        <p:tav tm="100000">
                                          <p:val>
                                            <p:strVal val="#ppt_y"/>
                                          </p:val>
                                        </p:tav>
                                      </p:tavLst>
                                    </p:anim>
                                  </p:childTnLst>
                                </p:cTn>
                              </p:par>
                              <p:par>
                                <p:cTn id="86" presetID="42" presetClass="entr" presetSubtype="0" fill="hold" grpId="0" nodeType="withEffect">
                                  <p:stCondLst>
                                    <p:cond delay="620"/>
                                  </p:stCondLst>
                                  <p:childTnLst>
                                    <p:set>
                                      <p:cBhvr>
                                        <p:cTn id="87" dur="1" fill="hold">
                                          <p:stCondLst>
                                            <p:cond delay="0"/>
                                          </p:stCondLst>
                                        </p:cTn>
                                        <p:tgtEl>
                                          <p:spTgt spid="20"/>
                                        </p:tgtEl>
                                        <p:attrNameLst>
                                          <p:attrName>style.visibility</p:attrName>
                                        </p:attrNameLst>
                                      </p:cBhvr>
                                      <p:to>
                                        <p:strVal val="visible"/>
                                      </p:to>
                                    </p:set>
                                    <p:animEffect transition="in" filter="fade">
                                      <p:cBhvr>
                                        <p:cTn id="88" dur="650"/>
                                        <p:tgtEl>
                                          <p:spTgt spid="20"/>
                                        </p:tgtEl>
                                      </p:cBhvr>
                                    </p:animEffect>
                                    <p:anim calcmode="lin" valueType="num">
                                      <p:cBhvr>
                                        <p:cTn id="89" dur="650" fill="hold"/>
                                        <p:tgtEl>
                                          <p:spTgt spid="20"/>
                                        </p:tgtEl>
                                        <p:attrNameLst>
                                          <p:attrName>ppt_x</p:attrName>
                                        </p:attrNameLst>
                                      </p:cBhvr>
                                      <p:tavLst>
                                        <p:tav tm="0">
                                          <p:val>
                                            <p:strVal val="#ppt_x"/>
                                          </p:val>
                                        </p:tav>
                                        <p:tav tm="100000">
                                          <p:val>
                                            <p:strVal val="#ppt_x"/>
                                          </p:val>
                                        </p:tav>
                                      </p:tavLst>
                                    </p:anim>
                                    <p:anim calcmode="lin" valueType="num">
                                      <p:cBhvr>
                                        <p:cTn id="90" dur="650" fill="hold"/>
                                        <p:tgtEl>
                                          <p:spTgt spid="20"/>
                                        </p:tgtEl>
                                        <p:attrNameLst>
                                          <p:attrName>ppt_y</p:attrName>
                                        </p:attrNameLst>
                                      </p:cBhvr>
                                      <p:tavLst>
                                        <p:tav tm="0">
                                          <p:val>
                                            <p:strVal val="#ppt_y+.05"/>
                                          </p:val>
                                        </p:tav>
                                        <p:tav tm="100000">
                                          <p:val>
                                            <p:strVal val="#ppt_y"/>
                                          </p:val>
                                        </p:tav>
                                      </p:tavLst>
                                    </p:anim>
                                  </p:childTnLst>
                                </p:cTn>
                              </p:par>
                              <p:par>
                                <p:cTn id="91" presetID="42" presetClass="entr" presetSubtype="0" fill="hold" grpId="0" nodeType="withEffect">
                                  <p:stCondLst>
                                    <p:cond delay="620"/>
                                  </p:stCondLst>
                                  <p:childTnLst>
                                    <p:set>
                                      <p:cBhvr>
                                        <p:cTn id="92" dur="1" fill="hold">
                                          <p:stCondLst>
                                            <p:cond delay="0"/>
                                          </p:stCondLst>
                                        </p:cTn>
                                        <p:tgtEl>
                                          <p:spTgt spid="21"/>
                                        </p:tgtEl>
                                        <p:attrNameLst>
                                          <p:attrName>style.visibility</p:attrName>
                                        </p:attrNameLst>
                                      </p:cBhvr>
                                      <p:to>
                                        <p:strVal val="visible"/>
                                      </p:to>
                                    </p:set>
                                    <p:animEffect transition="in" filter="fade">
                                      <p:cBhvr>
                                        <p:cTn id="93" dur="650"/>
                                        <p:tgtEl>
                                          <p:spTgt spid="21"/>
                                        </p:tgtEl>
                                      </p:cBhvr>
                                    </p:animEffect>
                                    <p:anim calcmode="lin" valueType="num">
                                      <p:cBhvr>
                                        <p:cTn id="94" dur="650" fill="hold"/>
                                        <p:tgtEl>
                                          <p:spTgt spid="21"/>
                                        </p:tgtEl>
                                        <p:attrNameLst>
                                          <p:attrName>ppt_x</p:attrName>
                                        </p:attrNameLst>
                                      </p:cBhvr>
                                      <p:tavLst>
                                        <p:tav tm="0">
                                          <p:val>
                                            <p:strVal val="#ppt_x"/>
                                          </p:val>
                                        </p:tav>
                                        <p:tav tm="100000">
                                          <p:val>
                                            <p:strVal val="#ppt_x"/>
                                          </p:val>
                                        </p:tav>
                                      </p:tavLst>
                                    </p:anim>
                                    <p:anim calcmode="lin" valueType="num">
                                      <p:cBhvr>
                                        <p:cTn id="95" dur="650" fill="hold"/>
                                        <p:tgtEl>
                                          <p:spTgt spid="21"/>
                                        </p:tgtEl>
                                        <p:attrNameLst>
                                          <p:attrName>ppt_y</p:attrName>
                                        </p:attrNameLst>
                                      </p:cBhvr>
                                      <p:tavLst>
                                        <p:tav tm="0">
                                          <p:val>
                                            <p:strVal val="#ppt_y+.05"/>
                                          </p:val>
                                        </p:tav>
                                        <p:tav tm="100000">
                                          <p:val>
                                            <p:strVal val="#ppt_y"/>
                                          </p:val>
                                        </p:tav>
                                      </p:tavLst>
                                    </p:anim>
                                  </p:childTnLst>
                                </p:cTn>
                              </p:par>
                              <p:par>
                                <p:cTn id="96" presetID="42" presetClass="entr" presetSubtype="0" fill="hold" grpId="0" nodeType="withEffect">
                                  <p:stCondLst>
                                    <p:cond delay="620"/>
                                  </p:stCondLst>
                                  <p:childTnLst>
                                    <p:set>
                                      <p:cBhvr>
                                        <p:cTn id="97" dur="1" fill="hold">
                                          <p:stCondLst>
                                            <p:cond delay="0"/>
                                          </p:stCondLst>
                                        </p:cTn>
                                        <p:tgtEl>
                                          <p:spTgt spid="22"/>
                                        </p:tgtEl>
                                        <p:attrNameLst>
                                          <p:attrName>style.visibility</p:attrName>
                                        </p:attrNameLst>
                                      </p:cBhvr>
                                      <p:to>
                                        <p:strVal val="visible"/>
                                      </p:to>
                                    </p:set>
                                    <p:animEffect transition="in" filter="fade">
                                      <p:cBhvr>
                                        <p:cTn id="98" dur="650"/>
                                        <p:tgtEl>
                                          <p:spTgt spid="22"/>
                                        </p:tgtEl>
                                      </p:cBhvr>
                                    </p:animEffect>
                                    <p:anim calcmode="lin" valueType="num">
                                      <p:cBhvr>
                                        <p:cTn id="99" dur="650" fill="hold"/>
                                        <p:tgtEl>
                                          <p:spTgt spid="22"/>
                                        </p:tgtEl>
                                        <p:attrNameLst>
                                          <p:attrName>ppt_x</p:attrName>
                                        </p:attrNameLst>
                                      </p:cBhvr>
                                      <p:tavLst>
                                        <p:tav tm="0">
                                          <p:val>
                                            <p:strVal val="#ppt_x"/>
                                          </p:val>
                                        </p:tav>
                                        <p:tav tm="100000">
                                          <p:val>
                                            <p:strVal val="#ppt_x"/>
                                          </p:val>
                                        </p:tav>
                                      </p:tavLst>
                                    </p:anim>
                                    <p:anim calcmode="lin" valueType="num">
                                      <p:cBhvr>
                                        <p:cTn id="100" dur="650" fill="hold"/>
                                        <p:tgtEl>
                                          <p:spTgt spid="22"/>
                                        </p:tgtEl>
                                        <p:attrNameLst>
                                          <p:attrName>ppt_y</p:attrName>
                                        </p:attrNameLst>
                                      </p:cBhvr>
                                      <p:tavLst>
                                        <p:tav tm="0">
                                          <p:val>
                                            <p:strVal val="#ppt_y+.05"/>
                                          </p:val>
                                        </p:tav>
                                        <p:tav tm="100000">
                                          <p:val>
                                            <p:strVal val="#ppt_y"/>
                                          </p:val>
                                        </p:tav>
                                      </p:tavLst>
                                    </p:anim>
                                  </p:childTnLst>
                                </p:cTn>
                              </p:par>
                              <p:par>
                                <p:cTn id="101" presetID="42" presetClass="entr" presetSubtype="0" fill="hold" grpId="0" nodeType="withEffect">
                                  <p:stCondLst>
                                    <p:cond delay="780"/>
                                  </p:stCondLst>
                                  <p:childTnLst>
                                    <p:set>
                                      <p:cBhvr>
                                        <p:cTn id="102" dur="1" fill="hold">
                                          <p:stCondLst>
                                            <p:cond delay="0"/>
                                          </p:stCondLst>
                                        </p:cTn>
                                        <p:tgtEl>
                                          <p:spTgt spid="23"/>
                                        </p:tgtEl>
                                        <p:attrNameLst>
                                          <p:attrName>style.visibility</p:attrName>
                                        </p:attrNameLst>
                                      </p:cBhvr>
                                      <p:to>
                                        <p:strVal val="visible"/>
                                      </p:to>
                                    </p:set>
                                    <p:animEffect transition="in" filter="fade">
                                      <p:cBhvr>
                                        <p:cTn id="103" dur="650"/>
                                        <p:tgtEl>
                                          <p:spTgt spid="23"/>
                                        </p:tgtEl>
                                      </p:cBhvr>
                                    </p:animEffect>
                                    <p:anim calcmode="lin" valueType="num">
                                      <p:cBhvr>
                                        <p:cTn id="104" dur="650" fill="hold"/>
                                        <p:tgtEl>
                                          <p:spTgt spid="23"/>
                                        </p:tgtEl>
                                        <p:attrNameLst>
                                          <p:attrName>ppt_x</p:attrName>
                                        </p:attrNameLst>
                                      </p:cBhvr>
                                      <p:tavLst>
                                        <p:tav tm="0">
                                          <p:val>
                                            <p:strVal val="#ppt_x"/>
                                          </p:val>
                                        </p:tav>
                                        <p:tav tm="100000">
                                          <p:val>
                                            <p:strVal val="#ppt_x"/>
                                          </p:val>
                                        </p:tav>
                                      </p:tavLst>
                                    </p:anim>
                                    <p:anim calcmode="lin" valueType="num">
                                      <p:cBhvr>
                                        <p:cTn id="105" dur="650" fill="hold"/>
                                        <p:tgtEl>
                                          <p:spTgt spid="23"/>
                                        </p:tgtEl>
                                        <p:attrNameLst>
                                          <p:attrName>ppt_y</p:attrName>
                                        </p:attrNameLst>
                                      </p:cBhvr>
                                      <p:tavLst>
                                        <p:tav tm="0">
                                          <p:val>
                                            <p:strVal val="#ppt_y+.05"/>
                                          </p:val>
                                        </p:tav>
                                        <p:tav tm="100000">
                                          <p:val>
                                            <p:strVal val="#ppt_y"/>
                                          </p:val>
                                        </p:tav>
                                      </p:tavLst>
                                    </p:anim>
                                  </p:childTnLst>
                                </p:cTn>
                              </p:par>
                              <p:par>
                                <p:cTn id="106" presetID="42" presetClass="entr" presetSubtype="0" fill="hold" grpId="0" nodeType="withEffect">
                                  <p:stCondLst>
                                    <p:cond delay="780"/>
                                  </p:stCondLst>
                                  <p:childTnLst>
                                    <p:set>
                                      <p:cBhvr>
                                        <p:cTn id="107" dur="1" fill="hold">
                                          <p:stCondLst>
                                            <p:cond delay="0"/>
                                          </p:stCondLst>
                                        </p:cTn>
                                        <p:tgtEl>
                                          <p:spTgt spid="24"/>
                                        </p:tgtEl>
                                        <p:attrNameLst>
                                          <p:attrName>style.visibility</p:attrName>
                                        </p:attrNameLst>
                                      </p:cBhvr>
                                      <p:to>
                                        <p:strVal val="visible"/>
                                      </p:to>
                                    </p:set>
                                    <p:animEffect transition="in" filter="fade">
                                      <p:cBhvr>
                                        <p:cTn id="108" dur="650"/>
                                        <p:tgtEl>
                                          <p:spTgt spid="24"/>
                                        </p:tgtEl>
                                      </p:cBhvr>
                                    </p:animEffect>
                                    <p:anim calcmode="lin" valueType="num">
                                      <p:cBhvr>
                                        <p:cTn id="109" dur="650" fill="hold"/>
                                        <p:tgtEl>
                                          <p:spTgt spid="24"/>
                                        </p:tgtEl>
                                        <p:attrNameLst>
                                          <p:attrName>ppt_x</p:attrName>
                                        </p:attrNameLst>
                                      </p:cBhvr>
                                      <p:tavLst>
                                        <p:tav tm="0">
                                          <p:val>
                                            <p:strVal val="#ppt_x"/>
                                          </p:val>
                                        </p:tav>
                                        <p:tav tm="100000">
                                          <p:val>
                                            <p:strVal val="#ppt_x"/>
                                          </p:val>
                                        </p:tav>
                                      </p:tavLst>
                                    </p:anim>
                                    <p:anim calcmode="lin" valueType="num">
                                      <p:cBhvr>
                                        <p:cTn id="110" dur="650" fill="hold"/>
                                        <p:tgtEl>
                                          <p:spTgt spid="24"/>
                                        </p:tgtEl>
                                        <p:attrNameLst>
                                          <p:attrName>ppt_y</p:attrName>
                                        </p:attrNameLst>
                                      </p:cBhvr>
                                      <p:tavLst>
                                        <p:tav tm="0">
                                          <p:val>
                                            <p:strVal val="#ppt_y+.05"/>
                                          </p:val>
                                        </p:tav>
                                        <p:tav tm="100000">
                                          <p:val>
                                            <p:strVal val="#ppt_y"/>
                                          </p:val>
                                        </p:tav>
                                      </p:tavLst>
                                    </p:anim>
                                  </p:childTnLst>
                                </p:cTn>
                              </p:par>
                              <p:par>
                                <p:cTn id="111" presetID="42" presetClass="entr" presetSubtype="0" fill="hold" grpId="0" nodeType="withEffect">
                                  <p:stCondLst>
                                    <p:cond delay="780"/>
                                  </p:stCondLst>
                                  <p:childTnLst>
                                    <p:set>
                                      <p:cBhvr>
                                        <p:cTn id="112" dur="1" fill="hold">
                                          <p:stCondLst>
                                            <p:cond delay="0"/>
                                          </p:stCondLst>
                                        </p:cTn>
                                        <p:tgtEl>
                                          <p:spTgt spid="25"/>
                                        </p:tgtEl>
                                        <p:attrNameLst>
                                          <p:attrName>style.visibility</p:attrName>
                                        </p:attrNameLst>
                                      </p:cBhvr>
                                      <p:to>
                                        <p:strVal val="visible"/>
                                      </p:to>
                                    </p:set>
                                    <p:animEffect transition="in" filter="fade">
                                      <p:cBhvr>
                                        <p:cTn id="113" dur="650"/>
                                        <p:tgtEl>
                                          <p:spTgt spid="25"/>
                                        </p:tgtEl>
                                      </p:cBhvr>
                                    </p:animEffect>
                                    <p:anim calcmode="lin" valueType="num">
                                      <p:cBhvr>
                                        <p:cTn id="114" dur="650" fill="hold"/>
                                        <p:tgtEl>
                                          <p:spTgt spid="25"/>
                                        </p:tgtEl>
                                        <p:attrNameLst>
                                          <p:attrName>ppt_x</p:attrName>
                                        </p:attrNameLst>
                                      </p:cBhvr>
                                      <p:tavLst>
                                        <p:tav tm="0">
                                          <p:val>
                                            <p:strVal val="#ppt_x"/>
                                          </p:val>
                                        </p:tav>
                                        <p:tav tm="100000">
                                          <p:val>
                                            <p:strVal val="#ppt_x"/>
                                          </p:val>
                                        </p:tav>
                                      </p:tavLst>
                                    </p:anim>
                                    <p:anim calcmode="lin" valueType="num">
                                      <p:cBhvr>
                                        <p:cTn id="115" dur="650" fill="hold"/>
                                        <p:tgtEl>
                                          <p:spTgt spid="25"/>
                                        </p:tgtEl>
                                        <p:attrNameLst>
                                          <p:attrName>ppt_y</p:attrName>
                                        </p:attrNameLst>
                                      </p:cBhvr>
                                      <p:tavLst>
                                        <p:tav tm="0">
                                          <p:val>
                                            <p:strVal val="#ppt_y+.05"/>
                                          </p:val>
                                        </p:tav>
                                        <p:tav tm="100000">
                                          <p:val>
                                            <p:strVal val="#ppt_y"/>
                                          </p:val>
                                        </p:tav>
                                      </p:tavLst>
                                    </p:anim>
                                  </p:childTnLst>
                                </p:cTn>
                              </p:par>
                              <p:par>
                                <p:cTn id="116" presetID="42" presetClass="entr" presetSubtype="0" fill="hold" grpId="0" nodeType="withEffect">
                                  <p:stCondLst>
                                    <p:cond delay="780"/>
                                  </p:stCondLst>
                                  <p:childTnLst>
                                    <p:set>
                                      <p:cBhvr>
                                        <p:cTn id="117" dur="1" fill="hold">
                                          <p:stCondLst>
                                            <p:cond delay="0"/>
                                          </p:stCondLst>
                                        </p:cTn>
                                        <p:tgtEl>
                                          <p:spTgt spid="26"/>
                                        </p:tgtEl>
                                        <p:attrNameLst>
                                          <p:attrName>style.visibility</p:attrName>
                                        </p:attrNameLst>
                                      </p:cBhvr>
                                      <p:to>
                                        <p:strVal val="visible"/>
                                      </p:to>
                                    </p:set>
                                    <p:animEffect transition="in" filter="fade">
                                      <p:cBhvr>
                                        <p:cTn id="118" dur="650"/>
                                        <p:tgtEl>
                                          <p:spTgt spid="26"/>
                                        </p:tgtEl>
                                      </p:cBhvr>
                                    </p:animEffect>
                                    <p:anim calcmode="lin" valueType="num">
                                      <p:cBhvr>
                                        <p:cTn id="119" dur="650" fill="hold"/>
                                        <p:tgtEl>
                                          <p:spTgt spid="26"/>
                                        </p:tgtEl>
                                        <p:attrNameLst>
                                          <p:attrName>ppt_x</p:attrName>
                                        </p:attrNameLst>
                                      </p:cBhvr>
                                      <p:tavLst>
                                        <p:tav tm="0">
                                          <p:val>
                                            <p:strVal val="#ppt_x"/>
                                          </p:val>
                                        </p:tav>
                                        <p:tav tm="100000">
                                          <p:val>
                                            <p:strVal val="#ppt_x"/>
                                          </p:val>
                                        </p:tav>
                                      </p:tavLst>
                                    </p:anim>
                                    <p:anim calcmode="lin" valueType="num">
                                      <p:cBhvr>
                                        <p:cTn id="120" dur="650" fill="hold"/>
                                        <p:tgtEl>
                                          <p:spTgt spid="26"/>
                                        </p:tgtEl>
                                        <p:attrNameLst>
                                          <p:attrName>ppt_y</p:attrName>
                                        </p:attrNameLst>
                                      </p:cBhvr>
                                      <p:tavLst>
                                        <p:tav tm="0">
                                          <p:val>
                                            <p:strVal val="#ppt_y+.05"/>
                                          </p:val>
                                        </p:tav>
                                        <p:tav tm="100000">
                                          <p:val>
                                            <p:strVal val="#ppt_y"/>
                                          </p:val>
                                        </p:tav>
                                      </p:tavLst>
                                    </p:anim>
                                  </p:childTnLst>
                                </p:cTn>
                              </p:par>
                              <p:par>
                                <p:cTn id="121" presetID="42" presetClass="entr" presetSubtype="0" fill="hold" grpId="0" nodeType="withEffect">
                                  <p:stCondLst>
                                    <p:cond delay="780"/>
                                  </p:stCondLst>
                                  <p:childTnLst>
                                    <p:set>
                                      <p:cBhvr>
                                        <p:cTn id="122" dur="1" fill="hold">
                                          <p:stCondLst>
                                            <p:cond delay="0"/>
                                          </p:stCondLst>
                                        </p:cTn>
                                        <p:tgtEl>
                                          <p:spTgt spid="27"/>
                                        </p:tgtEl>
                                        <p:attrNameLst>
                                          <p:attrName>style.visibility</p:attrName>
                                        </p:attrNameLst>
                                      </p:cBhvr>
                                      <p:to>
                                        <p:strVal val="visible"/>
                                      </p:to>
                                    </p:set>
                                    <p:animEffect transition="in" filter="fade">
                                      <p:cBhvr>
                                        <p:cTn id="123" dur="650"/>
                                        <p:tgtEl>
                                          <p:spTgt spid="27"/>
                                        </p:tgtEl>
                                      </p:cBhvr>
                                    </p:animEffect>
                                    <p:anim calcmode="lin" valueType="num">
                                      <p:cBhvr>
                                        <p:cTn id="124" dur="650" fill="hold"/>
                                        <p:tgtEl>
                                          <p:spTgt spid="27"/>
                                        </p:tgtEl>
                                        <p:attrNameLst>
                                          <p:attrName>ppt_x</p:attrName>
                                        </p:attrNameLst>
                                      </p:cBhvr>
                                      <p:tavLst>
                                        <p:tav tm="0">
                                          <p:val>
                                            <p:strVal val="#ppt_x"/>
                                          </p:val>
                                        </p:tav>
                                        <p:tav tm="100000">
                                          <p:val>
                                            <p:strVal val="#ppt_x"/>
                                          </p:val>
                                        </p:tav>
                                      </p:tavLst>
                                    </p:anim>
                                    <p:anim calcmode="lin" valueType="num">
                                      <p:cBhvr>
                                        <p:cTn id="125" dur="650" fill="hold"/>
                                        <p:tgtEl>
                                          <p:spTgt spid="27"/>
                                        </p:tgtEl>
                                        <p:attrNameLst>
                                          <p:attrName>ppt_y</p:attrName>
                                        </p:attrNameLst>
                                      </p:cBhvr>
                                      <p:tavLst>
                                        <p:tav tm="0">
                                          <p:val>
                                            <p:strVal val="#ppt_y+.05"/>
                                          </p:val>
                                        </p:tav>
                                        <p:tav tm="100000">
                                          <p:val>
                                            <p:strVal val="#ppt_y"/>
                                          </p:val>
                                        </p:tav>
                                      </p:tavLst>
                                    </p:anim>
                                  </p:childTnLst>
                                </p:cTn>
                              </p:par>
                              <p:par>
                                <p:cTn id="126" presetID="42" presetClass="entr" presetSubtype="0" fill="hold" grpId="0" nodeType="withEffect">
                                  <p:stCondLst>
                                    <p:cond delay="780"/>
                                  </p:stCondLst>
                                  <p:childTnLst>
                                    <p:set>
                                      <p:cBhvr>
                                        <p:cTn id="127" dur="1" fill="hold">
                                          <p:stCondLst>
                                            <p:cond delay="0"/>
                                          </p:stCondLst>
                                        </p:cTn>
                                        <p:tgtEl>
                                          <p:spTgt spid="28"/>
                                        </p:tgtEl>
                                        <p:attrNameLst>
                                          <p:attrName>style.visibility</p:attrName>
                                        </p:attrNameLst>
                                      </p:cBhvr>
                                      <p:to>
                                        <p:strVal val="visible"/>
                                      </p:to>
                                    </p:set>
                                    <p:animEffect transition="in" filter="fade">
                                      <p:cBhvr>
                                        <p:cTn id="128" dur="650"/>
                                        <p:tgtEl>
                                          <p:spTgt spid="28"/>
                                        </p:tgtEl>
                                      </p:cBhvr>
                                    </p:animEffect>
                                    <p:anim calcmode="lin" valueType="num">
                                      <p:cBhvr>
                                        <p:cTn id="129" dur="650" fill="hold"/>
                                        <p:tgtEl>
                                          <p:spTgt spid="28"/>
                                        </p:tgtEl>
                                        <p:attrNameLst>
                                          <p:attrName>ppt_x</p:attrName>
                                        </p:attrNameLst>
                                      </p:cBhvr>
                                      <p:tavLst>
                                        <p:tav tm="0">
                                          <p:val>
                                            <p:strVal val="#ppt_x"/>
                                          </p:val>
                                        </p:tav>
                                        <p:tav tm="100000">
                                          <p:val>
                                            <p:strVal val="#ppt_x"/>
                                          </p:val>
                                        </p:tav>
                                      </p:tavLst>
                                    </p:anim>
                                    <p:anim calcmode="lin" valueType="num">
                                      <p:cBhvr>
                                        <p:cTn id="130" dur="650" fill="hold"/>
                                        <p:tgtEl>
                                          <p:spTgt spid="28"/>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7" grpId="0" animBg="1"/>
      <p:bldP spid="8" grpId="0" animBg="1"/>
      <p:bldP spid="9" grpId="0" animBg="1"/>
      <p:bldP spid="10" grpId="0" animBg="1"/>
      <p:bldP spid="11" grpId="0" animBg="1"/>
      <p:bldP spid="13" grpId="0" animBg="1"/>
      <p:bldP spid="14" grpId="0" animBg="1"/>
      <p:bldP spid="15" grpId="0" animBg="1"/>
      <p:bldP spid="16" grpId="0" animBg="1"/>
      <p:bldP spid="17" grpId="0" animBg="1"/>
      <p:bldP spid="19" grpId="0" animBg="1"/>
      <p:bldP spid="20" grpId="0" animBg="1"/>
      <p:bldP spid="21" grpId="0" animBg="1"/>
      <p:bldP spid="22" grpId="0" animBg="1"/>
      <p:bldP spid="23" grpId="0" animBg="1"/>
      <p:bldP spid="25" grpId="0" animBg="1"/>
      <p:bldP spid="26" grpId="0" animBg="1"/>
      <p:bldP spid="27" grpId="0" animBg="1"/>
      <p:bldP spid="2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eyebrow-pill"/>
          <p:cNvSpPr/>
          <p:nvPr/>
        </p:nvSpPr>
        <p:spPr>
          <a:xfrm>
            <a:off x="548640" y="475488"/>
            <a:ext cx="1678838" cy="274320"/>
          </a:xfrm>
          <a:prstGeom prst="roundRect">
            <a:avLst>
              <a:gd name="adj" fmla="val 50000"/>
            </a:avLst>
          </a:prstGeom>
          <a:solidFill>
            <a:srgbClr val="2C2C2E"/>
          </a:solidFill>
          <a:ln/>
        </p:spPr>
      </p:sp>
      <p:sp>
        <p:nvSpPr>
          <p:cNvPr id="3" name="eyebrow"/>
          <p:cNvSpPr txBox="1"/>
          <p:nvPr/>
        </p:nvSpPr>
        <p:spPr>
          <a:xfrm>
            <a:off x="548640" y="475488"/>
            <a:ext cx="1678838" cy="274320"/>
          </a:xfrm>
          <a:prstGeom prst="rect">
            <a:avLst/>
          </a:prstGeom>
          <a:noFill/>
          <a:ln/>
        </p:spPr>
        <p:txBody>
          <a:bodyPr wrap="square" lIns="0" tIns="0" rIns="0" bIns="0" rtlCol="0" anchor="ctr"/>
          <a:lstStyle/>
          <a:p>
            <a:pPr algn="ctr" indent="0" marL="0">
              <a:buNone/>
            </a:pPr>
            <a:r>
              <a:rPr lang="en-US" sz="900" b="1" spc="160" kern="0" dirty="0">
                <a:solidFill>
                  <a:srgbClr val="A8A8AD"/>
                </a:solidFill>
                <a:latin typeface="Arial" pitchFamily="34" charset="0"/>
                <a:ea typeface="Arial" pitchFamily="34" charset="-122"/>
                <a:cs typeface="Arial" pitchFamily="34" charset="-120"/>
              </a:rPr>
              <a:t>BUILT TO BE RIGHT</a:t>
            </a:r>
            <a:endParaRPr lang="en-US" sz="900" dirty="0"/>
          </a:p>
        </p:txBody>
      </p:sp>
      <p:sp>
        <p:nvSpPr>
          <p:cNvPr id="4" name="Text 1"/>
          <p:cNvSpPr/>
          <p:nvPr>
            <p:ph idx="101" type="title" hasCustomPrompt="1"/>
          </p:nvPr>
        </p:nvSpPr>
        <p:spPr>
          <a:xfrm>
            <a:off x="548640" y="896112"/>
            <a:ext cx="6583680" cy="1207008"/>
          </a:xfrm>
          <a:prstGeom prst="rect">
            <a:avLst/>
          </a:prstGeom>
          <a:noFill/>
          <a:ln/>
        </p:spPr>
        <p:txBody>
          <a:bodyPr wrap="square" lIns="0" tIns="0" rIns="0" bIns="0" rtlCol="0" anchor="t"/>
          <a:lstStyle/>
          <a:p>
            <a:pPr algn="l" indent="0" marL="0">
              <a:buNone/>
            </a:pPr>
            <a:r>
              <a:rPr lang="en-US" sz="3400" b="1" dirty="0">
                <a:solidFill>
                  <a:srgbClr val="F5F5F7"/>
                </a:solidFill>
                <a:latin typeface="Arial" pitchFamily="34" charset="0"/>
                <a:ea typeface="Arial" pitchFamily="34" charset="-122"/>
                <a:cs typeface="Arial" pitchFamily="34" charset="-120"/>
              </a:rPr>
              <a:t>Checked</a:t>
            </a:r>
            <a:endParaRPr lang="en-US" sz="3400" dirty="0"/>
          </a:p>
          <a:p>
            <a:pPr algn="l" indent="0" marL="0">
              <a:buNone/>
            </a:pPr>
            <a:r>
              <a:rPr lang="en-US" sz="3400" dirty="0">
                <a:solidFill>
                  <a:srgbClr val="8E8E93"/>
                </a:solidFill>
                <a:latin typeface="Arial" pitchFamily="34" charset="0"/>
                <a:ea typeface="Arial" pitchFamily="34" charset="-122"/>
                <a:cs typeface="Arial" pitchFamily="34" charset="-120"/>
              </a:rPr>
              <a:t>at every step</a:t>
            </a:r>
            <a:endParaRPr lang="en-US" sz="3400" dirty="0"/>
          </a:p>
        </p:txBody>
      </p:sp>
      <p:sp>
        <p:nvSpPr>
          <p:cNvPr id="5" name="tile0"/>
          <p:cNvSpPr/>
          <p:nvPr/>
        </p:nvSpPr>
        <p:spPr>
          <a:xfrm>
            <a:off x="548640" y="2286000"/>
            <a:ext cx="3515258" cy="1874520"/>
          </a:xfrm>
          <a:prstGeom prst="roundRect">
            <a:avLst>
              <a:gd name="adj" fmla="val 7805"/>
            </a:avLst>
          </a:prstGeom>
          <a:solidFill>
            <a:srgbClr val="1C1C1E"/>
          </a:solidFill>
          <a:ln w="9525">
            <a:solidFill>
              <a:srgbClr val="2C2C2E"/>
            </a:solidFill>
            <a:prstDash val="solid"/>
          </a:ln>
        </p:spPr>
      </p:sp>
      <p:sp>
        <p:nvSpPr>
          <p:cNvPr id="6" name="dot-monitor"/>
          <p:cNvSpPr/>
          <p:nvPr/>
        </p:nvSpPr>
        <p:spPr>
          <a:xfrm>
            <a:off x="822960" y="2542032"/>
            <a:ext cx="457200" cy="457200"/>
          </a:xfrm>
          <a:prstGeom prst="ellipse">
            <a:avLst/>
          </a:prstGeom>
          <a:solidFill>
            <a:srgbClr val="2C2C2E"/>
          </a:solidFill>
          <a:ln/>
        </p:spPr>
      </p:sp>
      <p:pic>
        <p:nvPicPr>
          <p:cNvPr id="7" name="icon-monitor" descr="">    </p:cNvPr>
          <p:cNvPicPr>
            <a:picLocks noChangeAspect="1"/>
          </p:cNvPicPr>
          <p:nvPr/>
        </p:nvPicPr>
        <p:blipFill>
          <a:blip r:embed="rId1"/>
          <a:stretch>
            <a:fillRect/>
          </a:stretch>
        </p:blipFill>
        <p:spPr>
          <a:xfrm>
            <a:off x="928116" y="2647188"/>
            <a:ext cx="246888" cy="246888"/>
          </a:xfrm>
          <a:prstGeom prst="rect">
            <a:avLst/>
          </a:prstGeom>
        </p:spPr>
      </p:pic>
      <p:sp>
        <p:nvSpPr>
          <p:cNvPr id="8" name="n0"/>
          <p:cNvSpPr txBox="1"/>
          <p:nvPr/>
        </p:nvSpPr>
        <p:spPr>
          <a:xfrm>
            <a:off x="822960" y="3054096"/>
            <a:ext cx="2966618" cy="54864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1</a:t>
            </a:r>
            <a:endParaRPr lang="en-US" sz="3200" dirty="0"/>
          </a:p>
        </p:txBody>
      </p:sp>
      <p:sp>
        <p:nvSpPr>
          <p:cNvPr id="9" name="t0"/>
          <p:cNvSpPr txBox="1"/>
          <p:nvPr/>
        </p:nvSpPr>
        <p:spPr>
          <a:xfrm>
            <a:off x="822960" y="3602736"/>
            <a:ext cx="2966618" cy="475488"/>
          </a:xfrm>
          <a:prstGeom prst="rect">
            <a:avLst/>
          </a:prstGeom>
          <a:noFill/>
          <a:ln/>
        </p:spPr>
        <p:txBody>
          <a:bodyPr wrap="square" lIns="0" tIns="0" rIns="0" bIns="0" rtlCol="0" anchor="t"/>
          <a:lstStyle/>
          <a:p>
            <a:pPr indent="0" marL="0">
              <a:buNone/>
            </a:pPr>
            <a:r>
              <a:rPr lang="en-US" sz="1200" dirty="0">
                <a:solidFill>
                  <a:srgbClr val="A8A8AD"/>
                </a:solidFill>
                <a:latin typeface="Arial" pitchFamily="34" charset="0"/>
                <a:ea typeface="Arial" pitchFamily="34" charset="-122"/>
                <a:cs typeface="Arial" pitchFamily="34" charset="-120"/>
              </a:rPr>
              <a:t>file to open: no install, no server</a:t>
            </a:r>
            <a:endParaRPr lang="en-US" sz="1200" dirty="0"/>
          </a:p>
        </p:txBody>
      </p:sp>
      <p:sp>
        <p:nvSpPr>
          <p:cNvPr id="10" name="tile1"/>
          <p:cNvSpPr/>
          <p:nvPr/>
        </p:nvSpPr>
        <p:spPr>
          <a:xfrm>
            <a:off x="4338218" y="2286000"/>
            <a:ext cx="3515258" cy="1874520"/>
          </a:xfrm>
          <a:prstGeom prst="roundRect">
            <a:avLst>
              <a:gd name="adj" fmla="val 7805"/>
            </a:avLst>
          </a:prstGeom>
          <a:solidFill>
            <a:srgbClr val="1C1C1E"/>
          </a:solidFill>
          <a:ln w="9525">
            <a:solidFill>
              <a:srgbClr val="2C2C2E"/>
            </a:solidFill>
            <a:prstDash val="solid"/>
          </a:ln>
        </p:spPr>
      </p:sp>
      <p:sp>
        <p:nvSpPr>
          <p:cNvPr id="11" name="dot-up"/>
          <p:cNvSpPr/>
          <p:nvPr/>
        </p:nvSpPr>
        <p:spPr>
          <a:xfrm>
            <a:off x="4612538" y="2542032"/>
            <a:ext cx="457200" cy="457200"/>
          </a:xfrm>
          <a:prstGeom prst="ellipse">
            <a:avLst/>
          </a:prstGeom>
          <a:solidFill>
            <a:srgbClr val="2C2C2E"/>
          </a:solidFill>
          <a:ln/>
        </p:spPr>
      </p:sp>
      <p:pic>
        <p:nvPicPr>
          <p:cNvPr id="12" name="icon-up" descr="">    </p:cNvPr>
          <p:cNvPicPr>
            <a:picLocks noChangeAspect="1"/>
          </p:cNvPicPr>
          <p:nvPr/>
        </p:nvPicPr>
        <p:blipFill>
          <a:blip r:embed="rId2"/>
          <a:stretch>
            <a:fillRect/>
          </a:stretch>
        </p:blipFill>
        <p:spPr>
          <a:xfrm>
            <a:off x="4717694" y="2647188"/>
            <a:ext cx="246888" cy="246888"/>
          </a:xfrm>
          <a:prstGeom prst="rect">
            <a:avLst/>
          </a:prstGeom>
        </p:spPr>
      </p:pic>
      <p:sp>
        <p:nvSpPr>
          <p:cNvPr id="13" name="n1"/>
          <p:cNvSpPr txBox="1"/>
          <p:nvPr/>
        </p:nvSpPr>
        <p:spPr>
          <a:xfrm>
            <a:off x="4612538" y="3054096"/>
            <a:ext cx="2966618" cy="54864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4</a:t>
            </a:r>
            <a:endParaRPr lang="en-US" sz="3200" dirty="0"/>
          </a:p>
        </p:txBody>
      </p:sp>
      <p:sp>
        <p:nvSpPr>
          <p:cNvPr id="14" name="t1"/>
          <p:cNvSpPr txBox="1"/>
          <p:nvPr/>
        </p:nvSpPr>
        <p:spPr>
          <a:xfrm>
            <a:off x="4612538" y="3602736"/>
            <a:ext cx="2966618" cy="475488"/>
          </a:xfrm>
          <a:prstGeom prst="rect">
            <a:avLst/>
          </a:prstGeom>
          <a:noFill/>
          <a:ln/>
        </p:spPr>
        <p:txBody>
          <a:bodyPr wrap="square" lIns="0" tIns="0" rIns="0" bIns="0" rtlCol="0" anchor="t"/>
          <a:lstStyle/>
          <a:p>
            <a:pPr indent="0" marL="0">
              <a:buNone/>
            </a:pPr>
            <a:r>
              <a:rPr lang="en-US" sz="1200" dirty="0">
                <a:solidFill>
                  <a:srgbClr val="A8A8AD"/>
                </a:solidFill>
                <a:latin typeface="Arial" pitchFamily="34" charset="0"/>
                <a:ea typeface="Arial" pitchFamily="34" charset="-122"/>
                <a:cs typeface="Arial" pitchFamily="34" charset="-120"/>
              </a:rPr>
              <a:t>Genesys exports read in one drop</a:t>
            </a:r>
            <a:endParaRPr lang="en-US" sz="1200" dirty="0"/>
          </a:p>
        </p:txBody>
      </p:sp>
      <p:sp>
        <p:nvSpPr>
          <p:cNvPr id="15" name="tile2"/>
          <p:cNvSpPr/>
          <p:nvPr/>
        </p:nvSpPr>
        <p:spPr>
          <a:xfrm>
            <a:off x="8127797" y="2286000"/>
            <a:ext cx="3515258" cy="1874520"/>
          </a:xfrm>
          <a:prstGeom prst="roundRect">
            <a:avLst>
              <a:gd name="adj" fmla="val 7805"/>
            </a:avLst>
          </a:prstGeom>
          <a:solidFill>
            <a:srgbClr val="1C1C1E"/>
          </a:solidFill>
          <a:ln w="9525">
            <a:solidFill>
              <a:srgbClr val="2C2C2E"/>
            </a:solidFill>
            <a:prstDash val="solid"/>
          </a:ln>
        </p:spPr>
      </p:sp>
      <p:sp>
        <p:nvSpPr>
          <p:cNvPr id="16" name="dot-team"/>
          <p:cNvSpPr/>
          <p:nvPr/>
        </p:nvSpPr>
        <p:spPr>
          <a:xfrm>
            <a:off x="8402117" y="2542032"/>
            <a:ext cx="457200" cy="457200"/>
          </a:xfrm>
          <a:prstGeom prst="ellipse">
            <a:avLst/>
          </a:prstGeom>
          <a:solidFill>
            <a:srgbClr val="2C2C2E"/>
          </a:solidFill>
          <a:ln/>
        </p:spPr>
      </p:sp>
      <p:pic>
        <p:nvPicPr>
          <p:cNvPr id="17" name="icon-team" descr="">    </p:cNvPr>
          <p:cNvPicPr>
            <a:picLocks noChangeAspect="1"/>
          </p:cNvPicPr>
          <p:nvPr/>
        </p:nvPicPr>
        <p:blipFill>
          <a:blip r:embed="rId3"/>
          <a:stretch>
            <a:fillRect/>
          </a:stretch>
        </p:blipFill>
        <p:spPr>
          <a:xfrm>
            <a:off x="8507273" y="2647188"/>
            <a:ext cx="246888" cy="246888"/>
          </a:xfrm>
          <a:prstGeom prst="rect">
            <a:avLst/>
          </a:prstGeom>
        </p:spPr>
      </p:pic>
      <p:sp>
        <p:nvSpPr>
          <p:cNvPr id="18" name="n2"/>
          <p:cNvSpPr txBox="1"/>
          <p:nvPr/>
        </p:nvSpPr>
        <p:spPr>
          <a:xfrm>
            <a:off x="8402117" y="3054096"/>
            <a:ext cx="2966618" cy="54864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7</a:t>
            </a:r>
            <a:endParaRPr lang="en-US" sz="3200" dirty="0"/>
          </a:p>
        </p:txBody>
      </p:sp>
      <p:sp>
        <p:nvSpPr>
          <p:cNvPr id="19" name="t2"/>
          <p:cNvSpPr txBox="1"/>
          <p:nvPr/>
        </p:nvSpPr>
        <p:spPr>
          <a:xfrm>
            <a:off x="8402117" y="3602736"/>
            <a:ext cx="2966618" cy="475488"/>
          </a:xfrm>
          <a:prstGeom prst="rect">
            <a:avLst/>
          </a:prstGeom>
          <a:noFill/>
          <a:ln/>
        </p:spPr>
        <p:txBody>
          <a:bodyPr wrap="square" lIns="0" tIns="0" rIns="0" bIns="0" rtlCol="0" anchor="t"/>
          <a:lstStyle/>
          <a:p>
            <a:pPr indent="0" marL="0">
              <a:buNone/>
            </a:pPr>
            <a:r>
              <a:rPr lang="en-US" sz="1200" dirty="0">
                <a:solidFill>
                  <a:srgbClr val="A8A8AD"/>
                </a:solidFill>
                <a:latin typeface="Arial" pitchFamily="34" charset="0"/>
                <a:ea typeface="Arial" pitchFamily="34" charset="-122"/>
                <a:cs typeface="Arial" pitchFamily="34" charset="-120"/>
              </a:rPr>
              <a:t>roles, each with its own page</a:t>
            </a:r>
            <a:endParaRPr lang="en-US" sz="1200" dirty="0"/>
          </a:p>
        </p:txBody>
      </p:sp>
      <p:sp>
        <p:nvSpPr>
          <p:cNvPr id="20" name="tile3"/>
          <p:cNvSpPr/>
          <p:nvPr/>
        </p:nvSpPr>
        <p:spPr>
          <a:xfrm>
            <a:off x="548640" y="4389120"/>
            <a:ext cx="3515258" cy="1874520"/>
          </a:xfrm>
          <a:prstGeom prst="roundRect">
            <a:avLst>
              <a:gd name="adj" fmla="val 7805"/>
            </a:avLst>
          </a:prstGeom>
          <a:solidFill>
            <a:srgbClr val="1C1C1E"/>
          </a:solidFill>
          <a:ln w="9525">
            <a:solidFill>
              <a:srgbClr val="2C2C2E"/>
            </a:solidFill>
            <a:prstDash val="solid"/>
          </a:ln>
        </p:spPr>
      </p:sp>
      <p:sp>
        <p:nvSpPr>
          <p:cNvPr id="21" name="dot-check"/>
          <p:cNvSpPr/>
          <p:nvPr/>
        </p:nvSpPr>
        <p:spPr>
          <a:xfrm>
            <a:off x="822960" y="4645152"/>
            <a:ext cx="457200" cy="457200"/>
          </a:xfrm>
          <a:prstGeom prst="ellipse">
            <a:avLst/>
          </a:prstGeom>
          <a:solidFill>
            <a:srgbClr val="C4511A"/>
          </a:solidFill>
          <a:ln/>
        </p:spPr>
      </p:sp>
      <p:pic>
        <p:nvPicPr>
          <p:cNvPr id="22" name="icon-check" descr="">    </p:cNvPr>
          <p:cNvPicPr>
            <a:picLocks noChangeAspect="1"/>
          </p:cNvPicPr>
          <p:nvPr/>
        </p:nvPicPr>
        <p:blipFill>
          <a:blip r:embed="rId4"/>
          <a:stretch>
            <a:fillRect/>
          </a:stretch>
        </p:blipFill>
        <p:spPr>
          <a:xfrm>
            <a:off x="928116" y="4750308"/>
            <a:ext cx="246888" cy="246888"/>
          </a:xfrm>
          <a:prstGeom prst="rect">
            <a:avLst/>
          </a:prstGeom>
        </p:spPr>
      </p:pic>
      <p:sp>
        <p:nvSpPr>
          <p:cNvPr id="23" name="n3"/>
          <p:cNvSpPr txBox="1"/>
          <p:nvPr/>
        </p:nvSpPr>
        <p:spPr>
          <a:xfrm>
            <a:off x="822960" y="5157216"/>
            <a:ext cx="2966618" cy="54864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10,000</a:t>
            </a:r>
            <a:endParaRPr lang="en-US" sz="3200" dirty="0"/>
          </a:p>
        </p:txBody>
      </p:sp>
      <p:sp>
        <p:nvSpPr>
          <p:cNvPr id="24" name="t3"/>
          <p:cNvSpPr txBox="1"/>
          <p:nvPr/>
        </p:nvSpPr>
        <p:spPr>
          <a:xfrm>
            <a:off x="822960" y="5705856"/>
            <a:ext cx="2966618" cy="475488"/>
          </a:xfrm>
          <a:prstGeom prst="rect">
            <a:avLst/>
          </a:prstGeom>
          <a:noFill/>
          <a:ln/>
        </p:spPr>
        <p:txBody>
          <a:bodyPr wrap="square" lIns="0" tIns="0" rIns="0" bIns="0" rtlCol="0" anchor="t"/>
          <a:lstStyle/>
          <a:p>
            <a:pPr indent="0" marL="0">
              <a:buNone/>
            </a:pPr>
            <a:r>
              <a:rPr lang="en-US" sz="1200" dirty="0">
                <a:solidFill>
                  <a:srgbClr val="A8A8AD"/>
                </a:solidFill>
                <a:latin typeface="Arial" pitchFamily="34" charset="0"/>
                <a:ea typeface="Arial" pitchFamily="34" charset="-122"/>
                <a:cs typeface="Arial" pitchFamily="34" charset="-120"/>
              </a:rPr>
              <a:t>synthetic people checked against the previous engine</a:t>
            </a:r>
            <a:endParaRPr lang="en-US" sz="1200" dirty="0"/>
          </a:p>
        </p:txBody>
      </p:sp>
      <p:sp>
        <p:nvSpPr>
          <p:cNvPr id="25" name="tile4"/>
          <p:cNvSpPr/>
          <p:nvPr/>
        </p:nvSpPr>
        <p:spPr>
          <a:xfrm>
            <a:off x="4338218" y="4389120"/>
            <a:ext cx="3515258" cy="1874520"/>
          </a:xfrm>
          <a:prstGeom prst="roundRect">
            <a:avLst>
              <a:gd name="adj" fmla="val 7805"/>
            </a:avLst>
          </a:prstGeom>
          <a:solidFill>
            <a:srgbClr val="1C1C1E"/>
          </a:solidFill>
          <a:ln w="9525">
            <a:solidFill>
              <a:srgbClr val="2C2C2E"/>
            </a:solidFill>
            <a:prstDash val="solid"/>
          </a:ln>
        </p:spPr>
      </p:sp>
      <p:sp>
        <p:nvSpPr>
          <p:cNvPr id="26" name="dot-shield"/>
          <p:cNvSpPr/>
          <p:nvPr/>
        </p:nvSpPr>
        <p:spPr>
          <a:xfrm>
            <a:off x="4612538" y="4645152"/>
            <a:ext cx="457200" cy="457200"/>
          </a:xfrm>
          <a:prstGeom prst="ellipse">
            <a:avLst/>
          </a:prstGeom>
          <a:solidFill>
            <a:srgbClr val="2C2C2E"/>
          </a:solidFill>
          <a:ln/>
        </p:spPr>
      </p:sp>
      <p:pic>
        <p:nvPicPr>
          <p:cNvPr id="27" name="icon-shield" descr="">    </p:cNvPr>
          <p:cNvPicPr>
            <a:picLocks noChangeAspect="1"/>
          </p:cNvPicPr>
          <p:nvPr/>
        </p:nvPicPr>
        <p:blipFill>
          <a:blip r:embed="rId5"/>
          <a:stretch>
            <a:fillRect/>
          </a:stretch>
        </p:blipFill>
        <p:spPr>
          <a:xfrm>
            <a:off x="4717694" y="4750308"/>
            <a:ext cx="246888" cy="246888"/>
          </a:xfrm>
          <a:prstGeom prst="rect">
            <a:avLst/>
          </a:prstGeom>
        </p:spPr>
      </p:pic>
      <p:sp>
        <p:nvSpPr>
          <p:cNvPr id="28" name="n4"/>
          <p:cNvSpPr txBox="1"/>
          <p:nvPr/>
        </p:nvSpPr>
        <p:spPr>
          <a:xfrm>
            <a:off x="4612538" y="5157216"/>
            <a:ext cx="2966618" cy="54864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21</a:t>
            </a:r>
            <a:endParaRPr lang="en-US" sz="3200" dirty="0"/>
          </a:p>
        </p:txBody>
      </p:sp>
      <p:sp>
        <p:nvSpPr>
          <p:cNvPr id="29" name="t4"/>
          <p:cNvSpPr txBox="1"/>
          <p:nvPr/>
        </p:nvSpPr>
        <p:spPr>
          <a:xfrm>
            <a:off x="4612538" y="5705856"/>
            <a:ext cx="2966618" cy="475488"/>
          </a:xfrm>
          <a:prstGeom prst="rect">
            <a:avLst/>
          </a:prstGeom>
          <a:noFill/>
          <a:ln/>
        </p:spPr>
        <p:txBody>
          <a:bodyPr wrap="square" lIns="0" tIns="0" rIns="0" bIns="0" rtlCol="0" anchor="t"/>
          <a:lstStyle/>
          <a:p>
            <a:pPr indent="0" marL="0">
              <a:buNone/>
            </a:pPr>
            <a:r>
              <a:rPr lang="en-US" sz="1200" dirty="0">
                <a:solidFill>
                  <a:srgbClr val="A8A8AD"/>
                </a:solidFill>
                <a:latin typeface="Arial" pitchFamily="34" charset="0"/>
                <a:ea typeface="Arial" pitchFamily="34" charset="-122"/>
                <a:cs typeface="Arial" pitchFamily="34" charset="-120"/>
              </a:rPr>
              <a:t>automated browser test suites</a:t>
            </a:r>
            <a:endParaRPr lang="en-US" sz="1200" dirty="0"/>
          </a:p>
        </p:txBody>
      </p:sp>
      <p:sp>
        <p:nvSpPr>
          <p:cNvPr id="30" name="tile5"/>
          <p:cNvSpPr/>
          <p:nvPr/>
        </p:nvSpPr>
        <p:spPr>
          <a:xfrm>
            <a:off x="8127797" y="4389120"/>
            <a:ext cx="3515258" cy="1874520"/>
          </a:xfrm>
          <a:prstGeom prst="roundRect">
            <a:avLst>
              <a:gd name="adj" fmla="val 7805"/>
            </a:avLst>
          </a:prstGeom>
          <a:solidFill>
            <a:srgbClr val="1C1C1E"/>
          </a:solidFill>
          <a:ln w="9525">
            <a:solidFill>
              <a:srgbClr val="2C2C2E"/>
            </a:solidFill>
            <a:prstDash val="solid"/>
          </a:ln>
        </p:spPr>
      </p:sp>
      <p:sp>
        <p:nvSpPr>
          <p:cNvPr id="31" name="dot-offline"/>
          <p:cNvSpPr/>
          <p:nvPr/>
        </p:nvSpPr>
        <p:spPr>
          <a:xfrm>
            <a:off x="8402117" y="4645152"/>
            <a:ext cx="457200" cy="457200"/>
          </a:xfrm>
          <a:prstGeom prst="ellipse">
            <a:avLst/>
          </a:prstGeom>
          <a:solidFill>
            <a:srgbClr val="2C2C2E"/>
          </a:solidFill>
          <a:ln/>
        </p:spPr>
      </p:sp>
      <p:pic>
        <p:nvPicPr>
          <p:cNvPr id="32" name="icon-offline" descr="">    </p:cNvPr>
          <p:cNvPicPr>
            <a:picLocks noChangeAspect="1"/>
          </p:cNvPicPr>
          <p:nvPr/>
        </p:nvPicPr>
        <p:blipFill>
          <a:blip r:embed="rId6"/>
          <a:stretch>
            <a:fillRect/>
          </a:stretch>
        </p:blipFill>
        <p:spPr>
          <a:xfrm>
            <a:off x="8507273" y="4750308"/>
            <a:ext cx="246888" cy="246888"/>
          </a:xfrm>
          <a:prstGeom prst="rect">
            <a:avLst/>
          </a:prstGeom>
        </p:spPr>
      </p:pic>
      <p:sp>
        <p:nvSpPr>
          <p:cNvPr id="33" name="n5"/>
          <p:cNvSpPr txBox="1"/>
          <p:nvPr/>
        </p:nvSpPr>
        <p:spPr>
          <a:xfrm>
            <a:off x="8402117" y="5157216"/>
            <a:ext cx="2966618" cy="54864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0</a:t>
            </a:r>
            <a:endParaRPr lang="en-US" sz="3200" dirty="0"/>
          </a:p>
        </p:txBody>
      </p:sp>
      <p:sp>
        <p:nvSpPr>
          <p:cNvPr id="34" name="t5"/>
          <p:cNvSpPr txBox="1"/>
          <p:nvPr/>
        </p:nvSpPr>
        <p:spPr>
          <a:xfrm>
            <a:off x="8402117" y="5705856"/>
            <a:ext cx="2966618" cy="475488"/>
          </a:xfrm>
          <a:prstGeom prst="rect">
            <a:avLst/>
          </a:prstGeom>
          <a:noFill/>
          <a:ln/>
        </p:spPr>
        <p:txBody>
          <a:bodyPr wrap="square" lIns="0" tIns="0" rIns="0" bIns="0" rtlCol="0" anchor="t"/>
          <a:lstStyle/>
          <a:p>
            <a:pPr indent="0" marL="0">
              <a:buNone/>
            </a:pPr>
            <a:r>
              <a:rPr lang="en-US" sz="1200" dirty="0">
                <a:solidFill>
                  <a:srgbClr val="A8A8AD"/>
                </a:solidFill>
                <a:latin typeface="Arial" pitchFamily="34" charset="0"/>
                <a:ea typeface="Arial" pitchFamily="34" charset="-122"/>
                <a:cs typeface="Arial" pitchFamily="34" charset="-120"/>
              </a:rPr>
              <a:t>network calls: no data leaves the computer</a:t>
            </a:r>
            <a:endParaRPr lang="en-US" sz="12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E6E73"/>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42" presetClass="entr" presetSubtype="0" fill="hold" grpId="0" nodeType="withEffect">
                                  <p:stCondLst>
                                    <p:cond delay="3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650"/>
                                        <p:tgtEl>
                                          <p:spTgt spid="5"/>
                                        </p:tgtEl>
                                      </p:cBhvr>
                                    </p:animEffect>
                                    <p:anim calcmode="lin" valueType="num">
                                      <p:cBhvr>
                                        <p:cTn id="14" dur="650" fill="hold"/>
                                        <p:tgtEl>
                                          <p:spTgt spid="5"/>
                                        </p:tgtEl>
                                        <p:attrNameLst>
                                          <p:attrName>ppt_x</p:attrName>
                                        </p:attrNameLst>
                                      </p:cBhvr>
                                      <p:tavLst>
                                        <p:tav tm="0">
                                          <p:val>
                                            <p:strVal val="#ppt_x"/>
                                          </p:val>
                                        </p:tav>
                                        <p:tav tm="100000">
                                          <p:val>
                                            <p:strVal val="#ppt_x"/>
                                          </p:val>
                                        </p:tav>
                                      </p:tavLst>
                                    </p:anim>
                                    <p:anim calcmode="lin" valueType="num">
                                      <p:cBhvr>
                                        <p:cTn id="15" dur="650" fill="hold"/>
                                        <p:tgtEl>
                                          <p:spTgt spid="5"/>
                                        </p:tgtEl>
                                        <p:attrNameLst>
                                          <p:attrName>ppt_y</p:attrName>
                                        </p:attrNameLst>
                                      </p:cBhvr>
                                      <p:tavLst>
                                        <p:tav tm="0">
                                          <p:val>
                                            <p:strVal val="#ppt_y+.05"/>
                                          </p:val>
                                        </p:tav>
                                        <p:tav tm="100000">
                                          <p:val>
                                            <p:strVal val="#ppt_y"/>
                                          </p:val>
                                        </p:tav>
                                      </p:tavLst>
                                    </p:anim>
                                  </p:childTnLst>
                                </p:cTn>
                              </p:par>
                              <p:par>
                                <p:cTn id="16" presetID="42" presetClass="entr" presetSubtype="0" fill="hold" grpId="0" nodeType="withEffect">
                                  <p:stCondLst>
                                    <p:cond delay="30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650"/>
                                        <p:tgtEl>
                                          <p:spTgt spid="6"/>
                                        </p:tgtEl>
                                      </p:cBhvr>
                                    </p:animEffect>
                                    <p:anim calcmode="lin" valueType="num">
                                      <p:cBhvr>
                                        <p:cTn id="19" dur="650" fill="hold"/>
                                        <p:tgtEl>
                                          <p:spTgt spid="6"/>
                                        </p:tgtEl>
                                        <p:attrNameLst>
                                          <p:attrName>ppt_x</p:attrName>
                                        </p:attrNameLst>
                                      </p:cBhvr>
                                      <p:tavLst>
                                        <p:tav tm="0">
                                          <p:val>
                                            <p:strVal val="#ppt_x"/>
                                          </p:val>
                                        </p:tav>
                                        <p:tav tm="100000">
                                          <p:val>
                                            <p:strVal val="#ppt_x"/>
                                          </p:val>
                                        </p:tav>
                                      </p:tavLst>
                                    </p:anim>
                                    <p:anim calcmode="lin" valueType="num">
                                      <p:cBhvr>
                                        <p:cTn id="20" dur="650" fill="hold"/>
                                        <p:tgtEl>
                                          <p:spTgt spid="6"/>
                                        </p:tgtEl>
                                        <p:attrNameLst>
                                          <p:attrName>ppt_y</p:attrName>
                                        </p:attrNameLst>
                                      </p:cBhvr>
                                      <p:tavLst>
                                        <p:tav tm="0">
                                          <p:val>
                                            <p:strVal val="#ppt_y+.05"/>
                                          </p:val>
                                        </p:tav>
                                        <p:tav tm="100000">
                                          <p:val>
                                            <p:strVal val="#ppt_y"/>
                                          </p:val>
                                        </p:tav>
                                      </p:tavLst>
                                    </p:anim>
                                  </p:childTnLst>
                                </p:cTn>
                              </p:par>
                              <p:par>
                                <p:cTn id="21" presetID="42" presetClass="entr" presetSubtype="0" fill="hold" grpId="0" nodeType="withEffect">
                                  <p:stCondLst>
                                    <p:cond delay="30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650"/>
                                        <p:tgtEl>
                                          <p:spTgt spid="7"/>
                                        </p:tgtEl>
                                      </p:cBhvr>
                                    </p:animEffect>
                                    <p:anim calcmode="lin" valueType="num">
                                      <p:cBhvr>
                                        <p:cTn id="24" dur="650" fill="hold"/>
                                        <p:tgtEl>
                                          <p:spTgt spid="7"/>
                                        </p:tgtEl>
                                        <p:attrNameLst>
                                          <p:attrName>ppt_x</p:attrName>
                                        </p:attrNameLst>
                                      </p:cBhvr>
                                      <p:tavLst>
                                        <p:tav tm="0">
                                          <p:val>
                                            <p:strVal val="#ppt_x"/>
                                          </p:val>
                                        </p:tav>
                                        <p:tav tm="100000">
                                          <p:val>
                                            <p:strVal val="#ppt_x"/>
                                          </p:val>
                                        </p:tav>
                                      </p:tavLst>
                                    </p:anim>
                                    <p:anim calcmode="lin" valueType="num">
                                      <p:cBhvr>
                                        <p:cTn id="25" dur="650" fill="hold"/>
                                        <p:tgtEl>
                                          <p:spTgt spid="7"/>
                                        </p:tgtEl>
                                        <p:attrNameLst>
                                          <p:attrName>ppt_y</p:attrName>
                                        </p:attrNameLst>
                                      </p:cBhvr>
                                      <p:tavLst>
                                        <p:tav tm="0">
                                          <p:val>
                                            <p:strVal val="#ppt_y+.05"/>
                                          </p:val>
                                        </p:tav>
                                        <p:tav tm="100000">
                                          <p:val>
                                            <p:strVal val="#ppt_y"/>
                                          </p:val>
                                        </p:tav>
                                      </p:tavLst>
                                    </p:anim>
                                  </p:childTnLst>
                                </p:cTn>
                              </p:par>
                              <p:par>
                                <p:cTn id="26" presetID="42" presetClass="entr" presetSubtype="0" fill="hold" grpId="0" nodeType="withEffect">
                                  <p:stCondLst>
                                    <p:cond delay="30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650"/>
                                        <p:tgtEl>
                                          <p:spTgt spid="8"/>
                                        </p:tgtEl>
                                      </p:cBhvr>
                                    </p:animEffect>
                                    <p:anim calcmode="lin" valueType="num">
                                      <p:cBhvr>
                                        <p:cTn id="29" dur="650" fill="hold"/>
                                        <p:tgtEl>
                                          <p:spTgt spid="8"/>
                                        </p:tgtEl>
                                        <p:attrNameLst>
                                          <p:attrName>ppt_x</p:attrName>
                                        </p:attrNameLst>
                                      </p:cBhvr>
                                      <p:tavLst>
                                        <p:tav tm="0">
                                          <p:val>
                                            <p:strVal val="#ppt_x"/>
                                          </p:val>
                                        </p:tav>
                                        <p:tav tm="100000">
                                          <p:val>
                                            <p:strVal val="#ppt_x"/>
                                          </p:val>
                                        </p:tav>
                                      </p:tavLst>
                                    </p:anim>
                                    <p:anim calcmode="lin" valueType="num">
                                      <p:cBhvr>
                                        <p:cTn id="30" dur="650" fill="hold"/>
                                        <p:tgtEl>
                                          <p:spTgt spid="8"/>
                                        </p:tgtEl>
                                        <p:attrNameLst>
                                          <p:attrName>ppt_y</p:attrName>
                                        </p:attrNameLst>
                                      </p:cBhvr>
                                      <p:tavLst>
                                        <p:tav tm="0">
                                          <p:val>
                                            <p:strVal val="#ppt_y+.05"/>
                                          </p:val>
                                        </p:tav>
                                        <p:tav tm="100000">
                                          <p:val>
                                            <p:strVal val="#ppt_y"/>
                                          </p:val>
                                        </p:tav>
                                      </p:tavLst>
                                    </p:anim>
                                  </p:childTnLst>
                                </p:cTn>
                              </p:par>
                              <p:par>
                                <p:cTn id="31" presetID="42" presetClass="entr" presetSubtype="0" fill="hold" grpId="0" nodeType="withEffect">
                                  <p:stCondLst>
                                    <p:cond delay="30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650"/>
                                        <p:tgtEl>
                                          <p:spTgt spid="9"/>
                                        </p:tgtEl>
                                      </p:cBhvr>
                                    </p:animEffect>
                                    <p:anim calcmode="lin" valueType="num">
                                      <p:cBhvr>
                                        <p:cTn id="34" dur="650" fill="hold"/>
                                        <p:tgtEl>
                                          <p:spTgt spid="9"/>
                                        </p:tgtEl>
                                        <p:attrNameLst>
                                          <p:attrName>ppt_x</p:attrName>
                                        </p:attrNameLst>
                                      </p:cBhvr>
                                      <p:tavLst>
                                        <p:tav tm="0">
                                          <p:val>
                                            <p:strVal val="#ppt_x"/>
                                          </p:val>
                                        </p:tav>
                                        <p:tav tm="100000">
                                          <p:val>
                                            <p:strVal val="#ppt_x"/>
                                          </p:val>
                                        </p:tav>
                                      </p:tavLst>
                                    </p:anim>
                                    <p:anim calcmode="lin" valueType="num">
                                      <p:cBhvr>
                                        <p:cTn id="35" dur="650" fill="hold"/>
                                        <p:tgtEl>
                                          <p:spTgt spid="9"/>
                                        </p:tgtEl>
                                        <p:attrNameLst>
                                          <p:attrName>ppt_y</p:attrName>
                                        </p:attrNameLst>
                                      </p:cBhvr>
                                      <p:tavLst>
                                        <p:tav tm="0">
                                          <p:val>
                                            <p:strVal val="#ppt_y+.05"/>
                                          </p:val>
                                        </p:tav>
                                        <p:tav tm="100000">
                                          <p:val>
                                            <p:strVal val="#ppt_y"/>
                                          </p:val>
                                        </p:tav>
                                      </p:tavLst>
                                    </p:anim>
                                  </p:childTnLst>
                                </p:cTn>
                              </p:par>
                              <p:par>
                                <p:cTn id="36" presetID="42" presetClass="entr" presetSubtype="0" fill="hold" grpId="0" nodeType="withEffect">
                                  <p:stCondLst>
                                    <p:cond delay="41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650"/>
                                        <p:tgtEl>
                                          <p:spTgt spid="10"/>
                                        </p:tgtEl>
                                      </p:cBhvr>
                                    </p:animEffect>
                                    <p:anim calcmode="lin" valueType="num">
                                      <p:cBhvr>
                                        <p:cTn id="39" dur="650" fill="hold"/>
                                        <p:tgtEl>
                                          <p:spTgt spid="10"/>
                                        </p:tgtEl>
                                        <p:attrNameLst>
                                          <p:attrName>ppt_x</p:attrName>
                                        </p:attrNameLst>
                                      </p:cBhvr>
                                      <p:tavLst>
                                        <p:tav tm="0">
                                          <p:val>
                                            <p:strVal val="#ppt_x"/>
                                          </p:val>
                                        </p:tav>
                                        <p:tav tm="100000">
                                          <p:val>
                                            <p:strVal val="#ppt_x"/>
                                          </p:val>
                                        </p:tav>
                                      </p:tavLst>
                                    </p:anim>
                                    <p:anim calcmode="lin" valueType="num">
                                      <p:cBhvr>
                                        <p:cTn id="40" dur="650" fill="hold"/>
                                        <p:tgtEl>
                                          <p:spTgt spid="10"/>
                                        </p:tgtEl>
                                        <p:attrNameLst>
                                          <p:attrName>ppt_y</p:attrName>
                                        </p:attrNameLst>
                                      </p:cBhvr>
                                      <p:tavLst>
                                        <p:tav tm="0">
                                          <p:val>
                                            <p:strVal val="#ppt_y+.05"/>
                                          </p:val>
                                        </p:tav>
                                        <p:tav tm="100000">
                                          <p:val>
                                            <p:strVal val="#ppt_y"/>
                                          </p:val>
                                        </p:tav>
                                      </p:tavLst>
                                    </p:anim>
                                  </p:childTnLst>
                                </p:cTn>
                              </p:par>
                              <p:par>
                                <p:cTn id="41" presetID="42" presetClass="entr" presetSubtype="0" fill="hold" grpId="0" nodeType="withEffect">
                                  <p:stCondLst>
                                    <p:cond delay="41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650"/>
                                        <p:tgtEl>
                                          <p:spTgt spid="11"/>
                                        </p:tgtEl>
                                      </p:cBhvr>
                                    </p:animEffect>
                                    <p:anim calcmode="lin" valueType="num">
                                      <p:cBhvr>
                                        <p:cTn id="44" dur="650" fill="hold"/>
                                        <p:tgtEl>
                                          <p:spTgt spid="11"/>
                                        </p:tgtEl>
                                        <p:attrNameLst>
                                          <p:attrName>ppt_x</p:attrName>
                                        </p:attrNameLst>
                                      </p:cBhvr>
                                      <p:tavLst>
                                        <p:tav tm="0">
                                          <p:val>
                                            <p:strVal val="#ppt_x"/>
                                          </p:val>
                                        </p:tav>
                                        <p:tav tm="100000">
                                          <p:val>
                                            <p:strVal val="#ppt_x"/>
                                          </p:val>
                                        </p:tav>
                                      </p:tavLst>
                                    </p:anim>
                                    <p:anim calcmode="lin" valueType="num">
                                      <p:cBhvr>
                                        <p:cTn id="45" dur="650" fill="hold"/>
                                        <p:tgtEl>
                                          <p:spTgt spid="11"/>
                                        </p:tgtEl>
                                        <p:attrNameLst>
                                          <p:attrName>ppt_y</p:attrName>
                                        </p:attrNameLst>
                                      </p:cBhvr>
                                      <p:tavLst>
                                        <p:tav tm="0">
                                          <p:val>
                                            <p:strVal val="#ppt_y+.05"/>
                                          </p:val>
                                        </p:tav>
                                        <p:tav tm="100000">
                                          <p:val>
                                            <p:strVal val="#ppt_y"/>
                                          </p:val>
                                        </p:tav>
                                      </p:tavLst>
                                    </p:anim>
                                  </p:childTnLst>
                                </p:cTn>
                              </p:par>
                              <p:par>
                                <p:cTn id="46" presetID="42" presetClass="entr" presetSubtype="0" fill="hold" grpId="0" nodeType="withEffect">
                                  <p:stCondLst>
                                    <p:cond delay="410"/>
                                  </p:stCondLst>
                                  <p:childTnLst>
                                    <p:set>
                                      <p:cBhvr>
                                        <p:cTn id="47" dur="1" fill="hold">
                                          <p:stCondLst>
                                            <p:cond delay="0"/>
                                          </p:stCondLst>
                                        </p:cTn>
                                        <p:tgtEl>
                                          <p:spTgt spid="12"/>
                                        </p:tgtEl>
                                        <p:attrNameLst>
                                          <p:attrName>style.visibility</p:attrName>
                                        </p:attrNameLst>
                                      </p:cBhvr>
                                      <p:to>
                                        <p:strVal val="visible"/>
                                      </p:to>
                                    </p:set>
                                    <p:animEffect transition="in" filter="fade">
                                      <p:cBhvr>
                                        <p:cTn id="48" dur="650"/>
                                        <p:tgtEl>
                                          <p:spTgt spid="12"/>
                                        </p:tgtEl>
                                      </p:cBhvr>
                                    </p:animEffect>
                                    <p:anim calcmode="lin" valueType="num">
                                      <p:cBhvr>
                                        <p:cTn id="49" dur="650" fill="hold"/>
                                        <p:tgtEl>
                                          <p:spTgt spid="12"/>
                                        </p:tgtEl>
                                        <p:attrNameLst>
                                          <p:attrName>ppt_x</p:attrName>
                                        </p:attrNameLst>
                                      </p:cBhvr>
                                      <p:tavLst>
                                        <p:tav tm="0">
                                          <p:val>
                                            <p:strVal val="#ppt_x"/>
                                          </p:val>
                                        </p:tav>
                                        <p:tav tm="100000">
                                          <p:val>
                                            <p:strVal val="#ppt_x"/>
                                          </p:val>
                                        </p:tav>
                                      </p:tavLst>
                                    </p:anim>
                                    <p:anim calcmode="lin" valueType="num">
                                      <p:cBhvr>
                                        <p:cTn id="50" dur="650" fill="hold"/>
                                        <p:tgtEl>
                                          <p:spTgt spid="12"/>
                                        </p:tgtEl>
                                        <p:attrNameLst>
                                          <p:attrName>ppt_y</p:attrName>
                                        </p:attrNameLst>
                                      </p:cBhvr>
                                      <p:tavLst>
                                        <p:tav tm="0">
                                          <p:val>
                                            <p:strVal val="#ppt_y+.05"/>
                                          </p:val>
                                        </p:tav>
                                        <p:tav tm="100000">
                                          <p:val>
                                            <p:strVal val="#ppt_y"/>
                                          </p:val>
                                        </p:tav>
                                      </p:tavLst>
                                    </p:anim>
                                  </p:childTnLst>
                                </p:cTn>
                              </p:par>
                              <p:par>
                                <p:cTn id="51" presetID="42" presetClass="entr" presetSubtype="0" fill="hold" grpId="0" nodeType="withEffect">
                                  <p:stCondLst>
                                    <p:cond delay="410"/>
                                  </p:stCondLst>
                                  <p:childTnLst>
                                    <p:set>
                                      <p:cBhvr>
                                        <p:cTn id="52" dur="1" fill="hold">
                                          <p:stCondLst>
                                            <p:cond delay="0"/>
                                          </p:stCondLst>
                                        </p:cTn>
                                        <p:tgtEl>
                                          <p:spTgt spid="13"/>
                                        </p:tgtEl>
                                        <p:attrNameLst>
                                          <p:attrName>style.visibility</p:attrName>
                                        </p:attrNameLst>
                                      </p:cBhvr>
                                      <p:to>
                                        <p:strVal val="visible"/>
                                      </p:to>
                                    </p:set>
                                    <p:animEffect transition="in" filter="fade">
                                      <p:cBhvr>
                                        <p:cTn id="53" dur="650"/>
                                        <p:tgtEl>
                                          <p:spTgt spid="13"/>
                                        </p:tgtEl>
                                      </p:cBhvr>
                                    </p:animEffect>
                                    <p:anim calcmode="lin" valueType="num">
                                      <p:cBhvr>
                                        <p:cTn id="54" dur="650" fill="hold"/>
                                        <p:tgtEl>
                                          <p:spTgt spid="13"/>
                                        </p:tgtEl>
                                        <p:attrNameLst>
                                          <p:attrName>ppt_x</p:attrName>
                                        </p:attrNameLst>
                                      </p:cBhvr>
                                      <p:tavLst>
                                        <p:tav tm="0">
                                          <p:val>
                                            <p:strVal val="#ppt_x"/>
                                          </p:val>
                                        </p:tav>
                                        <p:tav tm="100000">
                                          <p:val>
                                            <p:strVal val="#ppt_x"/>
                                          </p:val>
                                        </p:tav>
                                      </p:tavLst>
                                    </p:anim>
                                    <p:anim calcmode="lin" valueType="num">
                                      <p:cBhvr>
                                        <p:cTn id="55" dur="650" fill="hold"/>
                                        <p:tgtEl>
                                          <p:spTgt spid="13"/>
                                        </p:tgtEl>
                                        <p:attrNameLst>
                                          <p:attrName>ppt_y</p:attrName>
                                        </p:attrNameLst>
                                      </p:cBhvr>
                                      <p:tavLst>
                                        <p:tav tm="0">
                                          <p:val>
                                            <p:strVal val="#ppt_y+.05"/>
                                          </p:val>
                                        </p:tav>
                                        <p:tav tm="100000">
                                          <p:val>
                                            <p:strVal val="#ppt_y"/>
                                          </p:val>
                                        </p:tav>
                                      </p:tavLst>
                                    </p:anim>
                                  </p:childTnLst>
                                </p:cTn>
                              </p:par>
                              <p:par>
                                <p:cTn id="56" presetID="42" presetClass="entr" presetSubtype="0" fill="hold" grpId="0" nodeType="withEffect">
                                  <p:stCondLst>
                                    <p:cond delay="410"/>
                                  </p:stCondLst>
                                  <p:childTnLst>
                                    <p:set>
                                      <p:cBhvr>
                                        <p:cTn id="57" dur="1" fill="hold">
                                          <p:stCondLst>
                                            <p:cond delay="0"/>
                                          </p:stCondLst>
                                        </p:cTn>
                                        <p:tgtEl>
                                          <p:spTgt spid="14"/>
                                        </p:tgtEl>
                                        <p:attrNameLst>
                                          <p:attrName>style.visibility</p:attrName>
                                        </p:attrNameLst>
                                      </p:cBhvr>
                                      <p:to>
                                        <p:strVal val="visible"/>
                                      </p:to>
                                    </p:set>
                                    <p:animEffect transition="in" filter="fade">
                                      <p:cBhvr>
                                        <p:cTn id="58" dur="650"/>
                                        <p:tgtEl>
                                          <p:spTgt spid="14"/>
                                        </p:tgtEl>
                                      </p:cBhvr>
                                    </p:animEffect>
                                    <p:anim calcmode="lin" valueType="num">
                                      <p:cBhvr>
                                        <p:cTn id="59" dur="650" fill="hold"/>
                                        <p:tgtEl>
                                          <p:spTgt spid="14"/>
                                        </p:tgtEl>
                                        <p:attrNameLst>
                                          <p:attrName>ppt_x</p:attrName>
                                        </p:attrNameLst>
                                      </p:cBhvr>
                                      <p:tavLst>
                                        <p:tav tm="0">
                                          <p:val>
                                            <p:strVal val="#ppt_x"/>
                                          </p:val>
                                        </p:tav>
                                        <p:tav tm="100000">
                                          <p:val>
                                            <p:strVal val="#ppt_x"/>
                                          </p:val>
                                        </p:tav>
                                      </p:tavLst>
                                    </p:anim>
                                    <p:anim calcmode="lin" valueType="num">
                                      <p:cBhvr>
                                        <p:cTn id="60" dur="650" fill="hold"/>
                                        <p:tgtEl>
                                          <p:spTgt spid="14"/>
                                        </p:tgtEl>
                                        <p:attrNameLst>
                                          <p:attrName>ppt_y</p:attrName>
                                        </p:attrNameLst>
                                      </p:cBhvr>
                                      <p:tavLst>
                                        <p:tav tm="0">
                                          <p:val>
                                            <p:strVal val="#ppt_y+.05"/>
                                          </p:val>
                                        </p:tav>
                                        <p:tav tm="100000">
                                          <p:val>
                                            <p:strVal val="#ppt_y"/>
                                          </p:val>
                                        </p:tav>
                                      </p:tavLst>
                                    </p:anim>
                                  </p:childTnLst>
                                </p:cTn>
                              </p:par>
                              <p:par>
                                <p:cTn id="61" presetID="42" presetClass="entr" presetSubtype="0" fill="hold" grpId="0" nodeType="withEffect">
                                  <p:stCondLst>
                                    <p:cond delay="520"/>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650"/>
                                        <p:tgtEl>
                                          <p:spTgt spid="15"/>
                                        </p:tgtEl>
                                      </p:cBhvr>
                                    </p:animEffect>
                                    <p:anim calcmode="lin" valueType="num">
                                      <p:cBhvr>
                                        <p:cTn id="64" dur="650" fill="hold"/>
                                        <p:tgtEl>
                                          <p:spTgt spid="15"/>
                                        </p:tgtEl>
                                        <p:attrNameLst>
                                          <p:attrName>ppt_x</p:attrName>
                                        </p:attrNameLst>
                                      </p:cBhvr>
                                      <p:tavLst>
                                        <p:tav tm="0">
                                          <p:val>
                                            <p:strVal val="#ppt_x"/>
                                          </p:val>
                                        </p:tav>
                                        <p:tav tm="100000">
                                          <p:val>
                                            <p:strVal val="#ppt_x"/>
                                          </p:val>
                                        </p:tav>
                                      </p:tavLst>
                                    </p:anim>
                                    <p:anim calcmode="lin" valueType="num">
                                      <p:cBhvr>
                                        <p:cTn id="65" dur="650" fill="hold"/>
                                        <p:tgtEl>
                                          <p:spTgt spid="15"/>
                                        </p:tgtEl>
                                        <p:attrNameLst>
                                          <p:attrName>ppt_y</p:attrName>
                                        </p:attrNameLst>
                                      </p:cBhvr>
                                      <p:tavLst>
                                        <p:tav tm="0">
                                          <p:val>
                                            <p:strVal val="#ppt_y+.05"/>
                                          </p:val>
                                        </p:tav>
                                        <p:tav tm="100000">
                                          <p:val>
                                            <p:strVal val="#ppt_y"/>
                                          </p:val>
                                        </p:tav>
                                      </p:tavLst>
                                    </p:anim>
                                  </p:childTnLst>
                                </p:cTn>
                              </p:par>
                              <p:par>
                                <p:cTn id="66" presetID="42" presetClass="entr" presetSubtype="0" fill="hold" grpId="0" nodeType="withEffect">
                                  <p:stCondLst>
                                    <p:cond delay="520"/>
                                  </p:stCondLst>
                                  <p:childTnLst>
                                    <p:set>
                                      <p:cBhvr>
                                        <p:cTn id="67" dur="1" fill="hold">
                                          <p:stCondLst>
                                            <p:cond delay="0"/>
                                          </p:stCondLst>
                                        </p:cTn>
                                        <p:tgtEl>
                                          <p:spTgt spid="16"/>
                                        </p:tgtEl>
                                        <p:attrNameLst>
                                          <p:attrName>style.visibility</p:attrName>
                                        </p:attrNameLst>
                                      </p:cBhvr>
                                      <p:to>
                                        <p:strVal val="visible"/>
                                      </p:to>
                                    </p:set>
                                    <p:animEffect transition="in" filter="fade">
                                      <p:cBhvr>
                                        <p:cTn id="68" dur="650"/>
                                        <p:tgtEl>
                                          <p:spTgt spid="16"/>
                                        </p:tgtEl>
                                      </p:cBhvr>
                                    </p:animEffect>
                                    <p:anim calcmode="lin" valueType="num">
                                      <p:cBhvr>
                                        <p:cTn id="69" dur="650" fill="hold"/>
                                        <p:tgtEl>
                                          <p:spTgt spid="16"/>
                                        </p:tgtEl>
                                        <p:attrNameLst>
                                          <p:attrName>ppt_x</p:attrName>
                                        </p:attrNameLst>
                                      </p:cBhvr>
                                      <p:tavLst>
                                        <p:tav tm="0">
                                          <p:val>
                                            <p:strVal val="#ppt_x"/>
                                          </p:val>
                                        </p:tav>
                                        <p:tav tm="100000">
                                          <p:val>
                                            <p:strVal val="#ppt_x"/>
                                          </p:val>
                                        </p:tav>
                                      </p:tavLst>
                                    </p:anim>
                                    <p:anim calcmode="lin" valueType="num">
                                      <p:cBhvr>
                                        <p:cTn id="70" dur="650" fill="hold"/>
                                        <p:tgtEl>
                                          <p:spTgt spid="16"/>
                                        </p:tgtEl>
                                        <p:attrNameLst>
                                          <p:attrName>ppt_y</p:attrName>
                                        </p:attrNameLst>
                                      </p:cBhvr>
                                      <p:tavLst>
                                        <p:tav tm="0">
                                          <p:val>
                                            <p:strVal val="#ppt_y+.05"/>
                                          </p:val>
                                        </p:tav>
                                        <p:tav tm="100000">
                                          <p:val>
                                            <p:strVal val="#ppt_y"/>
                                          </p:val>
                                        </p:tav>
                                      </p:tavLst>
                                    </p:anim>
                                  </p:childTnLst>
                                </p:cTn>
                              </p:par>
                              <p:par>
                                <p:cTn id="71" presetID="42" presetClass="entr" presetSubtype="0" fill="hold" grpId="0" nodeType="withEffect">
                                  <p:stCondLst>
                                    <p:cond delay="520"/>
                                  </p:stCondLst>
                                  <p:childTnLst>
                                    <p:set>
                                      <p:cBhvr>
                                        <p:cTn id="72" dur="1" fill="hold">
                                          <p:stCondLst>
                                            <p:cond delay="0"/>
                                          </p:stCondLst>
                                        </p:cTn>
                                        <p:tgtEl>
                                          <p:spTgt spid="17"/>
                                        </p:tgtEl>
                                        <p:attrNameLst>
                                          <p:attrName>style.visibility</p:attrName>
                                        </p:attrNameLst>
                                      </p:cBhvr>
                                      <p:to>
                                        <p:strVal val="visible"/>
                                      </p:to>
                                    </p:set>
                                    <p:animEffect transition="in" filter="fade">
                                      <p:cBhvr>
                                        <p:cTn id="73" dur="650"/>
                                        <p:tgtEl>
                                          <p:spTgt spid="17"/>
                                        </p:tgtEl>
                                      </p:cBhvr>
                                    </p:animEffect>
                                    <p:anim calcmode="lin" valueType="num">
                                      <p:cBhvr>
                                        <p:cTn id="74" dur="650" fill="hold"/>
                                        <p:tgtEl>
                                          <p:spTgt spid="17"/>
                                        </p:tgtEl>
                                        <p:attrNameLst>
                                          <p:attrName>ppt_x</p:attrName>
                                        </p:attrNameLst>
                                      </p:cBhvr>
                                      <p:tavLst>
                                        <p:tav tm="0">
                                          <p:val>
                                            <p:strVal val="#ppt_x"/>
                                          </p:val>
                                        </p:tav>
                                        <p:tav tm="100000">
                                          <p:val>
                                            <p:strVal val="#ppt_x"/>
                                          </p:val>
                                        </p:tav>
                                      </p:tavLst>
                                    </p:anim>
                                    <p:anim calcmode="lin" valueType="num">
                                      <p:cBhvr>
                                        <p:cTn id="75" dur="650" fill="hold"/>
                                        <p:tgtEl>
                                          <p:spTgt spid="17"/>
                                        </p:tgtEl>
                                        <p:attrNameLst>
                                          <p:attrName>ppt_y</p:attrName>
                                        </p:attrNameLst>
                                      </p:cBhvr>
                                      <p:tavLst>
                                        <p:tav tm="0">
                                          <p:val>
                                            <p:strVal val="#ppt_y+.05"/>
                                          </p:val>
                                        </p:tav>
                                        <p:tav tm="100000">
                                          <p:val>
                                            <p:strVal val="#ppt_y"/>
                                          </p:val>
                                        </p:tav>
                                      </p:tavLst>
                                    </p:anim>
                                  </p:childTnLst>
                                </p:cTn>
                              </p:par>
                              <p:par>
                                <p:cTn id="76" presetID="42" presetClass="entr" presetSubtype="0" fill="hold" grpId="0" nodeType="withEffect">
                                  <p:stCondLst>
                                    <p:cond delay="520"/>
                                  </p:stCondLst>
                                  <p:childTnLst>
                                    <p:set>
                                      <p:cBhvr>
                                        <p:cTn id="77" dur="1" fill="hold">
                                          <p:stCondLst>
                                            <p:cond delay="0"/>
                                          </p:stCondLst>
                                        </p:cTn>
                                        <p:tgtEl>
                                          <p:spTgt spid="18"/>
                                        </p:tgtEl>
                                        <p:attrNameLst>
                                          <p:attrName>style.visibility</p:attrName>
                                        </p:attrNameLst>
                                      </p:cBhvr>
                                      <p:to>
                                        <p:strVal val="visible"/>
                                      </p:to>
                                    </p:set>
                                    <p:animEffect transition="in" filter="fade">
                                      <p:cBhvr>
                                        <p:cTn id="78" dur="650"/>
                                        <p:tgtEl>
                                          <p:spTgt spid="18"/>
                                        </p:tgtEl>
                                      </p:cBhvr>
                                    </p:animEffect>
                                    <p:anim calcmode="lin" valueType="num">
                                      <p:cBhvr>
                                        <p:cTn id="79" dur="650" fill="hold"/>
                                        <p:tgtEl>
                                          <p:spTgt spid="18"/>
                                        </p:tgtEl>
                                        <p:attrNameLst>
                                          <p:attrName>ppt_x</p:attrName>
                                        </p:attrNameLst>
                                      </p:cBhvr>
                                      <p:tavLst>
                                        <p:tav tm="0">
                                          <p:val>
                                            <p:strVal val="#ppt_x"/>
                                          </p:val>
                                        </p:tav>
                                        <p:tav tm="100000">
                                          <p:val>
                                            <p:strVal val="#ppt_x"/>
                                          </p:val>
                                        </p:tav>
                                      </p:tavLst>
                                    </p:anim>
                                    <p:anim calcmode="lin" valueType="num">
                                      <p:cBhvr>
                                        <p:cTn id="80" dur="650" fill="hold"/>
                                        <p:tgtEl>
                                          <p:spTgt spid="18"/>
                                        </p:tgtEl>
                                        <p:attrNameLst>
                                          <p:attrName>ppt_y</p:attrName>
                                        </p:attrNameLst>
                                      </p:cBhvr>
                                      <p:tavLst>
                                        <p:tav tm="0">
                                          <p:val>
                                            <p:strVal val="#ppt_y+.05"/>
                                          </p:val>
                                        </p:tav>
                                        <p:tav tm="100000">
                                          <p:val>
                                            <p:strVal val="#ppt_y"/>
                                          </p:val>
                                        </p:tav>
                                      </p:tavLst>
                                    </p:anim>
                                  </p:childTnLst>
                                </p:cTn>
                              </p:par>
                              <p:par>
                                <p:cTn id="81" presetID="42" presetClass="entr" presetSubtype="0" fill="hold" grpId="0" nodeType="withEffect">
                                  <p:stCondLst>
                                    <p:cond delay="520"/>
                                  </p:stCondLst>
                                  <p:childTnLst>
                                    <p:set>
                                      <p:cBhvr>
                                        <p:cTn id="82" dur="1" fill="hold">
                                          <p:stCondLst>
                                            <p:cond delay="0"/>
                                          </p:stCondLst>
                                        </p:cTn>
                                        <p:tgtEl>
                                          <p:spTgt spid="19"/>
                                        </p:tgtEl>
                                        <p:attrNameLst>
                                          <p:attrName>style.visibility</p:attrName>
                                        </p:attrNameLst>
                                      </p:cBhvr>
                                      <p:to>
                                        <p:strVal val="visible"/>
                                      </p:to>
                                    </p:set>
                                    <p:animEffect transition="in" filter="fade">
                                      <p:cBhvr>
                                        <p:cTn id="83" dur="650"/>
                                        <p:tgtEl>
                                          <p:spTgt spid="19"/>
                                        </p:tgtEl>
                                      </p:cBhvr>
                                    </p:animEffect>
                                    <p:anim calcmode="lin" valueType="num">
                                      <p:cBhvr>
                                        <p:cTn id="84" dur="650" fill="hold"/>
                                        <p:tgtEl>
                                          <p:spTgt spid="19"/>
                                        </p:tgtEl>
                                        <p:attrNameLst>
                                          <p:attrName>ppt_x</p:attrName>
                                        </p:attrNameLst>
                                      </p:cBhvr>
                                      <p:tavLst>
                                        <p:tav tm="0">
                                          <p:val>
                                            <p:strVal val="#ppt_x"/>
                                          </p:val>
                                        </p:tav>
                                        <p:tav tm="100000">
                                          <p:val>
                                            <p:strVal val="#ppt_x"/>
                                          </p:val>
                                        </p:tav>
                                      </p:tavLst>
                                    </p:anim>
                                    <p:anim calcmode="lin" valueType="num">
                                      <p:cBhvr>
                                        <p:cTn id="85" dur="650" fill="hold"/>
                                        <p:tgtEl>
                                          <p:spTgt spid="19"/>
                                        </p:tgtEl>
                                        <p:attrNameLst>
                                          <p:attrName>ppt_y</p:attrName>
                                        </p:attrNameLst>
                                      </p:cBhvr>
                                      <p:tavLst>
                                        <p:tav tm="0">
                                          <p:val>
                                            <p:strVal val="#ppt_y+.05"/>
                                          </p:val>
                                        </p:tav>
                                        <p:tav tm="100000">
                                          <p:val>
                                            <p:strVal val="#ppt_y"/>
                                          </p:val>
                                        </p:tav>
                                      </p:tavLst>
                                    </p:anim>
                                  </p:childTnLst>
                                </p:cTn>
                              </p:par>
                              <p:par>
                                <p:cTn id="86" presetID="42" presetClass="entr" presetSubtype="0" fill="hold" grpId="0" nodeType="withEffect">
                                  <p:stCondLst>
                                    <p:cond delay="630"/>
                                  </p:stCondLst>
                                  <p:childTnLst>
                                    <p:set>
                                      <p:cBhvr>
                                        <p:cTn id="87" dur="1" fill="hold">
                                          <p:stCondLst>
                                            <p:cond delay="0"/>
                                          </p:stCondLst>
                                        </p:cTn>
                                        <p:tgtEl>
                                          <p:spTgt spid="20"/>
                                        </p:tgtEl>
                                        <p:attrNameLst>
                                          <p:attrName>style.visibility</p:attrName>
                                        </p:attrNameLst>
                                      </p:cBhvr>
                                      <p:to>
                                        <p:strVal val="visible"/>
                                      </p:to>
                                    </p:set>
                                    <p:animEffect transition="in" filter="fade">
                                      <p:cBhvr>
                                        <p:cTn id="88" dur="650"/>
                                        <p:tgtEl>
                                          <p:spTgt spid="20"/>
                                        </p:tgtEl>
                                      </p:cBhvr>
                                    </p:animEffect>
                                    <p:anim calcmode="lin" valueType="num">
                                      <p:cBhvr>
                                        <p:cTn id="89" dur="650" fill="hold"/>
                                        <p:tgtEl>
                                          <p:spTgt spid="20"/>
                                        </p:tgtEl>
                                        <p:attrNameLst>
                                          <p:attrName>ppt_x</p:attrName>
                                        </p:attrNameLst>
                                      </p:cBhvr>
                                      <p:tavLst>
                                        <p:tav tm="0">
                                          <p:val>
                                            <p:strVal val="#ppt_x"/>
                                          </p:val>
                                        </p:tav>
                                        <p:tav tm="100000">
                                          <p:val>
                                            <p:strVal val="#ppt_x"/>
                                          </p:val>
                                        </p:tav>
                                      </p:tavLst>
                                    </p:anim>
                                    <p:anim calcmode="lin" valueType="num">
                                      <p:cBhvr>
                                        <p:cTn id="90" dur="650" fill="hold"/>
                                        <p:tgtEl>
                                          <p:spTgt spid="20"/>
                                        </p:tgtEl>
                                        <p:attrNameLst>
                                          <p:attrName>ppt_y</p:attrName>
                                        </p:attrNameLst>
                                      </p:cBhvr>
                                      <p:tavLst>
                                        <p:tav tm="0">
                                          <p:val>
                                            <p:strVal val="#ppt_y+.05"/>
                                          </p:val>
                                        </p:tav>
                                        <p:tav tm="100000">
                                          <p:val>
                                            <p:strVal val="#ppt_y"/>
                                          </p:val>
                                        </p:tav>
                                      </p:tavLst>
                                    </p:anim>
                                  </p:childTnLst>
                                </p:cTn>
                              </p:par>
                              <p:par>
                                <p:cTn id="91" presetID="42" presetClass="entr" presetSubtype="0" fill="hold" grpId="0" nodeType="withEffect">
                                  <p:stCondLst>
                                    <p:cond delay="630"/>
                                  </p:stCondLst>
                                  <p:childTnLst>
                                    <p:set>
                                      <p:cBhvr>
                                        <p:cTn id="92" dur="1" fill="hold">
                                          <p:stCondLst>
                                            <p:cond delay="0"/>
                                          </p:stCondLst>
                                        </p:cTn>
                                        <p:tgtEl>
                                          <p:spTgt spid="21"/>
                                        </p:tgtEl>
                                        <p:attrNameLst>
                                          <p:attrName>style.visibility</p:attrName>
                                        </p:attrNameLst>
                                      </p:cBhvr>
                                      <p:to>
                                        <p:strVal val="visible"/>
                                      </p:to>
                                    </p:set>
                                    <p:animEffect transition="in" filter="fade">
                                      <p:cBhvr>
                                        <p:cTn id="93" dur="650"/>
                                        <p:tgtEl>
                                          <p:spTgt spid="21"/>
                                        </p:tgtEl>
                                      </p:cBhvr>
                                    </p:animEffect>
                                    <p:anim calcmode="lin" valueType="num">
                                      <p:cBhvr>
                                        <p:cTn id="94" dur="650" fill="hold"/>
                                        <p:tgtEl>
                                          <p:spTgt spid="21"/>
                                        </p:tgtEl>
                                        <p:attrNameLst>
                                          <p:attrName>ppt_x</p:attrName>
                                        </p:attrNameLst>
                                      </p:cBhvr>
                                      <p:tavLst>
                                        <p:tav tm="0">
                                          <p:val>
                                            <p:strVal val="#ppt_x"/>
                                          </p:val>
                                        </p:tav>
                                        <p:tav tm="100000">
                                          <p:val>
                                            <p:strVal val="#ppt_x"/>
                                          </p:val>
                                        </p:tav>
                                      </p:tavLst>
                                    </p:anim>
                                    <p:anim calcmode="lin" valueType="num">
                                      <p:cBhvr>
                                        <p:cTn id="95" dur="650" fill="hold"/>
                                        <p:tgtEl>
                                          <p:spTgt spid="21"/>
                                        </p:tgtEl>
                                        <p:attrNameLst>
                                          <p:attrName>ppt_y</p:attrName>
                                        </p:attrNameLst>
                                      </p:cBhvr>
                                      <p:tavLst>
                                        <p:tav tm="0">
                                          <p:val>
                                            <p:strVal val="#ppt_y+.05"/>
                                          </p:val>
                                        </p:tav>
                                        <p:tav tm="100000">
                                          <p:val>
                                            <p:strVal val="#ppt_y"/>
                                          </p:val>
                                        </p:tav>
                                      </p:tavLst>
                                    </p:anim>
                                  </p:childTnLst>
                                </p:cTn>
                              </p:par>
                              <p:par>
                                <p:cTn id="96" presetID="42" presetClass="entr" presetSubtype="0" fill="hold" grpId="0" nodeType="withEffect">
                                  <p:stCondLst>
                                    <p:cond delay="630"/>
                                  </p:stCondLst>
                                  <p:childTnLst>
                                    <p:set>
                                      <p:cBhvr>
                                        <p:cTn id="97" dur="1" fill="hold">
                                          <p:stCondLst>
                                            <p:cond delay="0"/>
                                          </p:stCondLst>
                                        </p:cTn>
                                        <p:tgtEl>
                                          <p:spTgt spid="22"/>
                                        </p:tgtEl>
                                        <p:attrNameLst>
                                          <p:attrName>style.visibility</p:attrName>
                                        </p:attrNameLst>
                                      </p:cBhvr>
                                      <p:to>
                                        <p:strVal val="visible"/>
                                      </p:to>
                                    </p:set>
                                    <p:animEffect transition="in" filter="fade">
                                      <p:cBhvr>
                                        <p:cTn id="98" dur="650"/>
                                        <p:tgtEl>
                                          <p:spTgt spid="22"/>
                                        </p:tgtEl>
                                      </p:cBhvr>
                                    </p:animEffect>
                                    <p:anim calcmode="lin" valueType="num">
                                      <p:cBhvr>
                                        <p:cTn id="99" dur="650" fill="hold"/>
                                        <p:tgtEl>
                                          <p:spTgt spid="22"/>
                                        </p:tgtEl>
                                        <p:attrNameLst>
                                          <p:attrName>ppt_x</p:attrName>
                                        </p:attrNameLst>
                                      </p:cBhvr>
                                      <p:tavLst>
                                        <p:tav tm="0">
                                          <p:val>
                                            <p:strVal val="#ppt_x"/>
                                          </p:val>
                                        </p:tav>
                                        <p:tav tm="100000">
                                          <p:val>
                                            <p:strVal val="#ppt_x"/>
                                          </p:val>
                                        </p:tav>
                                      </p:tavLst>
                                    </p:anim>
                                    <p:anim calcmode="lin" valueType="num">
                                      <p:cBhvr>
                                        <p:cTn id="100" dur="650" fill="hold"/>
                                        <p:tgtEl>
                                          <p:spTgt spid="22"/>
                                        </p:tgtEl>
                                        <p:attrNameLst>
                                          <p:attrName>ppt_y</p:attrName>
                                        </p:attrNameLst>
                                      </p:cBhvr>
                                      <p:tavLst>
                                        <p:tav tm="0">
                                          <p:val>
                                            <p:strVal val="#ppt_y+.05"/>
                                          </p:val>
                                        </p:tav>
                                        <p:tav tm="100000">
                                          <p:val>
                                            <p:strVal val="#ppt_y"/>
                                          </p:val>
                                        </p:tav>
                                      </p:tavLst>
                                    </p:anim>
                                  </p:childTnLst>
                                </p:cTn>
                              </p:par>
                              <p:par>
                                <p:cTn id="101" presetID="42" presetClass="entr" presetSubtype="0" fill="hold" grpId="0" nodeType="withEffect">
                                  <p:stCondLst>
                                    <p:cond delay="630"/>
                                  </p:stCondLst>
                                  <p:childTnLst>
                                    <p:set>
                                      <p:cBhvr>
                                        <p:cTn id="102" dur="1" fill="hold">
                                          <p:stCondLst>
                                            <p:cond delay="0"/>
                                          </p:stCondLst>
                                        </p:cTn>
                                        <p:tgtEl>
                                          <p:spTgt spid="23"/>
                                        </p:tgtEl>
                                        <p:attrNameLst>
                                          <p:attrName>style.visibility</p:attrName>
                                        </p:attrNameLst>
                                      </p:cBhvr>
                                      <p:to>
                                        <p:strVal val="visible"/>
                                      </p:to>
                                    </p:set>
                                    <p:animEffect transition="in" filter="fade">
                                      <p:cBhvr>
                                        <p:cTn id="103" dur="650"/>
                                        <p:tgtEl>
                                          <p:spTgt spid="23"/>
                                        </p:tgtEl>
                                      </p:cBhvr>
                                    </p:animEffect>
                                    <p:anim calcmode="lin" valueType="num">
                                      <p:cBhvr>
                                        <p:cTn id="104" dur="650" fill="hold"/>
                                        <p:tgtEl>
                                          <p:spTgt spid="23"/>
                                        </p:tgtEl>
                                        <p:attrNameLst>
                                          <p:attrName>ppt_x</p:attrName>
                                        </p:attrNameLst>
                                      </p:cBhvr>
                                      <p:tavLst>
                                        <p:tav tm="0">
                                          <p:val>
                                            <p:strVal val="#ppt_x"/>
                                          </p:val>
                                        </p:tav>
                                        <p:tav tm="100000">
                                          <p:val>
                                            <p:strVal val="#ppt_x"/>
                                          </p:val>
                                        </p:tav>
                                      </p:tavLst>
                                    </p:anim>
                                    <p:anim calcmode="lin" valueType="num">
                                      <p:cBhvr>
                                        <p:cTn id="105" dur="650" fill="hold"/>
                                        <p:tgtEl>
                                          <p:spTgt spid="23"/>
                                        </p:tgtEl>
                                        <p:attrNameLst>
                                          <p:attrName>ppt_y</p:attrName>
                                        </p:attrNameLst>
                                      </p:cBhvr>
                                      <p:tavLst>
                                        <p:tav tm="0">
                                          <p:val>
                                            <p:strVal val="#ppt_y+.05"/>
                                          </p:val>
                                        </p:tav>
                                        <p:tav tm="100000">
                                          <p:val>
                                            <p:strVal val="#ppt_y"/>
                                          </p:val>
                                        </p:tav>
                                      </p:tavLst>
                                    </p:anim>
                                  </p:childTnLst>
                                </p:cTn>
                              </p:par>
                              <p:par>
                                <p:cTn id="106" presetID="42" presetClass="entr" presetSubtype="0" fill="hold" grpId="0" nodeType="withEffect">
                                  <p:stCondLst>
                                    <p:cond delay="630"/>
                                  </p:stCondLst>
                                  <p:childTnLst>
                                    <p:set>
                                      <p:cBhvr>
                                        <p:cTn id="107" dur="1" fill="hold">
                                          <p:stCondLst>
                                            <p:cond delay="0"/>
                                          </p:stCondLst>
                                        </p:cTn>
                                        <p:tgtEl>
                                          <p:spTgt spid="24"/>
                                        </p:tgtEl>
                                        <p:attrNameLst>
                                          <p:attrName>style.visibility</p:attrName>
                                        </p:attrNameLst>
                                      </p:cBhvr>
                                      <p:to>
                                        <p:strVal val="visible"/>
                                      </p:to>
                                    </p:set>
                                    <p:animEffect transition="in" filter="fade">
                                      <p:cBhvr>
                                        <p:cTn id="108" dur="650"/>
                                        <p:tgtEl>
                                          <p:spTgt spid="24"/>
                                        </p:tgtEl>
                                      </p:cBhvr>
                                    </p:animEffect>
                                    <p:anim calcmode="lin" valueType="num">
                                      <p:cBhvr>
                                        <p:cTn id="109" dur="650" fill="hold"/>
                                        <p:tgtEl>
                                          <p:spTgt spid="24"/>
                                        </p:tgtEl>
                                        <p:attrNameLst>
                                          <p:attrName>ppt_x</p:attrName>
                                        </p:attrNameLst>
                                      </p:cBhvr>
                                      <p:tavLst>
                                        <p:tav tm="0">
                                          <p:val>
                                            <p:strVal val="#ppt_x"/>
                                          </p:val>
                                        </p:tav>
                                        <p:tav tm="100000">
                                          <p:val>
                                            <p:strVal val="#ppt_x"/>
                                          </p:val>
                                        </p:tav>
                                      </p:tavLst>
                                    </p:anim>
                                    <p:anim calcmode="lin" valueType="num">
                                      <p:cBhvr>
                                        <p:cTn id="110" dur="650" fill="hold"/>
                                        <p:tgtEl>
                                          <p:spTgt spid="24"/>
                                        </p:tgtEl>
                                        <p:attrNameLst>
                                          <p:attrName>ppt_y</p:attrName>
                                        </p:attrNameLst>
                                      </p:cBhvr>
                                      <p:tavLst>
                                        <p:tav tm="0">
                                          <p:val>
                                            <p:strVal val="#ppt_y+.05"/>
                                          </p:val>
                                        </p:tav>
                                        <p:tav tm="100000">
                                          <p:val>
                                            <p:strVal val="#ppt_y"/>
                                          </p:val>
                                        </p:tav>
                                      </p:tavLst>
                                    </p:anim>
                                  </p:childTnLst>
                                </p:cTn>
                              </p:par>
                              <p:par>
                                <p:cTn id="111" presetID="42" presetClass="entr" presetSubtype="0" fill="hold" grpId="0" nodeType="withEffect">
                                  <p:stCondLst>
                                    <p:cond delay="740"/>
                                  </p:stCondLst>
                                  <p:childTnLst>
                                    <p:set>
                                      <p:cBhvr>
                                        <p:cTn id="112" dur="1" fill="hold">
                                          <p:stCondLst>
                                            <p:cond delay="0"/>
                                          </p:stCondLst>
                                        </p:cTn>
                                        <p:tgtEl>
                                          <p:spTgt spid="25"/>
                                        </p:tgtEl>
                                        <p:attrNameLst>
                                          <p:attrName>style.visibility</p:attrName>
                                        </p:attrNameLst>
                                      </p:cBhvr>
                                      <p:to>
                                        <p:strVal val="visible"/>
                                      </p:to>
                                    </p:set>
                                    <p:animEffect transition="in" filter="fade">
                                      <p:cBhvr>
                                        <p:cTn id="113" dur="650"/>
                                        <p:tgtEl>
                                          <p:spTgt spid="25"/>
                                        </p:tgtEl>
                                      </p:cBhvr>
                                    </p:animEffect>
                                    <p:anim calcmode="lin" valueType="num">
                                      <p:cBhvr>
                                        <p:cTn id="114" dur="650" fill="hold"/>
                                        <p:tgtEl>
                                          <p:spTgt spid="25"/>
                                        </p:tgtEl>
                                        <p:attrNameLst>
                                          <p:attrName>ppt_x</p:attrName>
                                        </p:attrNameLst>
                                      </p:cBhvr>
                                      <p:tavLst>
                                        <p:tav tm="0">
                                          <p:val>
                                            <p:strVal val="#ppt_x"/>
                                          </p:val>
                                        </p:tav>
                                        <p:tav tm="100000">
                                          <p:val>
                                            <p:strVal val="#ppt_x"/>
                                          </p:val>
                                        </p:tav>
                                      </p:tavLst>
                                    </p:anim>
                                    <p:anim calcmode="lin" valueType="num">
                                      <p:cBhvr>
                                        <p:cTn id="115" dur="650" fill="hold"/>
                                        <p:tgtEl>
                                          <p:spTgt spid="25"/>
                                        </p:tgtEl>
                                        <p:attrNameLst>
                                          <p:attrName>ppt_y</p:attrName>
                                        </p:attrNameLst>
                                      </p:cBhvr>
                                      <p:tavLst>
                                        <p:tav tm="0">
                                          <p:val>
                                            <p:strVal val="#ppt_y+.05"/>
                                          </p:val>
                                        </p:tav>
                                        <p:tav tm="100000">
                                          <p:val>
                                            <p:strVal val="#ppt_y"/>
                                          </p:val>
                                        </p:tav>
                                      </p:tavLst>
                                    </p:anim>
                                  </p:childTnLst>
                                </p:cTn>
                              </p:par>
                              <p:par>
                                <p:cTn id="116" presetID="42" presetClass="entr" presetSubtype="0" fill="hold" grpId="0" nodeType="withEffect">
                                  <p:stCondLst>
                                    <p:cond delay="740"/>
                                  </p:stCondLst>
                                  <p:childTnLst>
                                    <p:set>
                                      <p:cBhvr>
                                        <p:cTn id="117" dur="1" fill="hold">
                                          <p:stCondLst>
                                            <p:cond delay="0"/>
                                          </p:stCondLst>
                                        </p:cTn>
                                        <p:tgtEl>
                                          <p:spTgt spid="26"/>
                                        </p:tgtEl>
                                        <p:attrNameLst>
                                          <p:attrName>style.visibility</p:attrName>
                                        </p:attrNameLst>
                                      </p:cBhvr>
                                      <p:to>
                                        <p:strVal val="visible"/>
                                      </p:to>
                                    </p:set>
                                    <p:animEffect transition="in" filter="fade">
                                      <p:cBhvr>
                                        <p:cTn id="118" dur="650"/>
                                        <p:tgtEl>
                                          <p:spTgt spid="26"/>
                                        </p:tgtEl>
                                      </p:cBhvr>
                                    </p:animEffect>
                                    <p:anim calcmode="lin" valueType="num">
                                      <p:cBhvr>
                                        <p:cTn id="119" dur="650" fill="hold"/>
                                        <p:tgtEl>
                                          <p:spTgt spid="26"/>
                                        </p:tgtEl>
                                        <p:attrNameLst>
                                          <p:attrName>ppt_x</p:attrName>
                                        </p:attrNameLst>
                                      </p:cBhvr>
                                      <p:tavLst>
                                        <p:tav tm="0">
                                          <p:val>
                                            <p:strVal val="#ppt_x"/>
                                          </p:val>
                                        </p:tav>
                                        <p:tav tm="100000">
                                          <p:val>
                                            <p:strVal val="#ppt_x"/>
                                          </p:val>
                                        </p:tav>
                                      </p:tavLst>
                                    </p:anim>
                                    <p:anim calcmode="lin" valueType="num">
                                      <p:cBhvr>
                                        <p:cTn id="120" dur="650" fill="hold"/>
                                        <p:tgtEl>
                                          <p:spTgt spid="26"/>
                                        </p:tgtEl>
                                        <p:attrNameLst>
                                          <p:attrName>ppt_y</p:attrName>
                                        </p:attrNameLst>
                                      </p:cBhvr>
                                      <p:tavLst>
                                        <p:tav tm="0">
                                          <p:val>
                                            <p:strVal val="#ppt_y+.05"/>
                                          </p:val>
                                        </p:tav>
                                        <p:tav tm="100000">
                                          <p:val>
                                            <p:strVal val="#ppt_y"/>
                                          </p:val>
                                        </p:tav>
                                      </p:tavLst>
                                    </p:anim>
                                  </p:childTnLst>
                                </p:cTn>
                              </p:par>
                              <p:par>
                                <p:cTn id="121" presetID="42" presetClass="entr" presetSubtype="0" fill="hold" grpId="0" nodeType="withEffect">
                                  <p:stCondLst>
                                    <p:cond delay="740"/>
                                  </p:stCondLst>
                                  <p:childTnLst>
                                    <p:set>
                                      <p:cBhvr>
                                        <p:cTn id="122" dur="1" fill="hold">
                                          <p:stCondLst>
                                            <p:cond delay="0"/>
                                          </p:stCondLst>
                                        </p:cTn>
                                        <p:tgtEl>
                                          <p:spTgt spid="27"/>
                                        </p:tgtEl>
                                        <p:attrNameLst>
                                          <p:attrName>style.visibility</p:attrName>
                                        </p:attrNameLst>
                                      </p:cBhvr>
                                      <p:to>
                                        <p:strVal val="visible"/>
                                      </p:to>
                                    </p:set>
                                    <p:animEffect transition="in" filter="fade">
                                      <p:cBhvr>
                                        <p:cTn id="123" dur="650"/>
                                        <p:tgtEl>
                                          <p:spTgt spid="27"/>
                                        </p:tgtEl>
                                      </p:cBhvr>
                                    </p:animEffect>
                                    <p:anim calcmode="lin" valueType="num">
                                      <p:cBhvr>
                                        <p:cTn id="124" dur="650" fill="hold"/>
                                        <p:tgtEl>
                                          <p:spTgt spid="27"/>
                                        </p:tgtEl>
                                        <p:attrNameLst>
                                          <p:attrName>ppt_x</p:attrName>
                                        </p:attrNameLst>
                                      </p:cBhvr>
                                      <p:tavLst>
                                        <p:tav tm="0">
                                          <p:val>
                                            <p:strVal val="#ppt_x"/>
                                          </p:val>
                                        </p:tav>
                                        <p:tav tm="100000">
                                          <p:val>
                                            <p:strVal val="#ppt_x"/>
                                          </p:val>
                                        </p:tav>
                                      </p:tavLst>
                                    </p:anim>
                                    <p:anim calcmode="lin" valueType="num">
                                      <p:cBhvr>
                                        <p:cTn id="125" dur="650" fill="hold"/>
                                        <p:tgtEl>
                                          <p:spTgt spid="27"/>
                                        </p:tgtEl>
                                        <p:attrNameLst>
                                          <p:attrName>ppt_y</p:attrName>
                                        </p:attrNameLst>
                                      </p:cBhvr>
                                      <p:tavLst>
                                        <p:tav tm="0">
                                          <p:val>
                                            <p:strVal val="#ppt_y+.05"/>
                                          </p:val>
                                        </p:tav>
                                        <p:tav tm="100000">
                                          <p:val>
                                            <p:strVal val="#ppt_y"/>
                                          </p:val>
                                        </p:tav>
                                      </p:tavLst>
                                    </p:anim>
                                  </p:childTnLst>
                                </p:cTn>
                              </p:par>
                              <p:par>
                                <p:cTn id="126" presetID="42" presetClass="entr" presetSubtype="0" fill="hold" grpId="0" nodeType="withEffect">
                                  <p:stCondLst>
                                    <p:cond delay="740"/>
                                  </p:stCondLst>
                                  <p:childTnLst>
                                    <p:set>
                                      <p:cBhvr>
                                        <p:cTn id="127" dur="1" fill="hold">
                                          <p:stCondLst>
                                            <p:cond delay="0"/>
                                          </p:stCondLst>
                                        </p:cTn>
                                        <p:tgtEl>
                                          <p:spTgt spid="28"/>
                                        </p:tgtEl>
                                        <p:attrNameLst>
                                          <p:attrName>style.visibility</p:attrName>
                                        </p:attrNameLst>
                                      </p:cBhvr>
                                      <p:to>
                                        <p:strVal val="visible"/>
                                      </p:to>
                                    </p:set>
                                    <p:animEffect transition="in" filter="fade">
                                      <p:cBhvr>
                                        <p:cTn id="128" dur="650"/>
                                        <p:tgtEl>
                                          <p:spTgt spid="28"/>
                                        </p:tgtEl>
                                      </p:cBhvr>
                                    </p:animEffect>
                                    <p:anim calcmode="lin" valueType="num">
                                      <p:cBhvr>
                                        <p:cTn id="129" dur="650" fill="hold"/>
                                        <p:tgtEl>
                                          <p:spTgt spid="28"/>
                                        </p:tgtEl>
                                        <p:attrNameLst>
                                          <p:attrName>ppt_x</p:attrName>
                                        </p:attrNameLst>
                                      </p:cBhvr>
                                      <p:tavLst>
                                        <p:tav tm="0">
                                          <p:val>
                                            <p:strVal val="#ppt_x"/>
                                          </p:val>
                                        </p:tav>
                                        <p:tav tm="100000">
                                          <p:val>
                                            <p:strVal val="#ppt_x"/>
                                          </p:val>
                                        </p:tav>
                                      </p:tavLst>
                                    </p:anim>
                                    <p:anim calcmode="lin" valueType="num">
                                      <p:cBhvr>
                                        <p:cTn id="130" dur="650" fill="hold"/>
                                        <p:tgtEl>
                                          <p:spTgt spid="28"/>
                                        </p:tgtEl>
                                        <p:attrNameLst>
                                          <p:attrName>ppt_y</p:attrName>
                                        </p:attrNameLst>
                                      </p:cBhvr>
                                      <p:tavLst>
                                        <p:tav tm="0">
                                          <p:val>
                                            <p:strVal val="#ppt_y+.05"/>
                                          </p:val>
                                        </p:tav>
                                        <p:tav tm="100000">
                                          <p:val>
                                            <p:strVal val="#ppt_y"/>
                                          </p:val>
                                        </p:tav>
                                      </p:tavLst>
                                    </p:anim>
                                  </p:childTnLst>
                                </p:cTn>
                              </p:par>
                              <p:par>
                                <p:cTn id="131" presetID="42" presetClass="entr" presetSubtype="0" fill="hold" grpId="0" nodeType="withEffect">
                                  <p:stCondLst>
                                    <p:cond delay="740"/>
                                  </p:stCondLst>
                                  <p:childTnLst>
                                    <p:set>
                                      <p:cBhvr>
                                        <p:cTn id="132" dur="1" fill="hold">
                                          <p:stCondLst>
                                            <p:cond delay="0"/>
                                          </p:stCondLst>
                                        </p:cTn>
                                        <p:tgtEl>
                                          <p:spTgt spid="29"/>
                                        </p:tgtEl>
                                        <p:attrNameLst>
                                          <p:attrName>style.visibility</p:attrName>
                                        </p:attrNameLst>
                                      </p:cBhvr>
                                      <p:to>
                                        <p:strVal val="visible"/>
                                      </p:to>
                                    </p:set>
                                    <p:animEffect transition="in" filter="fade">
                                      <p:cBhvr>
                                        <p:cTn id="133" dur="650"/>
                                        <p:tgtEl>
                                          <p:spTgt spid="29"/>
                                        </p:tgtEl>
                                      </p:cBhvr>
                                    </p:animEffect>
                                    <p:anim calcmode="lin" valueType="num">
                                      <p:cBhvr>
                                        <p:cTn id="134" dur="650" fill="hold"/>
                                        <p:tgtEl>
                                          <p:spTgt spid="29"/>
                                        </p:tgtEl>
                                        <p:attrNameLst>
                                          <p:attrName>ppt_x</p:attrName>
                                        </p:attrNameLst>
                                      </p:cBhvr>
                                      <p:tavLst>
                                        <p:tav tm="0">
                                          <p:val>
                                            <p:strVal val="#ppt_x"/>
                                          </p:val>
                                        </p:tav>
                                        <p:tav tm="100000">
                                          <p:val>
                                            <p:strVal val="#ppt_x"/>
                                          </p:val>
                                        </p:tav>
                                      </p:tavLst>
                                    </p:anim>
                                    <p:anim calcmode="lin" valueType="num">
                                      <p:cBhvr>
                                        <p:cTn id="135" dur="650" fill="hold"/>
                                        <p:tgtEl>
                                          <p:spTgt spid="29"/>
                                        </p:tgtEl>
                                        <p:attrNameLst>
                                          <p:attrName>ppt_y</p:attrName>
                                        </p:attrNameLst>
                                      </p:cBhvr>
                                      <p:tavLst>
                                        <p:tav tm="0">
                                          <p:val>
                                            <p:strVal val="#ppt_y+.05"/>
                                          </p:val>
                                        </p:tav>
                                        <p:tav tm="100000">
                                          <p:val>
                                            <p:strVal val="#ppt_y"/>
                                          </p:val>
                                        </p:tav>
                                      </p:tavLst>
                                    </p:anim>
                                  </p:childTnLst>
                                </p:cTn>
                              </p:par>
                              <p:par>
                                <p:cTn id="136" presetID="42" presetClass="entr" presetSubtype="0" fill="hold" grpId="0" nodeType="withEffect">
                                  <p:stCondLst>
                                    <p:cond delay="850"/>
                                  </p:stCondLst>
                                  <p:childTnLst>
                                    <p:set>
                                      <p:cBhvr>
                                        <p:cTn id="137" dur="1" fill="hold">
                                          <p:stCondLst>
                                            <p:cond delay="0"/>
                                          </p:stCondLst>
                                        </p:cTn>
                                        <p:tgtEl>
                                          <p:spTgt spid="30"/>
                                        </p:tgtEl>
                                        <p:attrNameLst>
                                          <p:attrName>style.visibility</p:attrName>
                                        </p:attrNameLst>
                                      </p:cBhvr>
                                      <p:to>
                                        <p:strVal val="visible"/>
                                      </p:to>
                                    </p:set>
                                    <p:animEffect transition="in" filter="fade">
                                      <p:cBhvr>
                                        <p:cTn id="138" dur="650"/>
                                        <p:tgtEl>
                                          <p:spTgt spid="30"/>
                                        </p:tgtEl>
                                      </p:cBhvr>
                                    </p:animEffect>
                                    <p:anim calcmode="lin" valueType="num">
                                      <p:cBhvr>
                                        <p:cTn id="139" dur="650" fill="hold"/>
                                        <p:tgtEl>
                                          <p:spTgt spid="30"/>
                                        </p:tgtEl>
                                        <p:attrNameLst>
                                          <p:attrName>ppt_x</p:attrName>
                                        </p:attrNameLst>
                                      </p:cBhvr>
                                      <p:tavLst>
                                        <p:tav tm="0">
                                          <p:val>
                                            <p:strVal val="#ppt_x"/>
                                          </p:val>
                                        </p:tav>
                                        <p:tav tm="100000">
                                          <p:val>
                                            <p:strVal val="#ppt_x"/>
                                          </p:val>
                                        </p:tav>
                                      </p:tavLst>
                                    </p:anim>
                                    <p:anim calcmode="lin" valueType="num">
                                      <p:cBhvr>
                                        <p:cTn id="140" dur="650" fill="hold"/>
                                        <p:tgtEl>
                                          <p:spTgt spid="30"/>
                                        </p:tgtEl>
                                        <p:attrNameLst>
                                          <p:attrName>ppt_y</p:attrName>
                                        </p:attrNameLst>
                                      </p:cBhvr>
                                      <p:tavLst>
                                        <p:tav tm="0">
                                          <p:val>
                                            <p:strVal val="#ppt_y+.05"/>
                                          </p:val>
                                        </p:tav>
                                        <p:tav tm="100000">
                                          <p:val>
                                            <p:strVal val="#ppt_y"/>
                                          </p:val>
                                        </p:tav>
                                      </p:tavLst>
                                    </p:anim>
                                  </p:childTnLst>
                                </p:cTn>
                              </p:par>
                              <p:par>
                                <p:cTn id="141" presetID="42" presetClass="entr" presetSubtype="0" fill="hold" grpId="0" nodeType="withEffect">
                                  <p:stCondLst>
                                    <p:cond delay="850"/>
                                  </p:stCondLst>
                                  <p:childTnLst>
                                    <p:set>
                                      <p:cBhvr>
                                        <p:cTn id="142" dur="1" fill="hold">
                                          <p:stCondLst>
                                            <p:cond delay="0"/>
                                          </p:stCondLst>
                                        </p:cTn>
                                        <p:tgtEl>
                                          <p:spTgt spid="31"/>
                                        </p:tgtEl>
                                        <p:attrNameLst>
                                          <p:attrName>style.visibility</p:attrName>
                                        </p:attrNameLst>
                                      </p:cBhvr>
                                      <p:to>
                                        <p:strVal val="visible"/>
                                      </p:to>
                                    </p:set>
                                    <p:animEffect transition="in" filter="fade">
                                      <p:cBhvr>
                                        <p:cTn id="143" dur="650"/>
                                        <p:tgtEl>
                                          <p:spTgt spid="31"/>
                                        </p:tgtEl>
                                      </p:cBhvr>
                                    </p:animEffect>
                                    <p:anim calcmode="lin" valueType="num">
                                      <p:cBhvr>
                                        <p:cTn id="144" dur="650" fill="hold"/>
                                        <p:tgtEl>
                                          <p:spTgt spid="31"/>
                                        </p:tgtEl>
                                        <p:attrNameLst>
                                          <p:attrName>ppt_x</p:attrName>
                                        </p:attrNameLst>
                                      </p:cBhvr>
                                      <p:tavLst>
                                        <p:tav tm="0">
                                          <p:val>
                                            <p:strVal val="#ppt_x"/>
                                          </p:val>
                                        </p:tav>
                                        <p:tav tm="100000">
                                          <p:val>
                                            <p:strVal val="#ppt_x"/>
                                          </p:val>
                                        </p:tav>
                                      </p:tavLst>
                                    </p:anim>
                                    <p:anim calcmode="lin" valueType="num">
                                      <p:cBhvr>
                                        <p:cTn id="145" dur="650" fill="hold"/>
                                        <p:tgtEl>
                                          <p:spTgt spid="31"/>
                                        </p:tgtEl>
                                        <p:attrNameLst>
                                          <p:attrName>ppt_y</p:attrName>
                                        </p:attrNameLst>
                                      </p:cBhvr>
                                      <p:tavLst>
                                        <p:tav tm="0">
                                          <p:val>
                                            <p:strVal val="#ppt_y+.05"/>
                                          </p:val>
                                        </p:tav>
                                        <p:tav tm="100000">
                                          <p:val>
                                            <p:strVal val="#ppt_y"/>
                                          </p:val>
                                        </p:tav>
                                      </p:tavLst>
                                    </p:anim>
                                  </p:childTnLst>
                                </p:cTn>
                              </p:par>
                              <p:par>
                                <p:cTn id="146" presetID="42" presetClass="entr" presetSubtype="0" fill="hold" grpId="0" nodeType="withEffect">
                                  <p:stCondLst>
                                    <p:cond delay="850"/>
                                  </p:stCondLst>
                                  <p:childTnLst>
                                    <p:set>
                                      <p:cBhvr>
                                        <p:cTn id="147" dur="1" fill="hold">
                                          <p:stCondLst>
                                            <p:cond delay="0"/>
                                          </p:stCondLst>
                                        </p:cTn>
                                        <p:tgtEl>
                                          <p:spTgt spid="32"/>
                                        </p:tgtEl>
                                        <p:attrNameLst>
                                          <p:attrName>style.visibility</p:attrName>
                                        </p:attrNameLst>
                                      </p:cBhvr>
                                      <p:to>
                                        <p:strVal val="visible"/>
                                      </p:to>
                                    </p:set>
                                    <p:animEffect transition="in" filter="fade">
                                      <p:cBhvr>
                                        <p:cTn id="148" dur="650"/>
                                        <p:tgtEl>
                                          <p:spTgt spid="32"/>
                                        </p:tgtEl>
                                      </p:cBhvr>
                                    </p:animEffect>
                                    <p:anim calcmode="lin" valueType="num">
                                      <p:cBhvr>
                                        <p:cTn id="149" dur="650" fill="hold"/>
                                        <p:tgtEl>
                                          <p:spTgt spid="32"/>
                                        </p:tgtEl>
                                        <p:attrNameLst>
                                          <p:attrName>ppt_x</p:attrName>
                                        </p:attrNameLst>
                                      </p:cBhvr>
                                      <p:tavLst>
                                        <p:tav tm="0">
                                          <p:val>
                                            <p:strVal val="#ppt_x"/>
                                          </p:val>
                                        </p:tav>
                                        <p:tav tm="100000">
                                          <p:val>
                                            <p:strVal val="#ppt_x"/>
                                          </p:val>
                                        </p:tav>
                                      </p:tavLst>
                                    </p:anim>
                                    <p:anim calcmode="lin" valueType="num">
                                      <p:cBhvr>
                                        <p:cTn id="150" dur="650" fill="hold"/>
                                        <p:tgtEl>
                                          <p:spTgt spid="32"/>
                                        </p:tgtEl>
                                        <p:attrNameLst>
                                          <p:attrName>ppt_y</p:attrName>
                                        </p:attrNameLst>
                                      </p:cBhvr>
                                      <p:tavLst>
                                        <p:tav tm="0">
                                          <p:val>
                                            <p:strVal val="#ppt_y+.05"/>
                                          </p:val>
                                        </p:tav>
                                        <p:tav tm="100000">
                                          <p:val>
                                            <p:strVal val="#ppt_y"/>
                                          </p:val>
                                        </p:tav>
                                      </p:tavLst>
                                    </p:anim>
                                  </p:childTnLst>
                                </p:cTn>
                              </p:par>
                              <p:par>
                                <p:cTn id="151" presetID="42" presetClass="entr" presetSubtype="0" fill="hold" grpId="0" nodeType="withEffect">
                                  <p:stCondLst>
                                    <p:cond delay="850"/>
                                  </p:stCondLst>
                                  <p:childTnLst>
                                    <p:set>
                                      <p:cBhvr>
                                        <p:cTn id="152" dur="1" fill="hold">
                                          <p:stCondLst>
                                            <p:cond delay="0"/>
                                          </p:stCondLst>
                                        </p:cTn>
                                        <p:tgtEl>
                                          <p:spTgt spid="33"/>
                                        </p:tgtEl>
                                        <p:attrNameLst>
                                          <p:attrName>style.visibility</p:attrName>
                                        </p:attrNameLst>
                                      </p:cBhvr>
                                      <p:to>
                                        <p:strVal val="visible"/>
                                      </p:to>
                                    </p:set>
                                    <p:animEffect transition="in" filter="fade">
                                      <p:cBhvr>
                                        <p:cTn id="153" dur="650"/>
                                        <p:tgtEl>
                                          <p:spTgt spid="33"/>
                                        </p:tgtEl>
                                      </p:cBhvr>
                                    </p:animEffect>
                                    <p:anim calcmode="lin" valueType="num">
                                      <p:cBhvr>
                                        <p:cTn id="154" dur="650" fill="hold"/>
                                        <p:tgtEl>
                                          <p:spTgt spid="33"/>
                                        </p:tgtEl>
                                        <p:attrNameLst>
                                          <p:attrName>ppt_x</p:attrName>
                                        </p:attrNameLst>
                                      </p:cBhvr>
                                      <p:tavLst>
                                        <p:tav tm="0">
                                          <p:val>
                                            <p:strVal val="#ppt_x"/>
                                          </p:val>
                                        </p:tav>
                                        <p:tav tm="100000">
                                          <p:val>
                                            <p:strVal val="#ppt_x"/>
                                          </p:val>
                                        </p:tav>
                                      </p:tavLst>
                                    </p:anim>
                                    <p:anim calcmode="lin" valueType="num">
                                      <p:cBhvr>
                                        <p:cTn id="155" dur="650" fill="hold"/>
                                        <p:tgtEl>
                                          <p:spTgt spid="33"/>
                                        </p:tgtEl>
                                        <p:attrNameLst>
                                          <p:attrName>ppt_y</p:attrName>
                                        </p:attrNameLst>
                                      </p:cBhvr>
                                      <p:tavLst>
                                        <p:tav tm="0">
                                          <p:val>
                                            <p:strVal val="#ppt_y+.05"/>
                                          </p:val>
                                        </p:tav>
                                        <p:tav tm="100000">
                                          <p:val>
                                            <p:strVal val="#ppt_y"/>
                                          </p:val>
                                        </p:tav>
                                      </p:tavLst>
                                    </p:anim>
                                  </p:childTnLst>
                                </p:cTn>
                              </p:par>
                              <p:par>
                                <p:cTn id="156" presetID="42" presetClass="entr" presetSubtype="0" fill="hold" grpId="0" nodeType="withEffect">
                                  <p:stCondLst>
                                    <p:cond delay="850"/>
                                  </p:stCondLst>
                                  <p:childTnLst>
                                    <p:set>
                                      <p:cBhvr>
                                        <p:cTn id="157" dur="1" fill="hold">
                                          <p:stCondLst>
                                            <p:cond delay="0"/>
                                          </p:stCondLst>
                                        </p:cTn>
                                        <p:tgtEl>
                                          <p:spTgt spid="34"/>
                                        </p:tgtEl>
                                        <p:attrNameLst>
                                          <p:attrName>style.visibility</p:attrName>
                                        </p:attrNameLst>
                                      </p:cBhvr>
                                      <p:to>
                                        <p:strVal val="visible"/>
                                      </p:to>
                                    </p:set>
                                    <p:animEffect transition="in" filter="fade">
                                      <p:cBhvr>
                                        <p:cTn id="158" dur="650"/>
                                        <p:tgtEl>
                                          <p:spTgt spid="34"/>
                                        </p:tgtEl>
                                      </p:cBhvr>
                                    </p:animEffect>
                                    <p:anim calcmode="lin" valueType="num">
                                      <p:cBhvr>
                                        <p:cTn id="159" dur="650" fill="hold"/>
                                        <p:tgtEl>
                                          <p:spTgt spid="34"/>
                                        </p:tgtEl>
                                        <p:attrNameLst>
                                          <p:attrName>ppt_x</p:attrName>
                                        </p:attrNameLst>
                                      </p:cBhvr>
                                      <p:tavLst>
                                        <p:tav tm="0">
                                          <p:val>
                                            <p:strVal val="#ppt_x"/>
                                          </p:val>
                                        </p:tav>
                                        <p:tav tm="100000">
                                          <p:val>
                                            <p:strVal val="#ppt_x"/>
                                          </p:val>
                                        </p:tav>
                                      </p:tavLst>
                                    </p:anim>
                                    <p:anim calcmode="lin" valueType="num">
                                      <p:cBhvr>
                                        <p:cTn id="160" dur="650" fill="hold"/>
                                        <p:tgtEl>
                                          <p:spTgt spid="34"/>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6" grpId="0" animBg="1"/>
      <p:bldP spid="8" grpId="0" animBg="1"/>
      <p:bldP spid="9" grpId="0" animBg="1"/>
      <p:bldP spid="10" grpId="0" animBg="1"/>
      <p:bldP spid="11" grpId="0" animBg="1"/>
      <p:bldP spid="13" grpId="0" animBg="1"/>
      <p:bldP spid="14" grpId="0" animBg="1"/>
      <p:bldP spid="15" grpId="0" animBg="1"/>
      <p:bldP spid="16" grpId="0" animBg="1"/>
      <p:bldP spid="18" grpId="0" animBg="1"/>
      <p:bldP spid="19" grpId="0" animBg="1"/>
      <p:bldP spid="20" grpId="0" animBg="1"/>
      <p:bldP spid="21" grpId="0" animBg="1"/>
      <p:bldP spid="23" grpId="0" animBg="1"/>
      <p:bldP spid="24" grpId="0" animBg="1"/>
      <p:bldP spid="25" grpId="0" animBg="1"/>
      <p:bldP spid="26" grpId="0" animBg="1"/>
      <p:bldP spid="28" grpId="0" animBg="1"/>
      <p:bldP spid="29" grpId="0" animBg="1"/>
      <p:bldP spid="30" grpId="0" animBg="1"/>
      <p:bldP spid="31" grpId="0" animBg="1"/>
      <p:bldP spid="33" grpId="0" animBg="1"/>
      <p:bldP spid="3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eyebrow-pill"/>
          <p:cNvSpPr/>
          <p:nvPr/>
        </p:nvSpPr>
        <p:spPr>
          <a:xfrm>
            <a:off x="548640" y="475488"/>
            <a:ext cx="1115568" cy="274320"/>
          </a:xfrm>
          <a:prstGeom prst="roundRect">
            <a:avLst>
              <a:gd name="adj" fmla="val 50000"/>
            </a:avLst>
          </a:prstGeom>
          <a:solidFill>
            <a:srgbClr val="E5E5EA"/>
          </a:solidFill>
          <a:ln/>
        </p:spPr>
      </p:sp>
      <p:sp>
        <p:nvSpPr>
          <p:cNvPr id="3" name="eyebrow"/>
          <p:cNvSpPr txBox="1"/>
          <p:nvPr/>
        </p:nvSpPr>
        <p:spPr>
          <a:xfrm>
            <a:off x="548640" y="475488"/>
            <a:ext cx="1115568" cy="274320"/>
          </a:xfrm>
          <a:prstGeom prst="rect">
            <a:avLst/>
          </a:prstGeom>
          <a:noFill/>
          <a:ln/>
        </p:spPr>
        <p:txBody>
          <a:bodyPr wrap="square" lIns="0" tIns="0" rIns="0" bIns="0" rtlCol="0" anchor="ctr"/>
          <a:lstStyle/>
          <a:p>
            <a:pPr algn="ctr" indent="0" marL="0">
              <a:buNone/>
            </a:pPr>
            <a:r>
              <a:rPr lang="en-US" sz="900" b="1" spc="160" kern="0" dirty="0">
                <a:solidFill>
                  <a:srgbClr val="5C5C61"/>
                </a:solidFill>
                <a:latin typeface="Arial" pitchFamily="34" charset="0"/>
                <a:ea typeface="Arial" pitchFamily="34" charset="-122"/>
                <a:cs typeface="Arial" pitchFamily="34" charset="-120"/>
              </a:rPr>
              <a:t>ATTENDANCE</a:t>
            </a:r>
            <a:endParaRPr lang="en-US" sz="900" dirty="0"/>
          </a:p>
        </p:txBody>
      </p:sp>
      <p:sp>
        <p:nvSpPr>
          <p:cNvPr id="4" name="Text 1"/>
          <p:cNvSpPr/>
          <p:nvPr>
            <p:ph idx="101" type="title" hasCustomPrompt="1"/>
          </p:nvPr>
        </p:nvSpPr>
        <p:spPr>
          <a:xfrm>
            <a:off x="548640" y="896112"/>
            <a:ext cx="6583680" cy="1207008"/>
          </a:xfrm>
          <a:prstGeom prst="rect">
            <a:avLst/>
          </a:prstGeom>
          <a:noFill/>
          <a:ln/>
        </p:spPr>
        <p:txBody>
          <a:bodyPr wrap="square" lIns="0" tIns="0" rIns="0" bIns="0" rtlCol="0" anchor="t"/>
          <a:lstStyle/>
          <a:p>
            <a:pPr algn="l" indent="0" marL="0">
              <a:buNone/>
            </a:pPr>
            <a:r>
              <a:rPr lang="en-US" sz="3400" b="1" dirty="0">
                <a:solidFill>
                  <a:srgbClr val="1D1D1F"/>
                </a:solidFill>
                <a:latin typeface="Arial" pitchFamily="34" charset="0"/>
                <a:ea typeface="Arial" pitchFamily="34" charset="-122"/>
                <a:cs typeface="Arial" pitchFamily="34" charset="-120"/>
              </a:rPr>
              <a:t>Attendance</a:t>
            </a:r>
            <a:endParaRPr lang="en-US" sz="3400" dirty="0"/>
          </a:p>
          <a:p>
            <a:pPr algn="l" indent="0" marL="0">
              <a:buNone/>
            </a:pPr>
            <a:r>
              <a:rPr lang="en-US" sz="3400" dirty="0">
                <a:solidFill>
                  <a:srgbClr val="8E8E93"/>
                </a:solidFill>
                <a:latin typeface="Arial" pitchFamily="34" charset="0"/>
                <a:ea typeface="Arial" pitchFamily="34" charset="-122"/>
                <a:cs typeface="Arial" pitchFamily="34" charset="-120"/>
              </a:rPr>
              <a:t>without the chase</a:t>
            </a:r>
            <a:endParaRPr lang="en-US" sz="3400" dirty="0"/>
          </a:p>
        </p:txBody>
      </p:sp>
      <p:sp>
        <p:nvSpPr>
          <p:cNvPr id="5" name="dot-sync"/>
          <p:cNvSpPr/>
          <p:nvPr/>
        </p:nvSpPr>
        <p:spPr>
          <a:xfrm>
            <a:off x="548640" y="2423160"/>
            <a:ext cx="475488" cy="475488"/>
          </a:xfrm>
          <a:prstGeom prst="ellipse">
            <a:avLst/>
          </a:prstGeom>
          <a:solidFill>
            <a:srgbClr val="1D1D1F"/>
          </a:solidFill>
          <a:ln/>
        </p:spPr>
      </p:sp>
      <p:pic>
        <p:nvPicPr>
          <p:cNvPr id="6" name="icon-sync" descr="">    </p:cNvPr>
          <p:cNvPicPr>
            <a:picLocks noChangeAspect="1"/>
          </p:cNvPicPr>
          <p:nvPr/>
        </p:nvPicPr>
        <p:blipFill>
          <a:blip r:embed="rId1"/>
          <a:stretch>
            <a:fillRect/>
          </a:stretch>
        </p:blipFill>
        <p:spPr>
          <a:xfrm>
            <a:off x="658002" y="2532522"/>
            <a:ext cx="256764" cy="256764"/>
          </a:xfrm>
          <a:prstGeom prst="rect">
            <a:avLst/>
          </a:prstGeom>
        </p:spPr>
      </p:pic>
      <p:sp>
        <p:nvSpPr>
          <p:cNvPr id="7" name="h"/>
          <p:cNvSpPr txBox="1"/>
          <p:nvPr/>
        </p:nvSpPr>
        <p:spPr>
          <a:xfrm>
            <a:off x="1225296" y="2404872"/>
            <a:ext cx="3895344" cy="310896"/>
          </a:xfrm>
          <a:prstGeom prst="rect">
            <a:avLst/>
          </a:prstGeom>
          <a:noFill/>
          <a:ln/>
        </p:spPr>
        <p:txBody>
          <a:bodyPr wrap="square" lIns="0" tIns="0" rIns="0" bIns="0" rtlCol="0" anchor="ctr"/>
          <a:lstStyle/>
          <a:p>
            <a:pPr indent="0" marL="0">
              <a:buNone/>
            </a:pPr>
            <a:r>
              <a:rPr lang="en-US" sz="1500" b="1" dirty="0">
                <a:solidFill>
                  <a:srgbClr val="1D1D1F"/>
                </a:solidFill>
                <a:latin typeface="Arial" pitchFamily="34" charset="0"/>
                <a:ea typeface="Arial" pitchFamily="34" charset="-122"/>
                <a:cs typeface="Arial" pitchFamily="34" charset="-120"/>
              </a:rPr>
              <a:t>CC and SM: automatic</a:t>
            </a:r>
            <a:endParaRPr lang="en-US" sz="1500" dirty="0"/>
          </a:p>
        </p:txBody>
      </p:sp>
      <p:sp>
        <p:nvSpPr>
          <p:cNvPr id="8" name="t"/>
          <p:cNvSpPr txBox="1"/>
          <p:nvPr/>
        </p:nvSpPr>
        <p:spPr>
          <a:xfrm>
            <a:off x="1225296" y="2715768"/>
            <a:ext cx="3895344" cy="777240"/>
          </a:xfrm>
          <a:prstGeom prst="rect">
            <a:avLst/>
          </a:prstGeom>
          <a:noFill/>
          <a:ln/>
        </p:spPr>
        <p:txBody>
          <a:bodyPr wrap="square" lIns="0" tIns="0" rIns="0" bIns="0" rtlCol="0" anchor="t"/>
          <a:lstStyle/>
          <a:p>
            <a:pPr indent="0" marL="0">
              <a:lnSpc>
                <a:spcPct val="105000"/>
              </a:lnSpc>
              <a:buNone/>
            </a:pPr>
            <a:r>
              <a:rPr lang="en-US" sz="1250" dirty="0">
                <a:solidFill>
                  <a:srgbClr val="5C5C61"/>
                </a:solidFill>
                <a:latin typeface="Arial" pitchFamily="34" charset="0"/>
                <a:ea typeface="Arial" pitchFamily="34" charset="-122"/>
                <a:cs typeface="Arial" pitchFamily="34" charset="-120"/>
              </a:rPr>
              <a:t>Counted from the Schedule and the Agent Status Timeline, the way their supervisors already did in Genesys. Supervisors only correct sick days.</a:t>
            </a:r>
            <a:endParaRPr lang="en-US" sz="1250" dirty="0"/>
          </a:p>
        </p:txBody>
      </p:sp>
      <p:sp>
        <p:nvSpPr>
          <p:cNvPr id="9" name="dot-sheet"/>
          <p:cNvSpPr/>
          <p:nvPr/>
        </p:nvSpPr>
        <p:spPr>
          <a:xfrm>
            <a:off x="548640" y="3657600"/>
            <a:ext cx="475488" cy="475488"/>
          </a:xfrm>
          <a:prstGeom prst="ellipse">
            <a:avLst/>
          </a:prstGeom>
          <a:solidFill>
            <a:srgbClr val="1D1D1F"/>
          </a:solidFill>
          <a:ln/>
        </p:spPr>
      </p:sp>
      <p:pic>
        <p:nvPicPr>
          <p:cNvPr id="10" name="icon-sheet" descr="">    </p:cNvPr>
          <p:cNvPicPr>
            <a:picLocks noChangeAspect="1"/>
          </p:cNvPicPr>
          <p:nvPr/>
        </p:nvPicPr>
        <p:blipFill>
          <a:blip r:embed="rId2"/>
          <a:stretch>
            <a:fillRect/>
          </a:stretch>
        </p:blipFill>
        <p:spPr>
          <a:xfrm>
            <a:off x="658002" y="3766962"/>
            <a:ext cx="256764" cy="256764"/>
          </a:xfrm>
          <a:prstGeom prst="rect">
            <a:avLst/>
          </a:prstGeom>
        </p:spPr>
      </p:pic>
      <p:sp>
        <p:nvSpPr>
          <p:cNvPr id="11" name="h"/>
          <p:cNvSpPr txBox="1"/>
          <p:nvPr/>
        </p:nvSpPr>
        <p:spPr>
          <a:xfrm>
            <a:off x="1225296" y="3639312"/>
            <a:ext cx="3895344" cy="310896"/>
          </a:xfrm>
          <a:prstGeom prst="rect">
            <a:avLst/>
          </a:prstGeom>
          <a:noFill/>
          <a:ln/>
        </p:spPr>
        <p:txBody>
          <a:bodyPr wrap="square" lIns="0" tIns="0" rIns="0" bIns="0" rtlCol="0" anchor="ctr"/>
          <a:lstStyle/>
          <a:p>
            <a:pPr indent="0" marL="0">
              <a:buNone/>
            </a:pPr>
            <a:r>
              <a:rPr lang="en-US" sz="1500" b="1" dirty="0">
                <a:solidFill>
                  <a:srgbClr val="1D1D1F"/>
                </a:solidFill>
                <a:latin typeface="Arial" pitchFamily="34" charset="0"/>
                <a:ea typeface="Arial" pitchFamily="34" charset="-122"/>
                <a:cs typeface="Arial" pitchFamily="34" charset="-120"/>
              </a:rPr>
              <a:t>TS, MG, CT, QA, DE, WF: one template</a:t>
            </a:r>
            <a:endParaRPr lang="en-US" sz="1500" dirty="0"/>
          </a:p>
        </p:txBody>
      </p:sp>
      <p:sp>
        <p:nvSpPr>
          <p:cNvPr id="12" name="t"/>
          <p:cNvSpPr txBox="1"/>
          <p:nvPr/>
        </p:nvSpPr>
        <p:spPr>
          <a:xfrm>
            <a:off x="1225296" y="3950208"/>
            <a:ext cx="3895344" cy="777240"/>
          </a:xfrm>
          <a:prstGeom prst="rect">
            <a:avLst/>
          </a:prstGeom>
          <a:noFill/>
          <a:ln/>
        </p:spPr>
        <p:txBody>
          <a:bodyPr wrap="square" lIns="0" tIns="0" rIns="0" bIns="0" rtlCol="0" anchor="t"/>
          <a:lstStyle/>
          <a:p>
            <a:pPr indent="0" marL="0">
              <a:lnSpc>
                <a:spcPct val="105000"/>
              </a:lnSpc>
              <a:buNone/>
            </a:pPr>
            <a:r>
              <a:rPr lang="en-US" sz="1250" dirty="0">
                <a:solidFill>
                  <a:srgbClr val="5C5C61"/>
                </a:solidFill>
                <a:latin typeface="Arial" pitchFamily="34" charset="0"/>
                <a:ea typeface="Arial" pitchFamily="34" charset="-122"/>
                <a:cs typeface="Arial" pitchFamily="34" charset="-120"/>
              </a:rPr>
              <a:t>One file a month for each department, made by the tool. Supervisors write only the late, absent, leave and off days: every other day counts as worked.</a:t>
            </a:r>
            <a:endParaRPr lang="en-US" sz="1250" dirty="0"/>
          </a:p>
        </p:txBody>
      </p:sp>
      <p:sp>
        <p:nvSpPr>
          <p:cNvPr id="13" name="dot-help"/>
          <p:cNvSpPr/>
          <p:nvPr/>
        </p:nvSpPr>
        <p:spPr>
          <a:xfrm>
            <a:off x="548640" y="4892040"/>
            <a:ext cx="475488" cy="475488"/>
          </a:xfrm>
          <a:prstGeom prst="ellipse">
            <a:avLst/>
          </a:prstGeom>
          <a:solidFill>
            <a:srgbClr val="1D1D1F"/>
          </a:solidFill>
          <a:ln/>
        </p:spPr>
      </p:sp>
      <p:pic>
        <p:nvPicPr>
          <p:cNvPr id="14" name="icon-help" descr="">    </p:cNvPr>
          <p:cNvPicPr>
            <a:picLocks noChangeAspect="1"/>
          </p:cNvPicPr>
          <p:nvPr/>
        </p:nvPicPr>
        <p:blipFill>
          <a:blip r:embed="rId3"/>
          <a:stretch>
            <a:fillRect/>
          </a:stretch>
        </p:blipFill>
        <p:spPr>
          <a:xfrm>
            <a:off x="658002" y="5001402"/>
            <a:ext cx="256764" cy="256764"/>
          </a:xfrm>
          <a:prstGeom prst="rect">
            <a:avLst/>
          </a:prstGeom>
        </p:spPr>
      </p:pic>
      <p:sp>
        <p:nvSpPr>
          <p:cNvPr id="15" name="h"/>
          <p:cNvSpPr txBox="1"/>
          <p:nvPr/>
        </p:nvSpPr>
        <p:spPr>
          <a:xfrm>
            <a:off x="1225296" y="4873752"/>
            <a:ext cx="3895344" cy="310896"/>
          </a:xfrm>
          <a:prstGeom prst="rect">
            <a:avLst/>
          </a:prstGeom>
          <a:noFill/>
          <a:ln/>
        </p:spPr>
        <p:txBody>
          <a:bodyPr wrap="square" lIns="0" tIns="0" rIns="0" bIns="0" rtlCol="0" anchor="ctr"/>
          <a:lstStyle/>
          <a:p>
            <a:pPr indent="0" marL="0">
              <a:buNone/>
            </a:pPr>
            <a:r>
              <a:rPr lang="en-US" sz="1500" b="1" dirty="0">
                <a:solidFill>
                  <a:srgbClr val="1D1D1F"/>
                </a:solidFill>
                <a:latin typeface="Arial" pitchFamily="34" charset="0"/>
                <a:ea typeface="Arial" pitchFamily="34" charset="-122"/>
                <a:cs typeface="Arial" pitchFamily="34" charset="-120"/>
              </a:rPr>
              <a:t>Opens on How to fill</a:t>
            </a:r>
            <a:endParaRPr lang="en-US" sz="1500" dirty="0"/>
          </a:p>
        </p:txBody>
      </p:sp>
      <p:sp>
        <p:nvSpPr>
          <p:cNvPr id="16" name="t"/>
          <p:cNvSpPr txBox="1"/>
          <p:nvPr/>
        </p:nvSpPr>
        <p:spPr>
          <a:xfrm>
            <a:off x="1225296" y="5184648"/>
            <a:ext cx="3895344" cy="777240"/>
          </a:xfrm>
          <a:prstGeom prst="rect">
            <a:avLst/>
          </a:prstGeom>
          <a:noFill/>
          <a:ln/>
        </p:spPr>
        <p:txBody>
          <a:bodyPr wrap="square" lIns="0" tIns="0" rIns="0" bIns="0" rtlCol="0" anchor="t"/>
          <a:lstStyle/>
          <a:p>
            <a:pPr indent="0" marL="0">
              <a:lnSpc>
                <a:spcPct val="105000"/>
              </a:lnSpc>
              <a:buNone/>
            </a:pPr>
            <a:r>
              <a:rPr lang="en-US" sz="1250" dirty="0">
                <a:solidFill>
                  <a:srgbClr val="5C5C61"/>
                </a:solidFill>
                <a:latin typeface="Arial" pitchFamily="34" charset="0"/>
                <a:ea typeface="Arial" pitchFamily="34" charset="-122"/>
                <a:cs typeface="Arial" pitchFamily="34" charset="-120"/>
              </a:rPr>
              <a:t>Examples, the types and tips on the cells, in the same look as the tool's workbooks.</a:t>
            </a:r>
            <a:endParaRPr lang="en-US" sz="1250" dirty="0"/>
          </a:p>
        </p:txBody>
      </p:sp>
      <p:pic>
        <p:nvPicPr>
          <p:cNvPr id="17" name="templates" descr="Attendance templates, one for each department">    </p:cNvPr>
          <p:cNvPicPr>
            <a:picLocks noChangeAspect="1"/>
          </p:cNvPicPr>
          <p:nvPr/>
        </p:nvPicPr>
        <p:blipFill>
          <a:blip r:embed="rId4"/>
          <a:stretch>
            <a:fillRect/>
          </a:stretch>
        </p:blipFill>
        <p:spPr>
          <a:xfrm>
            <a:off x="6172200" y="731520"/>
            <a:ext cx="5669280" cy="3928001"/>
          </a:xfrm>
          <a:prstGeom prst="rect">
            <a:avLst/>
          </a:prstGeom>
        </p:spPr>
      </p:pic>
      <p:pic>
        <p:nvPicPr>
          <p:cNvPr id="18" name="xlsx" descr="An attendance template open on How to fill">    </p:cNvPr>
          <p:cNvPicPr>
            <a:picLocks noChangeAspect="1"/>
          </p:cNvPicPr>
          <p:nvPr/>
        </p:nvPicPr>
        <p:blipFill>
          <a:blip r:embed="rId5"/>
          <a:stretch>
            <a:fillRect/>
          </a:stretch>
        </p:blipFill>
        <p:spPr>
          <a:xfrm>
            <a:off x="5349240" y="3291840"/>
            <a:ext cx="4114800" cy="3186521"/>
          </a:xfrm>
          <a:prstGeom prst="rect">
            <a:avLst/>
          </a:prstGeom>
        </p:spPr>
      </p:pic>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E8E93"/>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42" presetClass="entr" presetSubtype="0" fill="hold" grpId="0" nodeType="withEffect">
                                  <p:stCondLst>
                                    <p:cond delay="25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650"/>
                                        <p:tgtEl>
                                          <p:spTgt spid="17"/>
                                        </p:tgtEl>
                                      </p:cBhvr>
                                    </p:animEffect>
                                    <p:anim calcmode="lin" valueType="num">
                                      <p:cBhvr>
                                        <p:cTn id="14" dur="650" fill="hold"/>
                                        <p:tgtEl>
                                          <p:spTgt spid="17"/>
                                        </p:tgtEl>
                                        <p:attrNameLst>
                                          <p:attrName>ppt_x</p:attrName>
                                        </p:attrNameLst>
                                      </p:cBhvr>
                                      <p:tavLst>
                                        <p:tav tm="0">
                                          <p:val>
                                            <p:strVal val="#ppt_x"/>
                                          </p:val>
                                        </p:tav>
                                        <p:tav tm="100000">
                                          <p:val>
                                            <p:strVal val="#ppt_x"/>
                                          </p:val>
                                        </p:tav>
                                      </p:tavLst>
                                    </p:anim>
                                    <p:anim calcmode="lin" valueType="num">
                                      <p:cBhvr>
                                        <p:cTn id="15" dur="650" fill="hold"/>
                                        <p:tgtEl>
                                          <p:spTgt spid="17"/>
                                        </p:tgtEl>
                                        <p:attrNameLst>
                                          <p:attrName>ppt_y</p:attrName>
                                        </p:attrNameLst>
                                      </p:cBhvr>
                                      <p:tavLst>
                                        <p:tav tm="0">
                                          <p:val>
                                            <p:strVal val="#ppt_y+.05"/>
                                          </p:val>
                                        </p:tav>
                                        <p:tav tm="100000">
                                          <p:val>
                                            <p:strVal val="#ppt_y"/>
                                          </p:val>
                                        </p:tav>
                                      </p:tavLst>
                                    </p:anim>
                                  </p:childTnLst>
                                </p:cTn>
                              </p:par>
                              <p:par>
                                <p:cTn id="16" presetID="42" presetClass="entr" presetSubtype="0" fill="hold" grpId="0" nodeType="withEffect">
                                  <p:stCondLst>
                                    <p:cond delay="30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650"/>
                                        <p:tgtEl>
                                          <p:spTgt spid="5"/>
                                        </p:tgtEl>
                                      </p:cBhvr>
                                    </p:animEffect>
                                    <p:anim calcmode="lin" valueType="num">
                                      <p:cBhvr>
                                        <p:cTn id="19" dur="650" fill="hold"/>
                                        <p:tgtEl>
                                          <p:spTgt spid="5"/>
                                        </p:tgtEl>
                                        <p:attrNameLst>
                                          <p:attrName>ppt_x</p:attrName>
                                        </p:attrNameLst>
                                      </p:cBhvr>
                                      <p:tavLst>
                                        <p:tav tm="0">
                                          <p:val>
                                            <p:strVal val="#ppt_x"/>
                                          </p:val>
                                        </p:tav>
                                        <p:tav tm="100000">
                                          <p:val>
                                            <p:strVal val="#ppt_x"/>
                                          </p:val>
                                        </p:tav>
                                      </p:tavLst>
                                    </p:anim>
                                    <p:anim calcmode="lin" valueType="num">
                                      <p:cBhvr>
                                        <p:cTn id="20" dur="650" fill="hold"/>
                                        <p:tgtEl>
                                          <p:spTgt spid="5"/>
                                        </p:tgtEl>
                                        <p:attrNameLst>
                                          <p:attrName>ppt_y</p:attrName>
                                        </p:attrNameLst>
                                      </p:cBhvr>
                                      <p:tavLst>
                                        <p:tav tm="0">
                                          <p:val>
                                            <p:strVal val="#ppt_y+.05"/>
                                          </p:val>
                                        </p:tav>
                                        <p:tav tm="100000">
                                          <p:val>
                                            <p:strVal val="#ppt_y"/>
                                          </p:val>
                                        </p:tav>
                                      </p:tavLst>
                                    </p:anim>
                                  </p:childTnLst>
                                </p:cTn>
                              </p:par>
                              <p:par>
                                <p:cTn id="21" presetID="42" presetClass="entr" presetSubtype="0" fill="hold" grpId="0" nodeType="withEffect">
                                  <p:stCondLst>
                                    <p:cond delay="30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650"/>
                                        <p:tgtEl>
                                          <p:spTgt spid="6"/>
                                        </p:tgtEl>
                                      </p:cBhvr>
                                    </p:animEffect>
                                    <p:anim calcmode="lin" valueType="num">
                                      <p:cBhvr>
                                        <p:cTn id="24" dur="650" fill="hold"/>
                                        <p:tgtEl>
                                          <p:spTgt spid="6"/>
                                        </p:tgtEl>
                                        <p:attrNameLst>
                                          <p:attrName>ppt_x</p:attrName>
                                        </p:attrNameLst>
                                      </p:cBhvr>
                                      <p:tavLst>
                                        <p:tav tm="0">
                                          <p:val>
                                            <p:strVal val="#ppt_x"/>
                                          </p:val>
                                        </p:tav>
                                        <p:tav tm="100000">
                                          <p:val>
                                            <p:strVal val="#ppt_x"/>
                                          </p:val>
                                        </p:tav>
                                      </p:tavLst>
                                    </p:anim>
                                    <p:anim calcmode="lin" valueType="num">
                                      <p:cBhvr>
                                        <p:cTn id="25" dur="650" fill="hold"/>
                                        <p:tgtEl>
                                          <p:spTgt spid="6"/>
                                        </p:tgtEl>
                                        <p:attrNameLst>
                                          <p:attrName>ppt_y</p:attrName>
                                        </p:attrNameLst>
                                      </p:cBhvr>
                                      <p:tavLst>
                                        <p:tav tm="0">
                                          <p:val>
                                            <p:strVal val="#ppt_y+.05"/>
                                          </p:val>
                                        </p:tav>
                                        <p:tav tm="100000">
                                          <p:val>
                                            <p:strVal val="#ppt_y"/>
                                          </p:val>
                                        </p:tav>
                                      </p:tavLst>
                                    </p:anim>
                                  </p:childTnLst>
                                </p:cTn>
                              </p:par>
                              <p:par>
                                <p:cTn id="26" presetID="42" presetClass="entr" presetSubtype="0" fill="hold" grpId="0" nodeType="withEffect">
                                  <p:stCondLst>
                                    <p:cond delay="30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650"/>
                                        <p:tgtEl>
                                          <p:spTgt spid="7"/>
                                        </p:tgtEl>
                                      </p:cBhvr>
                                    </p:animEffect>
                                    <p:anim calcmode="lin" valueType="num">
                                      <p:cBhvr>
                                        <p:cTn id="29" dur="650" fill="hold"/>
                                        <p:tgtEl>
                                          <p:spTgt spid="7"/>
                                        </p:tgtEl>
                                        <p:attrNameLst>
                                          <p:attrName>ppt_x</p:attrName>
                                        </p:attrNameLst>
                                      </p:cBhvr>
                                      <p:tavLst>
                                        <p:tav tm="0">
                                          <p:val>
                                            <p:strVal val="#ppt_x"/>
                                          </p:val>
                                        </p:tav>
                                        <p:tav tm="100000">
                                          <p:val>
                                            <p:strVal val="#ppt_x"/>
                                          </p:val>
                                        </p:tav>
                                      </p:tavLst>
                                    </p:anim>
                                    <p:anim calcmode="lin" valueType="num">
                                      <p:cBhvr>
                                        <p:cTn id="30" dur="650" fill="hold"/>
                                        <p:tgtEl>
                                          <p:spTgt spid="7"/>
                                        </p:tgtEl>
                                        <p:attrNameLst>
                                          <p:attrName>ppt_y</p:attrName>
                                        </p:attrNameLst>
                                      </p:cBhvr>
                                      <p:tavLst>
                                        <p:tav tm="0">
                                          <p:val>
                                            <p:strVal val="#ppt_y+.05"/>
                                          </p:val>
                                        </p:tav>
                                        <p:tav tm="100000">
                                          <p:val>
                                            <p:strVal val="#ppt_y"/>
                                          </p:val>
                                        </p:tav>
                                      </p:tavLst>
                                    </p:anim>
                                  </p:childTnLst>
                                </p:cTn>
                              </p:par>
                              <p:par>
                                <p:cTn id="31" presetID="42" presetClass="entr" presetSubtype="0" fill="hold" grpId="0" nodeType="withEffect">
                                  <p:stCondLst>
                                    <p:cond delay="30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650"/>
                                        <p:tgtEl>
                                          <p:spTgt spid="8"/>
                                        </p:tgtEl>
                                      </p:cBhvr>
                                    </p:animEffect>
                                    <p:anim calcmode="lin" valueType="num">
                                      <p:cBhvr>
                                        <p:cTn id="34" dur="650" fill="hold"/>
                                        <p:tgtEl>
                                          <p:spTgt spid="8"/>
                                        </p:tgtEl>
                                        <p:attrNameLst>
                                          <p:attrName>ppt_x</p:attrName>
                                        </p:attrNameLst>
                                      </p:cBhvr>
                                      <p:tavLst>
                                        <p:tav tm="0">
                                          <p:val>
                                            <p:strVal val="#ppt_x"/>
                                          </p:val>
                                        </p:tav>
                                        <p:tav tm="100000">
                                          <p:val>
                                            <p:strVal val="#ppt_x"/>
                                          </p:val>
                                        </p:tav>
                                      </p:tavLst>
                                    </p:anim>
                                    <p:anim calcmode="lin" valueType="num">
                                      <p:cBhvr>
                                        <p:cTn id="35" dur="650" fill="hold"/>
                                        <p:tgtEl>
                                          <p:spTgt spid="8"/>
                                        </p:tgtEl>
                                        <p:attrNameLst>
                                          <p:attrName>ppt_y</p:attrName>
                                        </p:attrNameLst>
                                      </p:cBhvr>
                                      <p:tavLst>
                                        <p:tav tm="0">
                                          <p:val>
                                            <p:strVal val="#ppt_y+.05"/>
                                          </p:val>
                                        </p:tav>
                                        <p:tav tm="100000">
                                          <p:val>
                                            <p:strVal val="#ppt_y"/>
                                          </p:val>
                                        </p:tav>
                                      </p:tavLst>
                                    </p:anim>
                                  </p:childTnLst>
                                </p:cTn>
                              </p:par>
                              <p:par>
                                <p:cTn id="36" presetID="42" presetClass="entr" presetSubtype="0" fill="hold" grpId="0" nodeType="withEffect">
                                  <p:stCondLst>
                                    <p:cond delay="45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650"/>
                                        <p:tgtEl>
                                          <p:spTgt spid="9"/>
                                        </p:tgtEl>
                                      </p:cBhvr>
                                    </p:animEffect>
                                    <p:anim calcmode="lin" valueType="num">
                                      <p:cBhvr>
                                        <p:cTn id="39" dur="650" fill="hold"/>
                                        <p:tgtEl>
                                          <p:spTgt spid="9"/>
                                        </p:tgtEl>
                                        <p:attrNameLst>
                                          <p:attrName>ppt_x</p:attrName>
                                        </p:attrNameLst>
                                      </p:cBhvr>
                                      <p:tavLst>
                                        <p:tav tm="0">
                                          <p:val>
                                            <p:strVal val="#ppt_x"/>
                                          </p:val>
                                        </p:tav>
                                        <p:tav tm="100000">
                                          <p:val>
                                            <p:strVal val="#ppt_x"/>
                                          </p:val>
                                        </p:tav>
                                      </p:tavLst>
                                    </p:anim>
                                    <p:anim calcmode="lin" valueType="num">
                                      <p:cBhvr>
                                        <p:cTn id="40" dur="650" fill="hold"/>
                                        <p:tgtEl>
                                          <p:spTgt spid="9"/>
                                        </p:tgtEl>
                                        <p:attrNameLst>
                                          <p:attrName>ppt_y</p:attrName>
                                        </p:attrNameLst>
                                      </p:cBhvr>
                                      <p:tavLst>
                                        <p:tav tm="0">
                                          <p:val>
                                            <p:strVal val="#ppt_y+.05"/>
                                          </p:val>
                                        </p:tav>
                                        <p:tav tm="100000">
                                          <p:val>
                                            <p:strVal val="#ppt_y"/>
                                          </p:val>
                                        </p:tav>
                                      </p:tavLst>
                                    </p:anim>
                                  </p:childTnLst>
                                </p:cTn>
                              </p:par>
                              <p:par>
                                <p:cTn id="41" presetID="42" presetClass="entr" presetSubtype="0" fill="hold" grpId="0" nodeType="withEffect">
                                  <p:stCondLst>
                                    <p:cond delay="45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650"/>
                                        <p:tgtEl>
                                          <p:spTgt spid="10"/>
                                        </p:tgtEl>
                                      </p:cBhvr>
                                    </p:animEffect>
                                    <p:anim calcmode="lin" valueType="num">
                                      <p:cBhvr>
                                        <p:cTn id="44" dur="650" fill="hold"/>
                                        <p:tgtEl>
                                          <p:spTgt spid="10"/>
                                        </p:tgtEl>
                                        <p:attrNameLst>
                                          <p:attrName>ppt_x</p:attrName>
                                        </p:attrNameLst>
                                      </p:cBhvr>
                                      <p:tavLst>
                                        <p:tav tm="0">
                                          <p:val>
                                            <p:strVal val="#ppt_x"/>
                                          </p:val>
                                        </p:tav>
                                        <p:tav tm="100000">
                                          <p:val>
                                            <p:strVal val="#ppt_x"/>
                                          </p:val>
                                        </p:tav>
                                      </p:tavLst>
                                    </p:anim>
                                    <p:anim calcmode="lin" valueType="num">
                                      <p:cBhvr>
                                        <p:cTn id="45" dur="650" fill="hold"/>
                                        <p:tgtEl>
                                          <p:spTgt spid="10"/>
                                        </p:tgtEl>
                                        <p:attrNameLst>
                                          <p:attrName>ppt_y</p:attrName>
                                        </p:attrNameLst>
                                      </p:cBhvr>
                                      <p:tavLst>
                                        <p:tav tm="0">
                                          <p:val>
                                            <p:strVal val="#ppt_y+.05"/>
                                          </p:val>
                                        </p:tav>
                                        <p:tav tm="100000">
                                          <p:val>
                                            <p:strVal val="#ppt_y"/>
                                          </p:val>
                                        </p:tav>
                                      </p:tavLst>
                                    </p:anim>
                                  </p:childTnLst>
                                </p:cTn>
                              </p:par>
                              <p:par>
                                <p:cTn id="46" presetID="42" presetClass="entr" presetSubtype="0" fill="hold" grpId="0" nodeType="withEffect">
                                  <p:stCondLst>
                                    <p:cond delay="45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650"/>
                                        <p:tgtEl>
                                          <p:spTgt spid="11"/>
                                        </p:tgtEl>
                                      </p:cBhvr>
                                    </p:animEffect>
                                    <p:anim calcmode="lin" valueType="num">
                                      <p:cBhvr>
                                        <p:cTn id="49" dur="650" fill="hold"/>
                                        <p:tgtEl>
                                          <p:spTgt spid="11"/>
                                        </p:tgtEl>
                                        <p:attrNameLst>
                                          <p:attrName>ppt_x</p:attrName>
                                        </p:attrNameLst>
                                      </p:cBhvr>
                                      <p:tavLst>
                                        <p:tav tm="0">
                                          <p:val>
                                            <p:strVal val="#ppt_x"/>
                                          </p:val>
                                        </p:tav>
                                        <p:tav tm="100000">
                                          <p:val>
                                            <p:strVal val="#ppt_x"/>
                                          </p:val>
                                        </p:tav>
                                      </p:tavLst>
                                    </p:anim>
                                    <p:anim calcmode="lin" valueType="num">
                                      <p:cBhvr>
                                        <p:cTn id="50" dur="650" fill="hold"/>
                                        <p:tgtEl>
                                          <p:spTgt spid="11"/>
                                        </p:tgtEl>
                                        <p:attrNameLst>
                                          <p:attrName>ppt_y</p:attrName>
                                        </p:attrNameLst>
                                      </p:cBhvr>
                                      <p:tavLst>
                                        <p:tav tm="0">
                                          <p:val>
                                            <p:strVal val="#ppt_y+.05"/>
                                          </p:val>
                                        </p:tav>
                                        <p:tav tm="100000">
                                          <p:val>
                                            <p:strVal val="#ppt_y"/>
                                          </p:val>
                                        </p:tav>
                                      </p:tavLst>
                                    </p:anim>
                                  </p:childTnLst>
                                </p:cTn>
                              </p:par>
                              <p:par>
                                <p:cTn id="51" presetID="42" presetClass="entr" presetSubtype="0" fill="hold" grpId="0" nodeType="withEffect">
                                  <p:stCondLst>
                                    <p:cond delay="450"/>
                                  </p:stCondLst>
                                  <p:childTnLst>
                                    <p:set>
                                      <p:cBhvr>
                                        <p:cTn id="52" dur="1" fill="hold">
                                          <p:stCondLst>
                                            <p:cond delay="0"/>
                                          </p:stCondLst>
                                        </p:cTn>
                                        <p:tgtEl>
                                          <p:spTgt spid="12"/>
                                        </p:tgtEl>
                                        <p:attrNameLst>
                                          <p:attrName>style.visibility</p:attrName>
                                        </p:attrNameLst>
                                      </p:cBhvr>
                                      <p:to>
                                        <p:strVal val="visible"/>
                                      </p:to>
                                    </p:set>
                                    <p:animEffect transition="in" filter="fade">
                                      <p:cBhvr>
                                        <p:cTn id="53" dur="650"/>
                                        <p:tgtEl>
                                          <p:spTgt spid="12"/>
                                        </p:tgtEl>
                                      </p:cBhvr>
                                    </p:animEffect>
                                    <p:anim calcmode="lin" valueType="num">
                                      <p:cBhvr>
                                        <p:cTn id="54" dur="650" fill="hold"/>
                                        <p:tgtEl>
                                          <p:spTgt spid="12"/>
                                        </p:tgtEl>
                                        <p:attrNameLst>
                                          <p:attrName>ppt_x</p:attrName>
                                        </p:attrNameLst>
                                      </p:cBhvr>
                                      <p:tavLst>
                                        <p:tav tm="0">
                                          <p:val>
                                            <p:strVal val="#ppt_x"/>
                                          </p:val>
                                        </p:tav>
                                        <p:tav tm="100000">
                                          <p:val>
                                            <p:strVal val="#ppt_x"/>
                                          </p:val>
                                        </p:tav>
                                      </p:tavLst>
                                    </p:anim>
                                    <p:anim calcmode="lin" valueType="num">
                                      <p:cBhvr>
                                        <p:cTn id="55" dur="650" fill="hold"/>
                                        <p:tgtEl>
                                          <p:spTgt spid="12"/>
                                        </p:tgtEl>
                                        <p:attrNameLst>
                                          <p:attrName>ppt_y</p:attrName>
                                        </p:attrNameLst>
                                      </p:cBhvr>
                                      <p:tavLst>
                                        <p:tav tm="0">
                                          <p:val>
                                            <p:strVal val="#ppt_y+.05"/>
                                          </p:val>
                                        </p:tav>
                                        <p:tav tm="100000">
                                          <p:val>
                                            <p:strVal val="#ppt_y"/>
                                          </p:val>
                                        </p:tav>
                                      </p:tavLst>
                                    </p:anim>
                                  </p:childTnLst>
                                </p:cTn>
                              </p:par>
                              <p:par>
                                <p:cTn id="56" presetID="42" presetClass="entr" presetSubtype="0" fill="hold" grpId="0" nodeType="withEffect">
                                  <p:stCondLst>
                                    <p:cond delay="50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650"/>
                                        <p:tgtEl>
                                          <p:spTgt spid="18"/>
                                        </p:tgtEl>
                                      </p:cBhvr>
                                    </p:animEffect>
                                    <p:anim calcmode="lin" valueType="num">
                                      <p:cBhvr>
                                        <p:cTn id="59" dur="650" fill="hold"/>
                                        <p:tgtEl>
                                          <p:spTgt spid="18"/>
                                        </p:tgtEl>
                                        <p:attrNameLst>
                                          <p:attrName>ppt_x</p:attrName>
                                        </p:attrNameLst>
                                      </p:cBhvr>
                                      <p:tavLst>
                                        <p:tav tm="0">
                                          <p:val>
                                            <p:strVal val="#ppt_x"/>
                                          </p:val>
                                        </p:tav>
                                        <p:tav tm="100000">
                                          <p:val>
                                            <p:strVal val="#ppt_x"/>
                                          </p:val>
                                        </p:tav>
                                      </p:tavLst>
                                    </p:anim>
                                    <p:anim calcmode="lin" valueType="num">
                                      <p:cBhvr>
                                        <p:cTn id="60" dur="650" fill="hold"/>
                                        <p:tgtEl>
                                          <p:spTgt spid="18"/>
                                        </p:tgtEl>
                                        <p:attrNameLst>
                                          <p:attrName>ppt_y</p:attrName>
                                        </p:attrNameLst>
                                      </p:cBhvr>
                                      <p:tavLst>
                                        <p:tav tm="0">
                                          <p:val>
                                            <p:strVal val="#ppt_y+.05"/>
                                          </p:val>
                                        </p:tav>
                                        <p:tav tm="100000">
                                          <p:val>
                                            <p:strVal val="#ppt_y"/>
                                          </p:val>
                                        </p:tav>
                                      </p:tavLst>
                                    </p:anim>
                                  </p:childTnLst>
                                </p:cTn>
                              </p:par>
                              <p:par>
                                <p:cTn id="61" presetID="42" presetClass="entr" presetSubtype="0" fill="hold" grpId="0" nodeType="withEffect">
                                  <p:stCondLst>
                                    <p:cond delay="600"/>
                                  </p:stCondLst>
                                  <p:childTnLst>
                                    <p:set>
                                      <p:cBhvr>
                                        <p:cTn id="62" dur="1" fill="hold">
                                          <p:stCondLst>
                                            <p:cond delay="0"/>
                                          </p:stCondLst>
                                        </p:cTn>
                                        <p:tgtEl>
                                          <p:spTgt spid="13"/>
                                        </p:tgtEl>
                                        <p:attrNameLst>
                                          <p:attrName>style.visibility</p:attrName>
                                        </p:attrNameLst>
                                      </p:cBhvr>
                                      <p:to>
                                        <p:strVal val="visible"/>
                                      </p:to>
                                    </p:set>
                                    <p:animEffect transition="in" filter="fade">
                                      <p:cBhvr>
                                        <p:cTn id="63" dur="650"/>
                                        <p:tgtEl>
                                          <p:spTgt spid="13"/>
                                        </p:tgtEl>
                                      </p:cBhvr>
                                    </p:animEffect>
                                    <p:anim calcmode="lin" valueType="num">
                                      <p:cBhvr>
                                        <p:cTn id="64" dur="650" fill="hold"/>
                                        <p:tgtEl>
                                          <p:spTgt spid="13"/>
                                        </p:tgtEl>
                                        <p:attrNameLst>
                                          <p:attrName>ppt_x</p:attrName>
                                        </p:attrNameLst>
                                      </p:cBhvr>
                                      <p:tavLst>
                                        <p:tav tm="0">
                                          <p:val>
                                            <p:strVal val="#ppt_x"/>
                                          </p:val>
                                        </p:tav>
                                        <p:tav tm="100000">
                                          <p:val>
                                            <p:strVal val="#ppt_x"/>
                                          </p:val>
                                        </p:tav>
                                      </p:tavLst>
                                    </p:anim>
                                    <p:anim calcmode="lin" valueType="num">
                                      <p:cBhvr>
                                        <p:cTn id="65" dur="650" fill="hold"/>
                                        <p:tgtEl>
                                          <p:spTgt spid="13"/>
                                        </p:tgtEl>
                                        <p:attrNameLst>
                                          <p:attrName>ppt_y</p:attrName>
                                        </p:attrNameLst>
                                      </p:cBhvr>
                                      <p:tavLst>
                                        <p:tav tm="0">
                                          <p:val>
                                            <p:strVal val="#ppt_y+.05"/>
                                          </p:val>
                                        </p:tav>
                                        <p:tav tm="100000">
                                          <p:val>
                                            <p:strVal val="#ppt_y"/>
                                          </p:val>
                                        </p:tav>
                                      </p:tavLst>
                                    </p:anim>
                                  </p:childTnLst>
                                </p:cTn>
                              </p:par>
                              <p:par>
                                <p:cTn id="66" presetID="42" presetClass="entr" presetSubtype="0" fill="hold" grpId="0" nodeType="withEffect">
                                  <p:stCondLst>
                                    <p:cond delay="600"/>
                                  </p:stCondLst>
                                  <p:childTnLst>
                                    <p:set>
                                      <p:cBhvr>
                                        <p:cTn id="67" dur="1" fill="hold">
                                          <p:stCondLst>
                                            <p:cond delay="0"/>
                                          </p:stCondLst>
                                        </p:cTn>
                                        <p:tgtEl>
                                          <p:spTgt spid="14"/>
                                        </p:tgtEl>
                                        <p:attrNameLst>
                                          <p:attrName>style.visibility</p:attrName>
                                        </p:attrNameLst>
                                      </p:cBhvr>
                                      <p:to>
                                        <p:strVal val="visible"/>
                                      </p:to>
                                    </p:set>
                                    <p:animEffect transition="in" filter="fade">
                                      <p:cBhvr>
                                        <p:cTn id="68" dur="650"/>
                                        <p:tgtEl>
                                          <p:spTgt spid="14"/>
                                        </p:tgtEl>
                                      </p:cBhvr>
                                    </p:animEffect>
                                    <p:anim calcmode="lin" valueType="num">
                                      <p:cBhvr>
                                        <p:cTn id="69" dur="650" fill="hold"/>
                                        <p:tgtEl>
                                          <p:spTgt spid="14"/>
                                        </p:tgtEl>
                                        <p:attrNameLst>
                                          <p:attrName>ppt_x</p:attrName>
                                        </p:attrNameLst>
                                      </p:cBhvr>
                                      <p:tavLst>
                                        <p:tav tm="0">
                                          <p:val>
                                            <p:strVal val="#ppt_x"/>
                                          </p:val>
                                        </p:tav>
                                        <p:tav tm="100000">
                                          <p:val>
                                            <p:strVal val="#ppt_x"/>
                                          </p:val>
                                        </p:tav>
                                      </p:tavLst>
                                    </p:anim>
                                    <p:anim calcmode="lin" valueType="num">
                                      <p:cBhvr>
                                        <p:cTn id="70" dur="650" fill="hold"/>
                                        <p:tgtEl>
                                          <p:spTgt spid="14"/>
                                        </p:tgtEl>
                                        <p:attrNameLst>
                                          <p:attrName>ppt_y</p:attrName>
                                        </p:attrNameLst>
                                      </p:cBhvr>
                                      <p:tavLst>
                                        <p:tav tm="0">
                                          <p:val>
                                            <p:strVal val="#ppt_y+.05"/>
                                          </p:val>
                                        </p:tav>
                                        <p:tav tm="100000">
                                          <p:val>
                                            <p:strVal val="#ppt_y"/>
                                          </p:val>
                                        </p:tav>
                                      </p:tavLst>
                                    </p:anim>
                                  </p:childTnLst>
                                </p:cTn>
                              </p:par>
                              <p:par>
                                <p:cTn id="71" presetID="42" presetClass="entr" presetSubtype="0" fill="hold" grpId="0" nodeType="withEffect">
                                  <p:stCondLst>
                                    <p:cond delay="600"/>
                                  </p:stCondLst>
                                  <p:childTnLst>
                                    <p:set>
                                      <p:cBhvr>
                                        <p:cTn id="72" dur="1" fill="hold">
                                          <p:stCondLst>
                                            <p:cond delay="0"/>
                                          </p:stCondLst>
                                        </p:cTn>
                                        <p:tgtEl>
                                          <p:spTgt spid="15"/>
                                        </p:tgtEl>
                                        <p:attrNameLst>
                                          <p:attrName>style.visibility</p:attrName>
                                        </p:attrNameLst>
                                      </p:cBhvr>
                                      <p:to>
                                        <p:strVal val="visible"/>
                                      </p:to>
                                    </p:set>
                                    <p:animEffect transition="in" filter="fade">
                                      <p:cBhvr>
                                        <p:cTn id="73" dur="650"/>
                                        <p:tgtEl>
                                          <p:spTgt spid="15"/>
                                        </p:tgtEl>
                                      </p:cBhvr>
                                    </p:animEffect>
                                    <p:anim calcmode="lin" valueType="num">
                                      <p:cBhvr>
                                        <p:cTn id="74" dur="650" fill="hold"/>
                                        <p:tgtEl>
                                          <p:spTgt spid="15"/>
                                        </p:tgtEl>
                                        <p:attrNameLst>
                                          <p:attrName>ppt_x</p:attrName>
                                        </p:attrNameLst>
                                      </p:cBhvr>
                                      <p:tavLst>
                                        <p:tav tm="0">
                                          <p:val>
                                            <p:strVal val="#ppt_x"/>
                                          </p:val>
                                        </p:tav>
                                        <p:tav tm="100000">
                                          <p:val>
                                            <p:strVal val="#ppt_x"/>
                                          </p:val>
                                        </p:tav>
                                      </p:tavLst>
                                    </p:anim>
                                    <p:anim calcmode="lin" valueType="num">
                                      <p:cBhvr>
                                        <p:cTn id="75" dur="650" fill="hold"/>
                                        <p:tgtEl>
                                          <p:spTgt spid="15"/>
                                        </p:tgtEl>
                                        <p:attrNameLst>
                                          <p:attrName>ppt_y</p:attrName>
                                        </p:attrNameLst>
                                      </p:cBhvr>
                                      <p:tavLst>
                                        <p:tav tm="0">
                                          <p:val>
                                            <p:strVal val="#ppt_y+.05"/>
                                          </p:val>
                                        </p:tav>
                                        <p:tav tm="100000">
                                          <p:val>
                                            <p:strVal val="#ppt_y"/>
                                          </p:val>
                                        </p:tav>
                                      </p:tavLst>
                                    </p:anim>
                                  </p:childTnLst>
                                </p:cTn>
                              </p:par>
                              <p:par>
                                <p:cTn id="76" presetID="42" presetClass="entr" presetSubtype="0" fill="hold" grpId="0" nodeType="withEffect">
                                  <p:stCondLst>
                                    <p:cond delay="600"/>
                                  </p:stCondLst>
                                  <p:childTnLst>
                                    <p:set>
                                      <p:cBhvr>
                                        <p:cTn id="77" dur="1" fill="hold">
                                          <p:stCondLst>
                                            <p:cond delay="0"/>
                                          </p:stCondLst>
                                        </p:cTn>
                                        <p:tgtEl>
                                          <p:spTgt spid="16"/>
                                        </p:tgtEl>
                                        <p:attrNameLst>
                                          <p:attrName>style.visibility</p:attrName>
                                        </p:attrNameLst>
                                      </p:cBhvr>
                                      <p:to>
                                        <p:strVal val="visible"/>
                                      </p:to>
                                    </p:set>
                                    <p:animEffect transition="in" filter="fade">
                                      <p:cBhvr>
                                        <p:cTn id="78" dur="650"/>
                                        <p:tgtEl>
                                          <p:spTgt spid="16"/>
                                        </p:tgtEl>
                                      </p:cBhvr>
                                    </p:animEffect>
                                    <p:anim calcmode="lin" valueType="num">
                                      <p:cBhvr>
                                        <p:cTn id="79" dur="650" fill="hold"/>
                                        <p:tgtEl>
                                          <p:spTgt spid="16"/>
                                        </p:tgtEl>
                                        <p:attrNameLst>
                                          <p:attrName>ppt_x</p:attrName>
                                        </p:attrNameLst>
                                      </p:cBhvr>
                                      <p:tavLst>
                                        <p:tav tm="0">
                                          <p:val>
                                            <p:strVal val="#ppt_x"/>
                                          </p:val>
                                        </p:tav>
                                        <p:tav tm="100000">
                                          <p:val>
                                            <p:strVal val="#ppt_x"/>
                                          </p:val>
                                        </p:tav>
                                      </p:tavLst>
                                    </p:anim>
                                    <p:anim calcmode="lin" valueType="num">
                                      <p:cBhvr>
                                        <p:cTn id="80" dur="650" fill="hold"/>
                                        <p:tgtEl>
                                          <p:spTgt spid="16"/>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7" grpId="0" animBg="1"/>
      <p:bldP spid="8" grpId="0" animBg="1"/>
      <p:bldP spid="9" grpId="0" animBg="1"/>
      <p:bldP spid="11" grpId="0" animBg="1"/>
      <p:bldP spid="12" grpId="0" animBg="1"/>
      <p:bldP spid="13" grpId="0" animBg="1"/>
      <p:bldP spid="15" grpId="0" animBg="1"/>
      <p:bldP spid="1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eyebrow-pill"/>
          <p:cNvSpPr/>
          <p:nvPr/>
        </p:nvSpPr>
        <p:spPr>
          <a:xfrm>
            <a:off x="548640" y="475488"/>
            <a:ext cx="1035101" cy="274320"/>
          </a:xfrm>
          <a:prstGeom prst="roundRect">
            <a:avLst>
              <a:gd name="adj" fmla="val 50000"/>
            </a:avLst>
          </a:prstGeom>
          <a:solidFill>
            <a:srgbClr val="E5E5EA"/>
          </a:solidFill>
          <a:ln/>
        </p:spPr>
      </p:sp>
      <p:sp>
        <p:nvSpPr>
          <p:cNvPr id="3" name="eyebrow"/>
          <p:cNvSpPr txBox="1"/>
          <p:nvPr/>
        </p:nvSpPr>
        <p:spPr>
          <a:xfrm>
            <a:off x="548640" y="475488"/>
            <a:ext cx="1035101" cy="274320"/>
          </a:xfrm>
          <a:prstGeom prst="rect">
            <a:avLst/>
          </a:prstGeom>
          <a:noFill/>
          <a:ln/>
        </p:spPr>
        <p:txBody>
          <a:bodyPr wrap="square" lIns="0" tIns="0" rIns="0" bIns="0" rtlCol="0" anchor="ctr"/>
          <a:lstStyle/>
          <a:p>
            <a:pPr algn="ctr" indent="0" marL="0">
              <a:buNone/>
            </a:pPr>
            <a:r>
              <a:rPr lang="en-US" sz="900" b="1" spc="160" kern="0" dirty="0">
                <a:solidFill>
                  <a:srgbClr val="5C5C61"/>
                </a:solidFill>
                <a:latin typeface="Arial" pitchFamily="34" charset="0"/>
                <a:ea typeface="Arial" pitchFamily="34" charset="-122"/>
                <a:cs typeface="Arial" pitchFamily="34" charset="-120"/>
              </a:rPr>
              <a:t>INCENTIVE</a:t>
            </a:r>
            <a:endParaRPr lang="en-US" sz="900" dirty="0"/>
          </a:p>
        </p:txBody>
      </p:sp>
      <p:sp>
        <p:nvSpPr>
          <p:cNvPr id="4" name="Text 1"/>
          <p:cNvSpPr/>
          <p:nvPr>
            <p:ph idx="101" type="title" hasCustomPrompt="1"/>
          </p:nvPr>
        </p:nvSpPr>
        <p:spPr>
          <a:xfrm>
            <a:off x="548640" y="896112"/>
            <a:ext cx="6583680" cy="1207008"/>
          </a:xfrm>
          <a:prstGeom prst="rect">
            <a:avLst/>
          </a:prstGeom>
          <a:noFill/>
          <a:ln/>
        </p:spPr>
        <p:txBody>
          <a:bodyPr wrap="square" lIns="0" tIns="0" rIns="0" bIns="0" rtlCol="0" anchor="t"/>
          <a:lstStyle/>
          <a:p>
            <a:pPr algn="l" indent="0" marL="0">
              <a:buNone/>
            </a:pPr>
            <a:r>
              <a:rPr lang="en-US" sz="3400" b="1" dirty="0">
                <a:solidFill>
                  <a:srgbClr val="1D1D1F"/>
                </a:solidFill>
                <a:latin typeface="Arial" pitchFamily="34" charset="0"/>
                <a:ea typeface="Arial" pitchFamily="34" charset="-122"/>
                <a:cs typeface="Arial" pitchFamily="34" charset="-120"/>
              </a:rPr>
              <a:t>Every bonus,</a:t>
            </a:r>
            <a:endParaRPr lang="en-US" sz="3400" dirty="0"/>
          </a:p>
          <a:p>
            <a:pPr algn="l" indent="0" marL="0">
              <a:buNone/>
            </a:pPr>
            <a:r>
              <a:rPr lang="en-US" sz="3400" dirty="0">
                <a:solidFill>
                  <a:srgbClr val="8E8E93"/>
                </a:solidFill>
                <a:latin typeface="Arial" pitchFamily="34" charset="0"/>
                <a:ea typeface="Arial" pitchFamily="34" charset="-122"/>
                <a:cs typeface="Arial" pitchFamily="34" charset="-120"/>
              </a:rPr>
              <a:t>explained</a:t>
            </a:r>
            <a:endParaRPr lang="en-US" sz="3400" dirty="0"/>
          </a:p>
        </p:txBody>
      </p:sp>
      <p:pic>
        <p:nvPicPr>
          <p:cNvPr id="5" name="how" descr="Results, How this was counted for one agent">    </p:cNvPr>
          <p:cNvPicPr>
            <a:picLocks noChangeAspect="1"/>
          </p:cNvPicPr>
          <p:nvPr/>
        </p:nvPicPr>
        <p:blipFill>
          <a:blip r:embed="rId1"/>
          <a:stretch>
            <a:fillRect/>
          </a:stretch>
        </p:blipFill>
        <p:spPr>
          <a:xfrm>
            <a:off x="320040" y="2148840"/>
            <a:ext cx="6309360" cy="4371485"/>
          </a:xfrm>
          <a:prstGeom prst="rect">
            <a:avLst/>
          </a:prstGeom>
        </p:spPr>
      </p:pic>
      <p:sp>
        <p:nvSpPr>
          <p:cNvPr id="6" name="dot-star"/>
          <p:cNvSpPr/>
          <p:nvPr/>
        </p:nvSpPr>
        <p:spPr>
          <a:xfrm>
            <a:off x="6903720" y="2240280"/>
            <a:ext cx="475488" cy="475488"/>
          </a:xfrm>
          <a:prstGeom prst="ellipse">
            <a:avLst/>
          </a:prstGeom>
          <a:solidFill>
            <a:srgbClr val="1D1D1F"/>
          </a:solidFill>
          <a:ln/>
        </p:spPr>
      </p:sp>
      <p:pic>
        <p:nvPicPr>
          <p:cNvPr id="7" name="icon-star" descr="">    </p:cNvPr>
          <p:cNvPicPr>
            <a:picLocks noChangeAspect="1"/>
          </p:cNvPicPr>
          <p:nvPr/>
        </p:nvPicPr>
        <p:blipFill>
          <a:blip r:embed="rId2"/>
          <a:stretch>
            <a:fillRect/>
          </a:stretch>
        </p:blipFill>
        <p:spPr>
          <a:xfrm>
            <a:off x="7013082" y="2349642"/>
            <a:ext cx="256764" cy="256764"/>
          </a:xfrm>
          <a:prstGeom prst="rect">
            <a:avLst/>
          </a:prstGeom>
        </p:spPr>
      </p:pic>
      <p:sp>
        <p:nvSpPr>
          <p:cNvPr id="8" name="h"/>
          <p:cNvSpPr txBox="1"/>
          <p:nvPr/>
        </p:nvSpPr>
        <p:spPr>
          <a:xfrm>
            <a:off x="7580376" y="2221992"/>
            <a:ext cx="4078224" cy="310896"/>
          </a:xfrm>
          <a:prstGeom prst="rect">
            <a:avLst/>
          </a:prstGeom>
          <a:noFill/>
          <a:ln/>
        </p:spPr>
        <p:txBody>
          <a:bodyPr wrap="square" lIns="0" tIns="0" rIns="0" bIns="0" rtlCol="0" anchor="ctr"/>
          <a:lstStyle/>
          <a:p>
            <a:pPr indent="0" marL="0">
              <a:buNone/>
            </a:pPr>
            <a:r>
              <a:rPr lang="en-US" sz="1500" b="1" dirty="0">
                <a:solidFill>
                  <a:srgbClr val="1D1D1F"/>
                </a:solidFill>
                <a:latin typeface="Arial" pitchFamily="34" charset="0"/>
                <a:ea typeface="Arial" pitchFamily="34" charset="-122"/>
                <a:cs typeface="Arial" pitchFamily="34" charset="-120"/>
              </a:rPr>
              <a:t>One set of rules</a:t>
            </a:r>
            <a:endParaRPr lang="en-US" sz="1500" dirty="0"/>
          </a:p>
        </p:txBody>
      </p:sp>
      <p:sp>
        <p:nvSpPr>
          <p:cNvPr id="9" name="t"/>
          <p:cNvSpPr txBox="1"/>
          <p:nvPr/>
        </p:nvSpPr>
        <p:spPr>
          <a:xfrm>
            <a:off x="7580376" y="2532888"/>
            <a:ext cx="4078224" cy="566928"/>
          </a:xfrm>
          <a:prstGeom prst="rect">
            <a:avLst/>
          </a:prstGeom>
          <a:noFill/>
          <a:ln/>
        </p:spPr>
        <p:txBody>
          <a:bodyPr wrap="square" lIns="0" tIns="0" rIns="0" bIns="0" rtlCol="0" anchor="t"/>
          <a:lstStyle/>
          <a:p>
            <a:pPr indent="0" marL="0">
              <a:lnSpc>
                <a:spcPct val="105000"/>
              </a:lnSpc>
              <a:buNone/>
            </a:pPr>
            <a:r>
              <a:rPr lang="en-US" sz="1250" dirty="0">
                <a:solidFill>
                  <a:srgbClr val="5C5C61"/>
                </a:solidFill>
                <a:latin typeface="Arial" pitchFamily="34" charset="0"/>
                <a:ea typeface="Arial" pitchFamily="34" charset="-122"/>
                <a:cs typeface="Arial" pitchFamily="34" charset="-120"/>
              </a:rPr>
              <a:t>Scorecards, bases and who is eligible, in force from a month; every change logged.</a:t>
            </a:r>
            <a:endParaRPr lang="en-US" sz="1250" dirty="0"/>
          </a:p>
        </p:txBody>
      </p:sp>
      <p:sp>
        <p:nvSpPr>
          <p:cNvPr id="10" name="dot-target"/>
          <p:cNvSpPr/>
          <p:nvPr/>
        </p:nvSpPr>
        <p:spPr>
          <a:xfrm>
            <a:off x="6903720" y="3264408"/>
            <a:ext cx="475488" cy="475488"/>
          </a:xfrm>
          <a:prstGeom prst="ellipse">
            <a:avLst/>
          </a:prstGeom>
          <a:solidFill>
            <a:srgbClr val="1D1D1F"/>
          </a:solidFill>
          <a:ln/>
        </p:spPr>
      </p:sp>
      <p:pic>
        <p:nvPicPr>
          <p:cNvPr id="11" name="icon-target" descr="">    </p:cNvPr>
          <p:cNvPicPr>
            <a:picLocks noChangeAspect="1"/>
          </p:cNvPicPr>
          <p:nvPr/>
        </p:nvPicPr>
        <p:blipFill>
          <a:blip r:embed="rId3"/>
          <a:stretch>
            <a:fillRect/>
          </a:stretch>
        </p:blipFill>
        <p:spPr>
          <a:xfrm>
            <a:off x="7013082" y="3373770"/>
            <a:ext cx="256764" cy="256764"/>
          </a:xfrm>
          <a:prstGeom prst="rect">
            <a:avLst/>
          </a:prstGeom>
        </p:spPr>
      </p:pic>
      <p:sp>
        <p:nvSpPr>
          <p:cNvPr id="12" name="h"/>
          <p:cNvSpPr txBox="1"/>
          <p:nvPr/>
        </p:nvSpPr>
        <p:spPr>
          <a:xfrm>
            <a:off x="7580376" y="3246120"/>
            <a:ext cx="4078224" cy="310896"/>
          </a:xfrm>
          <a:prstGeom prst="rect">
            <a:avLst/>
          </a:prstGeom>
          <a:noFill/>
          <a:ln/>
        </p:spPr>
        <p:txBody>
          <a:bodyPr wrap="square" lIns="0" tIns="0" rIns="0" bIns="0" rtlCol="0" anchor="ctr"/>
          <a:lstStyle/>
          <a:p>
            <a:pPr indent="0" marL="0">
              <a:buNone/>
            </a:pPr>
            <a:r>
              <a:rPr lang="en-US" sz="1500" b="1" dirty="0">
                <a:solidFill>
                  <a:srgbClr val="1D1D1F"/>
                </a:solidFill>
                <a:latin typeface="Arial" pitchFamily="34" charset="0"/>
                <a:ea typeface="Arial" pitchFamily="34" charset="-122"/>
                <a:cs typeface="Arial" pitchFamily="34" charset="-120"/>
              </a:rPr>
              <a:t>Counted as the old files did</a:t>
            </a:r>
            <a:endParaRPr lang="en-US" sz="1500" dirty="0"/>
          </a:p>
        </p:txBody>
      </p:sp>
      <p:sp>
        <p:nvSpPr>
          <p:cNvPr id="13" name="t"/>
          <p:cNvSpPr txBox="1"/>
          <p:nvPr/>
        </p:nvSpPr>
        <p:spPr>
          <a:xfrm>
            <a:off x="7580376" y="3557016"/>
            <a:ext cx="4078224" cy="566928"/>
          </a:xfrm>
          <a:prstGeom prst="rect">
            <a:avLst/>
          </a:prstGeom>
          <a:noFill/>
          <a:ln/>
        </p:spPr>
        <p:txBody>
          <a:bodyPr wrap="square" lIns="0" tIns="0" rIns="0" bIns="0" rtlCol="0" anchor="t"/>
          <a:lstStyle/>
          <a:p>
            <a:pPr indent="0" marL="0">
              <a:lnSpc>
                <a:spcPct val="105000"/>
              </a:lnSpc>
              <a:buNone/>
            </a:pPr>
            <a:r>
              <a:rPr lang="en-US" sz="1250" dirty="0">
                <a:solidFill>
                  <a:srgbClr val="5C5C61"/>
                </a:solidFill>
                <a:latin typeface="Arial" pitchFamily="34" charset="0"/>
                <a:ea typeface="Arial" pitchFamily="34" charset="-122"/>
                <a:cs typeface="Arial" pitchFamily="34" charset="-120"/>
              </a:rPr>
              <a:t>Percent KPIs and the Final % rounded to a whole %: 94.99% counts as 95%.</a:t>
            </a:r>
            <a:endParaRPr lang="en-US" sz="1250" dirty="0"/>
          </a:p>
        </p:txBody>
      </p:sp>
      <p:sp>
        <p:nvSpPr>
          <p:cNvPr id="14" name="dot-eye"/>
          <p:cNvSpPr/>
          <p:nvPr/>
        </p:nvSpPr>
        <p:spPr>
          <a:xfrm>
            <a:off x="6903720" y="4288536"/>
            <a:ext cx="475488" cy="475488"/>
          </a:xfrm>
          <a:prstGeom prst="ellipse">
            <a:avLst/>
          </a:prstGeom>
          <a:solidFill>
            <a:srgbClr val="1D1D1F"/>
          </a:solidFill>
          <a:ln/>
        </p:spPr>
      </p:sp>
      <p:pic>
        <p:nvPicPr>
          <p:cNvPr id="15" name="icon-eye" descr="">    </p:cNvPr>
          <p:cNvPicPr>
            <a:picLocks noChangeAspect="1"/>
          </p:cNvPicPr>
          <p:nvPr/>
        </p:nvPicPr>
        <p:blipFill>
          <a:blip r:embed="rId4"/>
          <a:stretch>
            <a:fillRect/>
          </a:stretch>
        </p:blipFill>
        <p:spPr>
          <a:xfrm>
            <a:off x="7013082" y="4397898"/>
            <a:ext cx="256764" cy="256764"/>
          </a:xfrm>
          <a:prstGeom prst="rect">
            <a:avLst/>
          </a:prstGeom>
        </p:spPr>
      </p:pic>
      <p:sp>
        <p:nvSpPr>
          <p:cNvPr id="16" name="h"/>
          <p:cNvSpPr txBox="1"/>
          <p:nvPr/>
        </p:nvSpPr>
        <p:spPr>
          <a:xfrm>
            <a:off x="7580376" y="4270248"/>
            <a:ext cx="4078224" cy="310896"/>
          </a:xfrm>
          <a:prstGeom prst="rect">
            <a:avLst/>
          </a:prstGeom>
          <a:noFill/>
          <a:ln/>
        </p:spPr>
        <p:txBody>
          <a:bodyPr wrap="square" lIns="0" tIns="0" rIns="0" bIns="0" rtlCol="0" anchor="ctr"/>
          <a:lstStyle/>
          <a:p>
            <a:pPr indent="0" marL="0">
              <a:buNone/>
            </a:pPr>
            <a:r>
              <a:rPr lang="en-US" sz="1500" b="1" dirty="0">
                <a:solidFill>
                  <a:srgbClr val="1D1D1F"/>
                </a:solidFill>
                <a:latin typeface="Arial" pitchFamily="34" charset="0"/>
                <a:ea typeface="Arial" pitchFamily="34" charset="-122"/>
                <a:cs typeface="Arial" pitchFamily="34" charset="-120"/>
              </a:rPr>
              <a:t>How this was counted</a:t>
            </a:r>
            <a:endParaRPr lang="en-US" sz="1500" dirty="0"/>
          </a:p>
        </p:txBody>
      </p:sp>
      <p:sp>
        <p:nvSpPr>
          <p:cNvPr id="17" name="t"/>
          <p:cNvSpPr txBox="1"/>
          <p:nvPr/>
        </p:nvSpPr>
        <p:spPr>
          <a:xfrm>
            <a:off x="7580376" y="4581144"/>
            <a:ext cx="4078224" cy="566928"/>
          </a:xfrm>
          <a:prstGeom prst="rect">
            <a:avLst/>
          </a:prstGeom>
          <a:noFill/>
          <a:ln/>
        </p:spPr>
        <p:txBody>
          <a:bodyPr wrap="square" lIns="0" tIns="0" rIns="0" bIns="0" rtlCol="0" anchor="t"/>
          <a:lstStyle/>
          <a:p>
            <a:pPr indent="0" marL="0">
              <a:lnSpc>
                <a:spcPct val="105000"/>
              </a:lnSpc>
              <a:buNone/>
            </a:pPr>
            <a:r>
              <a:rPr lang="en-US" sz="1250" dirty="0">
                <a:solidFill>
                  <a:srgbClr val="5C5C61"/>
                </a:solidFill>
                <a:latin typeface="Arial" pitchFamily="34" charset="0"/>
                <a:ea typeface="Arial" pitchFamily="34" charset="-122"/>
                <a:cs typeface="Arial" pitchFamily="34" charset="-120"/>
              </a:rPr>
              <a:t>For every person: each KPI's value, band, ranking and points, the days, and why they earn it or not.</a:t>
            </a:r>
            <a:endParaRPr lang="en-US" sz="1250" dirty="0"/>
          </a:p>
        </p:txBody>
      </p:sp>
      <p:sp>
        <p:nvSpPr>
          <p:cNvPr id="18" name="dot-link"/>
          <p:cNvSpPr/>
          <p:nvPr/>
        </p:nvSpPr>
        <p:spPr>
          <a:xfrm>
            <a:off x="6903720" y="5312664"/>
            <a:ext cx="475488" cy="475488"/>
          </a:xfrm>
          <a:prstGeom prst="ellipse">
            <a:avLst/>
          </a:prstGeom>
          <a:solidFill>
            <a:srgbClr val="1D1D1F"/>
          </a:solidFill>
          <a:ln/>
        </p:spPr>
      </p:sp>
      <p:pic>
        <p:nvPicPr>
          <p:cNvPr id="19" name="icon-link" descr="">    </p:cNvPr>
          <p:cNvPicPr>
            <a:picLocks noChangeAspect="1"/>
          </p:cNvPicPr>
          <p:nvPr/>
        </p:nvPicPr>
        <p:blipFill>
          <a:blip r:embed="rId5"/>
          <a:stretch>
            <a:fillRect/>
          </a:stretch>
        </p:blipFill>
        <p:spPr>
          <a:xfrm>
            <a:off x="7013082" y="5422026"/>
            <a:ext cx="256764" cy="256764"/>
          </a:xfrm>
          <a:prstGeom prst="rect">
            <a:avLst/>
          </a:prstGeom>
        </p:spPr>
      </p:pic>
      <p:sp>
        <p:nvSpPr>
          <p:cNvPr id="20" name="h"/>
          <p:cNvSpPr txBox="1"/>
          <p:nvPr/>
        </p:nvSpPr>
        <p:spPr>
          <a:xfrm>
            <a:off x="7580376" y="5294376"/>
            <a:ext cx="4078224" cy="310896"/>
          </a:xfrm>
          <a:prstGeom prst="rect">
            <a:avLst/>
          </a:prstGeom>
          <a:noFill/>
          <a:ln/>
        </p:spPr>
        <p:txBody>
          <a:bodyPr wrap="square" lIns="0" tIns="0" rIns="0" bIns="0" rtlCol="0" anchor="ctr"/>
          <a:lstStyle/>
          <a:p>
            <a:pPr indent="0" marL="0">
              <a:buNone/>
            </a:pPr>
            <a:r>
              <a:rPr lang="en-US" sz="1500" b="1" dirty="0">
                <a:solidFill>
                  <a:srgbClr val="1D1D1F"/>
                </a:solidFill>
                <a:latin typeface="Arial" pitchFamily="34" charset="0"/>
                <a:ea typeface="Arial" pitchFamily="34" charset="-122"/>
                <a:cs typeface="Arial" pitchFamily="34" charset="-120"/>
              </a:rPr>
              <a:t>Reconcile with the old Excel</a:t>
            </a:r>
            <a:endParaRPr lang="en-US" sz="1500" dirty="0"/>
          </a:p>
        </p:txBody>
      </p:sp>
      <p:sp>
        <p:nvSpPr>
          <p:cNvPr id="21" name="t"/>
          <p:cNvSpPr txBox="1"/>
          <p:nvPr/>
        </p:nvSpPr>
        <p:spPr>
          <a:xfrm>
            <a:off x="7580376" y="5605272"/>
            <a:ext cx="4078224" cy="566928"/>
          </a:xfrm>
          <a:prstGeom prst="rect">
            <a:avLst/>
          </a:prstGeom>
          <a:noFill/>
          <a:ln/>
        </p:spPr>
        <p:txBody>
          <a:bodyPr wrap="square" lIns="0" tIns="0" rIns="0" bIns="0" rtlCol="0" anchor="t"/>
          <a:lstStyle/>
          <a:p>
            <a:pPr indent="0" marL="0">
              <a:lnSpc>
                <a:spcPct val="105000"/>
              </a:lnSpc>
              <a:buNone/>
            </a:pPr>
            <a:r>
              <a:rPr lang="en-US" sz="1250" dirty="0">
                <a:solidFill>
                  <a:srgbClr val="5C5C61"/>
                </a:solidFill>
                <a:latin typeface="Arial" pitchFamily="34" charset="0"/>
                <a:ea typeface="Arial" pitchFamily="34" charset="-122"/>
                <a:cs typeface="Arial" pitchFamily="34" charset="-120"/>
              </a:rPr>
              <a:t>Drop the old workbook: every difference is lined up with its cause and a fix.</a:t>
            </a:r>
            <a:endParaRPr lang="en-US" sz="125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E8E93"/>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42" presetClass="entr" presetSubtype="0" fill="hold" grpId="0" nodeType="withEffect">
                                  <p:stCondLst>
                                    <p:cond delay="25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650"/>
                                        <p:tgtEl>
                                          <p:spTgt spid="5"/>
                                        </p:tgtEl>
                                      </p:cBhvr>
                                    </p:animEffect>
                                    <p:anim calcmode="lin" valueType="num">
                                      <p:cBhvr>
                                        <p:cTn id="14" dur="650" fill="hold"/>
                                        <p:tgtEl>
                                          <p:spTgt spid="5"/>
                                        </p:tgtEl>
                                        <p:attrNameLst>
                                          <p:attrName>ppt_x</p:attrName>
                                        </p:attrNameLst>
                                      </p:cBhvr>
                                      <p:tavLst>
                                        <p:tav tm="0">
                                          <p:val>
                                            <p:strVal val="#ppt_x"/>
                                          </p:val>
                                        </p:tav>
                                        <p:tav tm="100000">
                                          <p:val>
                                            <p:strVal val="#ppt_x"/>
                                          </p:val>
                                        </p:tav>
                                      </p:tavLst>
                                    </p:anim>
                                    <p:anim calcmode="lin" valueType="num">
                                      <p:cBhvr>
                                        <p:cTn id="15" dur="650" fill="hold"/>
                                        <p:tgtEl>
                                          <p:spTgt spid="5"/>
                                        </p:tgtEl>
                                        <p:attrNameLst>
                                          <p:attrName>ppt_y</p:attrName>
                                        </p:attrNameLst>
                                      </p:cBhvr>
                                      <p:tavLst>
                                        <p:tav tm="0">
                                          <p:val>
                                            <p:strVal val="#ppt_y+.05"/>
                                          </p:val>
                                        </p:tav>
                                        <p:tav tm="100000">
                                          <p:val>
                                            <p:strVal val="#ppt_y"/>
                                          </p:val>
                                        </p:tav>
                                      </p:tavLst>
                                    </p:anim>
                                  </p:childTnLst>
                                </p:cTn>
                              </p:par>
                              <p:par>
                                <p:cTn id="16" presetID="42" presetClass="entr" presetSubtype="0" fill="hold" grpId="0" nodeType="withEffect">
                                  <p:stCondLst>
                                    <p:cond delay="40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650"/>
                                        <p:tgtEl>
                                          <p:spTgt spid="6"/>
                                        </p:tgtEl>
                                      </p:cBhvr>
                                    </p:animEffect>
                                    <p:anim calcmode="lin" valueType="num">
                                      <p:cBhvr>
                                        <p:cTn id="19" dur="650" fill="hold"/>
                                        <p:tgtEl>
                                          <p:spTgt spid="6"/>
                                        </p:tgtEl>
                                        <p:attrNameLst>
                                          <p:attrName>ppt_x</p:attrName>
                                        </p:attrNameLst>
                                      </p:cBhvr>
                                      <p:tavLst>
                                        <p:tav tm="0">
                                          <p:val>
                                            <p:strVal val="#ppt_x"/>
                                          </p:val>
                                        </p:tav>
                                        <p:tav tm="100000">
                                          <p:val>
                                            <p:strVal val="#ppt_x"/>
                                          </p:val>
                                        </p:tav>
                                      </p:tavLst>
                                    </p:anim>
                                    <p:anim calcmode="lin" valueType="num">
                                      <p:cBhvr>
                                        <p:cTn id="20" dur="650" fill="hold"/>
                                        <p:tgtEl>
                                          <p:spTgt spid="6"/>
                                        </p:tgtEl>
                                        <p:attrNameLst>
                                          <p:attrName>ppt_y</p:attrName>
                                        </p:attrNameLst>
                                      </p:cBhvr>
                                      <p:tavLst>
                                        <p:tav tm="0">
                                          <p:val>
                                            <p:strVal val="#ppt_y+.05"/>
                                          </p:val>
                                        </p:tav>
                                        <p:tav tm="100000">
                                          <p:val>
                                            <p:strVal val="#ppt_y"/>
                                          </p:val>
                                        </p:tav>
                                      </p:tavLst>
                                    </p:anim>
                                  </p:childTnLst>
                                </p:cTn>
                              </p:par>
                              <p:par>
                                <p:cTn id="21" presetID="42" presetClass="entr" presetSubtype="0" fill="hold" grpId="0" nodeType="withEffect">
                                  <p:stCondLst>
                                    <p:cond delay="40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650"/>
                                        <p:tgtEl>
                                          <p:spTgt spid="7"/>
                                        </p:tgtEl>
                                      </p:cBhvr>
                                    </p:animEffect>
                                    <p:anim calcmode="lin" valueType="num">
                                      <p:cBhvr>
                                        <p:cTn id="24" dur="650" fill="hold"/>
                                        <p:tgtEl>
                                          <p:spTgt spid="7"/>
                                        </p:tgtEl>
                                        <p:attrNameLst>
                                          <p:attrName>ppt_x</p:attrName>
                                        </p:attrNameLst>
                                      </p:cBhvr>
                                      <p:tavLst>
                                        <p:tav tm="0">
                                          <p:val>
                                            <p:strVal val="#ppt_x"/>
                                          </p:val>
                                        </p:tav>
                                        <p:tav tm="100000">
                                          <p:val>
                                            <p:strVal val="#ppt_x"/>
                                          </p:val>
                                        </p:tav>
                                      </p:tavLst>
                                    </p:anim>
                                    <p:anim calcmode="lin" valueType="num">
                                      <p:cBhvr>
                                        <p:cTn id="25" dur="650" fill="hold"/>
                                        <p:tgtEl>
                                          <p:spTgt spid="7"/>
                                        </p:tgtEl>
                                        <p:attrNameLst>
                                          <p:attrName>ppt_y</p:attrName>
                                        </p:attrNameLst>
                                      </p:cBhvr>
                                      <p:tavLst>
                                        <p:tav tm="0">
                                          <p:val>
                                            <p:strVal val="#ppt_y+.05"/>
                                          </p:val>
                                        </p:tav>
                                        <p:tav tm="100000">
                                          <p:val>
                                            <p:strVal val="#ppt_y"/>
                                          </p:val>
                                        </p:tav>
                                      </p:tavLst>
                                    </p:anim>
                                  </p:childTnLst>
                                </p:cTn>
                              </p:par>
                              <p:par>
                                <p:cTn id="26" presetID="42" presetClass="entr" presetSubtype="0" fill="hold" grpId="0" nodeType="withEffect">
                                  <p:stCondLst>
                                    <p:cond delay="40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650"/>
                                        <p:tgtEl>
                                          <p:spTgt spid="8"/>
                                        </p:tgtEl>
                                      </p:cBhvr>
                                    </p:animEffect>
                                    <p:anim calcmode="lin" valueType="num">
                                      <p:cBhvr>
                                        <p:cTn id="29" dur="650" fill="hold"/>
                                        <p:tgtEl>
                                          <p:spTgt spid="8"/>
                                        </p:tgtEl>
                                        <p:attrNameLst>
                                          <p:attrName>ppt_x</p:attrName>
                                        </p:attrNameLst>
                                      </p:cBhvr>
                                      <p:tavLst>
                                        <p:tav tm="0">
                                          <p:val>
                                            <p:strVal val="#ppt_x"/>
                                          </p:val>
                                        </p:tav>
                                        <p:tav tm="100000">
                                          <p:val>
                                            <p:strVal val="#ppt_x"/>
                                          </p:val>
                                        </p:tav>
                                      </p:tavLst>
                                    </p:anim>
                                    <p:anim calcmode="lin" valueType="num">
                                      <p:cBhvr>
                                        <p:cTn id="30" dur="650" fill="hold"/>
                                        <p:tgtEl>
                                          <p:spTgt spid="8"/>
                                        </p:tgtEl>
                                        <p:attrNameLst>
                                          <p:attrName>ppt_y</p:attrName>
                                        </p:attrNameLst>
                                      </p:cBhvr>
                                      <p:tavLst>
                                        <p:tav tm="0">
                                          <p:val>
                                            <p:strVal val="#ppt_y+.05"/>
                                          </p:val>
                                        </p:tav>
                                        <p:tav tm="100000">
                                          <p:val>
                                            <p:strVal val="#ppt_y"/>
                                          </p:val>
                                        </p:tav>
                                      </p:tavLst>
                                    </p:anim>
                                  </p:childTnLst>
                                </p:cTn>
                              </p:par>
                              <p:par>
                                <p:cTn id="31" presetID="42" presetClass="entr" presetSubtype="0" fill="hold" grpId="0" nodeType="withEffect">
                                  <p:stCondLst>
                                    <p:cond delay="40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650"/>
                                        <p:tgtEl>
                                          <p:spTgt spid="9"/>
                                        </p:tgtEl>
                                      </p:cBhvr>
                                    </p:animEffect>
                                    <p:anim calcmode="lin" valueType="num">
                                      <p:cBhvr>
                                        <p:cTn id="34" dur="650" fill="hold"/>
                                        <p:tgtEl>
                                          <p:spTgt spid="9"/>
                                        </p:tgtEl>
                                        <p:attrNameLst>
                                          <p:attrName>ppt_x</p:attrName>
                                        </p:attrNameLst>
                                      </p:cBhvr>
                                      <p:tavLst>
                                        <p:tav tm="0">
                                          <p:val>
                                            <p:strVal val="#ppt_x"/>
                                          </p:val>
                                        </p:tav>
                                        <p:tav tm="100000">
                                          <p:val>
                                            <p:strVal val="#ppt_x"/>
                                          </p:val>
                                        </p:tav>
                                      </p:tavLst>
                                    </p:anim>
                                    <p:anim calcmode="lin" valueType="num">
                                      <p:cBhvr>
                                        <p:cTn id="35" dur="650" fill="hold"/>
                                        <p:tgtEl>
                                          <p:spTgt spid="9"/>
                                        </p:tgtEl>
                                        <p:attrNameLst>
                                          <p:attrName>ppt_y</p:attrName>
                                        </p:attrNameLst>
                                      </p:cBhvr>
                                      <p:tavLst>
                                        <p:tav tm="0">
                                          <p:val>
                                            <p:strVal val="#ppt_y+.05"/>
                                          </p:val>
                                        </p:tav>
                                        <p:tav tm="100000">
                                          <p:val>
                                            <p:strVal val="#ppt_y"/>
                                          </p:val>
                                        </p:tav>
                                      </p:tavLst>
                                    </p:anim>
                                  </p:childTnLst>
                                </p:cTn>
                              </p:par>
                              <p:par>
                                <p:cTn id="36" presetID="42" presetClass="entr" presetSubtype="0" fill="hold" grpId="0" nodeType="withEffect">
                                  <p:stCondLst>
                                    <p:cond delay="54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650"/>
                                        <p:tgtEl>
                                          <p:spTgt spid="10"/>
                                        </p:tgtEl>
                                      </p:cBhvr>
                                    </p:animEffect>
                                    <p:anim calcmode="lin" valueType="num">
                                      <p:cBhvr>
                                        <p:cTn id="39" dur="650" fill="hold"/>
                                        <p:tgtEl>
                                          <p:spTgt spid="10"/>
                                        </p:tgtEl>
                                        <p:attrNameLst>
                                          <p:attrName>ppt_x</p:attrName>
                                        </p:attrNameLst>
                                      </p:cBhvr>
                                      <p:tavLst>
                                        <p:tav tm="0">
                                          <p:val>
                                            <p:strVal val="#ppt_x"/>
                                          </p:val>
                                        </p:tav>
                                        <p:tav tm="100000">
                                          <p:val>
                                            <p:strVal val="#ppt_x"/>
                                          </p:val>
                                        </p:tav>
                                      </p:tavLst>
                                    </p:anim>
                                    <p:anim calcmode="lin" valueType="num">
                                      <p:cBhvr>
                                        <p:cTn id="40" dur="650" fill="hold"/>
                                        <p:tgtEl>
                                          <p:spTgt spid="10"/>
                                        </p:tgtEl>
                                        <p:attrNameLst>
                                          <p:attrName>ppt_y</p:attrName>
                                        </p:attrNameLst>
                                      </p:cBhvr>
                                      <p:tavLst>
                                        <p:tav tm="0">
                                          <p:val>
                                            <p:strVal val="#ppt_y+.05"/>
                                          </p:val>
                                        </p:tav>
                                        <p:tav tm="100000">
                                          <p:val>
                                            <p:strVal val="#ppt_y"/>
                                          </p:val>
                                        </p:tav>
                                      </p:tavLst>
                                    </p:anim>
                                  </p:childTnLst>
                                </p:cTn>
                              </p:par>
                              <p:par>
                                <p:cTn id="41" presetID="42" presetClass="entr" presetSubtype="0" fill="hold" grpId="0" nodeType="withEffect">
                                  <p:stCondLst>
                                    <p:cond delay="54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650"/>
                                        <p:tgtEl>
                                          <p:spTgt spid="11"/>
                                        </p:tgtEl>
                                      </p:cBhvr>
                                    </p:animEffect>
                                    <p:anim calcmode="lin" valueType="num">
                                      <p:cBhvr>
                                        <p:cTn id="44" dur="650" fill="hold"/>
                                        <p:tgtEl>
                                          <p:spTgt spid="11"/>
                                        </p:tgtEl>
                                        <p:attrNameLst>
                                          <p:attrName>ppt_x</p:attrName>
                                        </p:attrNameLst>
                                      </p:cBhvr>
                                      <p:tavLst>
                                        <p:tav tm="0">
                                          <p:val>
                                            <p:strVal val="#ppt_x"/>
                                          </p:val>
                                        </p:tav>
                                        <p:tav tm="100000">
                                          <p:val>
                                            <p:strVal val="#ppt_x"/>
                                          </p:val>
                                        </p:tav>
                                      </p:tavLst>
                                    </p:anim>
                                    <p:anim calcmode="lin" valueType="num">
                                      <p:cBhvr>
                                        <p:cTn id="45" dur="650" fill="hold"/>
                                        <p:tgtEl>
                                          <p:spTgt spid="11"/>
                                        </p:tgtEl>
                                        <p:attrNameLst>
                                          <p:attrName>ppt_y</p:attrName>
                                        </p:attrNameLst>
                                      </p:cBhvr>
                                      <p:tavLst>
                                        <p:tav tm="0">
                                          <p:val>
                                            <p:strVal val="#ppt_y+.05"/>
                                          </p:val>
                                        </p:tav>
                                        <p:tav tm="100000">
                                          <p:val>
                                            <p:strVal val="#ppt_y"/>
                                          </p:val>
                                        </p:tav>
                                      </p:tavLst>
                                    </p:anim>
                                  </p:childTnLst>
                                </p:cTn>
                              </p:par>
                              <p:par>
                                <p:cTn id="46" presetID="42" presetClass="entr" presetSubtype="0" fill="hold" grpId="0" nodeType="withEffect">
                                  <p:stCondLst>
                                    <p:cond delay="540"/>
                                  </p:stCondLst>
                                  <p:childTnLst>
                                    <p:set>
                                      <p:cBhvr>
                                        <p:cTn id="47" dur="1" fill="hold">
                                          <p:stCondLst>
                                            <p:cond delay="0"/>
                                          </p:stCondLst>
                                        </p:cTn>
                                        <p:tgtEl>
                                          <p:spTgt spid="12"/>
                                        </p:tgtEl>
                                        <p:attrNameLst>
                                          <p:attrName>style.visibility</p:attrName>
                                        </p:attrNameLst>
                                      </p:cBhvr>
                                      <p:to>
                                        <p:strVal val="visible"/>
                                      </p:to>
                                    </p:set>
                                    <p:animEffect transition="in" filter="fade">
                                      <p:cBhvr>
                                        <p:cTn id="48" dur="650"/>
                                        <p:tgtEl>
                                          <p:spTgt spid="12"/>
                                        </p:tgtEl>
                                      </p:cBhvr>
                                    </p:animEffect>
                                    <p:anim calcmode="lin" valueType="num">
                                      <p:cBhvr>
                                        <p:cTn id="49" dur="650" fill="hold"/>
                                        <p:tgtEl>
                                          <p:spTgt spid="12"/>
                                        </p:tgtEl>
                                        <p:attrNameLst>
                                          <p:attrName>ppt_x</p:attrName>
                                        </p:attrNameLst>
                                      </p:cBhvr>
                                      <p:tavLst>
                                        <p:tav tm="0">
                                          <p:val>
                                            <p:strVal val="#ppt_x"/>
                                          </p:val>
                                        </p:tav>
                                        <p:tav tm="100000">
                                          <p:val>
                                            <p:strVal val="#ppt_x"/>
                                          </p:val>
                                        </p:tav>
                                      </p:tavLst>
                                    </p:anim>
                                    <p:anim calcmode="lin" valueType="num">
                                      <p:cBhvr>
                                        <p:cTn id="50" dur="650" fill="hold"/>
                                        <p:tgtEl>
                                          <p:spTgt spid="12"/>
                                        </p:tgtEl>
                                        <p:attrNameLst>
                                          <p:attrName>ppt_y</p:attrName>
                                        </p:attrNameLst>
                                      </p:cBhvr>
                                      <p:tavLst>
                                        <p:tav tm="0">
                                          <p:val>
                                            <p:strVal val="#ppt_y+.05"/>
                                          </p:val>
                                        </p:tav>
                                        <p:tav tm="100000">
                                          <p:val>
                                            <p:strVal val="#ppt_y"/>
                                          </p:val>
                                        </p:tav>
                                      </p:tavLst>
                                    </p:anim>
                                  </p:childTnLst>
                                </p:cTn>
                              </p:par>
                              <p:par>
                                <p:cTn id="51" presetID="42" presetClass="entr" presetSubtype="0" fill="hold" grpId="0" nodeType="withEffect">
                                  <p:stCondLst>
                                    <p:cond delay="540"/>
                                  </p:stCondLst>
                                  <p:childTnLst>
                                    <p:set>
                                      <p:cBhvr>
                                        <p:cTn id="52" dur="1" fill="hold">
                                          <p:stCondLst>
                                            <p:cond delay="0"/>
                                          </p:stCondLst>
                                        </p:cTn>
                                        <p:tgtEl>
                                          <p:spTgt spid="13"/>
                                        </p:tgtEl>
                                        <p:attrNameLst>
                                          <p:attrName>style.visibility</p:attrName>
                                        </p:attrNameLst>
                                      </p:cBhvr>
                                      <p:to>
                                        <p:strVal val="visible"/>
                                      </p:to>
                                    </p:set>
                                    <p:animEffect transition="in" filter="fade">
                                      <p:cBhvr>
                                        <p:cTn id="53" dur="650"/>
                                        <p:tgtEl>
                                          <p:spTgt spid="13"/>
                                        </p:tgtEl>
                                      </p:cBhvr>
                                    </p:animEffect>
                                    <p:anim calcmode="lin" valueType="num">
                                      <p:cBhvr>
                                        <p:cTn id="54" dur="650" fill="hold"/>
                                        <p:tgtEl>
                                          <p:spTgt spid="13"/>
                                        </p:tgtEl>
                                        <p:attrNameLst>
                                          <p:attrName>ppt_x</p:attrName>
                                        </p:attrNameLst>
                                      </p:cBhvr>
                                      <p:tavLst>
                                        <p:tav tm="0">
                                          <p:val>
                                            <p:strVal val="#ppt_x"/>
                                          </p:val>
                                        </p:tav>
                                        <p:tav tm="100000">
                                          <p:val>
                                            <p:strVal val="#ppt_x"/>
                                          </p:val>
                                        </p:tav>
                                      </p:tavLst>
                                    </p:anim>
                                    <p:anim calcmode="lin" valueType="num">
                                      <p:cBhvr>
                                        <p:cTn id="55" dur="650" fill="hold"/>
                                        <p:tgtEl>
                                          <p:spTgt spid="13"/>
                                        </p:tgtEl>
                                        <p:attrNameLst>
                                          <p:attrName>ppt_y</p:attrName>
                                        </p:attrNameLst>
                                      </p:cBhvr>
                                      <p:tavLst>
                                        <p:tav tm="0">
                                          <p:val>
                                            <p:strVal val="#ppt_y+.05"/>
                                          </p:val>
                                        </p:tav>
                                        <p:tav tm="100000">
                                          <p:val>
                                            <p:strVal val="#ppt_y"/>
                                          </p:val>
                                        </p:tav>
                                      </p:tavLst>
                                    </p:anim>
                                  </p:childTnLst>
                                </p:cTn>
                              </p:par>
                              <p:par>
                                <p:cTn id="56" presetID="42" presetClass="entr" presetSubtype="0" fill="hold" grpId="0" nodeType="withEffect">
                                  <p:stCondLst>
                                    <p:cond delay="680"/>
                                  </p:stCondLst>
                                  <p:childTnLst>
                                    <p:set>
                                      <p:cBhvr>
                                        <p:cTn id="57" dur="1" fill="hold">
                                          <p:stCondLst>
                                            <p:cond delay="0"/>
                                          </p:stCondLst>
                                        </p:cTn>
                                        <p:tgtEl>
                                          <p:spTgt spid="14"/>
                                        </p:tgtEl>
                                        <p:attrNameLst>
                                          <p:attrName>style.visibility</p:attrName>
                                        </p:attrNameLst>
                                      </p:cBhvr>
                                      <p:to>
                                        <p:strVal val="visible"/>
                                      </p:to>
                                    </p:set>
                                    <p:animEffect transition="in" filter="fade">
                                      <p:cBhvr>
                                        <p:cTn id="58" dur="650"/>
                                        <p:tgtEl>
                                          <p:spTgt spid="14"/>
                                        </p:tgtEl>
                                      </p:cBhvr>
                                    </p:animEffect>
                                    <p:anim calcmode="lin" valueType="num">
                                      <p:cBhvr>
                                        <p:cTn id="59" dur="650" fill="hold"/>
                                        <p:tgtEl>
                                          <p:spTgt spid="14"/>
                                        </p:tgtEl>
                                        <p:attrNameLst>
                                          <p:attrName>ppt_x</p:attrName>
                                        </p:attrNameLst>
                                      </p:cBhvr>
                                      <p:tavLst>
                                        <p:tav tm="0">
                                          <p:val>
                                            <p:strVal val="#ppt_x"/>
                                          </p:val>
                                        </p:tav>
                                        <p:tav tm="100000">
                                          <p:val>
                                            <p:strVal val="#ppt_x"/>
                                          </p:val>
                                        </p:tav>
                                      </p:tavLst>
                                    </p:anim>
                                    <p:anim calcmode="lin" valueType="num">
                                      <p:cBhvr>
                                        <p:cTn id="60" dur="650" fill="hold"/>
                                        <p:tgtEl>
                                          <p:spTgt spid="14"/>
                                        </p:tgtEl>
                                        <p:attrNameLst>
                                          <p:attrName>ppt_y</p:attrName>
                                        </p:attrNameLst>
                                      </p:cBhvr>
                                      <p:tavLst>
                                        <p:tav tm="0">
                                          <p:val>
                                            <p:strVal val="#ppt_y+.05"/>
                                          </p:val>
                                        </p:tav>
                                        <p:tav tm="100000">
                                          <p:val>
                                            <p:strVal val="#ppt_y"/>
                                          </p:val>
                                        </p:tav>
                                      </p:tavLst>
                                    </p:anim>
                                  </p:childTnLst>
                                </p:cTn>
                              </p:par>
                              <p:par>
                                <p:cTn id="61" presetID="42" presetClass="entr" presetSubtype="0" fill="hold" grpId="0" nodeType="withEffect">
                                  <p:stCondLst>
                                    <p:cond delay="680"/>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650"/>
                                        <p:tgtEl>
                                          <p:spTgt spid="15"/>
                                        </p:tgtEl>
                                      </p:cBhvr>
                                    </p:animEffect>
                                    <p:anim calcmode="lin" valueType="num">
                                      <p:cBhvr>
                                        <p:cTn id="64" dur="650" fill="hold"/>
                                        <p:tgtEl>
                                          <p:spTgt spid="15"/>
                                        </p:tgtEl>
                                        <p:attrNameLst>
                                          <p:attrName>ppt_x</p:attrName>
                                        </p:attrNameLst>
                                      </p:cBhvr>
                                      <p:tavLst>
                                        <p:tav tm="0">
                                          <p:val>
                                            <p:strVal val="#ppt_x"/>
                                          </p:val>
                                        </p:tav>
                                        <p:tav tm="100000">
                                          <p:val>
                                            <p:strVal val="#ppt_x"/>
                                          </p:val>
                                        </p:tav>
                                      </p:tavLst>
                                    </p:anim>
                                    <p:anim calcmode="lin" valueType="num">
                                      <p:cBhvr>
                                        <p:cTn id="65" dur="650" fill="hold"/>
                                        <p:tgtEl>
                                          <p:spTgt spid="15"/>
                                        </p:tgtEl>
                                        <p:attrNameLst>
                                          <p:attrName>ppt_y</p:attrName>
                                        </p:attrNameLst>
                                      </p:cBhvr>
                                      <p:tavLst>
                                        <p:tav tm="0">
                                          <p:val>
                                            <p:strVal val="#ppt_y+.05"/>
                                          </p:val>
                                        </p:tav>
                                        <p:tav tm="100000">
                                          <p:val>
                                            <p:strVal val="#ppt_y"/>
                                          </p:val>
                                        </p:tav>
                                      </p:tavLst>
                                    </p:anim>
                                  </p:childTnLst>
                                </p:cTn>
                              </p:par>
                              <p:par>
                                <p:cTn id="66" presetID="42" presetClass="entr" presetSubtype="0" fill="hold" grpId="0" nodeType="withEffect">
                                  <p:stCondLst>
                                    <p:cond delay="680"/>
                                  </p:stCondLst>
                                  <p:childTnLst>
                                    <p:set>
                                      <p:cBhvr>
                                        <p:cTn id="67" dur="1" fill="hold">
                                          <p:stCondLst>
                                            <p:cond delay="0"/>
                                          </p:stCondLst>
                                        </p:cTn>
                                        <p:tgtEl>
                                          <p:spTgt spid="16"/>
                                        </p:tgtEl>
                                        <p:attrNameLst>
                                          <p:attrName>style.visibility</p:attrName>
                                        </p:attrNameLst>
                                      </p:cBhvr>
                                      <p:to>
                                        <p:strVal val="visible"/>
                                      </p:to>
                                    </p:set>
                                    <p:animEffect transition="in" filter="fade">
                                      <p:cBhvr>
                                        <p:cTn id="68" dur="650"/>
                                        <p:tgtEl>
                                          <p:spTgt spid="16"/>
                                        </p:tgtEl>
                                      </p:cBhvr>
                                    </p:animEffect>
                                    <p:anim calcmode="lin" valueType="num">
                                      <p:cBhvr>
                                        <p:cTn id="69" dur="650" fill="hold"/>
                                        <p:tgtEl>
                                          <p:spTgt spid="16"/>
                                        </p:tgtEl>
                                        <p:attrNameLst>
                                          <p:attrName>ppt_x</p:attrName>
                                        </p:attrNameLst>
                                      </p:cBhvr>
                                      <p:tavLst>
                                        <p:tav tm="0">
                                          <p:val>
                                            <p:strVal val="#ppt_x"/>
                                          </p:val>
                                        </p:tav>
                                        <p:tav tm="100000">
                                          <p:val>
                                            <p:strVal val="#ppt_x"/>
                                          </p:val>
                                        </p:tav>
                                      </p:tavLst>
                                    </p:anim>
                                    <p:anim calcmode="lin" valueType="num">
                                      <p:cBhvr>
                                        <p:cTn id="70" dur="650" fill="hold"/>
                                        <p:tgtEl>
                                          <p:spTgt spid="16"/>
                                        </p:tgtEl>
                                        <p:attrNameLst>
                                          <p:attrName>ppt_y</p:attrName>
                                        </p:attrNameLst>
                                      </p:cBhvr>
                                      <p:tavLst>
                                        <p:tav tm="0">
                                          <p:val>
                                            <p:strVal val="#ppt_y+.05"/>
                                          </p:val>
                                        </p:tav>
                                        <p:tav tm="100000">
                                          <p:val>
                                            <p:strVal val="#ppt_y"/>
                                          </p:val>
                                        </p:tav>
                                      </p:tavLst>
                                    </p:anim>
                                  </p:childTnLst>
                                </p:cTn>
                              </p:par>
                              <p:par>
                                <p:cTn id="71" presetID="42" presetClass="entr" presetSubtype="0" fill="hold" grpId="0" nodeType="withEffect">
                                  <p:stCondLst>
                                    <p:cond delay="680"/>
                                  </p:stCondLst>
                                  <p:childTnLst>
                                    <p:set>
                                      <p:cBhvr>
                                        <p:cTn id="72" dur="1" fill="hold">
                                          <p:stCondLst>
                                            <p:cond delay="0"/>
                                          </p:stCondLst>
                                        </p:cTn>
                                        <p:tgtEl>
                                          <p:spTgt spid="17"/>
                                        </p:tgtEl>
                                        <p:attrNameLst>
                                          <p:attrName>style.visibility</p:attrName>
                                        </p:attrNameLst>
                                      </p:cBhvr>
                                      <p:to>
                                        <p:strVal val="visible"/>
                                      </p:to>
                                    </p:set>
                                    <p:animEffect transition="in" filter="fade">
                                      <p:cBhvr>
                                        <p:cTn id="73" dur="650"/>
                                        <p:tgtEl>
                                          <p:spTgt spid="17"/>
                                        </p:tgtEl>
                                      </p:cBhvr>
                                    </p:animEffect>
                                    <p:anim calcmode="lin" valueType="num">
                                      <p:cBhvr>
                                        <p:cTn id="74" dur="650" fill="hold"/>
                                        <p:tgtEl>
                                          <p:spTgt spid="17"/>
                                        </p:tgtEl>
                                        <p:attrNameLst>
                                          <p:attrName>ppt_x</p:attrName>
                                        </p:attrNameLst>
                                      </p:cBhvr>
                                      <p:tavLst>
                                        <p:tav tm="0">
                                          <p:val>
                                            <p:strVal val="#ppt_x"/>
                                          </p:val>
                                        </p:tav>
                                        <p:tav tm="100000">
                                          <p:val>
                                            <p:strVal val="#ppt_x"/>
                                          </p:val>
                                        </p:tav>
                                      </p:tavLst>
                                    </p:anim>
                                    <p:anim calcmode="lin" valueType="num">
                                      <p:cBhvr>
                                        <p:cTn id="75" dur="650" fill="hold"/>
                                        <p:tgtEl>
                                          <p:spTgt spid="17"/>
                                        </p:tgtEl>
                                        <p:attrNameLst>
                                          <p:attrName>ppt_y</p:attrName>
                                        </p:attrNameLst>
                                      </p:cBhvr>
                                      <p:tavLst>
                                        <p:tav tm="0">
                                          <p:val>
                                            <p:strVal val="#ppt_y+.05"/>
                                          </p:val>
                                        </p:tav>
                                        <p:tav tm="100000">
                                          <p:val>
                                            <p:strVal val="#ppt_y"/>
                                          </p:val>
                                        </p:tav>
                                      </p:tavLst>
                                    </p:anim>
                                  </p:childTnLst>
                                </p:cTn>
                              </p:par>
                              <p:par>
                                <p:cTn id="76" presetID="42" presetClass="entr" presetSubtype="0" fill="hold" grpId="0" nodeType="withEffect">
                                  <p:stCondLst>
                                    <p:cond delay="820"/>
                                  </p:stCondLst>
                                  <p:childTnLst>
                                    <p:set>
                                      <p:cBhvr>
                                        <p:cTn id="77" dur="1" fill="hold">
                                          <p:stCondLst>
                                            <p:cond delay="0"/>
                                          </p:stCondLst>
                                        </p:cTn>
                                        <p:tgtEl>
                                          <p:spTgt spid="18"/>
                                        </p:tgtEl>
                                        <p:attrNameLst>
                                          <p:attrName>style.visibility</p:attrName>
                                        </p:attrNameLst>
                                      </p:cBhvr>
                                      <p:to>
                                        <p:strVal val="visible"/>
                                      </p:to>
                                    </p:set>
                                    <p:animEffect transition="in" filter="fade">
                                      <p:cBhvr>
                                        <p:cTn id="78" dur="650"/>
                                        <p:tgtEl>
                                          <p:spTgt spid="18"/>
                                        </p:tgtEl>
                                      </p:cBhvr>
                                    </p:animEffect>
                                    <p:anim calcmode="lin" valueType="num">
                                      <p:cBhvr>
                                        <p:cTn id="79" dur="650" fill="hold"/>
                                        <p:tgtEl>
                                          <p:spTgt spid="18"/>
                                        </p:tgtEl>
                                        <p:attrNameLst>
                                          <p:attrName>ppt_x</p:attrName>
                                        </p:attrNameLst>
                                      </p:cBhvr>
                                      <p:tavLst>
                                        <p:tav tm="0">
                                          <p:val>
                                            <p:strVal val="#ppt_x"/>
                                          </p:val>
                                        </p:tav>
                                        <p:tav tm="100000">
                                          <p:val>
                                            <p:strVal val="#ppt_x"/>
                                          </p:val>
                                        </p:tav>
                                      </p:tavLst>
                                    </p:anim>
                                    <p:anim calcmode="lin" valueType="num">
                                      <p:cBhvr>
                                        <p:cTn id="80" dur="650" fill="hold"/>
                                        <p:tgtEl>
                                          <p:spTgt spid="18"/>
                                        </p:tgtEl>
                                        <p:attrNameLst>
                                          <p:attrName>ppt_y</p:attrName>
                                        </p:attrNameLst>
                                      </p:cBhvr>
                                      <p:tavLst>
                                        <p:tav tm="0">
                                          <p:val>
                                            <p:strVal val="#ppt_y+.05"/>
                                          </p:val>
                                        </p:tav>
                                        <p:tav tm="100000">
                                          <p:val>
                                            <p:strVal val="#ppt_y"/>
                                          </p:val>
                                        </p:tav>
                                      </p:tavLst>
                                    </p:anim>
                                  </p:childTnLst>
                                </p:cTn>
                              </p:par>
                              <p:par>
                                <p:cTn id="81" presetID="42" presetClass="entr" presetSubtype="0" fill="hold" grpId="0" nodeType="withEffect">
                                  <p:stCondLst>
                                    <p:cond delay="820"/>
                                  </p:stCondLst>
                                  <p:childTnLst>
                                    <p:set>
                                      <p:cBhvr>
                                        <p:cTn id="82" dur="1" fill="hold">
                                          <p:stCondLst>
                                            <p:cond delay="0"/>
                                          </p:stCondLst>
                                        </p:cTn>
                                        <p:tgtEl>
                                          <p:spTgt spid="19"/>
                                        </p:tgtEl>
                                        <p:attrNameLst>
                                          <p:attrName>style.visibility</p:attrName>
                                        </p:attrNameLst>
                                      </p:cBhvr>
                                      <p:to>
                                        <p:strVal val="visible"/>
                                      </p:to>
                                    </p:set>
                                    <p:animEffect transition="in" filter="fade">
                                      <p:cBhvr>
                                        <p:cTn id="83" dur="650"/>
                                        <p:tgtEl>
                                          <p:spTgt spid="19"/>
                                        </p:tgtEl>
                                      </p:cBhvr>
                                    </p:animEffect>
                                    <p:anim calcmode="lin" valueType="num">
                                      <p:cBhvr>
                                        <p:cTn id="84" dur="650" fill="hold"/>
                                        <p:tgtEl>
                                          <p:spTgt spid="19"/>
                                        </p:tgtEl>
                                        <p:attrNameLst>
                                          <p:attrName>ppt_x</p:attrName>
                                        </p:attrNameLst>
                                      </p:cBhvr>
                                      <p:tavLst>
                                        <p:tav tm="0">
                                          <p:val>
                                            <p:strVal val="#ppt_x"/>
                                          </p:val>
                                        </p:tav>
                                        <p:tav tm="100000">
                                          <p:val>
                                            <p:strVal val="#ppt_x"/>
                                          </p:val>
                                        </p:tav>
                                      </p:tavLst>
                                    </p:anim>
                                    <p:anim calcmode="lin" valueType="num">
                                      <p:cBhvr>
                                        <p:cTn id="85" dur="650" fill="hold"/>
                                        <p:tgtEl>
                                          <p:spTgt spid="19"/>
                                        </p:tgtEl>
                                        <p:attrNameLst>
                                          <p:attrName>ppt_y</p:attrName>
                                        </p:attrNameLst>
                                      </p:cBhvr>
                                      <p:tavLst>
                                        <p:tav tm="0">
                                          <p:val>
                                            <p:strVal val="#ppt_y+.05"/>
                                          </p:val>
                                        </p:tav>
                                        <p:tav tm="100000">
                                          <p:val>
                                            <p:strVal val="#ppt_y"/>
                                          </p:val>
                                        </p:tav>
                                      </p:tavLst>
                                    </p:anim>
                                  </p:childTnLst>
                                </p:cTn>
                              </p:par>
                              <p:par>
                                <p:cTn id="86" presetID="42" presetClass="entr" presetSubtype="0" fill="hold" grpId="0" nodeType="withEffect">
                                  <p:stCondLst>
                                    <p:cond delay="820"/>
                                  </p:stCondLst>
                                  <p:childTnLst>
                                    <p:set>
                                      <p:cBhvr>
                                        <p:cTn id="87" dur="1" fill="hold">
                                          <p:stCondLst>
                                            <p:cond delay="0"/>
                                          </p:stCondLst>
                                        </p:cTn>
                                        <p:tgtEl>
                                          <p:spTgt spid="20"/>
                                        </p:tgtEl>
                                        <p:attrNameLst>
                                          <p:attrName>style.visibility</p:attrName>
                                        </p:attrNameLst>
                                      </p:cBhvr>
                                      <p:to>
                                        <p:strVal val="visible"/>
                                      </p:to>
                                    </p:set>
                                    <p:animEffect transition="in" filter="fade">
                                      <p:cBhvr>
                                        <p:cTn id="88" dur="650"/>
                                        <p:tgtEl>
                                          <p:spTgt spid="20"/>
                                        </p:tgtEl>
                                      </p:cBhvr>
                                    </p:animEffect>
                                    <p:anim calcmode="lin" valueType="num">
                                      <p:cBhvr>
                                        <p:cTn id="89" dur="650" fill="hold"/>
                                        <p:tgtEl>
                                          <p:spTgt spid="20"/>
                                        </p:tgtEl>
                                        <p:attrNameLst>
                                          <p:attrName>ppt_x</p:attrName>
                                        </p:attrNameLst>
                                      </p:cBhvr>
                                      <p:tavLst>
                                        <p:tav tm="0">
                                          <p:val>
                                            <p:strVal val="#ppt_x"/>
                                          </p:val>
                                        </p:tav>
                                        <p:tav tm="100000">
                                          <p:val>
                                            <p:strVal val="#ppt_x"/>
                                          </p:val>
                                        </p:tav>
                                      </p:tavLst>
                                    </p:anim>
                                    <p:anim calcmode="lin" valueType="num">
                                      <p:cBhvr>
                                        <p:cTn id="90" dur="650" fill="hold"/>
                                        <p:tgtEl>
                                          <p:spTgt spid="20"/>
                                        </p:tgtEl>
                                        <p:attrNameLst>
                                          <p:attrName>ppt_y</p:attrName>
                                        </p:attrNameLst>
                                      </p:cBhvr>
                                      <p:tavLst>
                                        <p:tav tm="0">
                                          <p:val>
                                            <p:strVal val="#ppt_y+.05"/>
                                          </p:val>
                                        </p:tav>
                                        <p:tav tm="100000">
                                          <p:val>
                                            <p:strVal val="#ppt_y"/>
                                          </p:val>
                                        </p:tav>
                                      </p:tavLst>
                                    </p:anim>
                                  </p:childTnLst>
                                </p:cTn>
                              </p:par>
                              <p:par>
                                <p:cTn id="91" presetID="42" presetClass="entr" presetSubtype="0" fill="hold" grpId="0" nodeType="withEffect">
                                  <p:stCondLst>
                                    <p:cond delay="820"/>
                                  </p:stCondLst>
                                  <p:childTnLst>
                                    <p:set>
                                      <p:cBhvr>
                                        <p:cTn id="92" dur="1" fill="hold">
                                          <p:stCondLst>
                                            <p:cond delay="0"/>
                                          </p:stCondLst>
                                        </p:cTn>
                                        <p:tgtEl>
                                          <p:spTgt spid="21"/>
                                        </p:tgtEl>
                                        <p:attrNameLst>
                                          <p:attrName>style.visibility</p:attrName>
                                        </p:attrNameLst>
                                      </p:cBhvr>
                                      <p:to>
                                        <p:strVal val="visible"/>
                                      </p:to>
                                    </p:set>
                                    <p:animEffect transition="in" filter="fade">
                                      <p:cBhvr>
                                        <p:cTn id="93" dur="650"/>
                                        <p:tgtEl>
                                          <p:spTgt spid="21"/>
                                        </p:tgtEl>
                                      </p:cBhvr>
                                    </p:animEffect>
                                    <p:anim calcmode="lin" valueType="num">
                                      <p:cBhvr>
                                        <p:cTn id="94" dur="650" fill="hold"/>
                                        <p:tgtEl>
                                          <p:spTgt spid="21"/>
                                        </p:tgtEl>
                                        <p:attrNameLst>
                                          <p:attrName>ppt_x</p:attrName>
                                        </p:attrNameLst>
                                      </p:cBhvr>
                                      <p:tavLst>
                                        <p:tav tm="0">
                                          <p:val>
                                            <p:strVal val="#ppt_x"/>
                                          </p:val>
                                        </p:tav>
                                        <p:tav tm="100000">
                                          <p:val>
                                            <p:strVal val="#ppt_x"/>
                                          </p:val>
                                        </p:tav>
                                      </p:tavLst>
                                    </p:anim>
                                    <p:anim calcmode="lin" valueType="num">
                                      <p:cBhvr>
                                        <p:cTn id="95" dur="650" fill="hold"/>
                                        <p:tgtEl>
                                          <p:spTgt spid="21"/>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P spid="8" grpId="0" animBg="1"/>
      <p:bldP spid="9" grpId="0" animBg="1"/>
      <p:bldP spid="10" grpId="0" animBg="1"/>
      <p:bldP spid="12" grpId="0" animBg="1"/>
      <p:bldP spid="13" grpId="0" animBg="1"/>
      <p:bldP spid="14" grpId="0" animBg="1"/>
      <p:bldP spid="16" grpId="0" animBg="1"/>
      <p:bldP spid="17" grpId="0" animBg="1"/>
      <p:bldP spid="18" grpId="0" animBg="1"/>
      <p:bldP spid="20" grpId="0" animBg="1"/>
      <p:bldP spid="2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eyebrow-pill"/>
          <p:cNvSpPr/>
          <p:nvPr/>
        </p:nvSpPr>
        <p:spPr>
          <a:xfrm>
            <a:off x="548640" y="475488"/>
            <a:ext cx="793699" cy="274320"/>
          </a:xfrm>
          <a:prstGeom prst="roundRect">
            <a:avLst>
              <a:gd name="adj" fmla="val 50000"/>
            </a:avLst>
          </a:prstGeom>
          <a:solidFill>
            <a:srgbClr val="2C2C2E"/>
          </a:solidFill>
          <a:ln/>
        </p:spPr>
      </p:sp>
      <p:sp>
        <p:nvSpPr>
          <p:cNvPr id="3" name="eyebrow"/>
          <p:cNvSpPr txBox="1"/>
          <p:nvPr/>
        </p:nvSpPr>
        <p:spPr>
          <a:xfrm>
            <a:off x="548640" y="475488"/>
            <a:ext cx="793699" cy="274320"/>
          </a:xfrm>
          <a:prstGeom prst="rect">
            <a:avLst/>
          </a:prstGeom>
          <a:noFill/>
          <a:ln/>
        </p:spPr>
        <p:txBody>
          <a:bodyPr wrap="square" lIns="0" tIns="0" rIns="0" bIns="0" rtlCol="0" anchor="ctr"/>
          <a:lstStyle/>
          <a:p>
            <a:pPr algn="ctr" indent="0" marL="0">
              <a:buNone/>
            </a:pPr>
            <a:r>
              <a:rPr lang="en-US" sz="900" b="1" spc="160" kern="0" dirty="0">
                <a:solidFill>
                  <a:srgbClr val="A8A8AD"/>
                </a:solidFill>
                <a:latin typeface="Arial" pitchFamily="34" charset="0"/>
                <a:ea typeface="Arial" pitchFamily="34" charset="-122"/>
                <a:cs typeface="Arial" pitchFamily="34" charset="-120"/>
              </a:rPr>
              <a:t>EMAILS</a:t>
            </a:r>
            <a:endParaRPr lang="en-US" sz="900" dirty="0"/>
          </a:p>
        </p:txBody>
      </p:sp>
      <p:sp>
        <p:nvSpPr>
          <p:cNvPr id="4" name="Text 1"/>
          <p:cNvSpPr/>
          <p:nvPr>
            <p:ph idx="101" type="title" hasCustomPrompt="1"/>
          </p:nvPr>
        </p:nvSpPr>
        <p:spPr>
          <a:xfrm>
            <a:off x="548640" y="896112"/>
            <a:ext cx="6583680" cy="1207008"/>
          </a:xfrm>
          <a:prstGeom prst="rect">
            <a:avLst/>
          </a:prstGeom>
          <a:noFill/>
          <a:ln/>
        </p:spPr>
        <p:txBody>
          <a:bodyPr wrap="square" lIns="0" tIns="0" rIns="0" bIns="0" rtlCol="0" anchor="t"/>
          <a:lstStyle/>
          <a:p>
            <a:pPr algn="l" indent="0" marL="0">
              <a:buNone/>
            </a:pPr>
            <a:r>
              <a:rPr lang="en-US" sz="3400" b="1" dirty="0">
                <a:solidFill>
                  <a:srgbClr val="F5F5F7"/>
                </a:solidFill>
                <a:latin typeface="Arial" pitchFamily="34" charset="0"/>
                <a:ea typeface="Arial" pitchFamily="34" charset="-122"/>
                <a:cs typeface="Arial" pitchFamily="34" charset="-120"/>
              </a:rPr>
              <a:t>Month-end emails,</a:t>
            </a:r>
            <a:endParaRPr lang="en-US" sz="3400" dirty="0"/>
          </a:p>
          <a:p>
            <a:pPr algn="l" indent="0" marL="0">
              <a:buNone/>
            </a:pPr>
            <a:r>
              <a:rPr lang="en-US" sz="3400" dirty="0">
                <a:solidFill>
                  <a:srgbClr val="8E8E93"/>
                </a:solidFill>
                <a:latin typeface="Arial" pitchFamily="34" charset="0"/>
                <a:ea typeface="Arial" pitchFamily="34" charset="-122"/>
                <a:cs typeface="Arial" pitchFamily="34" charset="-120"/>
              </a:rPr>
              <a:t>ready to send</a:t>
            </a:r>
            <a:endParaRPr lang="en-US" sz="3400" dirty="0"/>
          </a:p>
        </p:txBody>
      </p:sp>
      <p:pic>
        <p:nvPicPr>
          <p:cNvPr id="5" name="glow" descr="">    </p:cNvPr>
          <p:cNvPicPr>
            <a:picLocks noChangeAspect="1"/>
          </p:cNvPicPr>
          <p:nvPr/>
        </p:nvPicPr>
        <p:blipFill>
          <a:blip r:embed="rId1"/>
          <a:stretch>
            <a:fillRect/>
          </a:stretch>
        </p:blipFill>
        <p:spPr>
          <a:xfrm>
            <a:off x="-731520" y="1280160"/>
            <a:ext cx="6766560" cy="6766560"/>
          </a:xfrm>
          <a:prstGeom prst="rect">
            <a:avLst/>
          </a:prstGeom>
        </p:spPr>
      </p:pic>
      <p:pic>
        <p:nvPicPr>
          <p:cNvPr id="6" name="emails" descr="Emails: the deduction email for review">    </p:cNvPr>
          <p:cNvPicPr>
            <a:picLocks noChangeAspect="1"/>
          </p:cNvPicPr>
          <p:nvPr/>
        </p:nvPicPr>
        <p:blipFill>
          <a:blip r:embed="rId2"/>
          <a:stretch>
            <a:fillRect/>
          </a:stretch>
        </p:blipFill>
        <p:spPr>
          <a:xfrm>
            <a:off x="411480" y="2148840"/>
            <a:ext cx="6537960" cy="4529872"/>
          </a:xfrm>
          <a:prstGeom prst="rect">
            <a:avLst/>
          </a:prstGeom>
        </p:spPr>
      </p:pic>
      <p:sp>
        <p:nvSpPr>
          <p:cNvPr id="7" name="dot-mail"/>
          <p:cNvSpPr/>
          <p:nvPr/>
        </p:nvSpPr>
        <p:spPr>
          <a:xfrm>
            <a:off x="7315200" y="2240280"/>
            <a:ext cx="475488" cy="475488"/>
          </a:xfrm>
          <a:prstGeom prst="ellipse">
            <a:avLst/>
          </a:prstGeom>
          <a:solidFill>
            <a:srgbClr val="2C2C2E"/>
          </a:solidFill>
          <a:ln/>
        </p:spPr>
      </p:sp>
      <p:pic>
        <p:nvPicPr>
          <p:cNvPr id="8" name="icon-mail" descr="">    </p:cNvPr>
          <p:cNvPicPr>
            <a:picLocks noChangeAspect="1"/>
          </p:cNvPicPr>
          <p:nvPr/>
        </p:nvPicPr>
        <p:blipFill>
          <a:blip r:embed="rId3"/>
          <a:stretch>
            <a:fillRect/>
          </a:stretch>
        </p:blipFill>
        <p:spPr>
          <a:xfrm>
            <a:off x="7424562" y="2349642"/>
            <a:ext cx="256764" cy="256764"/>
          </a:xfrm>
          <a:prstGeom prst="rect">
            <a:avLst/>
          </a:prstGeom>
        </p:spPr>
      </p:pic>
      <p:sp>
        <p:nvSpPr>
          <p:cNvPr id="9" name="h"/>
          <p:cNvSpPr txBox="1"/>
          <p:nvPr/>
        </p:nvSpPr>
        <p:spPr>
          <a:xfrm>
            <a:off x="7991856" y="2221992"/>
            <a:ext cx="3666744" cy="310896"/>
          </a:xfrm>
          <a:prstGeom prst="rect">
            <a:avLst/>
          </a:prstGeom>
          <a:noFill/>
          <a:ln/>
        </p:spPr>
        <p:txBody>
          <a:bodyPr wrap="square" lIns="0" tIns="0" rIns="0" bIns="0" rtlCol="0" anchor="ctr"/>
          <a:lstStyle/>
          <a:p>
            <a:pPr indent="0" marL="0">
              <a:buNone/>
            </a:pPr>
            <a:r>
              <a:rPr lang="en-US" sz="1500" b="1" dirty="0">
                <a:solidFill>
                  <a:srgbClr val="F5F5F7"/>
                </a:solidFill>
                <a:latin typeface="Arial" pitchFamily="34" charset="0"/>
                <a:ea typeface="Arial" pitchFamily="34" charset="-122"/>
                <a:cs typeface="Arial" pitchFamily="34" charset="-120"/>
              </a:rPr>
              <a:t>Deduction and incentive</a:t>
            </a:r>
            <a:endParaRPr lang="en-US" sz="1500" dirty="0"/>
          </a:p>
        </p:txBody>
      </p:sp>
      <p:sp>
        <p:nvSpPr>
          <p:cNvPr id="10" name="t"/>
          <p:cNvSpPr txBox="1"/>
          <p:nvPr/>
        </p:nvSpPr>
        <p:spPr>
          <a:xfrm>
            <a:off x="7991856" y="2532888"/>
            <a:ext cx="3666744" cy="566928"/>
          </a:xfrm>
          <a:prstGeom prst="rect">
            <a:avLst/>
          </a:prstGeom>
          <a:noFill/>
          <a:ln/>
        </p:spPr>
        <p:txBody>
          <a:bodyPr wrap="square" lIns="0" tIns="0" rIns="0" bIns="0" rtlCol="0" anchor="t"/>
          <a:lstStyle/>
          <a:p>
            <a:pPr indent="0" marL="0">
              <a:lnSpc>
                <a:spcPct val="105000"/>
              </a:lnSpc>
              <a:buNone/>
            </a:pPr>
            <a:r>
              <a:rPr lang="en-US" sz="1250" dirty="0">
                <a:solidFill>
                  <a:srgbClr val="A8A8AD"/>
                </a:solidFill>
                <a:latin typeface="Arial" pitchFamily="34" charset="0"/>
                <a:ea typeface="Arial" pitchFamily="34" charset="-122"/>
                <a:cs typeface="Arial" pitchFamily="34" charset="-120"/>
              </a:rPr>
              <a:t>For review and final, from the shared month or this build.</a:t>
            </a:r>
            <a:endParaRPr lang="en-US" sz="1250" dirty="0"/>
          </a:p>
        </p:txBody>
      </p:sp>
      <p:sp>
        <p:nvSpPr>
          <p:cNvPr id="11" name="dot-check"/>
          <p:cNvSpPr/>
          <p:nvPr/>
        </p:nvSpPr>
        <p:spPr>
          <a:xfrm>
            <a:off x="7315200" y="3264408"/>
            <a:ext cx="475488" cy="475488"/>
          </a:xfrm>
          <a:prstGeom prst="ellipse">
            <a:avLst/>
          </a:prstGeom>
          <a:solidFill>
            <a:srgbClr val="2C2C2E"/>
          </a:solidFill>
          <a:ln/>
        </p:spPr>
      </p:sp>
      <p:pic>
        <p:nvPicPr>
          <p:cNvPr id="12" name="icon-check" descr="">    </p:cNvPr>
          <p:cNvPicPr>
            <a:picLocks noChangeAspect="1"/>
          </p:cNvPicPr>
          <p:nvPr/>
        </p:nvPicPr>
        <p:blipFill>
          <a:blip r:embed="rId4"/>
          <a:stretch>
            <a:fillRect/>
          </a:stretch>
        </p:blipFill>
        <p:spPr>
          <a:xfrm>
            <a:off x="7424562" y="3373770"/>
            <a:ext cx="256764" cy="256764"/>
          </a:xfrm>
          <a:prstGeom prst="rect">
            <a:avLst/>
          </a:prstGeom>
        </p:spPr>
      </p:pic>
      <p:sp>
        <p:nvSpPr>
          <p:cNvPr id="13" name="h"/>
          <p:cNvSpPr txBox="1"/>
          <p:nvPr/>
        </p:nvSpPr>
        <p:spPr>
          <a:xfrm>
            <a:off x="7991856" y="3246120"/>
            <a:ext cx="3666744" cy="310896"/>
          </a:xfrm>
          <a:prstGeom prst="rect">
            <a:avLst/>
          </a:prstGeom>
          <a:noFill/>
          <a:ln/>
        </p:spPr>
        <p:txBody>
          <a:bodyPr wrap="square" lIns="0" tIns="0" rIns="0" bIns="0" rtlCol="0" anchor="ctr"/>
          <a:lstStyle/>
          <a:p>
            <a:pPr indent="0" marL="0">
              <a:buNone/>
            </a:pPr>
            <a:r>
              <a:rPr lang="en-US" sz="1500" b="1" dirty="0">
                <a:solidFill>
                  <a:srgbClr val="F5F5F7"/>
                </a:solidFill>
                <a:latin typeface="Arial" pitchFamily="34" charset="0"/>
                <a:ea typeface="Arial" pitchFamily="34" charset="-122"/>
                <a:cs typeface="Arial" pitchFamily="34" charset="-120"/>
              </a:rPr>
              <a:t>What changed, listed</a:t>
            </a:r>
            <a:endParaRPr lang="en-US" sz="1500" dirty="0"/>
          </a:p>
        </p:txBody>
      </p:sp>
      <p:sp>
        <p:nvSpPr>
          <p:cNvPr id="14" name="t"/>
          <p:cNvSpPr txBox="1"/>
          <p:nvPr/>
        </p:nvSpPr>
        <p:spPr>
          <a:xfrm>
            <a:off x="7991856" y="3557016"/>
            <a:ext cx="3666744" cy="566928"/>
          </a:xfrm>
          <a:prstGeom prst="rect">
            <a:avLst/>
          </a:prstGeom>
          <a:noFill/>
          <a:ln/>
        </p:spPr>
        <p:txBody>
          <a:bodyPr wrap="square" lIns="0" tIns="0" rIns="0" bIns="0" rtlCol="0" anchor="t"/>
          <a:lstStyle/>
          <a:p>
            <a:pPr indent="0" marL="0">
              <a:lnSpc>
                <a:spcPct val="105000"/>
              </a:lnSpc>
              <a:buNone/>
            </a:pPr>
            <a:r>
              <a:rPr lang="en-US" sz="1250" dirty="0">
                <a:solidFill>
                  <a:srgbClr val="A8A8AD"/>
                </a:solidFill>
                <a:latin typeface="Arial" pitchFamily="34" charset="0"/>
                <a:ea typeface="Arial" pitchFamily="34" charset="-122"/>
                <a:cs typeface="Arial" pitchFamily="34" charset="-120"/>
              </a:rPr>
              <a:t>The final email lists every change since the review.</a:t>
            </a:r>
            <a:endParaRPr lang="en-US" sz="1250" dirty="0"/>
          </a:p>
        </p:txBody>
      </p:sp>
      <p:sp>
        <p:nvSpPr>
          <p:cNvPr id="15" name="dot-lock"/>
          <p:cNvSpPr/>
          <p:nvPr/>
        </p:nvSpPr>
        <p:spPr>
          <a:xfrm>
            <a:off x="7315200" y="4288536"/>
            <a:ext cx="475488" cy="475488"/>
          </a:xfrm>
          <a:prstGeom prst="ellipse">
            <a:avLst/>
          </a:prstGeom>
          <a:solidFill>
            <a:srgbClr val="2C2C2E"/>
          </a:solidFill>
          <a:ln/>
        </p:spPr>
      </p:sp>
      <p:pic>
        <p:nvPicPr>
          <p:cNvPr id="16" name="icon-lock" descr="">    </p:cNvPr>
          <p:cNvPicPr>
            <a:picLocks noChangeAspect="1"/>
          </p:cNvPicPr>
          <p:nvPr/>
        </p:nvPicPr>
        <p:blipFill>
          <a:blip r:embed="rId5"/>
          <a:stretch>
            <a:fillRect/>
          </a:stretch>
        </p:blipFill>
        <p:spPr>
          <a:xfrm>
            <a:off x="7424562" y="4397898"/>
            <a:ext cx="256764" cy="256764"/>
          </a:xfrm>
          <a:prstGeom prst="rect">
            <a:avLst/>
          </a:prstGeom>
        </p:spPr>
      </p:pic>
      <p:sp>
        <p:nvSpPr>
          <p:cNvPr id="17" name="h"/>
          <p:cNvSpPr txBox="1"/>
          <p:nvPr/>
        </p:nvSpPr>
        <p:spPr>
          <a:xfrm>
            <a:off x="7991856" y="4270248"/>
            <a:ext cx="3666744" cy="310896"/>
          </a:xfrm>
          <a:prstGeom prst="rect">
            <a:avLst/>
          </a:prstGeom>
          <a:noFill/>
          <a:ln/>
        </p:spPr>
        <p:txBody>
          <a:bodyPr wrap="square" lIns="0" tIns="0" rIns="0" bIns="0" rtlCol="0" anchor="ctr"/>
          <a:lstStyle/>
          <a:p>
            <a:pPr indent="0" marL="0">
              <a:buNone/>
            </a:pPr>
            <a:r>
              <a:rPr lang="en-US" sz="1500" b="1" dirty="0">
                <a:solidFill>
                  <a:srgbClr val="F5F5F7"/>
                </a:solidFill>
                <a:latin typeface="Arial" pitchFamily="34" charset="0"/>
                <a:ea typeface="Arial" pitchFamily="34" charset="-122"/>
                <a:cs typeface="Arial" pitchFamily="34" charset="-120"/>
              </a:rPr>
              <a:t>A private attachment</a:t>
            </a:r>
            <a:endParaRPr lang="en-US" sz="1500" dirty="0"/>
          </a:p>
        </p:txBody>
      </p:sp>
      <p:sp>
        <p:nvSpPr>
          <p:cNvPr id="18" name="t"/>
          <p:cNvSpPr txBox="1"/>
          <p:nvPr/>
        </p:nvSpPr>
        <p:spPr>
          <a:xfrm>
            <a:off x="7991856" y="4581144"/>
            <a:ext cx="3666744" cy="566928"/>
          </a:xfrm>
          <a:prstGeom prst="rect">
            <a:avLst/>
          </a:prstGeom>
          <a:noFill/>
          <a:ln/>
        </p:spPr>
        <p:txBody>
          <a:bodyPr wrap="square" lIns="0" tIns="0" rIns="0" bIns="0" rtlCol="0" anchor="t"/>
          <a:lstStyle/>
          <a:p>
            <a:pPr indent="0" marL="0">
              <a:lnSpc>
                <a:spcPct val="105000"/>
              </a:lnSpc>
              <a:buNone/>
            </a:pPr>
            <a:r>
              <a:rPr lang="en-US" sz="1250" dirty="0">
                <a:solidFill>
                  <a:srgbClr val="A8A8AD"/>
                </a:solidFill>
                <a:latin typeface="Arial" pitchFamily="34" charset="0"/>
                <a:ea typeface="Arial" pitchFamily="34" charset="-122"/>
                <a:cs typeface="Arial" pitchFamily="34" charset="-120"/>
              </a:rPr>
              <a:t>One workbook with the Attendance Report and the Monthly Deduction, without National IDs.</a:t>
            </a:r>
            <a:endParaRPr lang="en-US" sz="1250" dirty="0"/>
          </a:p>
        </p:txBody>
      </p:sp>
      <p:sp>
        <p:nvSpPr>
          <p:cNvPr id="19" name="dot-send"/>
          <p:cNvSpPr/>
          <p:nvPr/>
        </p:nvSpPr>
        <p:spPr>
          <a:xfrm>
            <a:off x="7315200" y="5312664"/>
            <a:ext cx="475488" cy="475488"/>
          </a:xfrm>
          <a:prstGeom prst="ellipse">
            <a:avLst/>
          </a:prstGeom>
          <a:solidFill>
            <a:srgbClr val="2C2C2E"/>
          </a:solidFill>
          <a:ln/>
        </p:spPr>
      </p:sp>
      <p:pic>
        <p:nvPicPr>
          <p:cNvPr id="20" name="icon-send" descr="">    </p:cNvPr>
          <p:cNvPicPr>
            <a:picLocks noChangeAspect="1"/>
          </p:cNvPicPr>
          <p:nvPr/>
        </p:nvPicPr>
        <p:blipFill>
          <a:blip r:embed="rId6"/>
          <a:stretch>
            <a:fillRect/>
          </a:stretch>
        </p:blipFill>
        <p:spPr>
          <a:xfrm>
            <a:off x="7424562" y="5422026"/>
            <a:ext cx="256764" cy="256764"/>
          </a:xfrm>
          <a:prstGeom prst="rect">
            <a:avLst/>
          </a:prstGeom>
        </p:spPr>
      </p:pic>
      <p:sp>
        <p:nvSpPr>
          <p:cNvPr id="21" name="h"/>
          <p:cNvSpPr txBox="1"/>
          <p:nvPr/>
        </p:nvSpPr>
        <p:spPr>
          <a:xfrm>
            <a:off x="7991856" y="5294376"/>
            <a:ext cx="3666744" cy="310896"/>
          </a:xfrm>
          <a:prstGeom prst="rect">
            <a:avLst/>
          </a:prstGeom>
          <a:noFill/>
          <a:ln/>
        </p:spPr>
        <p:txBody>
          <a:bodyPr wrap="square" lIns="0" tIns="0" rIns="0" bIns="0" rtlCol="0" anchor="ctr"/>
          <a:lstStyle/>
          <a:p>
            <a:pPr indent="0" marL="0">
              <a:buNone/>
            </a:pPr>
            <a:r>
              <a:rPr lang="en-US" sz="1500" b="1" dirty="0">
                <a:solidFill>
                  <a:srgbClr val="F5F5F7"/>
                </a:solidFill>
                <a:latin typeface="Arial" pitchFamily="34" charset="0"/>
                <a:ea typeface="Arial" pitchFamily="34" charset="-122"/>
                <a:cs typeface="Arial" pitchFamily="34" charset="-120"/>
              </a:rPr>
              <a:t>Sent from Outlook</a:t>
            </a:r>
            <a:endParaRPr lang="en-US" sz="1500" dirty="0"/>
          </a:p>
        </p:txBody>
      </p:sp>
      <p:sp>
        <p:nvSpPr>
          <p:cNvPr id="22" name="t"/>
          <p:cNvSpPr txBox="1"/>
          <p:nvPr/>
        </p:nvSpPr>
        <p:spPr>
          <a:xfrm>
            <a:off x="7991856" y="5605272"/>
            <a:ext cx="3666744" cy="566928"/>
          </a:xfrm>
          <a:prstGeom prst="rect">
            <a:avLst/>
          </a:prstGeom>
          <a:noFill/>
          <a:ln/>
        </p:spPr>
        <p:txBody>
          <a:bodyPr wrap="square" lIns="0" tIns="0" rIns="0" bIns="0" rtlCol="0" anchor="t"/>
          <a:lstStyle/>
          <a:p>
            <a:pPr indent="0" marL="0">
              <a:lnSpc>
                <a:spcPct val="105000"/>
              </a:lnSpc>
              <a:buNone/>
            </a:pPr>
            <a:r>
              <a:rPr lang="en-US" sz="1250" dirty="0">
                <a:solidFill>
                  <a:srgbClr val="A8A8AD"/>
                </a:solidFill>
                <a:latin typeface="Arial" pitchFamily="34" charset="0"/>
                <a:ea typeface="Arial" pitchFamily="34" charset="-122"/>
                <a:cs typeface="Arial" pitchFamily="34" charset="-120"/>
              </a:rPr>
              <a:t>Copy for Outlook or download the .eml: the tool never sends anything itself.</a:t>
            </a:r>
            <a:endParaRPr lang="en-US" sz="125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E6E73"/>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42" presetClass="entr" presetSubtype="0" fill="hold" grpId="0" nodeType="withEffect">
                                  <p:stCondLst>
                                    <p:cond delay="25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650"/>
                                        <p:tgtEl>
                                          <p:spTgt spid="6"/>
                                        </p:tgtEl>
                                      </p:cBhvr>
                                    </p:animEffect>
                                    <p:anim calcmode="lin" valueType="num">
                                      <p:cBhvr>
                                        <p:cTn id="17" dur="650" fill="hold"/>
                                        <p:tgtEl>
                                          <p:spTgt spid="6"/>
                                        </p:tgtEl>
                                        <p:attrNameLst>
                                          <p:attrName>ppt_x</p:attrName>
                                        </p:attrNameLst>
                                      </p:cBhvr>
                                      <p:tavLst>
                                        <p:tav tm="0">
                                          <p:val>
                                            <p:strVal val="#ppt_x"/>
                                          </p:val>
                                        </p:tav>
                                        <p:tav tm="100000">
                                          <p:val>
                                            <p:strVal val="#ppt_x"/>
                                          </p:val>
                                        </p:tav>
                                      </p:tavLst>
                                    </p:anim>
                                    <p:anim calcmode="lin" valueType="num">
                                      <p:cBhvr>
                                        <p:cTn id="18" dur="650" fill="hold"/>
                                        <p:tgtEl>
                                          <p:spTgt spid="6"/>
                                        </p:tgtEl>
                                        <p:attrNameLst>
                                          <p:attrName>ppt_y</p:attrName>
                                        </p:attrNameLst>
                                      </p:cBhvr>
                                      <p:tavLst>
                                        <p:tav tm="0">
                                          <p:val>
                                            <p:strVal val="#ppt_y+.05"/>
                                          </p:val>
                                        </p:tav>
                                        <p:tav tm="100000">
                                          <p:val>
                                            <p:strVal val="#ppt_y"/>
                                          </p:val>
                                        </p:tav>
                                      </p:tavLst>
                                    </p:anim>
                                  </p:childTnLst>
                                </p:cTn>
                              </p:par>
                              <p:par>
                                <p:cTn id="19" presetID="42" presetClass="entr" presetSubtype="0" fill="hold" grpId="0" nodeType="withEffect">
                                  <p:stCondLst>
                                    <p:cond delay="40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650"/>
                                        <p:tgtEl>
                                          <p:spTgt spid="7"/>
                                        </p:tgtEl>
                                      </p:cBhvr>
                                    </p:animEffect>
                                    <p:anim calcmode="lin" valueType="num">
                                      <p:cBhvr>
                                        <p:cTn id="22" dur="650" fill="hold"/>
                                        <p:tgtEl>
                                          <p:spTgt spid="7"/>
                                        </p:tgtEl>
                                        <p:attrNameLst>
                                          <p:attrName>ppt_x</p:attrName>
                                        </p:attrNameLst>
                                      </p:cBhvr>
                                      <p:tavLst>
                                        <p:tav tm="0">
                                          <p:val>
                                            <p:strVal val="#ppt_x"/>
                                          </p:val>
                                        </p:tav>
                                        <p:tav tm="100000">
                                          <p:val>
                                            <p:strVal val="#ppt_x"/>
                                          </p:val>
                                        </p:tav>
                                      </p:tavLst>
                                    </p:anim>
                                    <p:anim calcmode="lin" valueType="num">
                                      <p:cBhvr>
                                        <p:cTn id="23" dur="650" fill="hold"/>
                                        <p:tgtEl>
                                          <p:spTgt spid="7"/>
                                        </p:tgtEl>
                                        <p:attrNameLst>
                                          <p:attrName>ppt_y</p:attrName>
                                        </p:attrNameLst>
                                      </p:cBhvr>
                                      <p:tavLst>
                                        <p:tav tm="0">
                                          <p:val>
                                            <p:strVal val="#ppt_y+.05"/>
                                          </p:val>
                                        </p:tav>
                                        <p:tav tm="100000">
                                          <p:val>
                                            <p:strVal val="#ppt_y"/>
                                          </p:val>
                                        </p:tav>
                                      </p:tavLst>
                                    </p:anim>
                                  </p:childTnLst>
                                </p:cTn>
                              </p:par>
                              <p:par>
                                <p:cTn id="24" presetID="42" presetClass="entr" presetSubtype="0" fill="hold" grpId="0" nodeType="withEffect">
                                  <p:stCondLst>
                                    <p:cond delay="40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650"/>
                                        <p:tgtEl>
                                          <p:spTgt spid="8"/>
                                        </p:tgtEl>
                                      </p:cBhvr>
                                    </p:animEffect>
                                    <p:anim calcmode="lin" valueType="num">
                                      <p:cBhvr>
                                        <p:cTn id="27" dur="650" fill="hold"/>
                                        <p:tgtEl>
                                          <p:spTgt spid="8"/>
                                        </p:tgtEl>
                                        <p:attrNameLst>
                                          <p:attrName>ppt_x</p:attrName>
                                        </p:attrNameLst>
                                      </p:cBhvr>
                                      <p:tavLst>
                                        <p:tav tm="0">
                                          <p:val>
                                            <p:strVal val="#ppt_x"/>
                                          </p:val>
                                        </p:tav>
                                        <p:tav tm="100000">
                                          <p:val>
                                            <p:strVal val="#ppt_x"/>
                                          </p:val>
                                        </p:tav>
                                      </p:tavLst>
                                    </p:anim>
                                    <p:anim calcmode="lin" valueType="num">
                                      <p:cBhvr>
                                        <p:cTn id="28" dur="650" fill="hold"/>
                                        <p:tgtEl>
                                          <p:spTgt spid="8"/>
                                        </p:tgtEl>
                                        <p:attrNameLst>
                                          <p:attrName>ppt_y</p:attrName>
                                        </p:attrNameLst>
                                      </p:cBhvr>
                                      <p:tavLst>
                                        <p:tav tm="0">
                                          <p:val>
                                            <p:strVal val="#ppt_y+.05"/>
                                          </p:val>
                                        </p:tav>
                                        <p:tav tm="100000">
                                          <p:val>
                                            <p:strVal val="#ppt_y"/>
                                          </p:val>
                                        </p:tav>
                                      </p:tavLst>
                                    </p:anim>
                                  </p:childTnLst>
                                </p:cTn>
                              </p:par>
                              <p:par>
                                <p:cTn id="29" presetID="42" presetClass="entr" presetSubtype="0" fill="hold" grpId="0" nodeType="withEffect">
                                  <p:stCondLst>
                                    <p:cond delay="40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650"/>
                                        <p:tgtEl>
                                          <p:spTgt spid="9"/>
                                        </p:tgtEl>
                                      </p:cBhvr>
                                    </p:animEffect>
                                    <p:anim calcmode="lin" valueType="num">
                                      <p:cBhvr>
                                        <p:cTn id="32" dur="650" fill="hold"/>
                                        <p:tgtEl>
                                          <p:spTgt spid="9"/>
                                        </p:tgtEl>
                                        <p:attrNameLst>
                                          <p:attrName>ppt_x</p:attrName>
                                        </p:attrNameLst>
                                      </p:cBhvr>
                                      <p:tavLst>
                                        <p:tav tm="0">
                                          <p:val>
                                            <p:strVal val="#ppt_x"/>
                                          </p:val>
                                        </p:tav>
                                        <p:tav tm="100000">
                                          <p:val>
                                            <p:strVal val="#ppt_x"/>
                                          </p:val>
                                        </p:tav>
                                      </p:tavLst>
                                    </p:anim>
                                    <p:anim calcmode="lin" valueType="num">
                                      <p:cBhvr>
                                        <p:cTn id="33" dur="650" fill="hold"/>
                                        <p:tgtEl>
                                          <p:spTgt spid="9"/>
                                        </p:tgtEl>
                                        <p:attrNameLst>
                                          <p:attrName>ppt_y</p:attrName>
                                        </p:attrNameLst>
                                      </p:cBhvr>
                                      <p:tavLst>
                                        <p:tav tm="0">
                                          <p:val>
                                            <p:strVal val="#ppt_y+.05"/>
                                          </p:val>
                                        </p:tav>
                                        <p:tav tm="100000">
                                          <p:val>
                                            <p:strVal val="#ppt_y"/>
                                          </p:val>
                                        </p:tav>
                                      </p:tavLst>
                                    </p:anim>
                                  </p:childTnLst>
                                </p:cTn>
                              </p:par>
                              <p:par>
                                <p:cTn id="34" presetID="42" presetClass="entr" presetSubtype="0" fill="hold" grpId="0" nodeType="withEffect">
                                  <p:stCondLst>
                                    <p:cond delay="40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650"/>
                                        <p:tgtEl>
                                          <p:spTgt spid="10"/>
                                        </p:tgtEl>
                                      </p:cBhvr>
                                    </p:animEffect>
                                    <p:anim calcmode="lin" valueType="num">
                                      <p:cBhvr>
                                        <p:cTn id="37" dur="650" fill="hold"/>
                                        <p:tgtEl>
                                          <p:spTgt spid="10"/>
                                        </p:tgtEl>
                                        <p:attrNameLst>
                                          <p:attrName>ppt_x</p:attrName>
                                        </p:attrNameLst>
                                      </p:cBhvr>
                                      <p:tavLst>
                                        <p:tav tm="0">
                                          <p:val>
                                            <p:strVal val="#ppt_x"/>
                                          </p:val>
                                        </p:tav>
                                        <p:tav tm="100000">
                                          <p:val>
                                            <p:strVal val="#ppt_x"/>
                                          </p:val>
                                        </p:tav>
                                      </p:tavLst>
                                    </p:anim>
                                    <p:anim calcmode="lin" valueType="num">
                                      <p:cBhvr>
                                        <p:cTn id="38" dur="650" fill="hold"/>
                                        <p:tgtEl>
                                          <p:spTgt spid="10"/>
                                        </p:tgtEl>
                                        <p:attrNameLst>
                                          <p:attrName>ppt_y</p:attrName>
                                        </p:attrNameLst>
                                      </p:cBhvr>
                                      <p:tavLst>
                                        <p:tav tm="0">
                                          <p:val>
                                            <p:strVal val="#ppt_y+.05"/>
                                          </p:val>
                                        </p:tav>
                                        <p:tav tm="100000">
                                          <p:val>
                                            <p:strVal val="#ppt_y"/>
                                          </p:val>
                                        </p:tav>
                                      </p:tavLst>
                                    </p:anim>
                                  </p:childTnLst>
                                </p:cTn>
                              </p:par>
                              <p:par>
                                <p:cTn id="39" presetID="42" presetClass="entr" presetSubtype="0" fill="hold" grpId="0" nodeType="withEffect">
                                  <p:stCondLst>
                                    <p:cond delay="54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650"/>
                                        <p:tgtEl>
                                          <p:spTgt spid="11"/>
                                        </p:tgtEl>
                                      </p:cBhvr>
                                    </p:animEffect>
                                    <p:anim calcmode="lin" valueType="num">
                                      <p:cBhvr>
                                        <p:cTn id="42" dur="650" fill="hold"/>
                                        <p:tgtEl>
                                          <p:spTgt spid="11"/>
                                        </p:tgtEl>
                                        <p:attrNameLst>
                                          <p:attrName>ppt_x</p:attrName>
                                        </p:attrNameLst>
                                      </p:cBhvr>
                                      <p:tavLst>
                                        <p:tav tm="0">
                                          <p:val>
                                            <p:strVal val="#ppt_x"/>
                                          </p:val>
                                        </p:tav>
                                        <p:tav tm="100000">
                                          <p:val>
                                            <p:strVal val="#ppt_x"/>
                                          </p:val>
                                        </p:tav>
                                      </p:tavLst>
                                    </p:anim>
                                    <p:anim calcmode="lin" valueType="num">
                                      <p:cBhvr>
                                        <p:cTn id="43" dur="650" fill="hold"/>
                                        <p:tgtEl>
                                          <p:spTgt spid="11"/>
                                        </p:tgtEl>
                                        <p:attrNameLst>
                                          <p:attrName>ppt_y</p:attrName>
                                        </p:attrNameLst>
                                      </p:cBhvr>
                                      <p:tavLst>
                                        <p:tav tm="0">
                                          <p:val>
                                            <p:strVal val="#ppt_y+.05"/>
                                          </p:val>
                                        </p:tav>
                                        <p:tav tm="100000">
                                          <p:val>
                                            <p:strVal val="#ppt_y"/>
                                          </p:val>
                                        </p:tav>
                                      </p:tavLst>
                                    </p:anim>
                                  </p:childTnLst>
                                </p:cTn>
                              </p:par>
                              <p:par>
                                <p:cTn id="44" presetID="42" presetClass="entr" presetSubtype="0" fill="hold" grpId="0" nodeType="withEffect">
                                  <p:stCondLst>
                                    <p:cond delay="54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650"/>
                                        <p:tgtEl>
                                          <p:spTgt spid="12"/>
                                        </p:tgtEl>
                                      </p:cBhvr>
                                    </p:animEffect>
                                    <p:anim calcmode="lin" valueType="num">
                                      <p:cBhvr>
                                        <p:cTn id="47" dur="650" fill="hold"/>
                                        <p:tgtEl>
                                          <p:spTgt spid="12"/>
                                        </p:tgtEl>
                                        <p:attrNameLst>
                                          <p:attrName>ppt_x</p:attrName>
                                        </p:attrNameLst>
                                      </p:cBhvr>
                                      <p:tavLst>
                                        <p:tav tm="0">
                                          <p:val>
                                            <p:strVal val="#ppt_x"/>
                                          </p:val>
                                        </p:tav>
                                        <p:tav tm="100000">
                                          <p:val>
                                            <p:strVal val="#ppt_x"/>
                                          </p:val>
                                        </p:tav>
                                      </p:tavLst>
                                    </p:anim>
                                    <p:anim calcmode="lin" valueType="num">
                                      <p:cBhvr>
                                        <p:cTn id="48" dur="650" fill="hold"/>
                                        <p:tgtEl>
                                          <p:spTgt spid="12"/>
                                        </p:tgtEl>
                                        <p:attrNameLst>
                                          <p:attrName>ppt_y</p:attrName>
                                        </p:attrNameLst>
                                      </p:cBhvr>
                                      <p:tavLst>
                                        <p:tav tm="0">
                                          <p:val>
                                            <p:strVal val="#ppt_y+.05"/>
                                          </p:val>
                                        </p:tav>
                                        <p:tav tm="100000">
                                          <p:val>
                                            <p:strVal val="#ppt_y"/>
                                          </p:val>
                                        </p:tav>
                                      </p:tavLst>
                                    </p:anim>
                                  </p:childTnLst>
                                </p:cTn>
                              </p:par>
                              <p:par>
                                <p:cTn id="49" presetID="42" presetClass="entr" presetSubtype="0" fill="hold" grpId="0" nodeType="withEffect">
                                  <p:stCondLst>
                                    <p:cond delay="54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650"/>
                                        <p:tgtEl>
                                          <p:spTgt spid="13"/>
                                        </p:tgtEl>
                                      </p:cBhvr>
                                    </p:animEffect>
                                    <p:anim calcmode="lin" valueType="num">
                                      <p:cBhvr>
                                        <p:cTn id="52" dur="650" fill="hold"/>
                                        <p:tgtEl>
                                          <p:spTgt spid="13"/>
                                        </p:tgtEl>
                                        <p:attrNameLst>
                                          <p:attrName>ppt_x</p:attrName>
                                        </p:attrNameLst>
                                      </p:cBhvr>
                                      <p:tavLst>
                                        <p:tav tm="0">
                                          <p:val>
                                            <p:strVal val="#ppt_x"/>
                                          </p:val>
                                        </p:tav>
                                        <p:tav tm="100000">
                                          <p:val>
                                            <p:strVal val="#ppt_x"/>
                                          </p:val>
                                        </p:tav>
                                      </p:tavLst>
                                    </p:anim>
                                    <p:anim calcmode="lin" valueType="num">
                                      <p:cBhvr>
                                        <p:cTn id="53" dur="650" fill="hold"/>
                                        <p:tgtEl>
                                          <p:spTgt spid="13"/>
                                        </p:tgtEl>
                                        <p:attrNameLst>
                                          <p:attrName>ppt_y</p:attrName>
                                        </p:attrNameLst>
                                      </p:cBhvr>
                                      <p:tavLst>
                                        <p:tav tm="0">
                                          <p:val>
                                            <p:strVal val="#ppt_y+.05"/>
                                          </p:val>
                                        </p:tav>
                                        <p:tav tm="100000">
                                          <p:val>
                                            <p:strVal val="#ppt_y"/>
                                          </p:val>
                                        </p:tav>
                                      </p:tavLst>
                                    </p:anim>
                                  </p:childTnLst>
                                </p:cTn>
                              </p:par>
                              <p:par>
                                <p:cTn id="54" presetID="42" presetClass="entr" presetSubtype="0" fill="hold" grpId="0" nodeType="withEffect">
                                  <p:stCondLst>
                                    <p:cond delay="540"/>
                                  </p:stCondLst>
                                  <p:childTnLst>
                                    <p:set>
                                      <p:cBhvr>
                                        <p:cTn id="55" dur="1" fill="hold">
                                          <p:stCondLst>
                                            <p:cond delay="0"/>
                                          </p:stCondLst>
                                        </p:cTn>
                                        <p:tgtEl>
                                          <p:spTgt spid="14"/>
                                        </p:tgtEl>
                                        <p:attrNameLst>
                                          <p:attrName>style.visibility</p:attrName>
                                        </p:attrNameLst>
                                      </p:cBhvr>
                                      <p:to>
                                        <p:strVal val="visible"/>
                                      </p:to>
                                    </p:set>
                                    <p:animEffect transition="in" filter="fade">
                                      <p:cBhvr>
                                        <p:cTn id="56" dur="650"/>
                                        <p:tgtEl>
                                          <p:spTgt spid="14"/>
                                        </p:tgtEl>
                                      </p:cBhvr>
                                    </p:animEffect>
                                    <p:anim calcmode="lin" valueType="num">
                                      <p:cBhvr>
                                        <p:cTn id="57" dur="650" fill="hold"/>
                                        <p:tgtEl>
                                          <p:spTgt spid="14"/>
                                        </p:tgtEl>
                                        <p:attrNameLst>
                                          <p:attrName>ppt_x</p:attrName>
                                        </p:attrNameLst>
                                      </p:cBhvr>
                                      <p:tavLst>
                                        <p:tav tm="0">
                                          <p:val>
                                            <p:strVal val="#ppt_x"/>
                                          </p:val>
                                        </p:tav>
                                        <p:tav tm="100000">
                                          <p:val>
                                            <p:strVal val="#ppt_x"/>
                                          </p:val>
                                        </p:tav>
                                      </p:tavLst>
                                    </p:anim>
                                    <p:anim calcmode="lin" valueType="num">
                                      <p:cBhvr>
                                        <p:cTn id="58" dur="650" fill="hold"/>
                                        <p:tgtEl>
                                          <p:spTgt spid="14"/>
                                        </p:tgtEl>
                                        <p:attrNameLst>
                                          <p:attrName>ppt_y</p:attrName>
                                        </p:attrNameLst>
                                      </p:cBhvr>
                                      <p:tavLst>
                                        <p:tav tm="0">
                                          <p:val>
                                            <p:strVal val="#ppt_y+.05"/>
                                          </p:val>
                                        </p:tav>
                                        <p:tav tm="100000">
                                          <p:val>
                                            <p:strVal val="#ppt_y"/>
                                          </p:val>
                                        </p:tav>
                                      </p:tavLst>
                                    </p:anim>
                                  </p:childTnLst>
                                </p:cTn>
                              </p:par>
                              <p:par>
                                <p:cTn id="59" presetID="42" presetClass="entr" presetSubtype="0" fill="hold" grpId="0" nodeType="withEffect">
                                  <p:stCondLst>
                                    <p:cond delay="680"/>
                                  </p:stCondLst>
                                  <p:childTnLst>
                                    <p:set>
                                      <p:cBhvr>
                                        <p:cTn id="60" dur="1" fill="hold">
                                          <p:stCondLst>
                                            <p:cond delay="0"/>
                                          </p:stCondLst>
                                        </p:cTn>
                                        <p:tgtEl>
                                          <p:spTgt spid="15"/>
                                        </p:tgtEl>
                                        <p:attrNameLst>
                                          <p:attrName>style.visibility</p:attrName>
                                        </p:attrNameLst>
                                      </p:cBhvr>
                                      <p:to>
                                        <p:strVal val="visible"/>
                                      </p:to>
                                    </p:set>
                                    <p:animEffect transition="in" filter="fade">
                                      <p:cBhvr>
                                        <p:cTn id="61" dur="650"/>
                                        <p:tgtEl>
                                          <p:spTgt spid="15"/>
                                        </p:tgtEl>
                                      </p:cBhvr>
                                    </p:animEffect>
                                    <p:anim calcmode="lin" valueType="num">
                                      <p:cBhvr>
                                        <p:cTn id="62" dur="650" fill="hold"/>
                                        <p:tgtEl>
                                          <p:spTgt spid="15"/>
                                        </p:tgtEl>
                                        <p:attrNameLst>
                                          <p:attrName>ppt_x</p:attrName>
                                        </p:attrNameLst>
                                      </p:cBhvr>
                                      <p:tavLst>
                                        <p:tav tm="0">
                                          <p:val>
                                            <p:strVal val="#ppt_x"/>
                                          </p:val>
                                        </p:tav>
                                        <p:tav tm="100000">
                                          <p:val>
                                            <p:strVal val="#ppt_x"/>
                                          </p:val>
                                        </p:tav>
                                      </p:tavLst>
                                    </p:anim>
                                    <p:anim calcmode="lin" valueType="num">
                                      <p:cBhvr>
                                        <p:cTn id="63" dur="650" fill="hold"/>
                                        <p:tgtEl>
                                          <p:spTgt spid="15"/>
                                        </p:tgtEl>
                                        <p:attrNameLst>
                                          <p:attrName>ppt_y</p:attrName>
                                        </p:attrNameLst>
                                      </p:cBhvr>
                                      <p:tavLst>
                                        <p:tav tm="0">
                                          <p:val>
                                            <p:strVal val="#ppt_y+.05"/>
                                          </p:val>
                                        </p:tav>
                                        <p:tav tm="100000">
                                          <p:val>
                                            <p:strVal val="#ppt_y"/>
                                          </p:val>
                                        </p:tav>
                                      </p:tavLst>
                                    </p:anim>
                                  </p:childTnLst>
                                </p:cTn>
                              </p:par>
                              <p:par>
                                <p:cTn id="64" presetID="42" presetClass="entr" presetSubtype="0" fill="hold" grpId="0" nodeType="withEffect">
                                  <p:stCondLst>
                                    <p:cond delay="680"/>
                                  </p:stCondLst>
                                  <p:childTnLst>
                                    <p:set>
                                      <p:cBhvr>
                                        <p:cTn id="65" dur="1" fill="hold">
                                          <p:stCondLst>
                                            <p:cond delay="0"/>
                                          </p:stCondLst>
                                        </p:cTn>
                                        <p:tgtEl>
                                          <p:spTgt spid="16"/>
                                        </p:tgtEl>
                                        <p:attrNameLst>
                                          <p:attrName>style.visibility</p:attrName>
                                        </p:attrNameLst>
                                      </p:cBhvr>
                                      <p:to>
                                        <p:strVal val="visible"/>
                                      </p:to>
                                    </p:set>
                                    <p:animEffect transition="in" filter="fade">
                                      <p:cBhvr>
                                        <p:cTn id="66" dur="650"/>
                                        <p:tgtEl>
                                          <p:spTgt spid="16"/>
                                        </p:tgtEl>
                                      </p:cBhvr>
                                    </p:animEffect>
                                    <p:anim calcmode="lin" valueType="num">
                                      <p:cBhvr>
                                        <p:cTn id="67" dur="650" fill="hold"/>
                                        <p:tgtEl>
                                          <p:spTgt spid="16"/>
                                        </p:tgtEl>
                                        <p:attrNameLst>
                                          <p:attrName>ppt_x</p:attrName>
                                        </p:attrNameLst>
                                      </p:cBhvr>
                                      <p:tavLst>
                                        <p:tav tm="0">
                                          <p:val>
                                            <p:strVal val="#ppt_x"/>
                                          </p:val>
                                        </p:tav>
                                        <p:tav tm="100000">
                                          <p:val>
                                            <p:strVal val="#ppt_x"/>
                                          </p:val>
                                        </p:tav>
                                      </p:tavLst>
                                    </p:anim>
                                    <p:anim calcmode="lin" valueType="num">
                                      <p:cBhvr>
                                        <p:cTn id="68" dur="650" fill="hold"/>
                                        <p:tgtEl>
                                          <p:spTgt spid="16"/>
                                        </p:tgtEl>
                                        <p:attrNameLst>
                                          <p:attrName>ppt_y</p:attrName>
                                        </p:attrNameLst>
                                      </p:cBhvr>
                                      <p:tavLst>
                                        <p:tav tm="0">
                                          <p:val>
                                            <p:strVal val="#ppt_y+.05"/>
                                          </p:val>
                                        </p:tav>
                                        <p:tav tm="100000">
                                          <p:val>
                                            <p:strVal val="#ppt_y"/>
                                          </p:val>
                                        </p:tav>
                                      </p:tavLst>
                                    </p:anim>
                                  </p:childTnLst>
                                </p:cTn>
                              </p:par>
                              <p:par>
                                <p:cTn id="69" presetID="42" presetClass="entr" presetSubtype="0" fill="hold" grpId="0" nodeType="withEffect">
                                  <p:stCondLst>
                                    <p:cond delay="680"/>
                                  </p:stCondLst>
                                  <p:childTnLst>
                                    <p:set>
                                      <p:cBhvr>
                                        <p:cTn id="70" dur="1" fill="hold">
                                          <p:stCondLst>
                                            <p:cond delay="0"/>
                                          </p:stCondLst>
                                        </p:cTn>
                                        <p:tgtEl>
                                          <p:spTgt spid="17"/>
                                        </p:tgtEl>
                                        <p:attrNameLst>
                                          <p:attrName>style.visibility</p:attrName>
                                        </p:attrNameLst>
                                      </p:cBhvr>
                                      <p:to>
                                        <p:strVal val="visible"/>
                                      </p:to>
                                    </p:set>
                                    <p:animEffect transition="in" filter="fade">
                                      <p:cBhvr>
                                        <p:cTn id="71" dur="650"/>
                                        <p:tgtEl>
                                          <p:spTgt spid="17"/>
                                        </p:tgtEl>
                                      </p:cBhvr>
                                    </p:animEffect>
                                    <p:anim calcmode="lin" valueType="num">
                                      <p:cBhvr>
                                        <p:cTn id="72" dur="650" fill="hold"/>
                                        <p:tgtEl>
                                          <p:spTgt spid="17"/>
                                        </p:tgtEl>
                                        <p:attrNameLst>
                                          <p:attrName>ppt_x</p:attrName>
                                        </p:attrNameLst>
                                      </p:cBhvr>
                                      <p:tavLst>
                                        <p:tav tm="0">
                                          <p:val>
                                            <p:strVal val="#ppt_x"/>
                                          </p:val>
                                        </p:tav>
                                        <p:tav tm="100000">
                                          <p:val>
                                            <p:strVal val="#ppt_x"/>
                                          </p:val>
                                        </p:tav>
                                      </p:tavLst>
                                    </p:anim>
                                    <p:anim calcmode="lin" valueType="num">
                                      <p:cBhvr>
                                        <p:cTn id="73" dur="650" fill="hold"/>
                                        <p:tgtEl>
                                          <p:spTgt spid="17"/>
                                        </p:tgtEl>
                                        <p:attrNameLst>
                                          <p:attrName>ppt_y</p:attrName>
                                        </p:attrNameLst>
                                      </p:cBhvr>
                                      <p:tavLst>
                                        <p:tav tm="0">
                                          <p:val>
                                            <p:strVal val="#ppt_y+.05"/>
                                          </p:val>
                                        </p:tav>
                                        <p:tav tm="100000">
                                          <p:val>
                                            <p:strVal val="#ppt_y"/>
                                          </p:val>
                                        </p:tav>
                                      </p:tavLst>
                                    </p:anim>
                                  </p:childTnLst>
                                </p:cTn>
                              </p:par>
                              <p:par>
                                <p:cTn id="74" presetID="42" presetClass="entr" presetSubtype="0" fill="hold" grpId="0" nodeType="withEffect">
                                  <p:stCondLst>
                                    <p:cond delay="680"/>
                                  </p:stCondLst>
                                  <p:childTnLst>
                                    <p:set>
                                      <p:cBhvr>
                                        <p:cTn id="75" dur="1" fill="hold">
                                          <p:stCondLst>
                                            <p:cond delay="0"/>
                                          </p:stCondLst>
                                        </p:cTn>
                                        <p:tgtEl>
                                          <p:spTgt spid="18"/>
                                        </p:tgtEl>
                                        <p:attrNameLst>
                                          <p:attrName>style.visibility</p:attrName>
                                        </p:attrNameLst>
                                      </p:cBhvr>
                                      <p:to>
                                        <p:strVal val="visible"/>
                                      </p:to>
                                    </p:set>
                                    <p:animEffect transition="in" filter="fade">
                                      <p:cBhvr>
                                        <p:cTn id="76" dur="650"/>
                                        <p:tgtEl>
                                          <p:spTgt spid="18"/>
                                        </p:tgtEl>
                                      </p:cBhvr>
                                    </p:animEffect>
                                    <p:anim calcmode="lin" valueType="num">
                                      <p:cBhvr>
                                        <p:cTn id="77" dur="650" fill="hold"/>
                                        <p:tgtEl>
                                          <p:spTgt spid="18"/>
                                        </p:tgtEl>
                                        <p:attrNameLst>
                                          <p:attrName>ppt_x</p:attrName>
                                        </p:attrNameLst>
                                      </p:cBhvr>
                                      <p:tavLst>
                                        <p:tav tm="0">
                                          <p:val>
                                            <p:strVal val="#ppt_x"/>
                                          </p:val>
                                        </p:tav>
                                        <p:tav tm="100000">
                                          <p:val>
                                            <p:strVal val="#ppt_x"/>
                                          </p:val>
                                        </p:tav>
                                      </p:tavLst>
                                    </p:anim>
                                    <p:anim calcmode="lin" valueType="num">
                                      <p:cBhvr>
                                        <p:cTn id="78" dur="650" fill="hold"/>
                                        <p:tgtEl>
                                          <p:spTgt spid="18"/>
                                        </p:tgtEl>
                                        <p:attrNameLst>
                                          <p:attrName>ppt_y</p:attrName>
                                        </p:attrNameLst>
                                      </p:cBhvr>
                                      <p:tavLst>
                                        <p:tav tm="0">
                                          <p:val>
                                            <p:strVal val="#ppt_y+.05"/>
                                          </p:val>
                                        </p:tav>
                                        <p:tav tm="100000">
                                          <p:val>
                                            <p:strVal val="#ppt_y"/>
                                          </p:val>
                                        </p:tav>
                                      </p:tavLst>
                                    </p:anim>
                                  </p:childTnLst>
                                </p:cTn>
                              </p:par>
                              <p:par>
                                <p:cTn id="79" presetID="42" presetClass="entr" presetSubtype="0" fill="hold" grpId="0" nodeType="withEffect">
                                  <p:stCondLst>
                                    <p:cond delay="820"/>
                                  </p:stCondLst>
                                  <p:childTnLst>
                                    <p:set>
                                      <p:cBhvr>
                                        <p:cTn id="80" dur="1" fill="hold">
                                          <p:stCondLst>
                                            <p:cond delay="0"/>
                                          </p:stCondLst>
                                        </p:cTn>
                                        <p:tgtEl>
                                          <p:spTgt spid="19"/>
                                        </p:tgtEl>
                                        <p:attrNameLst>
                                          <p:attrName>style.visibility</p:attrName>
                                        </p:attrNameLst>
                                      </p:cBhvr>
                                      <p:to>
                                        <p:strVal val="visible"/>
                                      </p:to>
                                    </p:set>
                                    <p:animEffect transition="in" filter="fade">
                                      <p:cBhvr>
                                        <p:cTn id="81" dur="650"/>
                                        <p:tgtEl>
                                          <p:spTgt spid="19"/>
                                        </p:tgtEl>
                                      </p:cBhvr>
                                    </p:animEffect>
                                    <p:anim calcmode="lin" valueType="num">
                                      <p:cBhvr>
                                        <p:cTn id="82" dur="650" fill="hold"/>
                                        <p:tgtEl>
                                          <p:spTgt spid="19"/>
                                        </p:tgtEl>
                                        <p:attrNameLst>
                                          <p:attrName>ppt_x</p:attrName>
                                        </p:attrNameLst>
                                      </p:cBhvr>
                                      <p:tavLst>
                                        <p:tav tm="0">
                                          <p:val>
                                            <p:strVal val="#ppt_x"/>
                                          </p:val>
                                        </p:tav>
                                        <p:tav tm="100000">
                                          <p:val>
                                            <p:strVal val="#ppt_x"/>
                                          </p:val>
                                        </p:tav>
                                      </p:tavLst>
                                    </p:anim>
                                    <p:anim calcmode="lin" valueType="num">
                                      <p:cBhvr>
                                        <p:cTn id="83" dur="650" fill="hold"/>
                                        <p:tgtEl>
                                          <p:spTgt spid="19"/>
                                        </p:tgtEl>
                                        <p:attrNameLst>
                                          <p:attrName>ppt_y</p:attrName>
                                        </p:attrNameLst>
                                      </p:cBhvr>
                                      <p:tavLst>
                                        <p:tav tm="0">
                                          <p:val>
                                            <p:strVal val="#ppt_y+.05"/>
                                          </p:val>
                                        </p:tav>
                                        <p:tav tm="100000">
                                          <p:val>
                                            <p:strVal val="#ppt_y"/>
                                          </p:val>
                                        </p:tav>
                                      </p:tavLst>
                                    </p:anim>
                                  </p:childTnLst>
                                </p:cTn>
                              </p:par>
                              <p:par>
                                <p:cTn id="84" presetID="42" presetClass="entr" presetSubtype="0" fill="hold" grpId="0" nodeType="withEffect">
                                  <p:stCondLst>
                                    <p:cond delay="820"/>
                                  </p:stCondLst>
                                  <p:childTnLst>
                                    <p:set>
                                      <p:cBhvr>
                                        <p:cTn id="85" dur="1" fill="hold">
                                          <p:stCondLst>
                                            <p:cond delay="0"/>
                                          </p:stCondLst>
                                        </p:cTn>
                                        <p:tgtEl>
                                          <p:spTgt spid="20"/>
                                        </p:tgtEl>
                                        <p:attrNameLst>
                                          <p:attrName>style.visibility</p:attrName>
                                        </p:attrNameLst>
                                      </p:cBhvr>
                                      <p:to>
                                        <p:strVal val="visible"/>
                                      </p:to>
                                    </p:set>
                                    <p:animEffect transition="in" filter="fade">
                                      <p:cBhvr>
                                        <p:cTn id="86" dur="650"/>
                                        <p:tgtEl>
                                          <p:spTgt spid="20"/>
                                        </p:tgtEl>
                                      </p:cBhvr>
                                    </p:animEffect>
                                    <p:anim calcmode="lin" valueType="num">
                                      <p:cBhvr>
                                        <p:cTn id="87" dur="650" fill="hold"/>
                                        <p:tgtEl>
                                          <p:spTgt spid="20"/>
                                        </p:tgtEl>
                                        <p:attrNameLst>
                                          <p:attrName>ppt_x</p:attrName>
                                        </p:attrNameLst>
                                      </p:cBhvr>
                                      <p:tavLst>
                                        <p:tav tm="0">
                                          <p:val>
                                            <p:strVal val="#ppt_x"/>
                                          </p:val>
                                        </p:tav>
                                        <p:tav tm="100000">
                                          <p:val>
                                            <p:strVal val="#ppt_x"/>
                                          </p:val>
                                        </p:tav>
                                      </p:tavLst>
                                    </p:anim>
                                    <p:anim calcmode="lin" valueType="num">
                                      <p:cBhvr>
                                        <p:cTn id="88" dur="650" fill="hold"/>
                                        <p:tgtEl>
                                          <p:spTgt spid="20"/>
                                        </p:tgtEl>
                                        <p:attrNameLst>
                                          <p:attrName>ppt_y</p:attrName>
                                        </p:attrNameLst>
                                      </p:cBhvr>
                                      <p:tavLst>
                                        <p:tav tm="0">
                                          <p:val>
                                            <p:strVal val="#ppt_y+.05"/>
                                          </p:val>
                                        </p:tav>
                                        <p:tav tm="100000">
                                          <p:val>
                                            <p:strVal val="#ppt_y"/>
                                          </p:val>
                                        </p:tav>
                                      </p:tavLst>
                                    </p:anim>
                                  </p:childTnLst>
                                </p:cTn>
                              </p:par>
                              <p:par>
                                <p:cTn id="89" presetID="42" presetClass="entr" presetSubtype="0" fill="hold" grpId="0" nodeType="withEffect">
                                  <p:stCondLst>
                                    <p:cond delay="820"/>
                                  </p:stCondLst>
                                  <p:childTnLst>
                                    <p:set>
                                      <p:cBhvr>
                                        <p:cTn id="90" dur="1" fill="hold">
                                          <p:stCondLst>
                                            <p:cond delay="0"/>
                                          </p:stCondLst>
                                        </p:cTn>
                                        <p:tgtEl>
                                          <p:spTgt spid="21"/>
                                        </p:tgtEl>
                                        <p:attrNameLst>
                                          <p:attrName>style.visibility</p:attrName>
                                        </p:attrNameLst>
                                      </p:cBhvr>
                                      <p:to>
                                        <p:strVal val="visible"/>
                                      </p:to>
                                    </p:set>
                                    <p:animEffect transition="in" filter="fade">
                                      <p:cBhvr>
                                        <p:cTn id="91" dur="650"/>
                                        <p:tgtEl>
                                          <p:spTgt spid="21"/>
                                        </p:tgtEl>
                                      </p:cBhvr>
                                    </p:animEffect>
                                    <p:anim calcmode="lin" valueType="num">
                                      <p:cBhvr>
                                        <p:cTn id="92" dur="650" fill="hold"/>
                                        <p:tgtEl>
                                          <p:spTgt spid="21"/>
                                        </p:tgtEl>
                                        <p:attrNameLst>
                                          <p:attrName>ppt_x</p:attrName>
                                        </p:attrNameLst>
                                      </p:cBhvr>
                                      <p:tavLst>
                                        <p:tav tm="0">
                                          <p:val>
                                            <p:strVal val="#ppt_x"/>
                                          </p:val>
                                        </p:tav>
                                        <p:tav tm="100000">
                                          <p:val>
                                            <p:strVal val="#ppt_x"/>
                                          </p:val>
                                        </p:tav>
                                      </p:tavLst>
                                    </p:anim>
                                    <p:anim calcmode="lin" valueType="num">
                                      <p:cBhvr>
                                        <p:cTn id="93" dur="650" fill="hold"/>
                                        <p:tgtEl>
                                          <p:spTgt spid="21"/>
                                        </p:tgtEl>
                                        <p:attrNameLst>
                                          <p:attrName>ppt_y</p:attrName>
                                        </p:attrNameLst>
                                      </p:cBhvr>
                                      <p:tavLst>
                                        <p:tav tm="0">
                                          <p:val>
                                            <p:strVal val="#ppt_y+.05"/>
                                          </p:val>
                                        </p:tav>
                                        <p:tav tm="100000">
                                          <p:val>
                                            <p:strVal val="#ppt_y"/>
                                          </p:val>
                                        </p:tav>
                                      </p:tavLst>
                                    </p:anim>
                                  </p:childTnLst>
                                </p:cTn>
                              </p:par>
                              <p:par>
                                <p:cTn id="94" presetID="42" presetClass="entr" presetSubtype="0" fill="hold" grpId="0" nodeType="withEffect">
                                  <p:stCondLst>
                                    <p:cond delay="820"/>
                                  </p:stCondLst>
                                  <p:childTnLst>
                                    <p:set>
                                      <p:cBhvr>
                                        <p:cTn id="95" dur="1" fill="hold">
                                          <p:stCondLst>
                                            <p:cond delay="0"/>
                                          </p:stCondLst>
                                        </p:cTn>
                                        <p:tgtEl>
                                          <p:spTgt spid="22"/>
                                        </p:tgtEl>
                                        <p:attrNameLst>
                                          <p:attrName>style.visibility</p:attrName>
                                        </p:attrNameLst>
                                      </p:cBhvr>
                                      <p:to>
                                        <p:strVal val="visible"/>
                                      </p:to>
                                    </p:set>
                                    <p:animEffect transition="in" filter="fade">
                                      <p:cBhvr>
                                        <p:cTn id="96" dur="650"/>
                                        <p:tgtEl>
                                          <p:spTgt spid="22"/>
                                        </p:tgtEl>
                                      </p:cBhvr>
                                    </p:animEffect>
                                    <p:anim calcmode="lin" valueType="num">
                                      <p:cBhvr>
                                        <p:cTn id="97" dur="650" fill="hold"/>
                                        <p:tgtEl>
                                          <p:spTgt spid="22"/>
                                        </p:tgtEl>
                                        <p:attrNameLst>
                                          <p:attrName>ppt_x</p:attrName>
                                        </p:attrNameLst>
                                      </p:cBhvr>
                                      <p:tavLst>
                                        <p:tav tm="0">
                                          <p:val>
                                            <p:strVal val="#ppt_x"/>
                                          </p:val>
                                        </p:tav>
                                        <p:tav tm="100000">
                                          <p:val>
                                            <p:strVal val="#ppt_x"/>
                                          </p:val>
                                        </p:tav>
                                      </p:tavLst>
                                    </p:anim>
                                    <p:anim calcmode="lin" valueType="num">
                                      <p:cBhvr>
                                        <p:cTn id="98" dur="650" fill="hold"/>
                                        <p:tgtEl>
                                          <p:spTgt spid="22"/>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7" grpId="0" animBg="1"/>
      <p:bldP spid="9" grpId="0" animBg="1"/>
      <p:bldP spid="10" grpId="0" animBg="1"/>
      <p:bldP spid="11" grpId="0" animBg="1"/>
      <p:bldP spid="13" grpId="0" animBg="1"/>
      <p:bldP spid="14" grpId="0" animBg="1"/>
      <p:bldP spid="15" grpId="0" animBg="1"/>
      <p:bldP spid="17" grpId="0" animBg="1"/>
      <p:bldP spid="18" grpId="0" animBg="1"/>
      <p:bldP spid="19" grpId="0" animBg="1"/>
      <p:bldP spid="21" grpId="0" animBg="1"/>
      <p:bldP spid="2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eyebrow-pill"/>
          <p:cNvSpPr/>
          <p:nvPr/>
        </p:nvSpPr>
        <p:spPr>
          <a:xfrm>
            <a:off x="548640" y="475488"/>
            <a:ext cx="1115568" cy="274320"/>
          </a:xfrm>
          <a:prstGeom prst="roundRect">
            <a:avLst>
              <a:gd name="adj" fmla="val 50000"/>
            </a:avLst>
          </a:prstGeom>
          <a:solidFill>
            <a:srgbClr val="E5E5EA"/>
          </a:solidFill>
          <a:ln/>
        </p:spPr>
      </p:sp>
      <p:sp>
        <p:nvSpPr>
          <p:cNvPr id="3" name="eyebrow"/>
          <p:cNvSpPr txBox="1"/>
          <p:nvPr/>
        </p:nvSpPr>
        <p:spPr>
          <a:xfrm>
            <a:off x="548640" y="475488"/>
            <a:ext cx="1115568" cy="274320"/>
          </a:xfrm>
          <a:prstGeom prst="rect">
            <a:avLst/>
          </a:prstGeom>
          <a:noFill/>
          <a:ln/>
        </p:spPr>
        <p:txBody>
          <a:bodyPr wrap="square" lIns="0" tIns="0" rIns="0" bIns="0" rtlCol="0" anchor="ctr"/>
          <a:lstStyle/>
          <a:p>
            <a:pPr algn="ctr" indent="0" marL="0">
              <a:buNone/>
            </a:pPr>
            <a:r>
              <a:rPr lang="en-US" sz="900" b="1" spc="160" kern="0" dirty="0">
                <a:solidFill>
                  <a:srgbClr val="5C5C61"/>
                </a:solidFill>
                <a:latin typeface="Arial" pitchFamily="34" charset="0"/>
                <a:ea typeface="Arial" pitchFamily="34" charset="-122"/>
                <a:cs typeface="Arial" pitchFamily="34" charset="-120"/>
              </a:rPr>
              <a:t>EVERY ROLE</a:t>
            </a:r>
            <a:endParaRPr lang="en-US" sz="900" dirty="0"/>
          </a:p>
        </p:txBody>
      </p:sp>
      <p:sp>
        <p:nvSpPr>
          <p:cNvPr id="4" name="Text 1"/>
          <p:cNvSpPr/>
          <p:nvPr>
            <p:ph idx="101" type="title" hasCustomPrompt="1"/>
          </p:nvPr>
        </p:nvSpPr>
        <p:spPr>
          <a:xfrm>
            <a:off x="548640" y="896112"/>
            <a:ext cx="6583680" cy="1207008"/>
          </a:xfrm>
          <a:prstGeom prst="rect">
            <a:avLst/>
          </a:prstGeom>
          <a:noFill/>
          <a:ln/>
        </p:spPr>
        <p:txBody>
          <a:bodyPr wrap="square" lIns="0" tIns="0" rIns="0" bIns="0" rtlCol="0" anchor="t"/>
          <a:lstStyle/>
          <a:p>
            <a:pPr algn="l" indent="0" marL="0">
              <a:buNone/>
            </a:pPr>
            <a:r>
              <a:rPr lang="en-US" sz="3400" b="1" dirty="0">
                <a:solidFill>
                  <a:srgbClr val="1D1D1F"/>
                </a:solidFill>
                <a:latin typeface="Arial" pitchFamily="34" charset="0"/>
                <a:ea typeface="Arial" pitchFamily="34" charset="-122"/>
                <a:cs typeface="Arial" pitchFamily="34" charset="-120"/>
              </a:rPr>
              <a:t>One tool,</a:t>
            </a:r>
            <a:endParaRPr lang="en-US" sz="3400" dirty="0"/>
          </a:p>
          <a:p>
            <a:pPr algn="l" indent="0" marL="0">
              <a:buNone/>
            </a:pPr>
            <a:r>
              <a:rPr lang="en-US" sz="3400" dirty="0">
                <a:solidFill>
                  <a:srgbClr val="8E8E93"/>
                </a:solidFill>
                <a:latin typeface="Arial" pitchFamily="34" charset="0"/>
                <a:ea typeface="Arial" pitchFamily="34" charset="-122"/>
                <a:cs typeface="Arial" pitchFamily="34" charset="-120"/>
              </a:rPr>
              <a:t>a page for every role</a:t>
            </a:r>
            <a:endParaRPr lang="en-US" sz="3400" dirty="0"/>
          </a:p>
        </p:txBody>
      </p:sp>
      <p:pic>
        <p:nvPicPr>
          <p:cNvPr id="5" name="phones" descr="A supervisor's team and an agent's page in English and Arabic, on phones">    </p:cNvPr>
          <p:cNvPicPr>
            <a:picLocks noChangeAspect="1"/>
          </p:cNvPicPr>
          <p:nvPr/>
        </p:nvPicPr>
        <p:blipFill>
          <a:blip r:embed="rId1"/>
          <a:stretch>
            <a:fillRect/>
          </a:stretch>
        </p:blipFill>
        <p:spPr>
          <a:xfrm>
            <a:off x="6035040" y="685800"/>
            <a:ext cx="6063916" cy="5486400"/>
          </a:xfrm>
          <a:prstGeom prst="rect">
            <a:avLst/>
          </a:prstGeom>
        </p:spPr>
      </p:pic>
      <p:sp>
        <p:nvSpPr>
          <p:cNvPr id="6" name="dot-chart"/>
          <p:cNvSpPr/>
          <p:nvPr/>
        </p:nvSpPr>
        <p:spPr>
          <a:xfrm>
            <a:off x="548640" y="2514600"/>
            <a:ext cx="420624" cy="420624"/>
          </a:xfrm>
          <a:prstGeom prst="ellipse">
            <a:avLst/>
          </a:prstGeom>
          <a:solidFill>
            <a:srgbClr val="1D1D1F"/>
          </a:solidFill>
          <a:ln/>
        </p:spPr>
      </p:sp>
      <p:pic>
        <p:nvPicPr>
          <p:cNvPr id="7" name="icon-chart" descr="">    </p:cNvPr>
          <p:cNvPicPr>
            <a:picLocks noChangeAspect="1"/>
          </p:cNvPicPr>
          <p:nvPr/>
        </p:nvPicPr>
        <p:blipFill>
          <a:blip r:embed="rId2"/>
          <a:stretch>
            <a:fillRect/>
          </a:stretch>
        </p:blipFill>
        <p:spPr>
          <a:xfrm>
            <a:off x="645384" y="2611344"/>
            <a:ext cx="227137" cy="227137"/>
          </a:xfrm>
          <a:prstGeom prst="rect">
            <a:avLst/>
          </a:prstGeom>
        </p:spPr>
      </p:pic>
      <p:sp>
        <p:nvSpPr>
          <p:cNvPr id="8" name="h"/>
          <p:cNvSpPr txBox="1"/>
          <p:nvPr/>
        </p:nvSpPr>
        <p:spPr>
          <a:xfrm>
            <a:off x="1170432" y="2496312"/>
            <a:ext cx="2167128" cy="310896"/>
          </a:xfrm>
          <a:prstGeom prst="rect">
            <a:avLst/>
          </a:prstGeom>
          <a:noFill/>
          <a:ln/>
        </p:spPr>
        <p:txBody>
          <a:bodyPr wrap="square" lIns="0" tIns="0" rIns="0" bIns="0" rtlCol="0" anchor="ctr"/>
          <a:lstStyle/>
          <a:p>
            <a:pPr indent="0" marL="0">
              <a:buNone/>
            </a:pPr>
            <a:r>
              <a:rPr lang="en-US" sz="1350" b="1" dirty="0">
                <a:solidFill>
                  <a:srgbClr val="1D1D1F"/>
                </a:solidFill>
                <a:latin typeface="Arial" pitchFamily="34" charset="0"/>
                <a:ea typeface="Arial" pitchFamily="34" charset="-122"/>
                <a:cs typeface="Arial" pitchFamily="34" charset="-120"/>
              </a:rPr>
              <a:t>WFM analysts</a:t>
            </a:r>
            <a:endParaRPr lang="en-US" sz="1350" dirty="0"/>
          </a:p>
        </p:txBody>
      </p:sp>
      <p:sp>
        <p:nvSpPr>
          <p:cNvPr id="9" name="t"/>
          <p:cNvSpPr txBox="1"/>
          <p:nvPr/>
        </p:nvSpPr>
        <p:spPr>
          <a:xfrm>
            <a:off x="1170432" y="2807208"/>
            <a:ext cx="2167128" cy="548640"/>
          </a:xfrm>
          <a:prstGeom prst="rect">
            <a:avLst/>
          </a:prstGeom>
          <a:noFill/>
          <a:ln/>
        </p:spPr>
        <p:txBody>
          <a:bodyPr wrap="square" lIns="0" tIns="0" rIns="0" bIns="0" rtlCol="0" anchor="t"/>
          <a:lstStyle/>
          <a:p>
            <a:pPr indent="0" marL="0">
              <a:lnSpc>
                <a:spcPct val="105000"/>
              </a:lnSpc>
              <a:buNone/>
            </a:pPr>
            <a:r>
              <a:rPr lang="en-US" sz="1100" dirty="0">
                <a:solidFill>
                  <a:srgbClr val="5C5C61"/>
                </a:solidFill>
                <a:latin typeface="Arial" pitchFamily="34" charset="0"/>
                <a:ea typeface="Arial" pitchFamily="34" charset="-122"/>
                <a:cs typeface="Arial" pitchFamily="34" charset="-120"/>
              </a:rPr>
              <a:t>Build the month and the daily reports</a:t>
            </a:r>
            <a:endParaRPr lang="en-US" sz="1100" dirty="0"/>
          </a:p>
        </p:txBody>
      </p:sp>
      <p:sp>
        <p:nvSpPr>
          <p:cNvPr id="10" name="dot-mail"/>
          <p:cNvSpPr/>
          <p:nvPr/>
        </p:nvSpPr>
        <p:spPr>
          <a:xfrm>
            <a:off x="3474720" y="2514600"/>
            <a:ext cx="420624" cy="420624"/>
          </a:xfrm>
          <a:prstGeom prst="ellipse">
            <a:avLst/>
          </a:prstGeom>
          <a:solidFill>
            <a:srgbClr val="1D1D1F"/>
          </a:solidFill>
          <a:ln/>
        </p:spPr>
      </p:sp>
      <p:pic>
        <p:nvPicPr>
          <p:cNvPr id="11" name="icon-mail" descr="">    </p:cNvPr>
          <p:cNvPicPr>
            <a:picLocks noChangeAspect="1"/>
          </p:cNvPicPr>
          <p:nvPr/>
        </p:nvPicPr>
        <p:blipFill>
          <a:blip r:embed="rId3"/>
          <a:stretch>
            <a:fillRect/>
          </a:stretch>
        </p:blipFill>
        <p:spPr>
          <a:xfrm>
            <a:off x="3571464" y="2611344"/>
            <a:ext cx="227137" cy="227137"/>
          </a:xfrm>
          <a:prstGeom prst="rect">
            <a:avLst/>
          </a:prstGeom>
        </p:spPr>
      </p:pic>
      <p:sp>
        <p:nvSpPr>
          <p:cNvPr id="12" name="h"/>
          <p:cNvSpPr txBox="1"/>
          <p:nvPr/>
        </p:nvSpPr>
        <p:spPr>
          <a:xfrm>
            <a:off x="4096512" y="2496312"/>
            <a:ext cx="2167128" cy="310896"/>
          </a:xfrm>
          <a:prstGeom prst="rect">
            <a:avLst/>
          </a:prstGeom>
          <a:noFill/>
          <a:ln/>
        </p:spPr>
        <p:txBody>
          <a:bodyPr wrap="square" lIns="0" tIns="0" rIns="0" bIns="0" rtlCol="0" anchor="ctr"/>
          <a:lstStyle/>
          <a:p>
            <a:pPr indent="0" marL="0">
              <a:buNone/>
            </a:pPr>
            <a:r>
              <a:rPr lang="en-US" sz="1350" b="1" dirty="0">
                <a:solidFill>
                  <a:srgbClr val="1D1D1F"/>
                </a:solidFill>
                <a:latin typeface="Arial" pitchFamily="34" charset="0"/>
                <a:ea typeface="Arial" pitchFamily="34" charset="-122"/>
                <a:cs typeface="Arial" pitchFamily="34" charset="-120"/>
              </a:rPr>
              <a:t>WFM manager</a:t>
            </a:r>
            <a:endParaRPr lang="en-US" sz="1350" dirty="0"/>
          </a:p>
        </p:txBody>
      </p:sp>
      <p:sp>
        <p:nvSpPr>
          <p:cNvPr id="13" name="t"/>
          <p:cNvSpPr txBox="1"/>
          <p:nvPr/>
        </p:nvSpPr>
        <p:spPr>
          <a:xfrm>
            <a:off x="4096512" y="2807208"/>
            <a:ext cx="2167128" cy="548640"/>
          </a:xfrm>
          <a:prstGeom prst="rect">
            <a:avLst/>
          </a:prstGeom>
          <a:noFill/>
          <a:ln/>
        </p:spPr>
        <p:txBody>
          <a:bodyPr wrap="square" lIns="0" tIns="0" rIns="0" bIns="0" rtlCol="0" anchor="t"/>
          <a:lstStyle/>
          <a:p>
            <a:pPr indent="0" marL="0">
              <a:lnSpc>
                <a:spcPct val="105000"/>
              </a:lnSpc>
              <a:buNone/>
            </a:pPr>
            <a:r>
              <a:rPr lang="en-US" sz="1100" dirty="0">
                <a:solidFill>
                  <a:srgbClr val="5C5C61"/>
                </a:solidFill>
                <a:latin typeface="Arial" pitchFamily="34" charset="0"/>
                <a:ea typeface="Arial" pitchFamily="34" charset="-122"/>
                <a:cs typeface="Arial" pitchFamily="34" charset="-120"/>
              </a:rPr>
              <a:t>Emails, interactions and analytics</a:t>
            </a:r>
            <a:endParaRPr lang="en-US" sz="1100" dirty="0"/>
          </a:p>
        </p:txBody>
      </p:sp>
      <p:sp>
        <p:nvSpPr>
          <p:cNvPr id="14" name="dot-star"/>
          <p:cNvSpPr/>
          <p:nvPr/>
        </p:nvSpPr>
        <p:spPr>
          <a:xfrm>
            <a:off x="548640" y="3721608"/>
            <a:ext cx="420624" cy="420624"/>
          </a:xfrm>
          <a:prstGeom prst="ellipse">
            <a:avLst/>
          </a:prstGeom>
          <a:solidFill>
            <a:srgbClr val="1D1D1F"/>
          </a:solidFill>
          <a:ln/>
        </p:spPr>
      </p:sp>
      <p:pic>
        <p:nvPicPr>
          <p:cNvPr id="15" name="icon-star" descr="">    </p:cNvPr>
          <p:cNvPicPr>
            <a:picLocks noChangeAspect="1"/>
          </p:cNvPicPr>
          <p:nvPr/>
        </p:nvPicPr>
        <p:blipFill>
          <a:blip r:embed="rId4"/>
          <a:stretch>
            <a:fillRect/>
          </a:stretch>
        </p:blipFill>
        <p:spPr>
          <a:xfrm>
            <a:off x="645384" y="3818352"/>
            <a:ext cx="227137" cy="227137"/>
          </a:xfrm>
          <a:prstGeom prst="rect">
            <a:avLst/>
          </a:prstGeom>
        </p:spPr>
      </p:pic>
      <p:sp>
        <p:nvSpPr>
          <p:cNvPr id="16" name="h"/>
          <p:cNvSpPr txBox="1"/>
          <p:nvPr/>
        </p:nvSpPr>
        <p:spPr>
          <a:xfrm>
            <a:off x="1170432" y="3703320"/>
            <a:ext cx="2167128" cy="310896"/>
          </a:xfrm>
          <a:prstGeom prst="rect">
            <a:avLst/>
          </a:prstGeom>
          <a:noFill/>
          <a:ln/>
        </p:spPr>
        <p:txBody>
          <a:bodyPr wrap="square" lIns="0" tIns="0" rIns="0" bIns="0" rtlCol="0" anchor="ctr"/>
          <a:lstStyle/>
          <a:p>
            <a:pPr indent="0" marL="0">
              <a:buNone/>
            </a:pPr>
            <a:r>
              <a:rPr lang="en-US" sz="1350" b="1" dirty="0">
                <a:solidFill>
                  <a:srgbClr val="1D1D1F"/>
                </a:solidFill>
                <a:latin typeface="Arial" pitchFamily="34" charset="0"/>
                <a:ea typeface="Arial" pitchFamily="34" charset="-122"/>
                <a:cs typeface="Arial" pitchFamily="34" charset="-120"/>
              </a:rPr>
              <a:t>Senior manager</a:t>
            </a:r>
            <a:endParaRPr lang="en-US" sz="1350" dirty="0"/>
          </a:p>
        </p:txBody>
      </p:sp>
      <p:sp>
        <p:nvSpPr>
          <p:cNvPr id="17" name="t"/>
          <p:cNvSpPr txBox="1"/>
          <p:nvPr/>
        </p:nvSpPr>
        <p:spPr>
          <a:xfrm>
            <a:off x="1170432" y="4014216"/>
            <a:ext cx="2167128" cy="548640"/>
          </a:xfrm>
          <a:prstGeom prst="rect">
            <a:avLst/>
          </a:prstGeom>
          <a:noFill/>
          <a:ln/>
        </p:spPr>
        <p:txBody>
          <a:bodyPr wrap="square" lIns="0" tIns="0" rIns="0" bIns="0" rtlCol="0" anchor="t"/>
          <a:lstStyle/>
          <a:p>
            <a:pPr indent="0" marL="0">
              <a:lnSpc>
                <a:spcPct val="105000"/>
              </a:lnSpc>
              <a:buNone/>
            </a:pPr>
            <a:r>
              <a:rPr lang="en-US" sz="1100" dirty="0">
                <a:solidFill>
                  <a:srgbClr val="5C5C61"/>
                </a:solidFill>
                <a:latin typeface="Arial" pitchFamily="34" charset="0"/>
                <a:ea typeface="Arial" pitchFamily="34" charset="-122"/>
                <a:cs typeface="Arial" pitchFamily="34" charset="-120"/>
              </a:rPr>
              <a:t>Rules, results, the month's four emails</a:t>
            </a:r>
            <a:endParaRPr lang="en-US" sz="1100" dirty="0"/>
          </a:p>
        </p:txBody>
      </p:sp>
      <p:sp>
        <p:nvSpPr>
          <p:cNvPr id="18" name="dot-team"/>
          <p:cNvSpPr/>
          <p:nvPr/>
        </p:nvSpPr>
        <p:spPr>
          <a:xfrm>
            <a:off x="3474720" y="3721608"/>
            <a:ext cx="420624" cy="420624"/>
          </a:xfrm>
          <a:prstGeom prst="ellipse">
            <a:avLst/>
          </a:prstGeom>
          <a:solidFill>
            <a:srgbClr val="1D1D1F"/>
          </a:solidFill>
          <a:ln/>
        </p:spPr>
      </p:sp>
      <p:pic>
        <p:nvPicPr>
          <p:cNvPr id="19" name="icon-team" descr="">    </p:cNvPr>
          <p:cNvPicPr>
            <a:picLocks noChangeAspect="1"/>
          </p:cNvPicPr>
          <p:nvPr/>
        </p:nvPicPr>
        <p:blipFill>
          <a:blip r:embed="rId5"/>
          <a:stretch>
            <a:fillRect/>
          </a:stretch>
        </p:blipFill>
        <p:spPr>
          <a:xfrm>
            <a:off x="3571464" y="3818352"/>
            <a:ext cx="227137" cy="227137"/>
          </a:xfrm>
          <a:prstGeom prst="rect">
            <a:avLst/>
          </a:prstGeom>
        </p:spPr>
      </p:pic>
      <p:sp>
        <p:nvSpPr>
          <p:cNvPr id="20" name="h"/>
          <p:cNvSpPr txBox="1"/>
          <p:nvPr/>
        </p:nvSpPr>
        <p:spPr>
          <a:xfrm>
            <a:off x="4096512" y="3703320"/>
            <a:ext cx="2167128" cy="310896"/>
          </a:xfrm>
          <a:prstGeom prst="rect">
            <a:avLst/>
          </a:prstGeom>
          <a:noFill/>
          <a:ln/>
        </p:spPr>
        <p:txBody>
          <a:bodyPr wrap="square" lIns="0" tIns="0" rIns="0" bIns="0" rtlCol="0" anchor="ctr"/>
          <a:lstStyle/>
          <a:p>
            <a:pPr indent="0" marL="0">
              <a:buNone/>
            </a:pPr>
            <a:r>
              <a:rPr lang="en-US" sz="1350" b="1" dirty="0">
                <a:solidFill>
                  <a:srgbClr val="1D1D1F"/>
                </a:solidFill>
                <a:latin typeface="Arial" pitchFamily="34" charset="0"/>
                <a:ea typeface="Arial" pitchFamily="34" charset="-122"/>
                <a:cs typeface="Arial" pitchFamily="34" charset="-120"/>
              </a:rPr>
              <a:t>Supervisors</a:t>
            </a:r>
            <a:endParaRPr lang="en-US" sz="1350" dirty="0"/>
          </a:p>
        </p:txBody>
      </p:sp>
      <p:sp>
        <p:nvSpPr>
          <p:cNvPr id="21" name="t"/>
          <p:cNvSpPr txBox="1"/>
          <p:nvPr/>
        </p:nvSpPr>
        <p:spPr>
          <a:xfrm>
            <a:off x="4096512" y="4014216"/>
            <a:ext cx="2167128" cy="548640"/>
          </a:xfrm>
          <a:prstGeom prst="rect">
            <a:avLst/>
          </a:prstGeom>
          <a:noFill/>
          <a:ln/>
        </p:spPr>
        <p:txBody>
          <a:bodyPr wrap="square" lIns="0" tIns="0" rIns="0" bIns="0" rtlCol="0" anchor="t"/>
          <a:lstStyle/>
          <a:p>
            <a:pPr indent="0" marL="0">
              <a:lnSpc>
                <a:spcPct val="105000"/>
              </a:lnSpc>
              <a:buNone/>
            </a:pPr>
            <a:r>
              <a:rPr lang="en-US" sz="1100" dirty="0">
                <a:solidFill>
                  <a:srgbClr val="5C5C61"/>
                </a:solidFill>
                <a:latin typeface="Arial" pitchFamily="34" charset="0"/>
                <a:ea typeface="Arial" pitchFamily="34" charset="-122"/>
                <a:cs typeface="Arial" pitchFamily="34" charset="-120"/>
              </a:rPr>
              <a:t>Their team, one-to-ones, attendance</a:t>
            </a:r>
            <a:endParaRPr lang="en-US" sz="1100" dirty="0"/>
          </a:p>
        </p:txBody>
      </p:sp>
      <p:sp>
        <p:nvSpPr>
          <p:cNvPr id="22" name="dot-check"/>
          <p:cNvSpPr/>
          <p:nvPr/>
        </p:nvSpPr>
        <p:spPr>
          <a:xfrm>
            <a:off x="548640" y="4928616"/>
            <a:ext cx="420624" cy="420624"/>
          </a:xfrm>
          <a:prstGeom prst="ellipse">
            <a:avLst/>
          </a:prstGeom>
          <a:solidFill>
            <a:srgbClr val="1D1D1F"/>
          </a:solidFill>
          <a:ln/>
        </p:spPr>
      </p:sp>
      <p:pic>
        <p:nvPicPr>
          <p:cNvPr id="23" name="icon-check" descr="">    </p:cNvPr>
          <p:cNvPicPr>
            <a:picLocks noChangeAspect="1"/>
          </p:cNvPicPr>
          <p:nvPr/>
        </p:nvPicPr>
        <p:blipFill>
          <a:blip r:embed="rId6"/>
          <a:stretch>
            <a:fillRect/>
          </a:stretch>
        </p:blipFill>
        <p:spPr>
          <a:xfrm>
            <a:off x="645384" y="5025360"/>
            <a:ext cx="227137" cy="227137"/>
          </a:xfrm>
          <a:prstGeom prst="rect">
            <a:avLst/>
          </a:prstGeom>
        </p:spPr>
      </p:pic>
      <p:sp>
        <p:nvSpPr>
          <p:cNvPr id="24" name="h"/>
          <p:cNvSpPr txBox="1"/>
          <p:nvPr/>
        </p:nvSpPr>
        <p:spPr>
          <a:xfrm>
            <a:off x="1170432" y="4910328"/>
            <a:ext cx="2167128" cy="310896"/>
          </a:xfrm>
          <a:prstGeom prst="rect">
            <a:avLst/>
          </a:prstGeom>
          <a:noFill/>
          <a:ln/>
        </p:spPr>
        <p:txBody>
          <a:bodyPr wrap="square" lIns="0" tIns="0" rIns="0" bIns="0" rtlCol="0" anchor="ctr"/>
          <a:lstStyle/>
          <a:p>
            <a:pPr indent="0" marL="0">
              <a:buNone/>
            </a:pPr>
            <a:r>
              <a:rPr lang="en-US" sz="1350" b="1" dirty="0">
                <a:solidFill>
                  <a:srgbClr val="1D1D1F"/>
                </a:solidFill>
                <a:latin typeface="Arial" pitchFamily="34" charset="0"/>
                <a:ea typeface="Arial" pitchFamily="34" charset="-122"/>
                <a:cs typeface="Arial" pitchFamily="34" charset="-120"/>
              </a:rPr>
              <a:t>Quality team</a:t>
            </a:r>
            <a:endParaRPr lang="en-US" sz="1350" dirty="0"/>
          </a:p>
        </p:txBody>
      </p:sp>
      <p:sp>
        <p:nvSpPr>
          <p:cNvPr id="25" name="t"/>
          <p:cNvSpPr txBox="1"/>
          <p:nvPr/>
        </p:nvSpPr>
        <p:spPr>
          <a:xfrm>
            <a:off x="1170432" y="5221224"/>
            <a:ext cx="2167128" cy="548640"/>
          </a:xfrm>
          <a:prstGeom prst="rect">
            <a:avLst/>
          </a:prstGeom>
          <a:noFill/>
          <a:ln/>
        </p:spPr>
        <p:txBody>
          <a:bodyPr wrap="square" lIns="0" tIns="0" rIns="0" bIns="0" rtlCol="0" anchor="t"/>
          <a:lstStyle/>
          <a:p>
            <a:pPr indent="0" marL="0">
              <a:lnSpc>
                <a:spcPct val="105000"/>
              </a:lnSpc>
              <a:buNone/>
            </a:pPr>
            <a:r>
              <a:rPr lang="en-US" sz="1100" dirty="0">
                <a:solidFill>
                  <a:srgbClr val="5C5C61"/>
                </a:solidFill>
                <a:latin typeface="Arial" pitchFamily="34" charset="0"/>
                <a:ea typeface="Arial" pitchFamily="34" charset="-122"/>
                <a:cs typeface="Arial" pitchFamily="34" charset="-120"/>
              </a:rPr>
              <a:t>The Final EVAL and critical errors</a:t>
            </a:r>
            <a:endParaRPr lang="en-US" sz="1100" dirty="0"/>
          </a:p>
        </p:txBody>
      </p:sp>
      <p:sp>
        <p:nvSpPr>
          <p:cNvPr id="26" name="dot-user"/>
          <p:cNvSpPr/>
          <p:nvPr/>
        </p:nvSpPr>
        <p:spPr>
          <a:xfrm>
            <a:off x="3474720" y="4928616"/>
            <a:ext cx="420624" cy="420624"/>
          </a:xfrm>
          <a:prstGeom prst="ellipse">
            <a:avLst/>
          </a:prstGeom>
          <a:solidFill>
            <a:srgbClr val="1D1D1F"/>
          </a:solidFill>
          <a:ln/>
        </p:spPr>
      </p:sp>
      <p:pic>
        <p:nvPicPr>
          <p:cNvPr id="27" name="icon-user" descr="">    </p:cNvPr>
          <p:cNvPicPr>
            <a:picLocks noChangeAspect="1"/>
          </p:cNvPicPr>
          <p:nvPr/>
        </p:nvPicPr>
        <p:blipFill>
          <a:blip r:embed="rId7"/>
          <a:stretch>
            <a:fillRect/>
          </a:stretch>
        </p:blipFill>
        <p:spPr>
          <a:xfrm>
            <a:off x="3571464" y="5025360"/>
            <a:ext cx="227137" cy="227137"/>
          </a:xfrm>
          <a:prstGeom prst="rect">
            <a:avLst/>
          </a:prstGeom>
        </p:spPr>
      </p:pic>
      <p:sp>
        <p:nvSpPr>
          <p:cNvPr id="28" name="h"/>
          <p:cNvSpPr txBox="1"/>
          <p:nvPr/>
        </p:nvSpPr>
        <p:spPr>
          <a:xfrm>
            <a:off x="4096512" y="4910328"/>
            <a:ext cx="2167128" cy="310896"/>
          </a:xfrm>
          <a:prstGeom prst="rect">
            <a:avLst/>
          </a:prstGeom>
          <a:noFill/>
          <a:ln/>
        </p:spPr>
        <p:txBody>
          <a:bodyPr wrap="square" lIns="0" tIns="0" rIns="0" bIns="0" rtlCol="0" anchor="ctr"/>
          <a:lstStyle/>
          <a:p>
            <a:pPr indent="0" marL="0">
              <a:buNone/>
            </a:pPr>
            <a:r>
              <a:rPr lang="en-US" sz="1350" b="1" dirty="0">
                <a:solidFill>
                  <a:srgbClr val="1D1D1F"/>
                </a:solidFill>
                <a:latin typeface="Arial" pitchFamily="34" charset="0"/>
                <a:ea typeface="Arial" pitchFamily="34" charset="-122"/>
                <a:cs typeface="Arial" pitchFamily="34" charset="-120"/>
              </a:rPr>
              <a:t>Agents</a:t>
            </a:r>
            <a:endParaRPr lang="en-US" sz="1350" dirty="0"/>
          </a:p>
        </p:txBody>
      </p:sp>
      <p:sp>
        <p:nvSpPr>
          <p:cNvPr id="29" name="t"/>
          <p:cNvSpPr txBox="1"/>
          <p:nvPr/>
        </p:nvSpPr>
        <p:spPr>
          <a:xfrm>
            <a:off x="4096512" y="5221224"/>
            <a:ext cx="2167128" cy="548640"/>
          </a:xfrm>
          <a:prstGeom prst="rect">
            <a:avLst/>
          </a:prstGeom>
          <a:noFill/>
          <a:ln/>
        </p:spPr>
        <p:txBody>
          <a:bodyPr wrap="square" lIns="0" tIns="0" rIns="0" bIns="0" rtlCol="0" anchor="t"/>
          <a:lstStyle/>
          <a:p>
            <a:pPr indent="0" marL="0">
              <a:lnSpc>
                <a:spcPct val="105000"/>
              </a:lnSpc>
              <a:buNone/>
            </a:pPr>
            <a:r>
              <a:rPr lang="en-US" sz="1100" dirty="0">
                <a:solidFill>
                  <a:srgbClr val="5C5C61"/>
                </a:solidFill>
                <a:latin typeface="Arial" pitchFamily="34" charset="0"/>
                <a:ea typeface="Arial" pitchFamily="34" charset="-122"/>
                <a:cs typeface="Arial" pitchFamily="34" charset="-120"/>
              </a:rPr>
              <a:t>Their results and forms, in English or Arabic</a:t>
            </a:r>
            <a:endParaRPr lang="en-US" sz="11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E8E93"/>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42" presetClass="entr" presetSubtype="0" fill="hold" grpId="0" nodeType="withEffect">
                                  <p:stCondLst>
                                    <p:cond delay="25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650"/>
                                        <p:tgtEl>
                                          <p:spTgt spid="5"/>
                                        </p:tgtEl>
                                      </p:cBhvr>
                                    </p:animEffect>
                                    <p:anim calcmode="lin" valueType="num">
                                      <p:cBhvr>
                                        <p:cTn id="14" dur="650" fill="hold"/>
                                        <p:tgtEl>
                                          <p:spTgt spid="5"/>
                                        </p:tgtEl>
                                        <p:attrNameLst>
                                          <p:attrName>ppt_x</p:attrName>
                                        </p:attrNameLst>
                                      </p:cBhvr>
                                      <p:tavLst>
                                        <p:tav tm="0">
                                          <p:val>
                                            <p:strVal val="#ppt_x"/>
                                          </p:val>
                                        </p:tav>
                                        <p:tav tm="100000">
                                          <p:val>
                                            <p:strVal val="#ppt_x"/>
                                          </p:val>
                                        </p:tav>
                                      </p:tavLst>
                                    </p:anim>
                                    <p:anim calcmode="lin" valueType="num">
                                      <p:cBhvr>
                                        <p:cTn id="15" dur="650" fill="hold"/>
                                        <p:tgtEl>
                                          <p:spTgt spid="5"/>
                                        </p:tgtEl>
                                        <p:attrNameLst>
                                          <p:attrName>ppt_y</p:attrName>
                                        </p:attrNameLst>
                                      </p:cBhvr>
                                      <p:tavLst>
                                        <p:tav tm="0">
                                          <p:val>
                                            <p:strVal val="#ppt_y+.05"/>
                                          </p:val>
                                        </p:tav>
                                        <p:tav tm="100000">
                                          <p:val>
                                            <p:strVal val="#ppt_y"/>
                                          </p:val>
                                        </p:tav>
                                      </p:tavLst>
                                    </p:anim>
                                  </p:childTnLst>
                                </p:cTn>
                              </p:par>
                              <p:par>
                                <p:cTn id="16" presetID="42" presetClass="entr" presetSubtype="0" fill="hold" grpId="0" nodeType="withEffect">
                                  <p:stCondLst>
                                    <p:cond delay="35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650"/>
                                        <p:tgtEl>
                                          <p:spTgt spid="6"/>
                                        </p:tgtEl>
                                      </p:cBhvr>
                                    </p:animEffect>
                                    <p:anim calcmode="lin" valueType="num">
                                      <p:cBhvr>
                                        <p:cTn id="19" dur="650" fill="hold"/>
                                        <p:tgtEl>
                                          <p:spTgt spid="6"/>
                                        </p:tgtEl>
                                        <p:attrNameLst>
                                          <p:attrName>ppt_x</p:attrName>
                                        </p:attrNameLst>
                                      </p:cBhvr>
                                      <p:tavLst>
                                        <p:tav tm="0">
                                          <p:val>
                                            <p:strVal val="#ppt_x"/>
                                          </p:val>
                                        </p:tav>
                                        <p:tav tm="100000">
                                          <p:val>
                                            <p:strVal val="#ppt_x"/>
                                          </p:val>
                                        </p:tav>
                                      </p:tavLst>
                                    </p:anim>
                                    <p:anim calcmode="lin" valueType="num">
                                      <p:cBhvr>
                                        <p:cTn id="20" dur="650" fill="hold"/>
                                        <p:tgtEl>
                                          <p:spTgt spid="6"/>
                                        </p:tgtEl>
                                        <p:attrNameLst>
                                          <p:attrName>ppt_y</p:attrName>
                                        </p:attrNameLst>
                                      </p:cBhvr>
                                      <p:tavLst>
                                        <p:tav tm="0">
                                          <p:val>
                                            <p:strVal val="#ppt_y+.05"/>
                                          </p:val>
                                        </p:tav>
                                        <p:tav tm="100000">
                                          <p:val>
                                            <p:strVal val="#ppt_y"/>
                                          </p:val>
                                        </p:tav>
                                      </p:tavLst>
                                    </p:anim>
                                  </p:childTnLst>
                                </p:cTn>
                              </p:par>
                              <p:par>
                                <p:cTn id="21" presetID="42" presetClass="entr" presetSubtype="0" fill="hold" grpId="0" nodeType="withEffect">
                                  <p:stCondLst>
                                    <p:cond delay="35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650"/>
                                        <p:tgtEl>
                                          <p:spTgt spid="7"/>
                                        </p:tgtEl>
                                      </p:cBhvr>
                                    </p:animEffect>
                                    <p:anim calcmode="lin" valueType="num">
                                      <p:cBhvr>
                                        <p:cTn id="24" dur="650" fill="hold"/>
                                        <p:tgtEl>
                                          <p:spTgt spid="7"/>
                                        </p:tgtEl>
                                        <p:attrNameLst>
                                          <p:attrName>ppt_x</p:attrName>
                                        </p:attrNameLst>
                                      </p:cBhvr>
                                      <p:tavLst>
                                        <p:tav tm="0">
                                          <p:val>
                                            <p:strVal val="#ppt_x"/>
                                          </p:val>
                                        </p:tav>
                                        <p:tav tm="100000">
                                          <p:val>
                                            <p:strVal val="#ppt_x"/>
                                          </p:val>
                                        </p:tav>
                                      </p:tavLst>
                                    </p:anim>
                                    <p:anim calcmode="lin" valueType="num">
                                      <p:cBhvr>
                                        <p:cTn id="25" dur="650" fill="hold"/>
                                        <p:tgtEl>
                                          <p:spTgt spid="7"/>
                                        </p:tgtEl>
                                        <p:attrNameLst>
                                          <p:attrName>ppt_y</p:attrName>
                                        </p:attrNameLst>
                                      </p:cBhvr>
                                      <p:tavLst>
                                        <p:tav tm="0">
                                          <p:val>
                                            <p:strVal val="#ppt_y+.05"/>
                                          </p:val>
                                        </p:tav>
                                        <p:tav tm="100000">
                                          <p:val>
                                            <p:strVal val="#ppt_y"/>
                                          </p:val>
                                        </p:tav>
                                      </p:tavLst>
                                    </p:anim>
                                  </p:childTnLst>
                                </p:cTn>
                              </p:par>
                              <p:par>
                                <p:cTn id="26" presetID="42" presetClass="entr" presetSubtype="0" fill="hold" grpId="0" nodeType="withEffect">
                                  <p:stCondLst>
                                    <p:cond delay="35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650"/>
                                        <p:tgtEl>
                                          <p:spTgt spid="8"/>
                                        </p:tgtEl>
                                      </p:cBhvr>
                                    </p:animEffect>
                                    <p:anim calcmode="lin" valueType="num">
                                      <p:cBhvr>
                                        <p:cTn id="29" dur="650" fill="hold"/>
                                        <p:tgtEl>
                                          <p:spTgt spid="8"/>
                                        </p:tgtEl>
                                        <p:attrNameLst>
                                          <p:attrName>ppt_x</p:attrName>
                                        </p:attrNameLst>
                                      </p:cBhvr>
                                      <p:tavLst>
                                        <p:tav tm="0">
                                          <p:val>
                                            <p:strVal val="#ppt_x"/>
                                          </p:val>
                                        </p:tav>
                                        <p:tav tm="100000">
                                          <p:val>
                                            <p:strVal val="#ppt_x"/>
                                          </p:val>
                                        </p:tav>
                                      </p:tavLst>
                                    </p:anim>
                                    <p:anim calcmode="lin" valueType="num">
                                      <p:cBhvr>
                                        <p:cTn id="30" dur="650" fill="hold"/>
                                        <p:tgtEl>
                                          <p:spTgt spid="8"/>
                                        </p:tgtEl>
                                        <p:attrNameLst>
                                          <p:attrName>ppt_y</p:attrName>
                                        </p:attrNameLst>
                                      </p:cBhvr>
                                      <p:tavLst>
                                        <p:tav tm="0">
                                          <p:val>
                                            <p:strVal val="#ppt_y+.05"/>
                                          </p:val>
                                        </p:tav>
                                        <p:tav tm="100000">
                                          <p:val>
                                            <p:strVal val="#ppt_y"/>
                                          </p:val>
                                        </p:tav>
                                      </p:tavLst>
                                    </p:anim>
                                  </p:childTnLst>
                                </p:cTn>
                              </p:par>
                              <p:par>
                                <p:cTn id="31" presetID="42" presetClass="entr" presetSubtype="0" fill="hold" grpId="0" nodeType="withEffect">
                                  <p:stCondLst>
                                    <p:cond delay="35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650"/>
                                        <p:tgtEl>
                                          <p:spTgt spid="9"/>
                                        </p:tgtEl>
                                      </p:cBhvr>
                                    </p:animEffect>
                                    <p:anim calcmode="lin" valueType="num">
                                      <p:cBhvr>
                                        <p:cTn id="34" dur="650" fill="hold"/>
                                        <p:tgtEl>
                                          <p:spTgt spid="9"/>
                                        </p:tgtEl>
                                        <p:attrNameLst>
                                          <p:attrName>ppt_x</p:attrName>
                                        </p:attrNameLst>
                                      </p:cBhvr>
                                      <p:tavLst>
                                        <p:tav tm="0">
                                          <p:val>
                                            <p:strVal val="#ppt_x"/>
                                          </p:val>
                                        </p:tav>
                                        <p:tav tm="100000">
                                          <p:val>
                                            <p:strVal val="#ppt_x"/>
                                          </p:val>
                                        </p:tav>
                                      </p:tavLst>
                                    </p:anim>
                                    <p:anim calcmode="lin" valueType="num">
                                      <p:cBhvr>
                                        <p:cTn id="35" dur="650" fill="hold"/>
                                        <p:tgtEl>
                                          <p:spTgt spid="9"/>
                                        </p:tgtEl>
                                        <p:attrNameLst>
                                          <p:attrName>ppt_y</p:attrName>
                                        </p:attrNameLst>
                                      </p:cBhvr>
                                      <p:tavLst>
                                        <p:tav tm="0">
                                          <p:val>
                                            <p:strVal val="#ppt_y+.05"/>
                                          </p:val>
                                        </p:tav>
                                        <p:tav tm="100000">
                                          <p:val>
                                            <p:strVal val="#ppt_y"/>
                                          </p:val>
                                        </p:tav>
                                      </p:tavLst>
                                    </p:anim>
                                  </p:childTnLst>
                                </p:cTn>
                              </p:par>
                              <p:par>
                                <p:cTn id="36" presetID="42" presetClass="entr" presetSubtype="0" fill="hold" grpId="0" nodeType="withEffect">
                                  <p:stCondLst>
                                    <p:cond delay="45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650"/>
                                        <p:tgtEl>
                                          <p:spTgt spid="10"/>
                                        </p:tgtEl>
                                      </p:cBhvr>
                                    </p:animEffect>
                                    <p:anim calcmode="lin" valueType="num">
                                      <p:cBhvr>
                                        <p:cTn id="39" dur="650" fill="hold"/>
                                        <p:tgtEl>
                                          <p:spTgt spid="10"/>
                                        </p:tgtEl>
                                        <p:attrNameLst>
                                          <p:attrName>ppt_x</p:attrName>
                                        </p:attrNameLst>
                                      </p:cBhvr>
                                      <p:tavLst>
                                        <p:tav tm="0">
                                          <p:val>
                                            <p:strVal val="#ppt_x"/>
                                          </p:val>
                                        </p:tav>
                                        <p:tav tm="100000">
                                          <p:val>
                                            <p:strVal val="#ppt_x"/>
                                          </p:val>
                                        </p:tav>
                                      </p:tavLst>
                                    </p:anim>
                                    <p:anim calcmode="lin" valueType="num">
                                      <p:cBhvr>
                                        <p:cTn id="40" dur="650" fill="hold"/>
                                        <p:tgtEl>
                                          <p:spTgt spid="10"/>
                                        </p:tgtEl>
                                        <p:attrNameLst>
                                          <p:attrName>ppt_y</p:attrName>
                                        </p:attrNameLst>
                                      </p:cBhvr>
                                      <p:tavLst>
                                        <p:tav tm="0">
                                          <p:val>
                                            <p:strVal val="#ppt_y+.05"/>
                                          </p:val>
                                        </p:tav>
                                        <p:tav tm="100000">
                                          <p:val>
                                            <p:strVal val="#ppt_y"/>
                                          </p:val>
                                        </p:tav>
                                      </p:tavLst>
                                    </p:anim>
                                  </p:childTnLst>
                                </p:cTn>
                              </p:par>
                              <p:par>
                                <p:cTn id="41" presetID="42" presetClass="entr" presetSubtype="0" fill="hold" grpId="0" nodeType="withEffect">
                                  <p:stCondLst>
                                    <p:cond delay="45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650"/>
                                        <p:tgtEl>
                                          <p:spTgt spid="11"/>
                                        </p:tgtEl>
                                      </p:cBhvr>
                                    </p:animEffect>
                                    <p:anim calcmode="lin" valueType="num">
                                      <p:cBhvr>
                                        <p:cTn id="44" dur="650" fill="hold"/>
                                        <p:tgtEl>
                                          <p:spTgt spid="11"/>
                                        </p:tgtEl>
                                        <p:attrNameLst>
                                          <p:attrName>ppt_x</p:attrName>
                                        </p:attrNameLst>
                                      </p:cBhvr>
                                      <p:tavLst>
                                        <p:tav tm="0">
                                          <p:val>
                                            <p:strVal val="#ppt_x"/>
                                          </p:val>
                                        </p:tav>
                                        <p:tav tm="100000">
                                          <p:val>
                                            <p:strVal val="#ppt_x"/>
                                          </p:val>
                                        </p:tav>
                                      </p:tavLst>
                                    </p:anim>
                                    <p:anim calcmode="lin" valueType="num">
                                      <p:cBhvr>
                                        <p:cTn id="45" dur="650" fill="hold"/>
                                        <p:tgtEl>
                                          <p:spTgt spid="11"/>
                                        </p:tgtEl>
                                        <p:attrNameLst>
                                          <p:attrName>ppt_y</p:attrName>
                                        </p:attrNameLst>
                                      </p:cBhvr>
                                      <p:tavLst>
                                        <p:tav tm="0">
                                          <p:val>
                                            <p:strVal val="#ppt_y+.05"/>
                                          </p:val>
                                        </p:tav>
                                        <p:tav tm="100000">
                                          <p:val>
                                            <p:strVal val="#ppt_y"/>
                                          </p:val>
                                        </p:tav>
                                      </p:tavLst>
                                    </p:anim>
                                  </p:childTnLst>
                                </p:cTn>
                              </p:par>
                              <p:par>
                                <p:cTn id="46" presetID="42" presetClass="entr" presetSubtype="0" fill="hold" grpId="0" nodeType="withEffect">
                                  <p:stCondLst>
                                    <p:cond delay="450"/>
                                  </p:stCondLst>
                                  <p:childTnLst>
                                    <p:set>
                                      <p:cBhvr>
                                        <p:cTn id="47" dur="1" fill="hold">
                                          <p:stCondLst>
                                            <p:cond delay="0"/>
                                          </p:stCondLst>
                                        </p:cTn>
                                        <p:tgtEl>
                                          <p:spTgt spid="12"/>
                                        </p:tgtEl>
                                        <p:attrNameLst>
                                          <p:attrName>style.visibility</p:attrName>
                                        </p:attrNameLst>
                                      </p:cBhvr>
                                      <p:to>
                                        <p:strVal val="visible"/>
                                      </p:to>
                                    </p:set>
                                    <p:animEffect transition="in" filter="fade">
                                      <p:cBhvr>
                                        <p:cTn id="48" dur="650"/>
                                        <p:tgtEl>
                                          <p:spTgt spid="12"/>
                                        </p:tgtEl>
                                      </p:cBhvr>
                                    </p:animEffect>
                                    <p:anim calcmode="lin" valueType="num">
                                      <p:cBhvr>
                                        <p:cTn id="49" dur="650" fill="hold"/>
                                        <p:tgtEl>
                                          <p:spTgt spid="12"/>
                                        </p:tgtEl>
                                        <p:attrNameLst>
                                          <p:attrName>ppt_x</p:attrName>
                                        </p:attrNameLst>
                                      </p:cBhvr>
                                      <p:tavLst>
                                        <p:tav tm="0">
                                          <p:val>
                                            <p:strVal val="#ppt_x"/>
                                          </p:val>
                                        </p:tav>
                                        <p:tav tm="100000">
                                          <p:val>
                                            <p:strVal val="#ppt_x"/>
                                          </p:val>
                                        </p:tav>
                                      </p:tavLst>
                                    </p:anim>
                                    <p:anim calcmode="lin" valueType="num">
                                      <p:cBhvr>
                                        <p:cTn id="50" dur="650" fill="hold"/>
                                        <p:tgtEl>
                                          <p:spTgt spid="12"/>
                                        </p:tgtEl>
                                        <p:attrNameLst>
                                          <p:attrName>ppt_y</p:attrName>
                                        </p:attrNameLst>
                                      </p:cBhvr>
                                      <p:tavLst>
                                        <p:tav tm="0">
                                          <p:val>
                                            <p:strVal val="#ppt_y+.05"/>
                                          </p:val>
                                        </p:tav>
                                        <p:tav tm="100000">
                                          <p:val>
                                            <p:strVal val="#ppt_y"/>
                                          </p:val>
                                        </p:tav>
                                      </p:tavLst>
                                    </p:anim>
                                  </p:childTnLst>
                                </p:cTn>
                              </p:par>
                              <p:par>
                                <p:cTn id="51" presetID="42" presetClass="entr" presetSubtype="0" fill="hold" grpId="0" nodeType="withEffect">
                                  <p:stCondLst>
                                    <p:cond delay="450"/>
                                  </p:stCondLst>
                                  <p:childTnLst>
                                    <p:set>
                                      <p:cBhvr>
                                        <p:cTn id="52" dur="1" fill="hold">
                                          <p:stCondLst>
                                            <p:cond delay="0"/>
                                          </p:stCondLst>
                                        </p:cTn>
                                        <p:tgtEl>
                                          <p:spTgt spid="13"/>
                                        </p:tgtEl>
                                        <p:attrNameLst>
                                          <p:attrName>style.visibility</p:attrName>
                                        </p:attrNameLst>
                                      </p:cBhvr>
                                      <p:to>
                                        <p:strVal val="visible"/>
                                      </p:to>
                                    </p:set>
                                    <p:animEffect transition="in" filter="fade">
                                      <p:cBhvr>
                                        <p:cTn id="53" dur="650"/>
                                        <p:tgtEl>
                                          <p:spTgt spid="13"/>
                                        </p:tgtEl>
                                      </p:cBhvr>
                                    </p:animEffect>
                                    <p:anim calcmode="lin" valueType="num">
                                      <p:cBhvr>
                                        <p:cTn id="54" dur="650" fill="hold"/>
                                        <p:tgtEl>
                                          <p:spTgt spid="13"/>
                                        </p:tgtEl>
                                        <p:attrNameLst>
                                          <p:attrName>ppt_x</p:attrName>
                                        </p:attrNameLst>
                                      </p:cBhvr>
                                      <p:tavLst>
                                        <p:tav tm="0">
                                          <p:val>
                                            <p:strVal val="#ppt_x"/>
                                          </p:val>
                                        </p:tav>
                                        <p:tav tm="100000">
                                          <p:val>
                                            <p:strVal val="#ppt_x"/>
                                          </p:val>
                                        </p:tav>
                                      </p:tavLst>
                                    </p:anim>
                                    <p:anim calcmode="lin" valueType="num">
                                      <p:cBhvr>
                                        <p:cTn id="55" dur="650" fill="hold"/>
                                        <p:tgtEl>
                                          <p:spTgt spid="13"/>
                                        </p:tgtEl>
                                        <p:attrNameLst>
                                          <p:attrName>ppt_y</p:attrName>
                                        </p:attrNameLst>
                                      </p:cBhvr>
                                      <p:tavLst>
                                        <p:tav tm="0">
                                          <p:val>
                                            <p:strVal val="#ppt_y+.05"/>
                                          </p:val>
                                        </p:tav>
                                        <p:tav tm="100000">
                                          <p:val>
                                            <p:strVal val="#ppt_y"/>
                                          </p:val>
                                        </p:tav>
                                      </p:tavLst>
                                    </p:anim>
                                  </p:childTnLst>
                                </p:cTn>
                              </p:par>
                              <p:par>
                                <p:cTn id="56" presetID="42" presetClass="entr" presetSubtype="0" fill="hold" grpId="0" nodeType="withEffect">
                                  <p:stCondLst>
                                    <p:cond delay="550"/>
                                  </p:stCondLst>
                                  <p:childTnLst>
                                    <p:set>
                                      <p:cBhvr>
                                        <p:cTn id="57" dur="1" fill="hold">
                                          <p:stCondLst>
                                            <p:cond delay="0"/>
                                          </p:stCondLst>
                                        </p:cTn>
                                        <p:tgtEl>
                                          <p:spTgt spid="14"/>
                                        </p:tgtEl>
                                        <p:attrNameLst>
                                          <p:attrName>style.visibility</p:attrName>
                                        </p:attrNameLst>
                                      </p:cBhvr>
                                      <p:to>
                                        <p:strVal val="visible"/>
                                      </p:to>
                                    </p:set>
                                    <p:animEffect transition="in" filter="fade">
                                      <p:cBhvr>
                                        <p:cTn id="58" dur="650"/>
                                        <p:tgtEl>
                                          <p:spTgt spid="14"/>
                                        </p:tgtEl>
                                      </p:cBhvr>
                                    </p:animEffect>
                                    <p:anim calcmode="lin" valueType="num">
                                      <p:cBhvr>
                                        <p:cTn id="59" dur="650" fill="hold"/>
                                        <p:tgtEl>
                                          <p:spTgt spid="14"/>
                                        </p:tgtEl>
                                        <p:attrNameLst>
                                          <p:attrName>ppt_x</p:attrName>
                                        </p:attrNameLst>
                                      </p:cBhvr>
                                      <p:tavLst>
                                        <p:tav tm="0">
                                          <p:val>
                                            <p:strVal val="#ppt_x"/>
                                          </p:val>
                                        </p:tav>
                                        <p:tav tm="100000">
                                          <p:val>
                                            <p:strVal val="#ppt_x"/>
                                          </p:val>
                                        </p:tav>
                                      </p:tavLst>
                                    </p:anim>
                                    <p:anim calcmode="lin" valueType="num">
                                      <p:cBhvr>
                                        <p:cTn id="60" dur="650" fill="hold"/>
                                        <p:tgtEl>
                                          <p:spTgt spid="14"/>
                                        </p:tgtEl>
                                        <p:attrNameLst>
                                          <p:attrName>ppt_y</p:attrName>
                                        </p:attrNameLst>
                                      </p:cBhvr>
                                      <p:tavLst>
                                        <p:tav tm="0">
                                          <p:val>
                                            <p:strVal val="#ppt_y+.05"/>
                                          </p:val>
                                        </p:tav>
                                        <p:tav tm="100000">
                                          <p:val>
                                            <p:strVal val="#ppt_y"/>
                                          </p:val>
                                        </p:tav>
                                      </p:tavLst>
                                    </p:anim>
                                  </p:childTnLst>
                                </p:cTn>
                              </p:par>
                              <p:par>
                                <p:cTn id="61" presetID="42" presetClass="entr" presetSubtype="0" fill="hold" grpId="0" nodeType="withEffect">
                                  <p:stCondLst>
                                    <p:cond delay="550"/>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650"/>
                                        <p:tgtEl>
                                          <p:spTgt spid="15"/>
                                        </p:tgtEl>
                                      </p:cBhvr>
                                    </p:animEffect>
                                    <p:anim calcmode="lin" valueType="num">
                                      <p:cBhvr>
                                        <p:cTn id="64" dur="650" fill="hold"/>
                                        <p:tgtEl>
                                          <p:spTgt spid="15"/>
                                        </p:tgtEl>
                                        <p:attrNameLst>
                                          <p:attrName>ppt_x</p:attrName>
                                        </p:attrNameLst>
                                      </p:cBhvr>
                                      <p:tavLst>
                                        <p:tav tm="0">
                                          <p:val>
                                            <p:strVal val="#ppt_x"/>
                                          </p:val>
                                        </p:tav>
                                        <p:tav tm="100000">
                                          <p:val>
                                            <p:strVal val="#ppt_x"/>
                                          </p:val>
                                        </p:tav>
                                      </p:tavLst>
                                    </p:anim>
                                    <p:anim calcmode="lin" valueType="num">
                                      <p:cBhvr>
                                        <p:cTn id="65" dur="650" fill="hold"/>
                                        <p:tgtEl>
                                          <p:spTgt spid="15"/>
                                        </p:tgtEl>
                                        <p:attrNameLst>
                                          <p:attrName>ppt_y</p:attrName>
                                        </p:attrNameLst>
                                      </p:cBhvr>
                                      <p:tavLst>
                                        <p:tav tm="0">
                                          <p:val>
                                            <p:strVal val="#ppt_y+.05"/>
                                          </p:val>
                                        </p:tav>
                                        <p:tav tm="100000">
                                          <p:val>
                                            <p:strVal val="#ppt_y"/>
                                          </p:val>
                                        </p:tav>
                                      </p:tavLst>
                                    </p:anim>
                                  </p:childTnLst>
                                </p:cTn>
                              </p:par>
                              <p:par>
                                <p:cTn id="66" presetID="42" presetClass="entr" presetSubtype="0" fill="hold" grpId="0" nodeType="withEffect">
                                  <p:stCondLst>
                                    <p:cond delay="550"/>
                                  </p:stCondLst>
                                  <p:childTnLst>
                                    <p:set>
                                      <p:cBhvr>
                                        <p:cTn id="67" dur="1" fill="hold">
                                          <p:stCondLst>
                                            <p:cond delay="0"/>
                                          </p:stCondLst>
                                        </p:cTn>
                                        <p:tgtEl>
                                          <p:spTgt spid="16"/>
                                        </p:tgtEl>
                                        <p:attrNameLst>
                                          <p:attrName>style.visibility</p:attrName>
                                        </p:attrNameLst>
                                      </p:cBhvr>
                                      <p:to>
                                        <p:strVal val="visible"/>
                                      </p:to>
                                    </p:set>
                                    <p:animEffect transition="in" filter="fade">
                                      <p:cBhvr>
                                        <p:cTn id="68" dur="650"/>
                                        <p:tgtEl>
                                          <p:spTgt spid="16"/>
                                        </p:tgtEl>
                                      </p:cBhvr>
                                    </p:animEffect>
                                    <p:anim calcmode="lin" valueType="num">
                                      <p:cBhvr>
                                        <p:cTn id="69" dur="650" fill="hold"/>
                                        <p:tgtEl>
                                          <p:spTgt spid="16"/>
                                        </p:tgtEl>
                                        <p:attrNameLst>
                                          <p:attrName>ppt_x</p:attrName>
                                        </p:attrNameLst>
                                      </p:cBhvr>
                                      <p:tavLst>
                                        <p:tav tm="0">
                                          <p:val>
                                            <p:strVal val="#ppt_x"/>
                                          </p:val>
                                        </p:tav>
                                        <p:tav tm="100000">
                                          <p:val>
                                            <p:strVal val="#ppt_x"/>
                                          </p:val>
                                        </p:tav>
                                      </p:tavLst>
                                    </p:anim>
                                    <p:anim calcmode="lin" valueType="num">
                                      <p:cBhvr>
                                        <p:cTn id="70" dur="650" fill="hold"/>
                                        <p:tgtEl>
                                          <p:spTgt spid="16"/>
                                        </p:tgtEl>
                                        <p:attrNameLst>
                                          <p:attrName>ppt_y</p:attrName>
                                        </p:attrNameLst>
                                      </p:cBhvr>
                                      <p:tavLst>
                                        <p:tav tm="0">
                                          <p:val>
                                            <p:strVal val="#ppt_y+.05"/>
                                          </p:val>
                                        </p:tav>
                                        <p:tav tm="100000">
                                          <p:val>
                                            <p:strVal val="#ppt_y"/>
                                          </p:val>
                                        </p:tav>
                                      </p:tavLst>
                                    </p:anim>
                                  </p:childTnLst>
                                </p:cTn>
                              </p:par>
                              <p:par>
                                <p:cTn id="71" presetID="42" presetClass="entr" presetSubtype="0" fill="hold" grpId="0" nodeType="withEffect">
                                  <p:stCondLst>
                                    <p:cond delay="550"/>
                                  </p:stCondLst>
                                  <p:childTnLst>
                                    <p:set>
                                      <p:cBhvr>
                                        <p:cTn id="72" dur="1" fill="hold">
                                          <p:stCondLst>
                                            <p:cond delay="0"/>
                                          </p:stCondLst>
                                        </p:cTn>
                                        <p:tgtEl>
                                          <p:spTgt spid="17"/>
                                        </p:tgtEl>
                                        <p:attrNameLst>
                                          <p:attrName>style.visibility</p:attrName>
                                        </p:attrNameLst>
                                      </p:cBhvr>
                                      <p:to>
                                        <p:strVal val="visible"/>
                                      </p:to>
                                    </p:set>
                                    <p:animEffect transition="in" filter="fade">
                                      <p:cBhvr>
                                        <p:cTn id="73" dur="650"/>
                                        <p:tgtEl>
                                          <p:spTgt spid="17"/>
                                        </p:tgtEl>
                                      </p:cBhvr>
                                    </p:animEffect>
                                    <p:anim calcmode="lin" valueType="num">
                                      <p:cBhvr>
                                        <p:cTn id="74" dur="650" fill="hold"/>
                                        <p:tgtEl>
                                          <p:spTgt spid="17"/>
                                        </p:tgtEl>
                                        <p:attrNameLst>
                                          <p:attrName>ppt_x</p:attrName>
                                        </p:attrNameLst>
                                      </p:cBhvr>
                                      <p:tavLst>
                                        <p:tav tm="0">
                                          <p:val>
                                            <p:strVal val="#ppt_x"/>
                                          </p:val>
                                        </p:tav>
                                        <p:tav tm="100000">
                                          <p:val>
                                            <p:strVal val="#ppt_x"/>
                                          </p:val>
                                        </p:tav>
                                      </p:tavLst>
                                    </p:anim>
                                    <p:anim calcmode="lin" valueType="num">
                                      <p:cBhvr>
                                        <p:cTn id="75" dur="650" fill="hold"/>
                                        <p:tgtEl>
                                          <p:spTgt spid="17"/>
                                        </p:tgtEl>
                                        <p:attrNameLst>
                                          <p:attrName>ppt_y</p:attrName>
                                        </p:attrNameLst>
                                      </p:cBhvr>
                                      <p:tavLst>
                                        <p:tav tm="0">
                                          <p:val>
                                            <p:strVal val="#ppt_y+.05"/>
                                          </p:val>
                                        </p:tav>
                                        <p:tav tm="100000">
                                          <p:val>
                                            <p:strVal val="#ppt_y"/>
                                          </p:val>
                                        </p:tav>
                                      </p:tavLst>
                                    </p:anim>
                                  </p:childTnLst>
                                </p:cTn>
                              </p:par>
                              <p:par>
                                <p:cTn id="76" presetID="42" presetClass="entr" presetSubtype="0" fill="hold" grpId="0" nodeType="withEffect">
                                  <p:stCondLst>
                                    <p:cond delay="650"/>
                                  </p:stCondLst>
                                  <p:childTnLst>
                                    <p:set>
                                      <p:cBhvr>
                                        <p:cTn id="77" dur="1" fill="hold">
                                          <p:stCondLst>
                                            <p:cond delay="0"/>
                                          </p:stCondLst>
                                        </p:cTn>
                                        <p:tgtEl>
                                          <p:spTgt spid="18"/>
                                        </p:tgtEl>
                                        <p:attrNameLst>
                                          <p:attrName>style.visibility</p:attrName>
                                        </p:attrNameLst>
                                      </p:cBhvr>
                                      <p:to>
                                        <p:strVal val="visible"/>
                                      </p:to>
                                    </p:set>
                                    <p:animEffect transition="in" filter="fade">
                                      <p:cBhvr>
                                        <p:cTn id="78" dur="650"/>
                                        <p:tgtEl>
                                          <p:spTgt spid="18"/>
                                        </p:tgtEl>
                                      </p:cBhvr>
                                    </p:animEffect>
                                    <p:anim calcmode="lin" valueType="num">
                                      <p:cBhvr>
                                        <p:cTn id="79" dur="650" fill="hold"/>
                                        <p:tgtEl>
                                          <p:spTgt spid="18"/>
                                        </p:tgtEl>
                                        <p:attrNameLst>
                                          <p:attrName>ppt_x</p:attrName>
                                        </p:attrNameLst>
                                      </p:cBhvr>
                                      <p:tavLst>
                                        <p:tav tm="0">
                                          <p:val>
                                            <p:strVal val="#ppt_x"/>
                                          </p:val>
                                        </p:tav>
                                        <p:tav tm="100000">
                                          <p:val>
                                            <p:strVal val="#ppt_x"/>
                                          </p:val>
                                        </p:tav>
                                      </p:tavLst>
                                    </p:anim>
                                    <p:anim calcmode="lin" valueType="num">
                                      <p:cBhvr>
                                        <p:cTn id="80" dur="650" fill="hold"/>
                                        <p:tgtEl>
                                          <p:spTgt spid="18"/>
                                        </p:tgtEl>
                                        <p:attrNameLst>
                                          <p:attrName>ppt_y</p:attrName>
                                        </p:attrNameLst>
                                      </p:cBhvr>
                                      <p:tavLst>
                                        <p:tav tm="0">
                                          <p:val>
                                            <p:strVal val="#ppt_y+.05"/>
                                          </p:val>
                                        </p:tav>
                                        <p:tav tm="100000">
                                          <p:val>
                                            <p:strVal val="#ppt_y"/>
                                          </p:val>
                                        </p:tav>
                                      </p:tavLst>
                                    </p:anim>
                                  </p:childTnLst>
                                </p:cTn>
                              </p:par>
                              <p:par>
                                <p:cTn id="81" presetID="42" presetClass="entr" presetSubtype="0" fill="hold" grpId="0" nodeType="withEffect">
                                  <p:stCondLst>
                                    <p:cond delay="650"/>
                                  </p:stCondLst>
                                  <p:childTnLst>
                                    <p:set>
                                      <p:cBhvr>
                                        <p:cTn id="82" dur="1" fill="hold">
                                          <p:stCondLst>
                                            <p:cond delay="0"/>
                                          </p:stCondLst>
                                        </p:cTn>
                                        <p:tgtEl>
                                          <p:spTgt spid="19"/>
                                        </p:tgtEl>
                                        <p:attrNameLst>
                                          <p:attrName>style.visibility</p:attrName>
                                        </p:attrNameLst>
                                      </p:cBhvr>
                                      <p:to>
                                        <p:strVal val="visible"/>
                                      </p:to>
                                    </p:set>
                                    <p:animEffect transition="in" filter="fade">
                                      <p:cBhvr>
                                        <p:cTn id="83" dur="650"/>
                                        <p:tgtEl>
                                          <p:spTgt spid="19"/>
                                        </p:tgtEl>
                                      </p:cBhvr>
                                    </p:animEffect>
                                    <p:anim calcmode="lin" valueType="num">
                                      <p:cBhvr>
                                        <p:cTn id="84" dur="650" fill="hold"/>
                                        <p:tgtEl>
                                          <p:spTgt spid="19"/>
                                        </p:tgtEl>
                                        <p:attrNameLst>
                                          <p:attrName>ppt_x</p:attrName>
                                        </p:attrNameLst>
                                      </p:cBhvr>
                                      <p:tavLst>
                                        <p:tav tm="0">
                                          <p:val>
                                            <p:strVal val="#ppt_x"/>
                                          </p:val>
                                        </p:tav>
                                        <p:tav tm="100000">
                                          <p:val>
                                            <p:strVal val="#ppt_x"/>
                                          </p:val>
                                        </p:tav>
                                      </p:tavLst>
                                    </p:anim>
                                    <p:anim calcmode="lin" valueType="num">
                                      <p:cBhvr>
                                        <p:cTn id="85" dur="650" fill="hold"/>
                                        <p:tgtEl>
                                          <p:spTgt spid="19"/>
                                        </p:tgtEl>
                                        <p:attrNameLst>
                                          <p:attrName>ppt_y</p:attrName>
                                        </p:attrNameLst>
                                      </p:cBhvr>
                                      <p:tavLst>
                                        <p:tav tm="0">
                                          <p:val>
                                            <p:strVal val="#ppt_y+.05"/>
                                          </p:val>
                                        </p:tav>
                                        <p:tav tm="100000">
                                          <p:val>
                                            <p:strVal val="#ppt_y"/>
                                          </p:val>
                                        </p:tav>
                                      </p:tavLst>
                                    </p:anim>
                                  </p:childTnLst>
                                </p:cTn>
                              </p:par>
                              <p:par>
                                <p:cTn id="86" presetID="42" presetClass="entr" presetSubtype="0" fill="hold" grpId="0" nodeType="withEffect">
                                  <p:stCondLst>
                                    <p:cond delay="650"/>
                                  </p:stCondLst>
                                  <p:childTnLst>
                                    <p:set>
                                      <p:cBhvr>
                                        <p:cTn id="87" dur="1" fill="hold">
                                          <p:stCondLst>
                                            <p:cond delay="0"/>
                                          </p:stCondLst>
                                        </p:cTn>
                                        <p:tgtEl>
                                          <p:spTgt spid="20"/>
                                        </p:tgtEl>
                                        <p:attrNameLst>
                                          <p:attrName>style.visibility</p:attrName>
                                        </p:attrNameLst>
                                      </p:cBhvr>
                                      <p:to>
                                        <p:strVal val="visible"/>
                                      </p:to>
                                    </p:set>
                                    <p:animEffect transition="in" filter="fade">
                                      <p:cBhvr>
                                        <p:cTn id="88" dur="650"/>
                                        <p:tgtEl>
                                          <p:spTgt spid="20"/>
                                        </p:tgtEl>
                                      </p:cBhvr>
                                    </p:animEffect>
                                    <p:anim calcmode="lin" valueType="num">
                                      <p:cBhvr>
                                        <p:cTn id="89" dur="650" fill="hold"/>
                                        <p:tgtEl>
                                          <p:spTgt spid="20"/>
                                        </p:tgtEl>
                                        <p:attrNameLst>
                                          <p:attrName>ppt_x</p:attrName>
                                        </p:attrNameLst>
                                      </p:cBhvr>
                                      <p:tavLst>
                                        <p:tav tm="0">
                                          <p:val>
                                            <p:strVal val="#ppt_x"/>
                                          </p:val>
                                        </p:tav>
                                        <p:tav tm="100000">
                                          <p:val>
                                            <p:strVal val="#ppt_x"/>
                                          </p:val>
                                        </p:tav>
                                      </p:tavLst>
                                    </p:anim>
                                    <p:anim calcmode="lin" valueType="num">
                                      <p:cBhvr>
                                        <p:cTn id="90" dur="650" fill="hold"/>
                                        <p:tgtEl>
                                          <p:spTgt spid="20"/>
                                        </p:tgtEl>
                                        <p:attrNameLst>
                                          <p:attrName>ppt_y</p:attrName>
                                        </p:attrNameLst>
                                      </p:cBhvr>
                                      <p:tavLst>
                                        <p:tav tm="0">
                                          <p:val>
                                            <p:strVal val="#ppt_y+.05"/>
                                          </p:val>
                                        </p:tav>
                                        <p:tav tm="100000">
                                          <p:val>
                                            <p:strVal val="#ppt_y"/>
                                          </p:val>
                                        </p:tav>
                                      </p:tavLst>
                                    </p:anim>
                                  </p:childTnLst>
                                </p:cTn>
                              </p:par>
                              <p:par>
                                <p:cTn id="91" presetID="42" presetClass="entr" presetSubtype="0" fill="hold" grpId="0" nodeType="withEffect">
                                  <p:stCondLst>
                                    <p:cond delay="650"/>
                                  </p:stCondLst>
                                  <p:childTnLst>
                                    <p:set>
                                      <p:cBhvr>
                                        <p:cTn id="92" dur="1" fill="hold">
                                          <p:stCondLst>
                                            <p:cond delay="0"/>
                                          </p:stCondLst>
                                        </p:cTn>
                                        <p:tgtEl>
                                          <p:spTgt spid="21"/>
                                        </p:tgtEl>
                                        <p:attrNameLst>
                                          <p:attrName>style.visibility</p:attrName>
                                        </p:attrNameLst>
                                      </p:cBhvr>
                                      <p:to>
                                        <p:strVal val="visible"/>
                                      </p:to>
                                    </p:set>
                                    <p:animEffect transition="in" filter="fade">
                                      <p:cBhvr>
                                        <p:cTn id="93" dur="650"/>
                                        <p:tgtEl>
                                          <p:spTgt spid="21"/>
                                        </p:tgtEl>
                                      </p:cBhvr>
                                    </p:animEffect>
                                    <p:anim calcmode="lin" valueType="num">
                                      <p:cBhvr>
                                        <p:cTn id="94" dur="650" fill="hold"/>
                                        <p:tgtEl>
                                          <p:spTgt spid="21"/>
                                        </p:tgtEl>
                                        <p:attrNameLst>
                                          <p:attrName>ppt_x</p:attrName>
                                        </p:attrNameLst>
                                      </p:cBhvr>
                                      <p:tavLst>
                                        <p:tav tm="0">
                                          <p:val>
                                            <p:strVal val="#ppt_x"/>
                                          </p:val>
                                        </p:tav>
                                        <p:tav tm="100000">
                                          <p:val>
                                            <p:strVal val="#ppt_x"/>
                                          </p:val>
                                        </p:tav>
                                      </p:tavLst>
                                    </p:anim>
                                    <p:anim calcmode="lin" valueType="num">
                                      <p:cBhvr>
                                        <p:cTn id="95" dur="650" fill="hold"/>
                                        <p:tgtEl>
                                          <p:spTgt spid="21"/>
                                        </p:tgtEl>
                                        <p:attrNameLst>
                                          <p:attrName>ppt_y</p:attrName>
                                        </p:attrNameLst>
                                      </p:cBhvr>
                                      <p:tavLst>
                                        <p:tav tm="0">
                                          <p:val>
                                            <p:strVal val="#ppt_y+.05"/>
                                          </p:val>
                                        </p:tav>
                                        <p:tav tm="100000">
                                          <p:val>
                                            <p:strVal val="#ppt_y"/>
                                          </p:val>
                                        </p:tav>
                                      </p:tavLst>
                                    </p:anim>
                                  </p:childTnLst>
                                </p:cTn>
                              </p:par>
                              <p:par>
                                <p:cTn id="96" presetID="42" presetClass="entr" presetSubtype="0" fill="hold" grpId="0" nodeType="withEffect">
                                  <p:stCondLst>
                                    <p:cond delay="750"/>
                                  </p:stCondLst>
                                  <p:childTnLst>
                                    <p:set>
                                      <p:cBhvr>
                                        <p:cTn id="97" dur="1" fill="hold">
                                          <p:stCondLst>
                                            <p:cond delay="0"/>
                                          </p:stCondLst>
                                        </p:cTn>
                                        <p:tgtEl>
                                          <p:spTgt spid="22"/>
                                        </p:tgtEl>
                                        <p:attrNameLst>
                                          <p:attrName>style.visibility</p:attrName>
                                        </p:attrNameLst>
                                      </p:cBhvr>
                                      <p:to>
                                        <p:strVal val="visible"/>
                                      </p:to>
                                    </p:set>
                                    <p:animEffect transition="in" filter="fade">
                                      <p:cBhvr>
                                        <p:cTn id="98" dur="650"/>
                                        <p:tgtEl>
                                          <p:spTgt spid="22"/>
                                        </p:tgtEl>
                                      </p:cBhvr>
                                    </p:animEffect>
                                    <p:anim calcmode="lin" valueType="num">
                                      <p:cBhvr>
                                        <p:cTn id="99" dur="650" fill="hold"/>
                                        <p:tgtEl>
                                          <p:spTgt spid="22"/>
                                        </p:tgtEl>
                                        <p:attrNameLst>
                                          <p:attrName>ppt_x</p:attrName>
                                        </p:attrNameLst>
                                      </p:cBhvr>
                                      <p:tavLst>
                                        <p:tav tm="0">
                                          <p:val>
                                            <p:strVal val="#ppt_x"/>
                                          </p:val>
                                        </p:tav>
                                        <p:tav tm="100000">
                                          <p:val>
                                            <p:strVal val="#ppt_x"/>
                                          </p:val>
                                        </p:tav>
                                      </p:tavLst>
                                    </p:anim>
                                    <p:anim calcmode="lin" valueType="num">
                                      <p:cBhvr>
                                        <p:cTn id="100" dur="650" fill="hold"/>
                                        <p:tgtEl>
                                          <p:spTgt spid="22"/>
                                        </p:tgtEl>
                                        <p:attrNameLst>
                                          <p:attrName>ppt_y</p:attrName>
                                        </p:attrNameLst>
                                      </p:cBhvr>
                                      <p:tavLst>
                                        <p:tav tm="0">
                                          <p:val>
                                            <p:strVal val="#ppt_y+.05"/>
                                          </p:val>
                                        </p:tav>
                                        <p:tav tm="100000">
                                          <p:val>
                                            <p:strVal val="#ppt_y"/>
                                          </p:val>
                                        </p:tav>
                                      </p:tavLst>
                                    </p:anim>
                                  </p:childTnLst>
                                </p:cTn>
                              </p:par>
                              <p:par>
                                <p:cTn id="101" presetID="42" presetClass="entr" presetSubtype="0" fill="hold" grpId="0" nodeType="withEffect">
                                  <p:stCondLst>
                                    <p:cond delay="750"/>
                                  </p:stCondLst>
                                  <p:childTnLst>
                                    <p:set>
                                      <p:cBhvr>
                                        <p:cTn id="102" dur="1" fill="hold">
                                          <p:stCondLst>
                                            <p:cond delay="0"/>
                                          </p:stCondLst>
                                        </p:cTn>
                                        <p:tgtEl>
                                          <p:spTgt spid="23"/>
                                        </p:tgtEl>
                                        <p:attrNameLst>
                                          <p:attrName>style.visibility</p:attrName>
                                        </p:attrNameLst>
                                      </p:cBhvr>
                                      <p:to>
                                        <p:strVal val="visible"/>
                                      </p:to>
                                    </p:set>
                                    <p:animEffect transition="in" filter="fade">
                                      <p:cBhvr>
                                        <p:cTn id="103" dur="650"/>
                                        <p:tgtEl>
                                          <p:spTgt spid="23"/>
                                        </p:tgtEl>
                                      </p:cBhvr>
                                    </p:animEffect>
                                    <p:anim calcmode="lin" valueType="num">
                                      <p:cBhvr>
                                        <p:cTn id="104" dur="650" fill="hold"/>
                                        <p:tgtEl>
                                          <p:spTgt spid="23"/>
                                        </p:tgtEl>
                                        <p:attrNameLst>
                                          <p:attrName>ppt_x</p:attrName>
                                        </p:attrNameLst>
                                      </p:cBhvr>
                                      <p:tavLst>
                                        <p:tav tm="0">
                                          <p:val>
                                            <p:strVal val="#ppt_x"/>
                                          </p:val>
                                        </p:tav>
                                        <p:tav tm="100000">
                                          <p:val>
                                            <p:strVal val="#ppt_x"/>
                                          </p:val>
                                        </p:tav>
                                      </p:tavLst>
                                    </p:anim>
                                    <p:anim calcmode="lin" valueType="num">
                                      <p:cBhvr>
                                        <p:cTn id="105" dur="650" fill="hold"/>
                                        <p:tgtEl>
                                          <p:spTgt spid="23"/>
                                        </p:tgtEl>
                                        <p:attrNameLst>
                                          <p:attrName>ppt_y</p:attrName>
                                        </p:attrNameLst>
                                      </p:cBhvr>
                                      <p:tavLst>
                                        <p:tav tm="0">
                                          <p:val>
                                            <p:strVal val="#ppt_y+.05"/>
                                          </p:val>
                                        </p:tav>
                                        <p:tav tm="100000">
                                          <p:val>
                                            <p:strVal val="#ppt_y"/>
                                          </p:val>
                                        </p:tav>
                                      </p:tavLst>
                                    </p:anim>
                                  </p:childTnLst>
                                </p:cTn>
                              </p:par>
                              <p:par>
                                <p:cTn id="106" presetID="42" presetClass="entr" presetSubtype="0" fill="hold" grpId="0" nodeType="withEffect">
                                  <p:stCondLst>
                                    <p:cond delay="750"/>
                                  </p:stCondLst>
                                  <p:childTnLst>
                                    <p:set>
                                      <p:cBhvr>
                                        <p:cTn id="107" dur="1" fill="hold">
                                          <p:stCondLst>
                                            <p:cond delay="0"/>
                                          </p:stCondLst>
                                        </p:cTn>
                                        <p:tgtEl>
                                          <p:spTgt spid="24"/>
                                        </p:tgtEl>
                                        <p:attrNameLst>
                                          <p:attrName>style.visibility</p:attrName>
                                        </p:attrNameLst>
                                      </p:cBhvr>
                                      <p:to>
                                        <p:strVal val="visible"/>
                                      </p:to>
                                    </p:set>
                                    <p:animEffect transition="in" filter="fade">
                                      <p:cBhvr>
                                        <p:cTn id="108" dur="650"/>
                                        <p:tgtEl>
                                          <p:spTgt spid="24"/>
                                        </p:tgtEl>
                                      </p:cBhvr>
                                    </p:animEffect>
                                    <p:anim calcmode="lin" valueType="num">
                                      <p:cBhvr>
                                        <p:cTn id="109" dur="650" fill="hold"/>
                                        <p:tgtEl>
                                          <p:spTgt spid="24"/>
                                        </p:tgtEl>
                                        <p:attrNameLst>
                                          <p:attrName>ppt_x</p:attrName>
                                        </p:attrNameLst>
                                      </p:cBhvr>
                                      <p:tavLst>
                                        <p:tav tm="0">
                                          <p:val>
                                            <p:strVal val="#ppt_x"/>
                                          </p:val>
                                        </p:tav>
                                        <p:tav tm="100000">
                                          <p:val>
                                            <p:strVal val="#ppt_x"/>
                                          </p:val>
                                        </p:tav>
                                      </p:tavLst>
                                    </p:anim>
                                    <p:anim calcmode="lin" valueType="num">
                                      <p:cBhvr>
                                        <p:cTn id="110" dur="650" fill="hold"/>
                                        <p:tgtEl>
                                          <p:spTgt spid="24"/>
                                        </p:tgtEl>
                                        <p:attrNameLst>
                                          <p:attrName>ppt_y</p:attrName>
                                        </p:attrNameLst>
                                      </p:cBhvr>
                                      <p:tavLst>
                                        <p:tav tm="0">
                                          <p:val>
                                            <p:strVal val="#ppt_y+.05"/>
                                          </p:val>
                                        </p:tav>
                                        <p:tav tm="100000">
                                          <p:val>
                                            <p:strVal val="#ppt_y"/>
                                          </p:val>
                                        </p:tav>
                                      </p:tavLst>
                                    </p:anim>
                                  </p:childTnLst>
                                </p:cTn>
                              </p:par>
                              <p:par>
                                <p:cTn id="111" presetID="42" presetClass="entr" presetSubtype="0" fill="hold" grpId="0" nodeType="withEffect">
                                  <p:stCondLst>
                                    <p:cond delay="750"/>
                                  </p:stCondLst>
                                  <p:childTnLst>
                                    <p:set>
                                      <p:cBhvr>
                                        <p:cTn id="112" dur="1" fill="hold">
                                          <p:stCondLst>
                                            <p:cond delay="0"/>
                                          </p:stCondLst>
                                        </p:cTn>
                                        <p:tgtEl>
                                          <p:spTgt spid="25"/>
                                        </p:tgtEl>
                                        <p:attrNameLst>
                                          <p:attrName>style.visibility</p:attrName>
                                        </p:attrNameLst>
                                      </p:cBhvr>
                                      <p:to>
                                        <p:strVal val="visible"/>
                                      </p:to>
                                    </p:set>
                                    <p:animEffect transition="in" filter="fade">
                                      <p:cBhvr>
                                        <p:cTn id="113" dur="650"/>
                                        <p:tgtEl>
                                          <p:spTgt spid="25"/>
                                        </p:tgtEl>
                                      </p:cBhvr>
                                    </p:animEffect>
                                    <p:anim calcmode="lin" valueType="num">
                                      <p:cBhvr>
                                        <p:cTn id="114" dur="650" fill="hold"/>
                                        <p:tgtEl>
                                          <p:spTgt spid="25"/>
                                        </p:tgtEl>
                                        <p:attrNameLst>
                                          <p:attrName>ppt_x</p:attrName>
                                        </p:attrNameLst>
                                      </p:cBhvr>
                                      <p:tavLst>
                                        <p:tav tm="0">
                                          <p:val>
                                            <p:strVal val="#ppt_x"/>
                                          </p:val>
                                        </p:tav>
                                        <p:tav tm="100000">
                                          <p:val>
                                            <p:strVal val="#ppt_x"/>
                                          </p:val>
                                        </p:tav>
                                      </p:tavLst>
                                    </p:anim>
                                    <p:anim calcmode="lin" valueType="num">
                                      <p:cBhvr>
                                        <p:cTn id="115" dur="650" fill="hold"/>
                                        <p:tgtEl>
                                          <p:spTgt spid="25"/>
                                        </p:tgtEl>
                                        <p:attrNameLst>
                                          <p:attrName>ppt_y</p:attrName>
                                        </p:attrNameLst>
                                      </p:cBhvr>
                                      <p:tavLst>
                                        <p:tav tm="0">
                                          <p:val>
                                            <p:strVal val="#ppt_y+.05"/>
                                          </p:val>
                                        </p:tav>
                                        <p:tav tm="100000">
                                          <p:val>
                                            <p:strVal val="#ppt_y"/>
                                          </p:val>
                                        </p:tav>
                                      </p:tavLst>
                                    </p:anim>
                                  </p:childTnLst>
                                </p:cTn>
                              </p:par>
                              <p:par>
                                <p:cTn id="116" presetID="42" presetClass="entr" presetSubtype="0" fill="hold" grpId="0" nodeType="withEffect">
                                  <p:stCondLst>
                                    <p:cond delay="850"/>
                                  </p:stCondLst>
                                  <p:childTnLst>
                                    <p:set>
                                      <p:cBhvr>
                                        <p:cTn id="117" dur="1" fill="hold">
                                          <p:stCondLst>
                                            <p:cond delay="0"/>
                                          </p:stCondLst>
                                        </p:cTn>
                                        <p:tgtEl>
                                          <p:spTgt spid="26"/>
                                        </p:tgtEl>
                                        <p:attrNameLst>
                                          <p:attrName>style.visibility</p:attrName>
                                        </p:attrNameLst>
                                      </p:cBhvr>
                                      <p:to>
                                        <p:strVal val="visible"/>
                                      </p:to>
                                    </p:set>
                                    <p:animEffect transition="in" filter="fade">
                                      <p:cBhvr>
                                        <p:cTn id="118" dur="650"/>
                                        <p:tgtEl>
                                          <p:spTgt spid="26"/>
                                        </p:tgtEl>
                                      </p:cBhvr>
                                    </p:animEffect>
                                    <p:anim calcmode="lin" valueType="num">
                                      <p:cBhvr>
                                        <p:cTn id="119" dur="650" fill="hold"/>
                                        <p:tgtEl>
                                          <p:spTgt spid="26"/>
                                        </p:tgtEl>
                                        <p:attrNameLst>
                                          <p:attrName>ppt_x</p:attrName>
                                        </p:attrNameLst>
                                      </p:cBhvr>
                                      <p:tavLst>
                                        <p:tav tm="0">
                                          <p:val>
                                            <p:strVal val="#ppt_x"/>
                                          </p:val>
                                        </p:tav>
                                        <p:tav tm="100000">
                                          <p:val>
                                            <p:strVal val="#ppt_x"/>
                                          </p:val>
                                        </p:tav>
                                      </p:tavLst>
                                    </p:anim>
                                    <p:anim calcmode="lin" valueType="num">
                                      <p:cBhvr>
                                        <p:cTn id="120" dur="650" fill="hold"/>
                                        <p:tgtEl>
                                          <p:spTgt spid="26"/>
                                        </p:tgtEl>
                                        <p:attrNameLst>
                                          <p:attrName>ppt_y</p:attrName>
                                        </p:attrNameLst>
                                      </p:cBhvr>
                                      <p:tavLst>
                                        <p:tav tm="0">
                                          <p:val>
                                            <p:strVal val="#ppt_y+.05"/>
                                          </p:val>
                                        </p:tav>
                                        <p:tav tm="100000">
                                          <p:val>
                                            <p:strVal val="#ppt_y"/>
                                          </p:val>
                                        </p:tav>
                                      </p:tavLst>
                                    </p:anim>
                                  </p:childTnLst>
                                </p:cTn>
                              </p:par>
                              <p:par>
                                <p:cTn id="121" presetID="42" presetClass="entr" presetSubtype="0" fill="hold" grpId="0" nodeType="withEffect">
                                  <p:stCondLst>
                                    <p:cond delay="850"/>
                                  </p:stCondLst>
                                  <p:childTnLst>
                                    <p:set>
                                      <p:cBhvr>
                                        <p:cTn id="122" dur="1" fill="hold">
                                          <p:stCondLst>
                                            <p:cond delay="0"/>
                                          </p:stCondLst>
                                        </p:cTn>
                                        <p:tgtEl>
                                          <p:spTgt spid="27"/>
                                        </p:tgtEl>
                                        <p:attrNameLst>
                                          <p:attrName>style.visibility</p:attrName>
                                        </p:attrNameLst>
                                      </p:cBhvr>
                                      <p:to>
                                        <p:strVal val="visible"/>
                                      </p:to>
                                    </p:set>
                                    <p:animEffect transition="in" filter="fade">
                                      <p:cBhvr>
                                        <p:cTn id="123" dur="650"/>
                                        <p:tgtEl>
                                          <p:spTgt spid="27"/>
                                        </p:tgtEl>
                                      </p:cBhvr>
                                    </p:animEffect>
                                    <p:anim calcmode="lin" valueType="num">
                                      <p:cBhvr>
                                        <p:cTn id="124" dur="650" fill="hold"/>
                                        <p:tgtEl>
                                          <p:spTgt spid="27"/>
                                        </p:tgtEl>
                                        <p:attrNameLst>
                                          <p:attrName>ppt_x</p:attrName>
                                        </p:attrNameLst>
                                      </p:cBhvr>
                                      <p:tavLst>
                                        <p:tav tm="0">
                                          <p:val>
                                            <p:strVal val="#ppt_x"/>
                                          </p:val>
                                        </p:tav>
                                        <p:tav tm="100000">
                                          <p:val>
                                            <p:strVal val="#ppt_x"/>
                                          </p:val>
                                        </p:tav>
                                      </p:tavLst>
                                    </p:anim>
                                    <p:anim calcmode="lin" valueType="num">
                                      <p:cBhvr>
                                        <p:cTn id="125" dur="650" fill="hold"/>
                                        <p:tgtEl>
                                          <p:spTgt spid="27"/>
                                        </p:tgtEl>
                                        <p:attrNameLst>
                                          <p:attrName>ppt_y</p:attrName>
                                        </p:attrNameLst>
                                      </p:cBhvr>
                                      <p:tavLst>
                                        <p:tav tm="0">
                                          <p:val>
                                            <p:strVal val="#ppt_y+.05"/>
                                          </p:val>
                                        </p:tav>
                                        <p:tav tm="100000">
                                          <p:val>
                                            <p:strVal val="#ppt_y"/>
                                          </p:val>
                                        </p:tav>
                                      </p:tavLst>
                                    </p:anim>
                                  </p:childTnLst>
                                </p:cTn>
                              </p:par>
                              <p:par>
                                <p:cTn id="126" presetID="42" presetClass="entr" presetSubtype="0" fill="hold" grpId="0" nodeType="withEffect">
                                  <p:stCondLst>
                                    <p:cond delay="850"/>
                                  </p:stCondLst>
                                  <p:childTnLst>
                                    <p:set>
                                      <p:cBhvr>
                                        <p:cTn id="127" dur="1" fill="hold">
                                          <p:stCondLst>
                                            <p:cond delay="0"/>
                                          </p:stCondLst>
                                        </p:cTn>
                                        <p:tgtEl>
                                          <p:spTgt spid="28"/>
                                        </p:tgtEl>
                                        <p:attrNameLst>
                                          <p:attrName>style.visibility</p:attrName>
                                        </p:attrNameLst>
                                      </p:cBhvr>
                                      <p:to>
                                        <p:strVal val="visible"/>
                                      </p:to>
                                    </p:set>
                                    <p:animEffect transition="in" filter="fade">
                                      <p:cBhvr>
                                        <p:cTn id="128" dur="650"/>
                                        <p:tgtEl>
                                          <p:spTgt spid="28"/>
                                        </p:tgtEl>
                                      </p:cBhvr>
                                    </p:animEffect>
                                    <p:anim calcmode="lin" valueType="num">
                                      <p:cBhvr>
                                        <p:cTn id="129" dur="650" fill="hold"/>
                                        <p:tgtEl>
                                          <p:spTgt spid="28"/>
                                        </p:tgtEl>
                                        <p:attrNameLst>
                                          <p:attrName>ppt_x</p:attrName>
                                        </p:attrNameLst>
                                      </p:cBhvr>
                                      <p:tavLst>
                                        <p:tav tm="0">
                                          <p:val>
                                            <p:strVal val="#ppt_x"/>
                                          </p:val>
                                        </p:tav>
                                        <p:tav tm="100000">
                                          <p:val>
                                            <p:strVal val="#ppt_x"/>
                                          </p:val>
                                        </p:tav>
                                      </p:tavLst>
                                    </p:anim>
                                    <p:anim calcmode="lin" valueType="num">
                                      <p:cBhvr>
                                        <p:cTn id="130" dur="650" fill="hold"/>
                                        <p:tgtEl>
                                          <p:spTgt spid="28"/>
                                        </p:tgtEl>
                                        <p:attrNameLst>
                                          <p:attrName>ppt_y</p:attrName>
                                        </p:attrNameLst>
                                      </p:cBhvr>
                                      <p:tavLst>
                                        <p:tav tm="0">
                                          <p:val>
                                            <p:strVal val="#ppt_y+.05"/>
                                          </p:val>
                                        </p:tav>
                                        <p:tav tm="100000">
                                          <p:val>
                                            <p:strVal val="#ppt_y"/>
                                          </p:val>
                                        </p:tav>
                                      </p:tavLst>
                                    </p:anim>
                                  </p:childTnLst>
                                </p:cTn>
                              </p:par>
                              <p:par>
                                <p:cTn id="131" presetID="42" presetClass="entr" presetSubtype="0" fill="hold" grpId="0" nodeType="withEffect">
                                  <p:stCondLst>
                                    <p:cond delay="850"/>
                                  </p:stCondLst>
                                  <p:childTnLst>
                                    <p:set>
                                      <p:cBhvr>
                                        <p:cTn id="132" dur="1" fill="hold">
                                          <p:stCondLst>
                                            <p:cond delay="0"/>
                                          </p:stCondLst>
                                        </p:cTn>
                                        <p:tgtEl>
                                          <p:spTgt spid="29"/>
                                        </p:tgtEl>
                                        <p:attrNameLst>
                                          <p:attrName>style.visibility</p:attrName>
                                        </p:attrNameLst>
                                      </p:cBhvr>
                                      <p:to>
                                        <p:strVal val="visible"/>
                                      </p:to>
                                    </p:set>
                                    <p:animEffect transition="in" filter="fade">
                                      <p:cBhvr>
                                        <p:cTn id="133" dur="650"/>
                                        <p:tgtEl>
                                          <p:spTgt spid="29"/>
                                        </p:tgtEl>
                                      </p:cBhvr>
                                    </p:animEffect>
                                    <p:anim calcmode="lin" valueType="num">
                                      <p:cBhvr>
                                        <p:cTn id="134" dur="650" fill="hold"/>
                                        <p:tgtEl>
                                          <p:spTgt spid="29"/>
                                        </p:tgtEl>
                                        <p:attrNameLst>
                                          <p:attrName>ppt_x</p:attrName>
                                        </p:attrNameLst>
                                      </p:cBhvr>
                                      <p:tavLst>
                                        <p:tav tm="0">
                                          <p:val>
                                            <p:strVal val="#ppt_x"/>
                                          </p:val>
                                        </p:tav>
                                        <p:tav tm="100000">
                                          <p:val>
                                            <p:strVal val="#ppt_x"/>
                                          </p:val>
                                        </p:tav>
                                      </p:tavLst>
                                    </p:anim>
                                    <p:anim calcmode="lin" valueType="num">
                                      <p:cBhvr>
                                        <p:cTn id="135" dur="650" fill="hold"/>
                                        <p:tgtEl>
                                          <p:spTgt spid="29"/>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P spid="8" grpId="0" animBg="1"/>
      <p:bldP spid="9" grpId="0" animBg="1"/>
      <p:bldP spid="10" grpId="0" animBg="1"/>
      <p:bldP spid="12" grpId="0" animBg="1"/>
      <p:bldP spid="13" grpId="0" animBg="1"/>
      <p:bldP spid="14" grpId="0" animBg="1"/>
      <p:bldP spid="16" grpId="0" animBg="1"/>
      <p:bldP spid="17" grpId="0" animBg="1"/>
      <p:bldP spid="18" grpId="0" animBg="1"/>
      <p:bldP spid="20" grpId="0" animBg="1"/>
      <p:bldP spid="21" grpId="0" animBg="1"/>
      <p:bldP spid="22" grpId="0" animBg="1"/>
      <p:bldP spid="24" grpId="0" animBg="1"/>
      <p:bldP spid="25" grpId="0" animBg="1"/>
      <p:bldP spid="26" grpId="0" animBg="1"/>
      <p:bldP spid="28" grpId="0" animBg="1"/>
      <p:bldP spid="2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eyebrow-pill"/>
          <p:cNvSpPr/>
          <p:nvPr/>
        </p:nvSpPr>
        <p:spPr>
          <a:xfrm>
            <a:off x="548640" y="475488"/>
            <a:ext cx="954634" cy="274320"/>
          </a:xfrm>
          <a:prstGeom prst="roundRect">
            <a:avLst>
              <a:gd name="adj" fmla="val 50000"/>
            </a:avLst>
          </a:prstGeom>
          <a:solidFill>
            <a:srgbClr val="E5E5EA"/>
          </a:solidFill>
          <a:ln/>
        </p:spPr>
      </p:sp>
      <p:sp>
        <p:nvSpPr>
          <p:cNvPr id="3" name="eyebrow"/>
          <p:cNvSpPr txBox="1"/>
          <p:nvPr/>
        </p:nvSpPr>
        <p:spPr>
          <a:xfrm>
            <a:off x="548640" y="475488"/>
            <a:ext cx="954634" cy="274320"/>
          </a:xfrm>
          <a:prstGeom prst="rect">
            <a:avLst/>
          </a:prstGeom>
          <a:noFill/>
          <a:ln/>
        </p:spPr>
        <p:txBody>
          <a:bodyPr wrap="square" lIns="0" tIns="0" rIns="0" bIns="0" rtlCol="0" anchor="ctr"/>
          <a:lstStyle/>
          <a:p>
            <a:pPr algn="ctr" indent="0" marL="0">
              <a:buNone/>
            </a:pPr>
            <a:r>
              <a:rPr lang="en-US" sz="900" b="1" spc="160" kern="0" dirty="0">
                <a:solidFill>
                  <a:srgbClr val="5C5C61"/>
                </a:solidFill>
                <a:latin typeface="Arial" pitchFamily="34" charset="0"/>
                <a:ea typeface="Arial" pitchFamily="34" charset="-122"/>
                <a:cs typeface="Arial" pitchFamily="34" charset="-120"/>
              </a:rPr>
              <a:t>COACHING</a:t>
            </a:r>
            <a:endParaRPr lang="en-US" sz="900" dirty="0"/>
          </a:p>
        </p:txBody>
      </p:sp>
      <p:sp>
        <p:nvSpPr>
          <p:cNvPr id="4" name="Text 1"/>
          <p:cNvSpPr/>
          <p:nvPr>
            <p:ph idx="101" type="title" hasCustomPrompt="1"/>
          </p:nvPr>
        </p:nvSpPr>
        <p:spPr>
          <a:xfrm>
            <a:off x="548640" y="896112"/>
            <a:ext cx="6583680" cy="1207008"/>
          </a:xfrm>
          <a:prstGeom prst="rect">
            <a:avLst/>
          </a:prstGeom>
          <a:noFill/>
          <a:ln/>
        </p:spPr>
        <p:txBody>
          <a:bodyPr wrap="square" lIns="0" tIns="0" rIns="0" bIns="0" rtlCol="0" anchor="t"/>
          <a:lstStyle/>
          <a:p>
            <a:pPr algn="l" indent="0" marL="0">
              <a:buNone/>
            </a:pPr>
            <a:r>
              <a:rPr lang="en-US" sz="3400" b="1" dirty="0">
                <a:solidFill>
                  <a:srgbClr val="1D1D1F"/>
                </a:solidFill>
                <a:latin typeface="Arial" pitchFamily="34" charset="0"/>
                <a:ea typeface="Arial" pitchFamily="34" charset="-122"/>
                <a:cs typeface="Arial" pitchFamily="34" charset="-120"/>
              </a:rPr>
              <a:t>One-to-ones</a:t>
            </a:r>
            <a:endParaRPr lang="en-US" sz="3400" dirty="0"/>
          </a:p>
          <a:p>
            <a:pPr algn="l" indent="0" marL="0">
              <a:buNone/>
            </a:pPr>
            <a:r>
              <a:rPr lang="en-US" sz="3400" dirty="0">
                <a:solidFill>
                  <a:srgbClr val="8E8E93"/>
                </a:solidFill>
                <a:latin typeface="Arial" pitchFamily="34" charset="0"/>
                <a:ea typeface="Arial" pitchFamily="34" charset="-122"/>
                <a:cs typeface="Arial" pitchFamily="34" charset="-120"/>
              </a:rPr>
              <a:t>on one page</a:t>
            </a:r>
            <a:endParaRPr lang="en-US" sz="3400" dirty="0"/>
          </a:p>
        </p:txBody>
      </p:sp>
      <p:pic>
        <p:nvPicPr>
          <p:cNvPr id="5" name="form" descr="A one-to-one form on one page">    </p:cNvPr>
          <p:cNvPicPr>
            <a:picLocks noChangeAspect="1"/>
          </p:cNvPicPr>
          <p:nvPr/>
        </p:nvPicPr>
        <p:blipFill>
          <a:blip r:embed="rId1"/>
          <a:stretch>
            <a:fillRect/>
          </a:stretch>
        </p:blipFill>
        <p:spPr>
          <a:xfrm>
            <a:off x="411480" y="2057400"/>
            <a:ext cx="3298712" cy="4389120"/>
          </a:xfrm>
          <a:prstGeom prst="rect">
            <a:avLst/>
          </a:prstGeom>
        </p:spPr>
      </p:pic>
      <p:sp>
        <p:nvSpPr>
          <p:cNvPr id="6" name="dot-table"/>
          <p:cNvSpPr/>
          <p:nvPr/>
        </p:nvSpPr>
        <p:spPr>
          <a:xfrm>
            <a:off x="4526280" y="2240280"/>
            <a:ext cx="475488" cy="475488"/>
          </a:xfrm>
          <a:prstGeom prst="ellipse">
            <a:avLst/>
          </a:prstGeom>
          <a:solidFill>
            <a:srgbClr val="1D1D1F"/>
          </a:solidFill>
          <a:ln/>
        </p:spPr>
      </p:sp>
      <p:pic>
        <p:nvPicPr>
          <p:cNvPr id="7" name="icon-table" descr="">    </p:cNvPr>
          <p:cNvPicPr>
            <a:picLocks noChangeAspect="1"/>
          </p:cNvPicPr>
          <p:nvPr/>
        </p:nvPicPr>
        <p:blipFill>
          <a:blip r:embed="rId2"/>
          <a:stretch>
            <a:fillRect/>
          </a:stretch>
        </p:blipFill>
        <p:spPr>
          <a:xfrm>
            <a:off x="4635642" y="2349642"/>
            <a:ext cx="256764" cy="256764"/>
          </a:xfrm>
          <a:prstGeom prst="rect">
            <a:avLst/>
          </a:prstGeom>
        </p:spPr>
      </p:pic>
      <p:sp>
        <p:nvSpPr>
          <p:cNvPr id="8" name="h"/>
          <p:cNvSpPr txBox="1"/>
          <p:nvPr/>
        </p:nvSpPr>
        <p:spPr>
          <a:xfrm>
            <a:off x="5202936" y="2221992"/>
            <a:ext cx="6455664" cy="310896"/>
          </a:xfrm>
          <a:prstGeom prst="rect">
            <a:avLst/>
          </a:prstGeom>
          <a:noFill/>
          <a:ln/>
        </p:spPr>
        <p:txBody>
          <a:bodyPr wrap="square" lIns="0" tIns="0" rIns="0" bIns="0" rtlCol="0" anchor="ctr"/>
          <a:lstStyle/>
          <a:p>
            <a:pPr indent="0" marL="0">
              <a:buNone/>
            </a:pPr>
            <a:r>
              <a:rPr lang="en-US" sz="1500" b="1" dirty="0">
                <a:solidFill>
                  <a:srgbClr val="1D1D1F"/>
                </a:solidFill>
                <a:latin typeface="Arial" pitchFamily="34" charset="0"/>
                <a:ea typeface="Arial" pitchFamily="34" charset="-122"/>
                <a:cs typeface="Arial" pitchFamily="34" charset="-120"/>
              </a:rPr>
              <a:t>Ready from the month's numbers</a:t>
            </a:r>
            <a:endParaRPr lang="en-US" sz="1500" dirty="0"/>
          </a:p>
        </p:txBody>
      </p:sp>
      <p:sp>
        <p:nvSpPr>
          <p:cNvPr id="9" name="t"/>
          <p:cNvSpPr txBox="1"/>
          <p:nvPr/>
        </p:nvSpPr>
        <p:spPr>
          <a:xfrm>
            <a:off x="5202936" y="2532888"/>
            <a:ext cx="6455664" cy="566928"/>
          </a:xfrm>
          <a:prstGeom prst="rect">
            <a:avLst/>
          </a:prstGeom>
          <a:noFill/>
          <a:ln/>
        </p:spPr>
        <p:txBody>
          <a:bodyPr wrap="square" lIns="0" tIns="0" rIns="0" bIns="0" rtlCol="0" anchor="t"/>
          <a:lstStyle/>
          <a:p>
            <a:pPr indent="0" marL="0">
              <a:lnSpc>
                <a:spcPct val="105000"/>
              </a:lnSpc>
              <a:buNone/>
            </a:pPr>
            <a:r>
              <a:rPr lang="en-US" sz="1250" dirty="0">
                <a:solidFill>
                  <a:srgbClr val="5C5C61"/>
                </a:solidFill>
                <a:latin typeface="Arial" pitchFamily="34" charset="0"/>
                <a:ea typeface="Arial" pitchFamily="34" charset="-122"/>
                <a:cs typeface="Arial" pitchFamily="34" charset="-120"/>
              </a:rPr>
              <a:t>The results, the days under target and last month's actions are filled in.</a:t>
            </a:r>
            <a:endParaRPr lang="en-US" sz="1250" dirty="0"/>
          </a:p>
        </p:txBody>
      </p:sp>
      <p:sp>
        <p:nvSpPr>
          <p:cNvPr id="10" name="dot-pen"/>
          <p:cNvSpPr/>
          <p:nvPr/>
        </p:nvSpPr>
        <p:spPr>
          <a:xfrm>
            <a:off x="4526280" y="3264408"/>
            <a:ext cx="475488" cy="475488"/>
          </a:xfrm>
          <a:prstGeom prst="ellipse">
            <a:avLst/>
          </a:prstGeom>
          <a:solidFill>
            <a:srgbClr val="1D1D1F"/>
          </a:solidFill>
          <a:ln/>
        </p:spPr>
      </p:sp>
      <p:pic>
        <p:nvPicPr>
          <p:cNvPr id="11" name="icon-pen" descr="">    </p:cNvPr>
          <p:cNvPicPr>
            <a:picLocks noChangeAspect="1"/>
          </p:cNvPicPr>
          <p:nvPr/>
        </p:nvPicPr>
        <p:blipFill>
          <a:blip r:embed="rId3"/>
          <a:stretch>
            <a:fillRect/>
          </a:stretch>
        </p:blipFill>
        <p:spPr>
          <a:xfrm>
            <a:off x="4635642" y="3373770"/>
            <a:ext cx="256764" cy="256764"/>
          </a:xfrm>
          <a:prstGeom prst="rect">
            <a:avLst/>
          </a:prstGeom>
        </p:spPr>
      </p:pic>
      <p:sp>
        <p:nvSpPr>
          <p:cNvPr id="12" name="h"/>
          <p:cNvSpPr txBox="1"/>
          <p:nvPr/>
        </p:nvSpPr>
        <p:spPr>
          <a:xfrm>
            <a:off x="5202936" y="3246120"/>
            <a:ext cx="6455664" cy="310896"/>
          </a:xfrm>
          <a:prstGeom prst="rect">
            <a:avLst/>
          </a:prstGeom>
          <a:noFill/>
          <a:ln/>
        </p:spPr>
        <p:txBody>
          <a:bodyPr wrap="square" lIns="0" tIns="0" rIns="0" bIns="0" rtlCol="0" anchor="ctr"/>
          <a:lstStyle/>
          <a:p>
            <a:pPr indent="0" marL="0">
              <a:buNone/>
            </a:pPr>
            <a:r>
              <a:rPr lang="en-US" sz="1500" b="1" dirty="0">
                <a:solidFill>
                  <a:srgbClr val="1D1D1F"/>
                </a:solidFill>
                <a:latin typeface="Arial" pitchFamily="34" charset="0"/>
                <a:ea typeface="Arial" pitchFamily="34" charset="-122"/>
                <a:cs typeface="Arial" pitchFamily="34" charset="-120"/>
              </a:rPr>
              <a:t>Agent and supervisor, in turn</a:t>
            </a:r>
            <a:endParaRPr lang="en-US" sz="1500" dirty="0"/>
          </a:p>
        </p:txBody>
      </p:sp>
      <p:sp>
        <p:nvSpPr>
          <p:cNvPr id="13" name="t"/>
          <p:cNvSpPr txBox="1"/>
          <p:nvPr/>
        </p:nvSpPr>
        <p:spPr>
          <a:xfrm>
            <a:off x="5202936" y="3557016"/>
            <a:ext cx="6455664" cy="566928"/>
          </a:xfrm>
          <a:prstGeom prst="rect">
            <a:avLst/>
          </a:prstGeom>
          <a:noFill/>
          <a:ln/>
        </p:spPr>
        <p:txBody>
          <a:bodyPr wrap="square" lIns="0" tIns="0" rIns="0" bIns="0" rtlCol="0" anchor="t"/>
          <a:lstStyle/>
          <a:p>
            <a:pPr indent="0" marL="0">
              <a:lnSpc>
                <a:spcPct val="105000"/>
              </a:lnSpc>
              <a:buNone/>
            </a:pPr>
            <a:r>
              <a:rPr lang="en-US" sz="1250" dirty="0">
                <a:solidFill>
                  <a:srgbClr val="5C5C61"/>
                </a:solidFill>
                <a:latin typeface="Arial" pitchFamily="34" charset="0"/>
                <a:ea typeface="Arial" pitchFamily="34" charset="-122"/>
                <a:cs typeface="Arial" pitchFamily="34" charset="-120"/>
              </a:rPr>
              <a:t>The agent adds their part and signs on screen after the supervisor's final.</a:t>
            </a:r>
            <a:endParaRPr lang="en-US" sz="1250" dirty="0"/>
          </a:p>
        </p:txBody>
      </p:sp>
      <p:sp>
        <p:nvSpPr>
          <p:cNvPr id="14" name="dot-sync"/>
          <p:cNvSpPr/>
          <p:nvPr/>
        </p:nvSpPr>
        <p:spPr>
          <a:xfrm>
            <a:off x="4526280" y="4288536"/>
            <a:ext cx="475488" cy="475488"/>
          </a:xfrm>
          <a:prstGeom prst="ellipse">
            <a:avLst/>
          </a:prstGeom>
          <a:solidFill>
            <a:srgbClr val="1D1D1F"/>
          </a:solidFill>
          <a:ln/>
        </p:spPr>
      </p:sp>
      <p:pic>
        <p:nvPicPr>
          <p:cNvPr id="15" name="icon-sync" descr="">    </p:cNvPr>
          <p:cNvPicPr>
            <a:picLocks noChangeAspect="1"/>
          </p:cNvPicPr>
          <p:nvPr/>
        </p:nvPicPr>
        <p:blipFill>
          <a:blip r:embed="rId4"/>
          <a:stretch>
            <a:fillRect/>
          </a:stretch>
        </p:blipFill>
        <p:spPr>
          <a:xfrm>
            <a:off x="4635642" y="4397898"/>
            <a:ext cx="256764" cy="256764"/>
          </a:xfrm>
          <a:prstGeom prst="rect">
            <a:avLst/>
          </a:prstGeom>
        </p:spPr>
      </p:pic>
      <p:sp>
        <p:nvSpPr>
          <p:cNvPr id="16" name="h"/>
          <p:cNvSpPr txBox="1"/>
          <p:nvPr/>
        </p:nvSpPr>
        <p:spPr>
          <a:xfrm>
            <a:off x="5202936" y="4270248"/>
            <a:ext cx="6455664" cy="310896"/>
          </a:xfrm>
          <a:prstGeom prst="rect">
            <a:avLst/>
          </a:prstGeom>
          <a:noFill/>
          <a:ln/>
        </p:spPr>
        <p:txBody>
          <a:bodyPr wrap="square" lIns="0" tIns="0" rIns="0" bIns="0" rtlCol="0" anchor="ctr"/>
          <a:lstStyle/>
          <a:p>
            <a:pPr indent="0" marL="0">
              <a:buNone/>
            </a:pPr>
            <a:r>
              <a:rPr lang="en-US" sz="1500" b="1" dirty="0">
                <a:solidFill>
                  <a:srgbClr val="1D1D1F"/>
                </a:solidFill>
                <a:latin typeface="Arial" pitchFamily="34" charset="0"/>
                <a:ea typeface="Arial" pitchFamily="34" charset="-122"/>
                <a:cs typeface="Arial" pitchFamily="34" charset="-120"/>
              </a:rPr>
              <a:t>Follow-up that sticks</a:t>
            </a:r>
            <a:endParaRPr lang="en-US" sz="1500" dirty="0"/>
          </a:p>
        </p:txBody>
      </p:sp>
      <p:sp>
        <p:nvSpPr>
          <p:cNvPr id="17" name="t"/>
          <p:cNvSpPr txBox="1"/>
          <p:nvPr/>
        </p:nvSpPr>
        <p:spPr>
          <a:xfrm>
            <a:off x="5202936" y="4581144"/>
            <a:ext cx="6455664" cy="566928"/>
          </a:xfrm>
          <a:prstGeom prst="rect">
            <a:avLst/>
          </a:prstGeom>
          <a:noFill/>
          <a:ln/>
        </p:spPr>
        <p:txBody>
          <a:bodyPr wrap="square" lIns="0" tIns="0" rIns="0" bIns="0" rtlCol="0" anchor="t"/>
          <a:lstStyle/>
          <a:p>
            <a:pPr indent="0" marL="0">
              <a:lnSpc>
                <a:spcPct val="105000"/>
              </a:lnSpc>
              <a:buNone/>
            </a:pPr>
            <a:r>
              <a:rPr lang="en-US" sz="1250" dirty="0">
                <a:solidFill>
                  <a:srgbClr val="5C5C61"/>
                </a:solidFill>
                <a:latin typeface="Arial" pitchFamily="34" charset="0"/>
                <a:ea typeface="Arial" pitchFamily="34" charset="-122"/>
                <a:cs typeface="Arial" pitchFamily="34" charset="-120"/>
              </a:rPr>
              <a:t>Next month's form starts with what was agreed.</a:t>
            </a:r>
            <a:endParaRPr lang="en-US" sz="1250" dirty="0"/>
          </a:p>
        </p:txBody>
      </p:sp>
      <p:sp>
        <p:nvSpPr>
          <p:cNvPr id="18" name="dot-bell"/>
          <p:cNvSpPr/>
          <p:nvPr/>
        </p:nvSpPr>
        <p:spPr>
          <a:xfrm>
            <a:off x="4526280" y="5312664"/>
            <a:ext cx="475488" cy="475488"/>
          </a:xfrm>
          <a:prstGeom prst="ellipse">
            <a:avLst/>
          </a:prstGeom>
          <a:solidFill>
            <a:srgbClr val="1D1D1F"/>
          </a:solidFill>
          <a:ln/>
        </p:spPr>
      </p:sp>
      <p:pic>
        <p:nvPicPr>
          <p:cNvPr id="19" name="icon-bell" descr="">    </p:cNvPr>
          <p:cNvPicPr>
            <a:picLocks noChangeAspect="1"/>
          </p:cNvPicPr>
          <p:nvPr/>
        </p:nvPicPr>
        <p:blipFill>
          <a:blip r:embed="rId5"/>
          <a:stretch>
            <a:fillRect/>
          </a:stretch>
        </p:blipFill>
        <p:spPr>
          <a:xfrm>
            <a:off x="4635642" y="5422026"/>
            <a:ext cx="256764" cy="256764"/>
          </a:xfrm>
          <a:prstGeom prst="rect">
            <a:avLst/>
          </a:prstGeom>
        </p:spPr>
      </p:pic>
      <p:sp>
        <p:nvSpPr>
          <p:cNvPr id="20" name="h"/>
          <p:cNvSpPr txBox="1"/>
          <p:nvPr/>
        </p:nvSpPr>
        <p:spPr>
          <a:xfrm>
            <a:off x="5202936" y="5294376"/>
            <a:ext cx="6455664" cy="310896"/>
          </a:xfrm>
          <a:prstGeom prst="rect">
            <a:avLst/>
          </a:prstGeom>
          <a:noFill/>
          <a:ln/>
        </p:spPr>
        <p:txBody>
          <a:bodyPr wrap="square" lIns="0" tIns="0" rIns="0" bIns="0" rtlCol="0" anchor="ctr"/>
          <a:lstStyle/>
          <a:p>
            <a:pPr indent="0" marL="0">
              <a:buNone/>
            </a:pPr>
            <a:r>
              <a:rPr lang="en-US" sz="1500" b="1" dirty="0">
                <a:solidFill>
                  <a:srgbClr val="1D1D1F"/>
                </a:solidFill>
                <a:latin typeface="Arial" pitchFamily="34" charset="0"/>
                <a:ea typeface="Arial" pitchFamily="34" charset="-122"/>
                <a:cs typeface="Arial" pitchFamily="34" charset="-120"/>
              </a:rPr>
              <a:t>Deadlines in the bell</a:t>
            </a:r>
            <a:endParaRPr lang="en-US" sz="1500" dirty="0"/>
          </a:p>
        </p:txBody>
      </p:sp>
      <p:sp>
        <p:nvSpPr>
          <p:cNvPr id="21" name="t"/>
          <p:cNvSpPr txBox="1"/>
          <p:nvPr/>
        </p:nvSpPr>
        <p:spPr>
          <a:xfrm>
            <a:off x="5202936" y="5605272"/>
            <a:ext cx="6455664" cy="566928"/>
          </a:xfrm>
          <a:prstGeom prst="rect">
            <a:avLst/>
          </a:prstGeom>
          <a:noFill/>
          <a:ln/>
        </p:spPr>
        <p:txBody>
          <a:bodyPr wrap="square" lIns="0" tIns="0" rIns="0" bIns="0" rtlCol="0" anchor="t"/>
          <a:lstStyle/>
          <a:p>
            <a:pPr indent="0" marL="0">
              <a:lnSpc>
                <a:spcPct val="105000"/>
              </a:lnSpc>
              <a:buNone/>
            </a:pPr>
            <a:r>
              <a:rPr lang="en-US" sz="1250" dirty="0">
                <a:solidFill>
                  <a:srgbClr val="5C5C61"/>
                </a:solidFill>
                <a:latin typeface="Arial" pitchFamily="34" charset="0"/>
                <a:ea typeface="Arial" pitchFamily="34" charset="-122"/>
                <a:cs typeface="Arial" pitchFamily="34" charset="-120"/>
              </a:rPr>
              <a:t>Everyone sees what is theirs to do; the senior manager sees who finished.</a:t>
            </a:r>
            <a:endParaRPr lang="en-US" sz="125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E8E93"/>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42" presetClass="entr" presetSubtype="0" fill="hold" grpId="0" nodeType="withEffect">
                                  <p:stCondLst>
                                    <p:cond delay="25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650"/>
                                        <p:tgtEl>
                                          <p:spTgt spid="5"/>
                                        </p:tgtEl>
                                      </p:cBhvr>
                                    </p:animEffect>
                                    <p:anim calcmode="lin" valueType="num">
                                      <p:cBhvr>
                                        <p:cTn id="14" dur="650" fill="hold"/>
                                        <p:tgtEl>
                                          <p:spTgt spid="5"/>
                                        </p:tgtEl>
                                        <p:attrNameLst>
                                          <p:attrName>ppt_x</p:attrName>
                                        </p:attrNameLst>
                                      </p:cBhvr>
                                      <p:tavLst>
                                        <p:tav tm="0">
                                          <p:val>
                                            <p:strVal val="#ppt_x"/>
                                          </p:val>
                                        </p:tav>
                                        <p:tav tm="100000">
                                          <p:val>
                                            <p:strVal val="#ppt_x"/>
                                          </p:val>
                                        </p:tav>
                                      </p:tavLst>
                                    </p:anim>
                                    <p:anim calcmode="lin" valueType="num">
                                      <p:cBhvr>
                                        <p:cTn id="15" dur="650" fill="hold"/>
                                        <p:tgtEl>
                                          <p:spTgt spid="5"/>
                                        </p:tgtEl>
                                        <p:attrNameLst>
                                          <p:attrName>ppt_y</p:attrName>
                                        </p:attrNameLst>
                                      </p:cBhvr>
                                      <p:tavLst>
                                        <p:tav tm="0">
                                          <p:val>
                                            <p:strVal val="#ppt_y+.05"/>
                                          </p:val>
                                        </p:tav>
                                        <p:tav tm="100000">
                                          <p:val>
                                            <p:strVal val="#ppt_y"/>
                                          </p:val>
                                        </p:tav>
                                      </p:tavLst>
                                    </p:anim>
                                  </p:childTnLst>
                                </p:cTn>
                              </p:par>
                              <p:par>
                                <p:cTn id="16" presetID="42" presetClass="entr" presetSubtype="0" fill="hold" grpId="0" nodeType="withEffect">
                                  <p:stCondLst>
                                    <p:cond delay="40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650"/>
                                        <p:tgtEl>
                                          <p:spTgt spid="6"/>
                                        </p:tgtEl>
                                      </p:cBhvr>
                                    </p:animEffect>
                                    <p:anim calcmode="lin" valueType="num">
                                      <p:cBhvr>
                                        <p:cTn id="19" dur="650" fill="hold"/>
                                        <p:tgtEl>
                                          <p:spTgt spid="6"/>
                                        </p:tgtEl>
                                        <p:attrNameLst>
                                          <p:attrName>ppt_x</p:attrName>
                                        </p:attrNameLst>
                                      </p:cBhvr>
                                      <p:tavLst>
                                        <p:tav tm="0">
                                          <p:val>
                                            <p:strVal val="#ppt_x"/>
                                          </p:val>
                                        </p:tav>
                                        <p:tav tm="100000">
                                          <p:val>
                                            <p:strVal val="#ppt_x"/>
                                          </p:val>
                                        </p:tav>
                                      </p:tavLst>
                                    </p:anim>
                                    <p:anim calcmode="lin" valueType="num">
                                      <p:cBhvr>
                                        <p:cTn id="20" dur="650" fill="hold"/>
                                        <p:tgtEl>
                                          <p:spTgt spid="6"/>
                                        </p:tgtEl>
                                        <p:attrNameLst>
                                          <p:attrName>ppt_y</p:attrName>
                                        </p:attrNameLst>
                                      </p:cBhvr>
                                      <p:tavLst>
                                        <p:tav tm="0">
                                          <p:val>
                                            <p:strVal val="#ppt_y+.05"/>
                                          </p:val>
                                        </p:tav>
                                        <p:tav tm="100000">
                                          <p:val>
                                            <p:strVal val="#ppt_y"/>
                                          </p:val>
                                        </p:tav>
                                      </p:tavLst>
                                    </p:anim>
                                  </p:childTnLst>
                                </p:cTn>
                              </p:par>
                              <p:par>
                                <p:cTn id="21" presetID="42" presetClass="entr" presetSubtype="0" fill="hold" grpId="0" nodeType="withEffect">
                                  <p:stCondLst>
                                    <p:cond delay="40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650"/>
                                        <p:tgtEl>
                                          <p:spTgt spid="7"/>
                                        </p:tgtEl>
                                      </p:cBhvr>
                                    </p:animEffect>
                                    <p:anim calcmode="lin" valueType="num">
                                      <p:cBhvr>
                                        <p:cTn id="24" dur="650" fill="hold"/>
                                        <p:tgtEl>
                                          <p:spTgt spid="7"/>
                                        </p:tgtEl>
                                        <p:attrNameLst>
                                          <p:attrName>ppt_x</p:attrName>
                                        </p:attrNameLst>
                                      </p:cBhvr>
                                      <p:tavLst>
                                        <p:tav tm="0">
                                          <p:val>
                                            <p:strVal val="#ppt_x"/>
                                          </p:val>
                                        </p:tav>
                                        <p:tav tm="100000">
                                          <p:val>
                                            <p:strVal val="#ppt_x"/>
                                          </p:val>
                                        </p:tav>
                                      </p:tavLst>
                                    </p:anim>
                                    <p:anim calcmode="lin" valueType="num">
                                      <p:cBhvr>
                                        <p:cTn id="25" dur="650" fill="hold"/>
                                        <p:tgtEl>
                                          <p:spTgt spid="7"/>
                                        </p:tgtEl>
                                        <p:attrNameLst>
                                          <p:attrName>ppt_y</p:attrName>
                                        </p:attrNameLst>
                                      </p:cBhvr>
                                      <p:tavLst>
                                        <p:tav tm="0">
                                          <p:val>
                                            <p:strVal val="#ppt_y+.05"/>
                                          </p:val>
                                        </p:tav>
                                        <p:tav tm="100000">
                                          <p:val>
                                            <p:strVal val="#ppt_y"/>
                                          </p:val>
                                        </p:tav>
                                      </p:tavLst>
                                    </p:anim>
                                  </p:childTnLst>
                                </p:cTn>
                              </p:par>
                              <p:par>
                                <p:cTn id="26" presetID="42" presetClass="entr" presetSubtype="0" fill="hold" grpId="0" nodeType="withEffect">
                                  <p:stCondLst>
                                    <p:cond delay="40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650"/>
                                        <p:tgtEl>
                                          <p:spTgt spid="8"/>
                                        </p:tgtEl>
                                      </p:cBhvr>
                                    </p:animEffect>
                                    <p:anim calcmode="lin" valueType="num">
                                      <p:cBhvr>
                                        <p:cTn id="29" dur="650" fill="hold"/>
                                        <p:tgtEl>
                                          <p:spTgt spid="8"/>
                                        </p:tgtEl>
                                        <p:attrNameLst>
                                          <p:attrName>ppt_x</p:attrName>
                                        </p:attrNameLst>
                                      </p:cBhvr>
                                      <p:tavLst>
                                        <p:tav tm="0">
                                          <p:val>
                                            <p:strVal val="#ppt_x"/>
                                          </p:val>
                                        </p:tav>
                                        <p:tav tm="100000">
                                          <p:val>
                                            <p:strVal val="#ppt_x"/>
                                          </p:val>
                                        </p:tav>
                                      </p:tavLst>
                                    </p:anim>
                                    <p:anim calcmode="lin" valueType="num">
                                      <p:cBhvr>
                                        <p:cTn id="30" dur="650" fill="hold"/>
                                        <p:tgtEl>
                                          <p:spTgt spid="8"/>
                                        </p:tgtEl>
                                        <p:attrNameLst>
                                          <p:attrName>ppt_y</p:attrName>
                                        </p:attrNameLst>
                                      </p:cBhvr>
                                      <p:tavLst>
                                        <p:tav tm="0">
                                          <p:val>
                                            <p:strVal val="#ppt_y+.05"/>
                                          </p:val>
                                        </p:tav>
                                        <p:tav tm="100000">
                                          <p:val>
                                            <p:strVal val="#ppt_y"/>
                                          </p:val>
                                        </p:tav>
                                      </p:tavLst>
                                    </p:anim>
                                  </p:childTnLst>
                                </p:cTn>
                              </p:par>
                              <p:par>
                                <p:cTn id="31" presetID="42" presetClass="entr" presetSubtype="0" fill="hold" grpId="0" nodeType="withEffect">
                                  <p:stCondLst>
                                    <p:cond delay="40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650"/>
                                        <p:tgtEl>
                                          <p:spTgt spid="9"/>
                                        </p:tgtEl>
                                      </p:cBhvr>
                                    </p:animEffect>
                                    <p:anim calcmode="lin" valueType="num">
                                      <p:cBhvr>
                                        <p:cTn id="34" dur="650" fill="hold"/>
                                        <p:tgtEl>
                                          <p:spTgt spid="9"/>
                                        </p:tgtEl>
                                        <p:attrNameLst>
                                          <p:attrName>ppt_x</p:attrName>
                                        </p:attrNameLst>
                                      </p:cBhvr>
                                      <p:tavLst>
                                        <p:tav tm="0">
                                          <p:val>
                                            <p:strVal val="#ppt_x"/>
                                          </p:val>
                                        </p:tav>
                                        <p:tav tm="100000">
                                          <p:val>
                                            <p:strVal val="#ppt_x"/>
                                          </p:val>
                                        </p:tav>
                                      </p:tavLst>
                                    </p:anim>
                                    <p:anim calcmode="lin" valueType="num">
                                      <p:cBhvr>
                                        <p:cTn id="35" dur="650" fill="hold"/>
                                        <p:tgtEl>
                                          <p:spTgt spid="9"/>
                                        </p:tgtEl>
                                        <p:attrNameLst>
                                          <p:attrName>ppt_y</p:attrName>
                                        </p:attrNameLst>
                                      </p:cBhvr>
                                      <p:tavLst>
                                        <p:tav tm="0">
                                          <p:val>
                                            <p:strVal val="#ppt_y+.05"/>
                                          </p:val>
                                        </p:tav>
                                        <p:tav tm="100000">
                                          <p:val>
                                            <p:strVal val="#ppt_y"/>
                                          </p:val>
                                        </p:tav>
                                      </p:tavLst>
                                    </p:anim>
                                  </p:childTnLst>
                                </p:cTn>
                              </p:par>
                              <p:par>
                                <p:cTn id="36" presetID="42" presetClass="entr" presetSubtype="0" fill="hold" grpId="0" nodeType="withEffect">
                                  <p:stCondLst>
                                    <p:cond delay="54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650"/>
                                        <p:tgtEl>
                                          <p:spTgt spid="10"/>
                                        </p:tgtEl>
                                      </p:cBhvr>
                                    </p:animEffect>
                                    <p:anim calcmode="lin" valueType="num">
                                      <p:cBhvr>
                                        <p:cTn id="39" dur="650" fill="hold"/>
                                        <p:tgtEl>
                                          <p:spTgt spid="10"/>
                                        </p:tgtEl>
                                        <p:attrNameLst>
                                          <p:attrName>ppt_x</p:attrName>
                                        </p:attrNameLst>
                                      </p:cBhvr>
                                      <p:tavLst>
                                        <p:tav tm="0">
                                          <p:val>
                                            <p:strVal val="#ppt_x"/>
                                          </p:val>
                                        </p:tav>
                                        <p:tav tm="100000">
                                          <p:val>
                                            <p:strVal val="#ppt_x"/>
                                          </p:val>
                                        </p:tav>
                                      </p:tavLst>
                                    </p:anim>
                                    <p:anim calcmode="lin" valueType="num">
                                      <p:cBhvr>
                                        <p:cTn id="40" dur="650" fill="hold"/>
                                        <p:tgtEl>
                                          <p:spTgt spid="10"/>
                                        </p:tgtEl>
                                        <p:attrNameLst>
                                          <p:attrName>ppt_y</p:attrName>
                                        </p:attrNameLst>
                                      </p:cBhvr>
                                      <p:tavLst>
                                        <p:tav tm="0">
                                          <p:val>
                                            <p:strVal val="#ppt_y+.05"/>
                                          </p:val>
                                        </p:tav>
                                        <p:tav tm="100000">
                                          <p:val>
                                            <p:strVal val="#ppt_y"/>
                                          </p:val>
                                        </p:tav>
                                      </p:tavLst>
                                    </p:anim>
                                  </p:childTnLst>
                                </p:cTn>
                              </p:par>
                              <p:par>
                                <p:cTn id="41" presetID="42" presetClass="entr" presetSubtype="0" fill="hold" grpId="0" nodeType="withEffect">
                                  <p:stCondLst>
                                    <p:cond delay="54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650"/>
                                        <p:tgtEl>
                                          <p:spTgt spid="11"/>
                                        </p:tgtEl>
                                      </p:cBhvr>
                                    </p:animEffect>
                                    <p:anim calcmode="lin" valueType="num">
                                      <p:cBhvr>
                                        <p:cTn id="44" dur="650" fill="hold"/>
                                        <p:tgtEl>
                                          <p:spTgt spid="11"/>
                                        </p:tgtEl>
                                        <p:attrNameLst>
                                          <p:attrName>ppt_x</p:attrName>
                                        </p:attrNameLst>
                                      </p:cBhvr>
                                      <p:tavLst>
                                        <p:tav tm="0">
                                          <p:val>
                                            <p:strVal val="#ppt_x"/>
                                          </p:val>
                                        </p:tav>
                                        <p:tav tm="100000">
                                          <p:val>
                                            <p:strVal val="#ppt_x"/>
                                          </p:val>
                                        </p:tav>
                                      </p:tavLst>
                                    </p:anim>
                                    <p:anim calcmode="lin" valueType="num">
                                      <p:cBhvr>
                                        <p:cTn id="45" dur="650" fill="hold"/>
                                        <p:tgtEl>
                                          <p:spTgt spid="11"/>
                                        </p:tgtEl>
                                        <p:attrNameLst>
                                          <p:attrName>ppt_y</p:attrName>
                                        </p:attrNameLst>
                                      </p:cBhvr>
                                      <p:tavLst>
                                        <p:tav tm="0">
                                          <p:val>
                                            <p:strVal val="#ppt_y+.05"/>
                                          </p:val>
                                        </p:tav>
                                        <p:tav tm="100000">
                                          <p:val>
                                            <p:strVal val="#ppt_y"/>
                                          </p:val>
                                        </p:tav>
                                      </p:tavLst>
                                    </p:anim>
                                  </p:childTnLst>
                                </p:cTn>
                              </p:par>
                              <p:par>
                                <p:cTn id="46" presetID="42" presetClass="entr" presetSubtype="0" fill="hold" grpId="0" nodeType="withEffect">
                                  <p:stCondLst>
                                    <p:cond delay="540"/>
                                  </p:stCondLst>
                                  <p:childTnLst>
                                    <p:set>
                                      <p:cBhvr>
                                        <p:cTn id="47" dur="1" fill="hold">
                                          <p:stCondLst>
                                            <p:cond delay="0"/>
                                          </p:stCondLst>
                                        </p:cTn>
                                        <p:tgtEl>
                                          <p:spTgt spid="12"/>
                                        </p:tgtEl>
                                        <p:attrNameLst>
                                          <p:attrName>style.visibility</p:attrName>
                                        </p:attrNameLst>
                                      </p:cBhvr>
                                      <p:to>
                                        <p:strVal val="visible"/>
                                      </p:to>
                                    </p:set>
                                    <p:animEffect transition="in" filter="fade">
                                      <p:cBhvr>
                                        <p:cTn id="48" dur="650"/>
                                        <p:tgtEl>
                                          <p:spTgt spid="12"/>
                                        </p:tgtEl>
                                      </p:cBhvr>
                                    </p:animEffect>
                                    <p:anim calcmode="lin" valueType="num">
                                      <p:cBhvr>
                                        <p:cTn id="49" dur="650" fill="hold"/>
                                        <p:tgtEl>
                                          <p:spTgt spid="12"/>
                                        </p:tgtEl>
                                        <p:attrNameLst>
                                          <p:attrName>ppt_x</p:attrName>
                                        </p:attrNameLst>
                                      </p:cBhvr>
                                      <p:tavLst>
                                        <p:tav tm="0">
                                          <p:val>
                                            <p:strVal val="#ppt_x"/>
                                          </p:val>
                                        </p:tav>
                                        <p:tav tm="100000">
                                          <p:val>
                                            <p:strVal val="#ppt_x"/>
                                          </p:val>
                                        </p:tav>
                                      </p:tavLst>
                                    </p:anim>
                                    <p:anim calcmode="lin" valueType="num">
                                      <p:cBhvr>
                                        <p:cTn id="50" dur="650" fill="hold"/>
                                        <p:tgtEl>
                                          <p:spTgt spid="12"/>
                                        </p:tgtEl>
                                        <p:attrNameLst>
                                          <p:attrName>ppt_y</p:attrName>
                                        </p:attrNameLst>
                                      </p:cBhvr>
                                      <p:tavLst>
                                        <p:tav tm="0">
                                          <p:val>
                                            <p:strVal val="#ppt_y+.05"/>
                                          </p:val>
                                        </p:tav>
                                        <p:tav tm="100000">
                                          <p:val>
                                            <p:strVal val="#ppt_y"/>
                                          </p:val>
                                        </p:tav>
                                      </p:tavLst>
                                    </p:anim>
                                  </p:childTnLst>
                                </p:cTn>
                              </p:par>
                              <p:par>
                                <p:cTn id="51" presetID="42" presetClass="entr" presetSubtype="0" fill="hold" grpId="0" nodeType="withEffect">
                                  <p:stCondLst>
                                    <p:cond delay="540"/>
                                  </p:stCondLst>
                                  <p:childTnLst>
                                    <p:set>
                                      <p:cBhvr>
                                        <p:cTn id="52" dur="1" fill="hold">
                                          <p:stCondLst>
                                            <p:cond delay="0"/>
                                          </p:stCondLst>
                                        </p:cTn>
                                        <p:tgtEl>
                                          <p:spTgt spid="13"/>
                                        </p:tgtEl>
                                        <p:attrNameLst>
                                          <p:attrName>style.visibility</p:attrName>
                                        </p:attrNameLst>
                                      </p:cBhvr>
                                      <p:to>
                                        <p:strVal val="visible"/>
                                      </p:to>
                                    </p:set>
                                    <p:animEffect transition="in" filter="fade">
                                      <p:cBhvr>
                                        <p:cTn id="53" dur="650"/>
                                        <p:tgtEl>
                                          <p:spTgt spid="13"/>
                                        </p:tgtEl>
                                      </p:cBhvr>
                                    </p:animEffect>
                                    <p:anim calcmode="lin" valueType="num">
                                      <p:cBhvr>
                                        <p:cTn id="54" dur="650" fill="hold"/>
                                        <p:tgtEl>
                                          <p:spTgt spid="13"/>
                                        </p:tgtEl>
                                        <p:attrNameLst>
                                          <p:attrName>ppt_x</p:attrName>
                                        </p:attrNameLst>
                                      </p:cBhvr>
                                      <p:tavLst>
                                        <p:tav tm="0">
                                          <p:val>
                                            <p:strVal val="#ppt_x"/>
                                          </p:val>
                                        </p:tav>
                                        <p:tav tm="100000">
                                          <p:val>
                                            <p:strVal val="#ppt_x"/>
                                          </p:val>
                                        </p:tav>
                                      </p:tavLst>
                                    </p:anim>
                                    <p:anim calcmode="lin" valueType="num">
                                      <p:cBhvr>
                                        <p:cTn id="55" dur="650" fill="hold"/>
                                        <p:tgtEl>
                                          <p:spTgt spid="13"/>
                                        </p:tgtEl>
                                        <p:attrNameLst>
                                          <p:attrName>ppt_y</p:attrName>
                                        </p:attrNameLst>
                                      </p:cBhvr>
                                      <p:tavLst>
                                        <p:tav tm="0">
                                          <p:val>
                                            <p:strVal val="#ppt_y+.05"/>
                                          </p:val>
                                        </p:tav>
                                        <p:tav tm="100000">
                                          <p:val>
                                            <p:strVal val="#ppt_y"/>
                                          </p:val>
                                        </p:tav>
                                      </p:tavLst>
                                    </p:anim>
                                  </p:childTnLst>
                                </p:cTn>
                              </p:par>
                              <p:par>
                                <p:cTn id="56" presetID="42" presetClass="entr" presetSubtype="0" fill="hold" grpId="0" nodeType="withEffect">
                                  <p:stCondLst>
                                    <p:cond delay="680"/>
                                  </p:stCondLst>
                                  <p:childTnLst>
                                    <p:set>
                                      <p:cBhvr>
                                        <p:cTn id="57" dur="1" fill="hold">
                                          <p:stCondLst>
                                            <p:cond delay="0"/>
                                          </p:stCondLst>
                                        </p:cTn>
                                        <p:tgtEl>
                                          <p:spTgt spid="14"/>
                                        </p:tgtEl>
                                        <p:attrNameLst>
                                          <p:attrName>style.visibility</p:attrName>
                                        </p:attrNameLst>
                                      </p:cBhvr>
                                      <p:to>
                                        <p:strVal val="visible"/>
                                      </p:to>
                                    </p:set>
                                    <p:animEffect transition="in" filter="fade">
                                      <p:cBhvr>
                                        <p:cTn id="58" dur="650"/>
                                        <p:tgtEl>
                                          <p:spTgt spid="14"/>
                                        </p:tgtEl>
                                      </p:cBhvr>
                                    </p:animEffect>
                                    <p:anim calcmode="lin" valueType="num">
                                      <p:cBhvr>
                                        <p:cTn id="59" dur="650" fill="hold"/>
                                        <p:tgtEl>
                                          <p:spTgt spid="14"/>
                                        </p:tgtEl>
                                        <p:attrNameLst>
                                          <p:attrName>ppt_x</p:attrName>
                                        </p:attrNameLst>
                                      </p:cBhvr>
                                      <p:tavLst>
                                        <p:tav tm="0">
                                          <p:val>
                                            <p:strVal val="#ppt_x"/>
                                          </p:val>
                                        </p:tav>
                                        <p:tav tm="100000">
                                          <p:val>
                                            <p:strVal val="#ppt_x"/>
                                          </p:val>
                                        </p:tav>
                                      </p:tavLst>
                                    </p:anim>
                                    <p:anim calcmode="lin" valueType="num">
                                      <p:cBhvr>
                                        <p:cTn id="60" dur="650" fill="hold"/>
                                        <p:tgtEl>
                                          <p:spTgt spid="14"/>
                                        </p:tgtEl>
                                        <p:attrNameLst>
                                          <p:attrName>ppt_y</p:attrName>
                                        </p:attrNameLst>
                                      </p:cBhvr>
                                      <p:tavLst>
                                        <p:tav tm="0">
                                          <p:val>
                                            <p:strVal val="#ppt_y+.05"/>
                                          </p:val>
                                        </p:tav>
                                        <p:tav tm="100000">
                                          <p:val>
                                            <p:strVal val="#ppt_y"/>
                                          </p:val>
                                        </p:tav>
                                      </p:tavLst>
                                    </p:anim>
                                  </p:childTnLst>
                                </p:cTn>
                              </p:par>
                              <p:par>
                                <p:cTn id="61" presetID="42" presetClass="entr" presetSubtype="0" fill="hold" grpId="0" nodeType="withEffect">
                                  <p:stCondLst>
                                    <p:cond delay="680"/>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650"/>
                                        <p:tgtEl>
                                          <p:spTgt spid="15"/>
                                        </p:tgtEl>
                                      </p:cBhvr>
                                    </p:animEffect>
                                    <p:anim calcmode="lin" valueType="num">
                                      <p:cBhvr>
                                        <p:cTn id="64" dur="650" fill="hold"/>
                                        <p:tgtEl>
                                          <p:spTgt spid="15"/>
                                        </p:tgtEl>
                                        <p:attrNameLst>
                                          <p:attrName>ppt_x</p:attrName>
                                        </p:attrNameLst>
                                      </p:cBhvr>
                                      <p:tavLst>
                                        <p:tav tm="0">
                                          <p:val>
                                            <p:strVal val="#ppt_x"/>
                                          </p:val>
                                        </p:tav>
                                        <p:tav tm="100000">
                                          <p:val>
                                            <p:strVal val="#ppt_x"/>
                                          </p:val>
                                        </p:tav>
                                      </p:tavLst>
                                    </p:anim>
                                    <p:anim calcmode="lin" valueType="num">
                                      <p:cBhvr>
                                        <p:cTn id="65" dur="650" fill="hold"/>
                                        <p:tgtEl>
                                          <p:spTgt spid="15"/>
                                        </p:tgtEl>
                                        <p:attrNameLst>
                                          <p:attrName>ppt_y</p:attrName>
                                        </p:attrNameLst>
                                      </p:cBhvr>
                                      <p:tavLst>
                                        <p:tav tm="0">
                                          <p:val>
                                            <p:strVal val="#ppt_y+.05"/>
                                          </p:val>
                                        </p:tav>
                                        <p:tav tm="100000">
                                          <p:val>
                                            <p:strVal val="#ppt_y"/>
                                          </p:val>
                                        </p:tav>
                                      </p:tavLst>
                                    </p:anim>
                                  </p:childTnLst>
                                </p:cTn>
                              </p:par>
                              <p:par>
                                <p:cTn id="66" presetID="42" presetClass="entr" presetSubtype="0" fill="hold" grpId="0" nodeType="withEffect">
                                  <p:stCondLst>
                                    <p:cond delay="680"/>
                                  </p:stCondLst>
                                  <p:childTnLst>
                                    <p:set>
                                      <p:cBhvr>
                                        <p:cTn id="67" dur="1" fill="hold">
                                          <p:stCondLst>
                                            <p:cond delay="0"/>
                                          </p:stCondLst>
                                        </p:cTn>
                                        <p:tgtEl>
                                          <p:spTgt spid="16"/>
                                        </p:tgtEl>
                                        <p:attrNameLst>
                                          <p:attrName>style.visibility</p:attrName>
                                        </p:attrNameLst>
                                      </p:cBhvr>
                                      <p:to>
                                        <p:strVal val="visible"/>
                                      </p:to>
                                    </p:set>
                                    <p:animEffect transition="in" filter="fade">
                                      <p:cBhvr>
                                        <p:cTn id="68" dur="650"/>
                                        <p:tgtEl>
                                          <p:spTgt spid="16"/>
                                        </p:tgtEl>
                                      </p:cBhvr>
                                    </p:animEffect>
                                    <p:anim calcmode="lin" valueType="num">
                                      <p:cBhvr>
                                        <p:cTn id="69" dur="650" fill="hold"/>
                                        <p:tgtEl>
                                          <p:spTgt spid="16"/>
                                        </p:tgtEl>
                                        <p:attrNameLst>
                                          <p:attrName>ppt_x</p:attrName>
                                        </p:attrNameLst>
                                      </p:cBhvr>
                                      <p:tavLst>
                                        <p:tav tm="0">
                                          <p:val>
                                            <p:strVal val="#ppt_x"/>
                                          </p:val>
                                        </p:tav>
                                        <p:tav tm="100000">
                                          <p:val>
                                            <p:strVal val="#ppt_x"/>
                                          </p:val>
                                        </p:tav>
                                      </p:tavLst>
                                    </p:anim>
                                    <p:anim calcmode="lin" valueType="num">
                                      <p:cBhvr>
                                        <p:cTn id="70" dur="650" fill="hold"/>
                                        <p:tgtEl>
                                          <p:spTgt spid="16"/>
                                        </p:tgtEl>
                                        <p:attrNameLst>
                                          <p:attrName>ppt_y</p:attrName>
                                        </p:attrNameLst>
                                      </p:cBhvr>
                                      <p:tavLst>
                                        <p:tav tm="0">
                                          <p:val>
                                            <p:strVal val="#ppt_y+.05"/>
                                          </p:val>
                                        </p:tav>
                                        <p:tav tm="100000">
                                          <p:val>
                                            <p:strVal val="#ppt_y"/>
                                          </p:val>
                                        </p:tav>
                                      </p:tavLst>
                                    </p:anim>
                                  </p:childTnLst>
                                </p:cTn>
                              </p:par>
                              <p:par>
                                <p:cTn id="71" presetID="42" presetClass="entr" presetSubtype="0" fill="hold" grpId="0" nodeType="withEffect">
                                  <p:stCondLst>
                                    <p:cond delay="680"/>
                                  </p:stCondLst>
                                  <p:childTnLst>
                                    <p:set>
                                      <p:cBhvr>
                                        <p:cTn id="72" dur="1" fill="hold">
                                          <p:stCondLst>
                                            <p:cond delay="0"/>
                                          </p:stCondLst>
                                        </p:cTn>
                                        <p:tgtEl>
                                          <p:spTgt spid="17"/>
                                        </p:tgtEl>
                                        <p:attrNameLst>
                                          <p:attrName>style.visibility</p:attrName>
                                        </p:attrNameLst>
                                      </p:cBhvr>
                                      <p:to>
                                        <p:strVal val="visible"/>
                                      </p:to>
                                    </p:set>
                                    <p:animEffect transition="in" filter="fade">
                                      <p:cBhvr>
                                        <p:cTn id="73" dur="650"/>
                                        <p:tgtEl>
                                          <p:spTgt spid="17"/>
                                        </p:tgtEl>
                                      </p:cBhvr>
                                    </p:animEffect>
                                    <p:anim calcmode="lin" valueType="num">
                                      <p:cBhvr>
                                        <p:cTn id="74" dur="650" fill="hold"/>
                                        <p:tgtEl>
                                          <p:spTgt spid="17"/>
                                        </p:tgtEl>
                                        <p:attrNameLst>
                                          <p:attrName>ppt_x</p:attrName>
                                        </p:attrNameLst>
                                      </p:cBhvr>
                                      <p:tavLst>
                                        <p:tav tm="0">
                                          <p:val>
                                            <p:strVal val="#ppt_x"/>
                                          </p:val>
                                        </p:tav>
                                        <p:tav tm="100000">
                                          <p:val>
                                            <p:strVal val="#ppt_x"/>
                                          </p:val>
                                        </p:tav>
                                      </p:tavLst>
                                    </p:anim>
                                    <p:anim calcmode="lin" valueType="num">
                                      <p:cBhvr>
                                        <p:cTn id="75" dur="650" fill="hold"/>
                                        <p:tgtEl>
                                          <p:spTgt spid="17"/>
                                        </p:tgtEl>
                                        <p:attrNameLst>
                                          <p:attrName>ppt_y</p:attrName>
                                        </p:attrNameLst>
                                      </p:cBhvr>
                                      <p:tavLst>
                                        <p:tav tm="0">
                                          <p:val>
                                            <p:strVal val="#ppt_y+.05"/>
                                          </p:val>
                                        </p:tav>
                                        <p:tav tm="100000">
                                          <p:val>
                                            <p:strVal val="#ppt_y"/>
                                          </p:val>
                                        </p:tav>
                                      </p:tavLst>
                                    </p:anim>
                                  </p:childTnLst>
                                </p:cTn>
                              </p:par>
                              <p:par>
                                <p:cTn id="76" presetID="42" presetClass="entr" presetSubtype="0" fill="hold" grpId="0" nodeType="withEffect">
                                  <p:stCondLst>
                                    <p:cond delay="820"/>
                                  </p:stCondLst>
                                  <p:childTnLst>
                                    <p:set>
                                      <p:cBhvr>
                                        <p:cTn id="77" dur="1" fill="hold">
                                          <p:stCondLst>
                                            <p:cond delay="0"/>
                                          </p:stCondLst>
                                        </p:cTn>
                                        <p:tgtEl>
                                          <p:spTgt spid="18"/>
                                        </p:tgtEl>
                                        <p:attrNameLst>
                                          <p:attrName>style.visibility</p:attrName>
                                        </p:attrNameLst>
                                      </p:cBhvr>
                                      <p:to>
                                        <p:strVal val="visible"/>
                                      </p:to>
                                    </p:set>
                                    <p:animEffect transition="in" filter="fade">
                                      <p:cBhvr>
                                        <p:cTn id="78" dur="650"/>
                                        <p:tgtEl>
                                          <p:spTgt spid="18"/>
                                        </p:tgtEl>
                                      </p:cBhvr>
                                    </p:animEffect>
                                    <p:anim calcmode="lin" valueType="num">
                                      <p:cBhvr>
                                        <p:cTn id="79" dur="650" fill="hold"/>
                                        <p:tgtEl>
                                          <p:spTgt spid="18"/>
                                        </p:tgtEl>
                                        <p:attrNameLst>
                                          <p:attrName>ppt_x</p:attrName>
                                        </p:attrNameLst>
                                      </p:cBhvr>
                                      <p:tavLst>
                                        <p:tav tm="0">
                                          <p:val>
                                            <p:strVal val="#ppt_x"/>
                                          </p:val>
                                        </p:tav>
                                        <p:tav tm="100000">
                                          <p:val>
                                            <p:strVal val="#ppt_x"/>
                                          </p:val>
                                        </p:tav>
                                      </p:tavLst>
                                    </p:anim>
                                    <p:anim calcmode="lin" valueType="num">
                                      <p:cBhvr>
                                        <p:cTn id="80" dur="650" fill="hold"/>
                                        <p:tgtEl>
                                          <p:spTgt spid="18"/>
                                        </p:tgtEl>
                                        <p:attrNameLst>
                                          <p:attrName>ppt_y</p:attrName>
                                        </p:attrNameLst>
                                      </p:cBhvr>
                                      <p:tavLst>
                                        <p:tav tm="0">
                                          <p:val>
                                            <p:strVal val="#ppt_y+.05"/>
                                          </p:val>
                                        </p:tav>
                                        <p:tav tm="100000">
                                          <p:val>
                                            <p:strVal val="#ppt_y"/>
                                          </p:val>
                                        </p:tav>
                                      </p:tavLst>
                                    </p:anim>
                                  </p:childTnLst>
                                </p:cTn>
                              </p:par>
                              <p:par>
                                <p:cTn id="81" presetID="42" presetClass="entr" presetSubtype="0" fill="hold" grpId="0" nodeType="withEffect">
                                  <p:stCondLst>
                                    <p:cond delay="820"/>
                                  </p:stCondLst>
                                  <p:childTnLst>
                                    <p:set>
                                      <p:cBhvr>
                                        <p:cTn id="82" dur="1" fill="hold">
                                          <p:stCondLst>
                                            <p:cond delay="0"/>
                                          </p:stCondLst>
                                        </p:cTn>
                                        <p:tgtEl>
                                          <p:spTgt spid="19"/>
                                        </p:tgtEl>
                                        <p:attrNameLst>
                                          <p:attrName>style.visibility</p:attrName>
                                        </p:attrNameLst>
                                      </p:cBhvr>
                                      <p:to>
                                        <p:strVal val="visible"/>
                                      </p:to>
                                    </p:set>
                                    <p:animEffect transition="in" filter="fade">
                                      <p:cBhvr>
                                        <p:cTn id="83" dur="650"/>
                                        <p:tgtEl>
                                          <p:spTgt spid="19"/>
                                        </p:tgtEl>
                                      </p:cBhvr>
                                    </p:animEffect>
                                    <p:anim calcmode="lin" valueType="num">
                                      <p:cBhvr>
                                        <p:cTn id="84" dur="650" fill="hold"/>
                                        <p:tgtEl>
                                          <p:spTgt spid="19"/>
                                        </p:tgtEl>
                                        <p:attrNameLst>
                                          <p:attrName>ppt_x</p:attrName>
                                        </p:attrNameLst>
                                      </p:cBhvr>
                                      <p:tavLst>
                                        <p:tav tm="0">
                                          <p:val>
                                            <p:strVal val="#ppt_x"/>
                                          </p:val>
                                        </p:tav>
                                        <p:tav tm="100000">
                                          <p:val>
                                            <p:strVal val="#ppt_x"/>
                                          </p:val>
                                        </p:tav>
                                      </p:tavLst>
                                    </p:anim>
                                    <p:anim calcmode="lin" valueType="num">
                                      <p:cBhvr>
                                        <p:cTn id="85" dur="650" fill="hold"/>
                                        <p:tgtEl>
                                          <p:spTgt spid="19"/>
                                        </p:tgtEl>
                                        <p:attrNameLst>
                                          <p:attrName>ppt_y</p:attrName>
                                        </p:attrNameLst>
                                      </p:cBhvr>
                                      <p:tavLst>
                                        <p:tav tm="0">
                                          <p:val>
                                            <p:strVal val="#ppt_y+.05"/>
                                          </p:val>
                                        </p:tav>
                                        <p:tav tm="100000">
                                          <p:val>
                                            <p:strVal val="#ppt_y"/>
                                          </p:val>
                                        </p:tav>
                                      </p:tavLst>
                                    </p:anim>
                                  </p:childTnLst>
                                </p:cTn>
                              </p:par>
                              <p:par>
                                <p:cTn id="86" presetID="42" presetClass="entr" presetSubtype="0" fill="hold" grpId="0" nodeType="withEffect">
                                  <p:stCondLst>
                                    <p:cond delay="820"/>
                                  </p:stCondLst>
                                  <p:childTnLst>
                                    <p:set>
                                      <p:cBhvr>
                                        <p:cTn id="87" dur="1" fill="hold">
                                          <p:stCondLst>
                                            <p:cond delay="0"/>
                                          </p:stCondLst>
                                        </p:cTn>
                                        <p:tgtEl>
                                          <p:spTgt spid="20"/>
                                        </p:tgtEl>
                                        <p:attrNameLst>
                                          <p:attrName>style.visibility</p:attrName>
                                        </p:attrNameLst>
                                      </p:cBhvr>
                                      <p:to>
                                        <p:strVal val="visible"/>
                                      </p:to>
                                    </p:set>
                                    <p:animEffect transition="in" filter="fade">
                                      <p:cBhvr>
                                        <p:cTn id="88" dur="650"/>
                                        <p:tgtEl>
                                          <p:spTgt spid="20"/>
                                        </p:tgtEl>
                                      </p:cBhvr>
                                    </p:animEffect>
                                    <p:anim calcmode="lin" valueType="num">
                                      <p:cBhvr>
                                        <p:cTn id="89" dur="650" fill="hold"/>
                                        <p:tgtEl>
                                          <p:spTgt spid="20"/>
                                        </p:tgtEl>
                                        <p:attrNameLst>
                                          <p:attrName>ppt_x</p:attrName>
                                        </p:attrNameLst>
                                      </p:cBhvr>
                                      <p:tavLst>
                                        <p:tav tm="0">
                                          <p:val>
                                            <p:strVal val="#ppt_x"/>
                                          </p:val>
                                        </p:tav>
                                        <p:tav tm="100000">
                                          <p:val>
                                            <p:strVal val="#ppt_x"/>
                                          </p:val>
                                        </p:tav>
                                      </p:tavLst>
                                    </p:anim>
                                    <p:anim calcmode="lin" valueType="num">
                                      <p:cBhvr>
                                        <p:cTn id="90" dur="650" fill="hold"/>
                                        <p:tgtEl>
                                          <p:spTgt spid="20"/>
                                        </p:tgtEl>
                                        <p:attrNameLst>
                                          <p:attrName>ppt_y</p:attrName>
                                        </p:attrNameLst>
                                      </p:cBhvr>
                                      <p:tavLst>
                                        <p:tav tm="0">
                                          <p:val>
                                            <p:strVal val="#ppt_y+.05"/>
                                          </p:val>
                                        </p:tav>
                                        <p:tav tm="100000">
                                          <p:val>
                                            <p:strVal val="#ppt_y"/>
                                          </p:val>
                                        </p:tav>
                                      </p:tavLst>
                                    </p:anim>
                                  </p:childTnLst>
                                </p:cTn>
                              </p:par>
                              <p:par>
                                <p:cTn id="91" presetID="42" presetClass="entr" presetSubtype="0" fill="hold" grpId="0" nodeType="withEffect">
                                  <p:stCondLst>
                                    <p:cond delay="820"/>
                                  </p:stCondLst>
                                  <p:childTnLst>
                                    <p:set>
                                      <p:cBhvr>
                                        <p:cTn id="92" dur="1" fill="hold">
                                          <p:stCondLst>
                                            <p:cond delay="0"/>
                                          </p:stCondLst>
                                        </p:cTn>
                                        <p:tgtEl>
                                          <p:spTgt spid="21"/>
                                        </p:tgtEl>
                                        <p:attrNameLst>
                                          <p:attrName>style.visibility</p:attrName>
                                        </p:attrNameLst>
                                      </p:cBhvr>
                                      <p:to>
                                        <p:strVal val="visible"/>
                                      </p:to>
                                    </p:set>
                                    <p:animEffect transition="in" filter="fade">
                                      <p:cBhvr>
                                        <p:cTn id="93" dur="650"/>
                                        <p:tgtEl>
                                          <p:spTgt spid="21"/>
                                        </p:tgtEl>
                                      </p:cBhvr>
                                    </p:animEffect>
                                    <p:anim calcmode="lin" valueType="num">
                                      <p:cBhvr>
                                        <p:cTn id="94" dur="650" fill="hold"/>
                                        <p:tgtEl>
                                          <p:spTgt spid="21"/>
                                        </p:tgtEl>
                                        <p:attrNameLst>
                                          <p:attrName>ppt_x</p:attrName>
                                        </p:attrNameLst>
                                      </p:cBhvr>
                                      <p:tavLst>
                                        <p:tav tm="0">
                                          <p:val>
                                            <p:strVal val="#ppt_x"/>
                                          </p:val>
                                        </p:tav>
                                        <p:tav tm="100000">
                                          <p:val>
                                            <p:strVal val="#ppt_x"/>
                                          </p:val>
                                        </p:tav>
                                      </p:tavLst>
                                    </p:anim>
                                    <p:anim calcmode="lin" valueType="num">
                                      <p:cBhvr>
                                        <p:cTn id="95" dur="650" fill="hold"/>
                                        <p:tgtEl>
                                          <p:spTgt spid="21"/>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P spid="8" grpId="0" animBg="1"/>
      <p:bldP spid="9" grpId="0" animBg="1"/>
      <p:bldP spid="10" grpId="0" animBg="1"/>
      <p:bldP spid="12" grpId="0" animBg="1"/>
      <p:bldP spid="13" grpId="0" animBg="1"/>
      <p:bldP spid="14" grpId="0" animBg="1"/>
      <p:bldP spid="16" grpId="0" animBg="1"/>
      <p:bldP spid="17" grpId="0" animBg="1"/>
      <p:bldP spid="18" grpId="0" animBg="1"/>
      <p:bldP spid="20" grpId="0" animBg="1"/>
      <p:bldP spid="2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eyebrow-pill"/>
          <p:cNvSpPr/>
          <p:nvPr/>
        </p:nvSpPr>
        <p:spPr>
          <a:xfrm>
            <a:off x="548640" y="475488"/>
            <a:ext cx="1678838" cy="274320"/>
          </a:xfrm>
          <a:prstGeom prst="roundRect">
            <a:avLst>
              <a:gd name="adj" fmla="val 50000"/>
            </a:avLst>
          </a:prstGeom>
          <a:solidFill>
            <a:srgbClr val="2C2C2E"/>
          </a:solidFill>
          <a:ln/>
        </p:spPr>
      </p:sp>
      <p:sp>
        <p:nvSpPr>
          <p:cNvPr id="3" name="eyebrow"/>
          <p:cNvSpPr txBox="1"/>
          <p:nvPr/>
        </p:nvSpPr>
        <p:spPr>
          <a:xfrm>
            <a:off x="548640" y="475488"/>
            <a:ext cx="1678838" cy="274320"/>
          </a:xfrm>
          <a:prstGeom prst="rect">
            <a:avLst/>
          </a:prstGeom>
          <a:noFill/>
          <a:ln/>
        </p:spPr>
        <p:txBody>
          <a:bodyPr wrap="square" lIns="0" tIns="0" rIns="0" bIns="0" rtlCol="0" anchor="ctr"/>
          <a:lstStyle/>
          <a:p>
            <a:pPr algn="ctr" indent="0" marL="0">
              <a:buNone/>
            </a:pPr>
            <a:r>
              <a:rPr lang="en-US" sz="900" b="1" spc="160" kern="0" dirty="0">
                <a:solidFill>
                  <a:srgbClr val="A8A8AD"/>
                </a:solidFill>
                <a:latin typeface="Arial" pitchFamily="34" charset="0"/>
                <a:ea typeface="Arial" pitchFamily="34" charset="-122"/>
                <a:cs typeface="Arial" pitchFamily="34" charset="-120"/>
              </a:rPr>
              <a:t>PRIVATE BY DESIGN</a:t>
            </a:r>
            <a:endParaRPr lang="en-US" sz="900" dirty="0"/>
          </a:p>
        </p:txBody>
      </p:sp>
      <p:sp>
        <p:nvSpPr>
          <p:cNvPr id="4" name="Text 1"/>
          <p:cNvSpPr/>
          <p:nvPr>
            <p:ph idx="101" type="title" hasCustomPrompt="1"/>
          </p:nvPr>
        </p:nvSpPr>
        <p:spPr>
          <a:xfrm>
            <a:off x="548640" y="896112"/>
            <a:ext cx="6583680" cy="1207008"/>
          </a:xfrm>
          <a:prstGeom prst="rect">
            <a:avLst/>
          </a:prstGeom>
          <a:noFill/>
          <a:ln/>
        </p:spPr>
        <p:txBody>
          <a:bodyPr wrap="square" lIns="0" tIns="0" rIns="0" bIns="0" rtlCol="0" anchor="t"/>
          <a:lstStyle/>
          <a:p>
            <a:pPr algn="l" indent="0" marL="0">
              <a:buNone/>
            </a:pPr>
            <a:r>
              <a:rPr lang="en-US" sz="3400" b="1" dirty="0">
                <a:solidFill>
                  <a:srgbClr val="F5F5F7"/>
                </a:solidFill>
                <a:latin typeface="Arial" pitchFamily="34" charset="0"/>
                <a:ea typeface="Arial" pitchFamily="34" charset="-122"/>
                <a:cs typeface="Arial" pitchFamily="34" charset="-120"/>
              </a:rPr>
              <a:t>Your data</a:t>
            </a:r>
            <a:endParaRPr lang="en-US" sz="3400" dirty="0"/>
          </a:p>
          <a:p>
            <a:pPr algn="l" indent="0" marL="0">
              <a:buNone/>
            </a:pPr>
            <a:r>
              <a:rPr lang="en-US" sz="3400" dirty="0">
                <a:solidFill>
                  <a:srgbClr val="8E8E93"/>
                </a:solidFill>
                <a:latin typeface="Arial" pitchFamily="34" charset="0"/>
                <a:ea typeface="Arial" pitchFamily="34" charset="-122"/>
                <a:cs typeface="Arial" pitchFamily="34" charset="-120"/>
              </a:rPr>
              <a:t>stays yours</a:t>
            </a:r>
            <a:endParaRPr lang="en-US" sz="3400" dirty="0"/>
          </a:p>
        </p:txBody>
      </p:sp>
      <p:sp>
        <p:nvSpPr>
          <p:cNvPr id="5" name="tile0"/>
          <p:cNvSpPr/>
          <p:nvPr/>
        </p:nvSpPr>
        <p:spPr>
          <a:xfrm>
            <a:off x="548640" y="2286000"/>
            <a:ext cx="3515258" cy="1874520"/>
          </a:xfrm>
          <a:prstGeom prst="roundRect">
            <a:avLst>
              <a:gd name="adj" fmla="val 7805"/>
            </a:avLst>
          </a:prstGeom>
          <a:solidFill>
            <a:srgbClr val="1C1C1E"/>
          </a:solidFill>
          <a:ln w="9525">
            <a:solidFill>
              <a:srgbClr val="2C2C2E"/>
            </a:solidFill>
            <a:prstDash val="solid"/>
          </a:ln>
        </p:spPr>
      </p:sp>
      <p:sp>
        <p:nvSpPr>
          <p:cNvPr id="6" name="dot-lock"/>
          <p:cNvSpPr/>
          <p:nvPr/>
        </p:nvSpPr>
        <p:spPr>
          <a:xfrm>
            <a:off x="822960" y="2542032"/>
            <a:ext cx="457200" cy="457200"/>
          </a:xfrm>
          <a:prstGeom prst="ellipse">
            <a:avLst/>
          </a:prstGeom>
          <a:solidFill>
            <a:srgbClr val="2C2C2E"/>
          </a:solidFill>
          <a:ln/>
        </p:spPr>
      </p:sp>
      <p:pic>
        <p:nvPicPr>
          <p:cNvPr id="7" name="icon-lock" descr="">    </p:cNvPr>
          <p:cNvPicPr>
            <a:picLocks noChangeAspect="1"/>
          </p:cNvPicPr>
          <p:nvPr/>
        </p:nvPicPr>
        <p:blipFill>
          <a:blip r:embed="rId1"/>
          <a:stretch>
            <a:fillRect/>
          </a:stretch>
        </p:blipFill>
        <p:spPr>
          <a:xfrm>
            <a:off x="928116" y="2647188"/>
            <a:ext cx="246888" cy="246888"/>
          </a:xfrm>
          <a:prstGeom prst="rect">
            <a:avLst/>
          </a:prstGeom>
        </p:spPr>
      </p:pic>
      <p:sp>
        <p:nvSpPr>
          <p:cNvPr id="8" name="h0"/>
          <p:cNvSpPr txBox="1"/>
          <p:nvPr/>
        </p:nvSpPr>
        <p:spPr>
          <a:xfrm>
            <a:off x="822960" y="3108960"/>
            <a:ext cx="2966618" cy="329184"/>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Locked files</a:t>
            </a:r>
            <a:endParaRPr lang="en-US" sz="1500" dirty="0"/>
          </a:p>
        </p:txBody>
      </p:sp>
      <p:sp>
        <p:nvSpPr>
          <p:cNvPr id="9" name="t0"/>
          <p:cNvSpPr txBox="1"/>
          <p:nvPr/>
        </p:nvSpPr>
        <p:spPr>
          <a:xfrm>
            <a:off x="822960" y="3447288"/>
            <a:ext cx="2966618" cy="640080"/>
          </a:xfrm>
          <a:prstGeom prst="rect">
            <a:avLst/>
          </a:prstGeom>
          <a:noFill/>
          <a:ln/>
        </p:spPr>
        <p:txBody>
          <a:bodyPr wrap="square" lIns="0" tIns="0" rIns="0" bIns="0" rtlCol="0" anchor="t"/>
          <a:lstStyle/>
          <a:p>
            <a:pPr indent="0" marL="0">
              <a:buNone/>
            </a:pPr>
            <a:r>
              <a:rPr lang="en-US" sz="1200" dirty="0">
                <a:solidFill>
                  <a:srgbClr val="A8A8AD"/>
                </a:solidFill>
                <a:latin typeface="Arial" pitchFamily="34" charset="0"/>
                <a:ea typeface="Arial" pitchFamily="34" charset="-122"/>
                <a:cs typeface="Arial" pitchFamily="34" charset="-120"/>
              </a:rPr>
              <a:t>Encrypted in the shared folder (AES-GCM): unreadable outside the tool.</a:t>
            </a:r>
            <a:endParaRPr lang="en-US" sz="1200" dirty="0"/>
          </a:p>
        </p:txBody>
      </p:sp>
      <p:sp>
        <p:nvSpPr>
          <p:cNvPr id="10" name="tile1"/>
          <p:cNvSpPr/>
          <p:nvPr/>
        </p:nvSpPr>
        <p:spPr>
          <a:xfrm>
            <a:off x="4338218" y="2286000"/>
            <a:ext cx="3515258" cy="1874520"/>
          </a:xfrm>
          <a:prstGeom prst="roundRect">
            <a:avLst>
              <a:gd name="adj" fmla="val 7805"/>
            </a:avLst>
          </a:prstGeom>
          <a:solidFill>
            <a:srgbClr val="1C1C1E"/>
          </a:solidFill>
          <a:ln w="9525">
            <a:solidFill>
              <a:srgbClr val="2C2C2E"/>
            </a:solidFill>
            <a:prstDash val="solid"/>
          </a:ln>
        </p:spPr>
      </p:sp>
      <p:sp>
        <p:nvSpPr>
          <p:cNvPr id="11" name="dot-user"/>
          <p:cNvSpPr/>
          <p:nvPr/>
        </p:nvSpPr>
        <p:spPr>
          <a:xfrm>
            <a:off x="4612538" y="2542032"/>
            <a:ext cx="457200" cy="457200"/>
          </a:xfrm>
          <a:prstGeom prst="ellipse">
            <a:avLst/>
          </a:prstGeom>
          <a:solidFill>
            <a:srgbClr val="2C2C2E"/>
          </a:solidFill>
          <a:ln/>
        </p:spPr>
      </p:sp>
      <p:pic>
        <p:nvPicPr>
          <p:cNvPr id="12" name="icon-user" descr="">    </p:cNvPr>
          <p:cNvPicPr>
            <a:picLocks noChangeAspect="1"/>
          </p:cNvPicPr>
          <p:nvPr/>
        </p:nvPicPr>
        <p:blipFill>
          <a:blip r:embed="rId2"/>
          <a:stretch>
            <a:fillRect/>
          </a:stretch>
        </p:blipFill>
        <p:spPr>
          <a:xfrm>
            <a:off x="4717694" y="2647188"/>
            <a:ext cx="246888" cy="246888"/>
          </a:xfrm>
          <a:prstGeom prst="rect">
            <a:avLst/>
          </a:prstGeom>
        </p:spPr>
      </p:pic>
      <p:sp>
        <p:nvSpPr>
          <p:cNvPr id="13" name="h1"/>
          <p:cNvSpPr txBox="1"/>
          <p:nvPr/>
        </p:nvSpPr>
        <p:spPr>
          <a:xfrm>
            <a:off x="4612538" y="3108960"/>
            <a:ext cx="2966618" cy="329184"/>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Sign-in and roles</a:t>
            </a:r>
            <a:endParaRPr lang="en-US" sz="1500" dirty="0"/>
          </a:p>
        </p:txBody>
      </p:sp>
      <p:sp>
        <p:nvSpPr>
          <p:cNvPr id="14" name="t1"/>
          <p:cNvSpPr txBox="1"/>
          <p:nvPr/>
        </p:nvSpPr>
        <p:spPr>
          <a:xfrm>
            <a:off x="4612538" y="3447288"/>
            <a:ext cx="2966618" cy="640080"/>
          </a:xfrm>
          <a:prstGeom prst="rect">
            <a:avLst/>
          </a:prstGeom>
          <a:noFill/>
          <a:ln/>
        </p:spPr>
        <p:txBody>
          <a:bodyPr wrap="square" lIns="0" tIns="0" rIns="0" bIns="0" rtlCol="0" anchor="t"/>
          <a:lstStyle/>
          <a:p>
            <a:pPr indent="0" marL="0">
              <a:buNone/>
            </a:pPr>
            <a:r>
              <a:rPr lang="en-US" sz="1200" dirty="0">
                <a:solidFill>
                  <a:srgbClr val="A8A8AD"/>
                </a:solidFill>
                <a:latin typeface="Arial" pitchFamily="34" charset="0"/>
                <a:ea typeface="Arial" pitchFamily="34" charset="-122"/>
                <a:cs typeface="Arial" pitchFamily="34" charset="-120"/>
              </a:rPr>
              <a:t>Passwords, roles and approvals; an agent sees only their own page.</a:t>
            </a:r>
            <a:endParaRPr lang="en-US" sz="1200" dirty="0"/>
          </a:p>
        </p:txBody>
      </p:sp>
      <p:sp>
        <p:nvSpPr>
          <p:cNvPr id="15" name="tile2"/>
          <p:cNvSpPr/>
          <p:nvPr/>
        </p:nvSpPr>
        <p:spPr>
          <a:xfrm>
            <a:off x="8127797" y="2286000"/>
            <a:ext cx="3515258" cy="1874520"/>
          </a:xfrm>
          <a:prstGeom prst="roundRect">
            <a:avLst>
              <a:gd name="adj" fmla="val 7805"/>
            </a:avLst>
          </a:prstGeom>
          <a:solidFill>
            <a:srgbClr val="1C1C1E"/>
          </a:solidFill>
          <a:ln w="9525">
            <a:solidFill>
              <a:srgbClr val="2C2C2E"/>
            </a:solidFill>
            <a:prstDash val="solid"/>
          </a:ln>
        </p:spPr>
      </p:sp>
      <p:sp>
        <p:nvSpPr>
          <p:cNvPr id="16" name="dot-offline"/>
          <p:cNvSpPr/>
          <p:nvPr/>
        </p:nvSpPr>
        <p:spPr>
          <a:xfrm>
            <a:off x="8402117" y="2542032"/>
            <a:ext cx="457200" cy="457200"/>
          </a:xfrm>
          <a:prstGeom prst="ellipse">
            <a:avLst/>
          </a:prstGeom>
          <a:solidFill>
            <a:srgbClr val="2C2C2E"/>
          </a:solidFill>
          <a:ln/>
        </p:spPr>
      </p:sp>
      <p:pic>
        <p:nvPicPr>
          <p:cNvPr id="17" name="icon-offline" descr="">    </p:cNvPr>
          <p:cNvPicPr>
            <a:picLocks noChangeAspect="1"/>
          </p:cNvPicPr>
          <p:nvPr/>
        </p:nvPicPr>
        <p:blipFill>
          <a:blip r:embed="rId3"/>
          <a:stretch>
            <a:fillRect/>
          </a:stretch>
        </p:blipFill>
        <p:spPr>
          <a:xfrm>
            <a:off x="8507273" y="2647188"/>
            <a:ext cx="246888" cy="246888"/>
          </a:xfrm>
          <a:prstGeom prst="rect">
            <a:avLst/>
          </a:prstGeom>
        </p:spPr>
      </p:pic>
      <p:sp>
        <p:nvSpPr>
          <p:cNvPr id="18" name="h2"/>
          <p:cNvSpPr txBox="1"/>
          <p:nvPr/>
        </p:nvSpPr>
        <p:spPr>
          <a:xfrm>
            <a:off x="8402117" y="3108960"/>
            <a:ext cx="2966618" cy="329184"/>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No network</a:t>
            </a:r>
            <a:endParaRPr lang="en-US" sz="1500" dirty="0"/>
          </a:p>
        </p:txBody>
      </p:sp>
      <p:sp>
        <p:nvSpPr>
          <p:cNvPr id="19" name="t2"/>
          <p:cNvSpPr txBox="1"/>
          <p:nvPr/>
        </p:nvSpPr>
        <p:spPr>
          <a:xfrm>
            <a:off x="8402117" y="3447288"/>
            <a:ext cx="2966618" cy="640080"/>
          </a:xfrm>
          <a:prstGeom prst="rect">
            <a:avLst/>
          </a:prstGeom>
          <a:noFill/>
          <a:ln/>
        </p:spPr>
        <p:txBody>
          <a:bodyPr wrap="square" lIns="0" tIns="0" rIns="0" bIns="0" rtlCol="0" anchor="t"/>
          <a:lstStyle/>
          <a:p>
            <a:pPr indent="0" marL="0">
              <a:buNone/>
            </a:pPr>
            <a:r>
              <a:rPr lang="en-US" sz="1200" dirty="0">
                <a:solidFill>
                  <a:srgbClr val="A8A8AD"/>
                </a:solidFill>
                <a:latin typeface="Arial" pitchFamily="34" charset="0"/>
                <a:ea typeface="Arial" pitchFamily="34" charset="-122"/>
                <a:cs typeface="Arial" pitchFamily="34" charset="-120"/>
              </a:rPr>
              <a:t>The tool sends nothing and calls no server.</a:t>
            </a:r>
            <a:endParaRPr lang="en-US" sz="1200" dirty="0"/>
          </a:p>
        </p:txBody>
      </p:sp>
      <p:sp>
        <p:nvSpPr>
          <p:cNvPr id="20" name="tile3"/>
          <p:cNvSpPr/>
          <p:nvPr/>
        </p:nvSpPr>
        <p:spPr>
          <a:xfrm>
            <a:off x="548640" y="4389120"/>
            <a:ext cx="3515258" cy="1874520"/>
          </a:xfrm>
          <a:prstGeom prst="roundRect">
            <a:avLst>
              <a:gd name="adj" fmla="val 7805"/>
            </a:avLst>
          </a:prstGeom>
          <a:solidFill>
            <a:srgbClr val="1C1C1E"/>
          </a:solidFill>
          <a:ln w="9525">
            <a:solidFill>
              <a:srgbClr val="2C2C2E"/>
            </a:solidFill>
            <a:prstDash val="solid"/>
          </a:ln>
        </p:spPr>
      </p:sp>
      <p:sp>
        <p:nvSpPr>
          <p:cNvPr id="21" name="dot-eye"/>
          <p:cNvSpPr/>
          <p:nvPr/>
        </p:nvSpPr>
        <p:spPr>
          <a:xfrm>
            <a:off x="822960" y="4645152"/>
            <a:ext cx="457200" cy="457200"/>
          </a:xfrm>
          <a:prstGeom prst="ellipse">
            <a:avLst/>
          </a:prstGeom>
          <a:solidFill>
            <a:srgbClr val="2C2C2E"/>
          </a:solidFill>
          <a:ln/>
        </p:spPr>
      </p:sp>
      <p:pic>
        <p:nvPicPr>
          <p:cNvPr id="22" name="icon-eye" descr="">    </p:cNvPr>
          <p:cNvPicPr>
            <a:picLocks noChangeAspect="1"/>
          </p:cNvPicPr>
          <p:nvPr/>
        </p:nvPicPr>
        <p:blipFill>
          <a:blip r:embed="rId4"/>
          <a:stretch>
            <a:fillRect/>
          </a:stretch>
        </p:blipFill>
        <p:spPr>
          <a:xfrm>
            <a:off x="928116" y="4750308"/>
            <a:ext cx="246888" cy="246888"/>
          </a:xfrm>
          <a:prstGeom prst="rect">
            <a:avLst/>
          </a:prstGeom>
        </p:spPr>
      </p:pic>
      <p:sp>
        <p:nvSpPr>
          <p:cNvPr id="23" name="h3"/>
          <p:cNvSpPr txBox="1"/>
          <p:nvPr/>
        </p:nvSpPr>
        <p:spPr>
          <a:xfrm>
            <a:off x="822960" y="5212080"/>
            <a:ext cx="2966618" cy="329184"/>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No IDs in emails</a:t>
            </a:r>
            <a:endParaRPr lang="en-US" sz="1500" dirty="0"/>
          </a:p>
        </p:txBody>
      </p:sp>
      <p:sp>
        <p:nvSpPr>
          <p:cNvPr id="24" name="t3"/>
          <p:cNvSpPr txBox="1"/>
          <p:nvPr/>
        </p:nvSpPr>
        <p:spPr>
          <a:xfrm>
            <a:off x="822960" y="5550408"/>
            <a:ext cx="2966618" cy="640080"/>
          </a:xfrm>
          <a:prstGeom prst="rect">
            <a:avLst/>
          </a:prstGeom>
          <a:noFill/>
          <a:ln/>
        </p:spPr>
        <p:txBody>
          <a:bodyPr wrap="square" lIns="0" tIns="0" rIns="0" bIns="0" rtlCol="0" anchor="t"/>
          <a:lstStyle/>
          <a:p>
            <a:pPr indent="0" marL="0">
              <a:buNone/>
            </a:pPr>
            <a:r>
              <a:rPr lang="en-US" sz="1200" dirty="0">
                <a:solidFill>
                  <a:srgbClr val="A8A8AD"/>
                </a:solidFill>
                <a:latin typeface="Arial" pitchFamily="34" charset="0"/>
                <a:ea typeface="Arial" pitchFamily="34" charset="-122"/>
                <a:cs typeface="Arial" pitchFamily="34" charset="-120"/>
              </a:rPr>
              <a:t>Email attachments carry names only, never National IDs.</a:t>
            </a:r>
            <a:endParaRPr lang="en-US" sz="1200" dirty="0"/>
          </a:p>
        </p:txBody>
      </p:sp>
      <p:sp>
        <p:nvSpPr>
          <p:cNvPr id="25" name="tile4"/>
          <p:cNvSpPr/>
          <p:nvPr/>
        </p:nvSpPr>
        <p:spPr>
          <a:xfrm>
            <a:off x="4338218" y="4389120"/>
            <a:ext cx="3515258" cy="1874520"/>
          </a:xfrm>
          <a:prstGeom prst="roundRect">
            <a:avLst>
              <a:gd name="adj" fmla="val 7805"/>
            </a:avLst>
          </a:prstGeom>
          <a:solidFill>
            <a:srgbClr val="1C1C1E"/>
          </a:solidFill>
          <a:ln w="9525">
            <a:solidFill>
              <a:srgbClr val="2C2C2E"/>
            </a:solidFill>
            <a:prstDash val="solid"/>
          </a:ln>
        </p:spPr>
      </p:sp>
      <p:sp>
        <p:nvSpPr>
          <p:cNvPr id="26" name="dot-database"/>
          <p:cNvSpPr/>
          <p:nvPr/>
        </p:nvSpPr>
        <p:spPr>
          <a:xfrm>
            <a:off x="4612538" y="4645152"/>
            <a:ext cx="457200" cy="457200"/>
          </a:xfrm>
          <a:prstGeom prst="ellipse">
            <a:avLst/>
          </a:prstGeom>
          <a:solidFill>
            <a:srgbClr val="2C2C2E"/>
          </a:solidFill>
          <a:ln/>
        </p:spPr>
      </p:sp>
      <p:pic>
        <p:nvPicPr>
          <p:cNvPr id="27" name="icon-database" descr="">    </p:cNvPr>
          <p:cNvPicPr>
            <a:picLocks noChangeAspect="1"/>
          </p:cNvPicPr>
          <p:nvPr/>
        </p:nvPicPr>
        <p:blipFill>
          <a:blip r:embed="rId5"/>
          <a:stretch>
            <a:fillRect/>
          </a:stretch>
        </p:blipFill>
        <p:spPr>
          <a:xfrm>
            <a:off x="4717694" y="4750308"/>
            <a:ext cx="246888" cy="246888"/>
          </a:xfrm>
          <a:prstGeom prst="rect">
            <a:avLst/>
          </a:prstGeom>
        </p:spPr>
      </p:pic>
      <p:sp>
        <p:nvSpPr>
          <p:cNvPr id="28" name="h4"/>
          <p:cNvSpPr txBox="1"/>
          <p:nvPr/>
        </p:nvSpPr>
        <p:spPr>
          <a:xfrm>
            <a:off x="4612538" y="5212080"/>
            <a:ext cx="2966618" cy="329184"/>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A locked backup</a:t>
            </a:r>
            <a:endParaRPr lang="en-US" sz="1500" dirty="0"/>
          </a:p>
        </p:txBody>
      </p:sp>
      <p:sp>
        <p:nvSpPr>
          <p:cNvPr id="29" name="t4"/>
          <p:cNvSpPr txBox="1"/>
          <p:nvPr/>
        </p:nvSpPr>
        <p:spPr>
          <a:xfrm>
            <a:off x="4612538" y="5550408"/>
            <a:ext cx="2966618" cy="640080"/>
          </a:xfrm>
          <a:prstGeom prst="rect">
            <a:avLst/>
          </a:prstGeom>
          <a:noFill/>
          <a:ln/>
        </p:spPr>
        <p:txBody>
          <a:bodyPr wrap="square" lIns="0" tIns="0" rIns="0" bIns="0" rtlCol="0" anchor="t"/>
          <a:lstStyle/>
          <a:p>
            <a:pPr indent="0" marL="0">
              <a:buNone/>
            </a:pPr>
            <a:r>
              <a:rPr lang="en-US" sz="1200" dirty="0">
                <a:solidFill>
                  <a:srgbClr val="A8A8AD"/>
                </a:solidFill>
                <a:latin typeface="Arial" pitchFamily="34" charset="0"/>
                <a:ea typeface="Arial" pitchFamily="34" charset="-122"/>
                <a:cs typeface="Arial" pitchFamily="34" charset="-120"/>
              </a:rPr>
              <a:t>The WFM team exports everything to one file locked with a password.</a:t>
            </a:r>
            <a:endParaRPr lang="en-US" sz="1200" dirty="0"/>
          </a:p>
        </p:txBody>
      </p:sp>
      <p:sp>
        <p:nvSpPr>
          <p:cNvPr id="30" name="tile5"/>
          <p:cNvSpPr/>
          <p:nvPr/>
        </p:nvSpPr>
        <p:spPr>
          <a:xfrm>
            <a:off x="8127797" y="4389120"/>
            <a:ext cx="3515258" cy="1874520"/>
          </a:xfrm>
          <a:prstGeom prst="roundRect">
            <a:avLst>
              <a:gd name="adj" fmla="val 7805"/>
            </a:avLst>
          </a:prstGeom>
          <a:solidFill>
            <a:srgbClr val="1C1C1E"/>
          </a:solidFill>
          <a:ln w="9525">
            <a:solidFill>
              <a:srgbClr val="2C2C2E"/>
            </a:solidFill>
            <a:prstDash val="solid"/>
          </a:ln>
        </p:spPr>
      </p:sp>
      <p:sp>
        <p:nvSpPr>
          <p:cNvPr id="31" name="dot-clock"/>
          <p:cNvSpPr/>
          <p:nvPr/>
        </p:nvSpPr>
        <p:spPr>
          <a:xfrm>
            <a:off x="8402117" y="4645152"/>
            <a:ext cx="457200" cy="457200"/>
          </a:xfrm>
          <a:prstGeom prst="ellipse">
            <a:avLst/>
          </a:prstGeom>
          <a:solidFill>
            <a:srgbClr val="2C2C2E"/>
          </a:solidFill>
          <a:ln/>
        </p:spPr>
      </p:sp>
      <p:pic>
        <p:nvPicPr>
          <p:cNvPr id="32" name="icon-clock" descr="">    </p:cNvPr>
          <p:cNvPicPr>
            <a:picLocks noChangeAspect="1"/>
          </p:cNvPicPr>
          <p:nvPr/>
        </p:nvPicPr>
        <p:blipFill>
          <a:blip r:embed="rId6"/>
          <a:stretch>
            <a:fillRect/>
          </a:stretch>
        </p:blipFill>
        <p:spPr>
          <a:xfrm>
            <a:off x="8507273" y="4750308"/>
            <a:ext cx="246888" cy="246888"/>
          </a:xfrm>
          <a:prstGeom prst="rect">
            <a:avLst/>
          </a:prstGeom>
        </p:spPr>
      </p:pic>
      <p:sp>
        <p:nvSpPr>
          <p:cNvPr id="33" name="h5"/>
          <p:cNvSpPr txBox="1"/>
          <p:nvPr/>
        </p:nvSpPr>
        <p:spPr>
          <a:xfrm>
            <a:off x="8402117" y="5212080"/>
            <a:ext cx="2966618" cy="329184"/>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Every change logged</a:t>
            </a:r>
            <a:endParaRPr lang="en-US" sz="1500" dirty="0"/>
          </a:p>
        </p:txBody>
      </p:sp>
      <p:sp>
        <p:nvSpPr>
          <p:cNvPr id="34" name="t5"/>
          <p:cNvSpPr txBox="1"/>
          <p:nvPr/>
        </p:nvSpPr>
        <p:spPr>
          <a:xfrm>
            <a:off x="8402117" y="5550408"/>
            <a:ext cx="2966618" cy="640080"/>
          </a:xfrm>
          <a:prstGeom prst="rect">
            <a:avLst/>
          </a:prstGeom>
          <a:noFill/>
          <a:ln/>
        </p:spPr>
        <p:txBody>
          <a:bodyPr wrap="square" lIns="0" tIns="0" rIns="0" bIns="0" rtlCol="0" anchor="t"/>
          <a:lstStyle/>
          <a:p>
            <a:pPr indent="0" marL="0">
              <a:buNone/>
            </a:pPr>
            <a:r>
              <a:rPr lang="en-US" sz="1200" dirty="0">
                <a:solidFill>
                  <a:srgbClr val="A8A8AD"/>
                </a:solidFill>
                <a:latin typeface="Arial" pitchFamily="34" charset="0"/>
                <a:ea typeface="Arial" pitchFamily="34" charset="-122"/>
                <a:cs typeface="Arial" pitchFamily="34" charset="-120"/>
              </a:rPr>
              <a:t>Adjustments, rules and ticks keep who made them and when.</a:t>
            </a:r>
            <a:endParaRPr lang="en-US" sz="12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E6E73"/>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42" presetClass="entr" presetSubtype="0" fill="hold" grpId="0" nodeType="withEffect">
                                  <p:stCondLst>
                                    <p:cond delay="3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650"/>
                                        <p:tgtEl>
                                          <p:spTgt spid="5"/>
                                        </p:tgtEl>
                                      </p:cBhvr>
                                    </p:animEffect>
                                    <p:anim calcmode="lin" valueType="num">
                                      <p:cBhvr>
                                        <p:cTn id="14" dur="650" fill="hold"/>
                                        <p:tgtEl>
                                          <p:spTgt spid="5"/>
                                        </p:tgtEl>
                                        <p:attrNameLst>
                                          <p:attrName>ppt_x</p:attrName>
                                        </p:attrNameLst>
                                      </p:cBhvr>
                                      <p:tavLst>
                                        <p:tav tm="0">
                                          <p:val>
                                            <p:strVal val="#ppt_x"/>
                                          </p:val>
                                        </p:tav>
                                        <p:tav tm="100000">
                                          <p:val>
                                            <p:strVal val="#ppt_x"/>
                                          </p:val>
                                        </p:tav>
                                      </p:tavLst>
                                    </p:anim>
                                    <p:anim calcmode="lin" valueType="num">
                                      <p:cBhvr>
                                        <p:cTn id="15" dur="650" fill="hold"/>
                                        <p:tgtEl>
                                          <p:spTgt spid="5"/>
                                        </p:tgtEl>
                                        <p:attrNameLst>
                                          <p:attrName>ppt_y</p:attrName>
                                        </p:attrNameLst>
                                      </p:cBhvr>
                                      <p:tavLst>
                                        <p:tav tm="0">
                                          <p:val>
                                            <p:strVal val="#ppt_y+.05"/>
                                          </p:val>
                                        </p:tav>
                                        <p:tav tm="100000">
                                          <p:val>
                                            <p:strVal val="#ppt_y"/>
                                          </p:val>
                                        </p:tav>
                                      </p:tavLst>
                                    </p:anim>
                                  </p:childTnLst>
                                </p:cTn>
                              </p:par>
                              <p:par>
                                <p:cTn id="16" presetID="42" presetClass="entr" presetSubtype="0" fill="hold" grpId="0" nodeType="withEffect">
                                  <p:stCondLst>
                                    <p:cond delay="30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650"/>
                                        <p:tgtEl>
                                          <p:spTgt spid="6"/>
                                        </p:tgtEl>
                                      </p:cBhvr>
                                    </p:animEffect>
                                    <p:anim calcmode="lin" valueType="num">
                                      <p:cBhvr>
                                        <p:cTn id="19" dur="650" fill="hold"/>
                                        <p:tgtEl>
                                          <p:spTgt spid="6"/>
                                        </p:tgtEl>
                                        <p:attrNameLst>
                                          <p:attrName>ppt_x</p:attrName>
                                        </p:attrNameLst>
                                      </p:cBhvr>
                                      <p:tavLst>
                                        <p:tav tm="0">
                                          <p:val>
                                            <p:strVal val="#ppt_x"/>
                                          </p:val>
                                        </p:tav>
                                        <p:tav tm="100000">
                                          <p:val>
                                            <p:strVal val="#ppt_x"/>
                                          </p:val>
                                        </p:tav>
                                      </p:tavLst>
                                    </p:anim>
                                    <p:anim calcmode="lin" valueType="num">
                                      <p:cBhvr>
                                        <p:cTn id="20" dur="650" fill="hold"/>
                                        <p:tgtEl>
                                          <p:spTgt spid="6"/>
                                        </p:tgtEl>
                                        <p:attrNameLst>
                                          <p:attrName>ppt_y</p:attrName>
                                        </p:attrNameLst>
                                      </p:cBhvr>
                                      <p:tavLst>
                                        <p:tav tm="0">
                                          <p:val>
                                            <p:strVal val="#ppt_y+.05"/>
                                          </p:val>
                                        </p:tav>
                                        <p:tav tm="100000">
                                          <p:val>
                                            <p:strVal val="#ppt_y"/>
                                          </p:val>
                                        </p:tav>
                                      </p:tavLst>
                                    </p:anim>
                                  </p:childTnLst>
                                </p:cTn>
                              </p:par>
                              <p:par>
                                <p:cTn id="21" presetID="42" presetClass="entr" presetSubtype="0" fill="hold" grpId="0" nodeType="withEffect">
                                  <p:stCondLst>
                                    <p:cond delay="30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650"/>
                                        <p:tgtEl>
                                          <p:spTgt spid="7"/>
                                        </p:tgtEl>
                                      </p:cBhvr>
                                    </p:animEffect>
                                    <p:anim calcmode="lin" valueType="num">
                                      <p:cBhvr>
                                        <p:cTn id="24" dur="650" fill="hold"/>
                                        <p:tgtEl>
                                          <p:spTgt spid="7"/>
                                        </p:tgtEl>
                                        <p:attrNameLst>
                                          <p:attrName>ppt_x</p:attrName>
                                        </p:attrNameLst>
                                      </p:cBhvr>
                                      <p:tavLst>
                                        <p:tav tm="0">
                                          <p:val>
                                            <p:strVal val="#ppt_x"/>
                                          </p:val>
                                        </p:tav>
                                        <p:tav tm="100000">
                                          <p:val>
                                            <p:strVal val="#ppt_x"/>
                                          </p:val>
                                        </p:tav>
                                      </p:tavLst>
                                    </p:anim>
                                    <p:anim calcmode="lin" valueType="num">
                                      <p:cBhvr>
                                        <p:cTn id="25" dur="650" fill="hold"/>
                                        <p:tgtEl>
                                          <p:spTgt spid="7"/>
                                        </p:tgtEl>
                                        <p:attrNameLst>
                                          <p:attrName>ppt_y</p:attrName>
                                        </p:attrNameLst>
                                      </p:cBhvr>
                                      <p:tavLst>
                                        <p:tav tm="0">
                                          <p:val>
                                            <p:strVal val="#ppt_y+.05"/>
                                          </p:val>
                                        </p:tav>
                                        <p:tav tm="100000">
                                          <p:val>
                                            <p:strVal val="#ppt_y"/>
                                          </p:val>
                                        </p:tav>
                                      </p:tavLst>
                                    </p:anim>
                                  </p:childTnLst>
                                </p:cTn>
                              </p:par>
                              <p:par>
                                <p:cTn id="26" presetID="42" presetClass="entr" presetSubtype="0" fill="hold" grpId="0" nodeType="withEffect">
                                  <p:stCondLst>
                                    <p:cond delay="30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650"/>
                                        <p:tgtEl>
                                          <p:spTgt spid="8"/>
                                        </p:tgtEl>
                                      </p:cBhvr>
                                    </p:animEffect>
                                    <p:anim calcmode="lin" valueType="num">
                                      <p:cBhvr>
                                        <p:cTn id="29" dur="650" fill="hold"/>
                                        <p:tgtEl>
                                          <p:spTgt spid="8"/>
                                        </p:tgtEl>
                                        <p:attrNameLst>
                                          <p:attrName>ppt_x</p:attrName>
                                        </p:attrNameLst>
                                      </p:cBhvr>
                                      <p:tavLst>
                                        <p:tav tm="0">
                                          <p:val>
                                            <p:strVal val="#ppt_x"/>
                                          </p:val>
                                        </p:tav>
                                        <p:tav tm="100000">
                                          <p:val>
                                            <p:strVal val="#ppt_x"/>
                                          </p:val>
                                        </p:tav>
                                      </p:tavLst>
                                    </p:anim>
                                    <p:anim calcmode="lin" valueType="num">
                                      <p:cBhvr>
                                        <p:cTn id="30" dur="650" fill="hold"/>
                                        <p:tgtEl>
                                          <p:spTgt spid="8"/>
                                        </p:tgtEl>
                                        <p:attrNameLst>
                                          <p:attrName>ppt_y</p:attrName>
                                        </p:attrNameLst>
                                      </p:cBhvr>
                                      <p:tavLst>
                                        <p:tav tm="0">
                                          <p:val>
                                            <p:strVal val="#ppt_y+.05"/>
                                          </p:val>
                                        </p:tav>
                                        <p:tav tm="100000">
                                          <p:val>
                                            <p:strVal val="#ppt_y"/>
                                          </p:val>
                                        </p:tav>
                                      </p:tavLst>
                                    </p:anim>
                                  </p:childTnLst>
                                </p:cTn>
                              </p:par>
                              <p:par>
                                <p:cTn id="31" presetID="42" presetClass="entr" presetSubtype="0" fill="hold" grpId="0" nodeType="withEffect">
                                  <p:stCondLst>
                                    <p:cond delay="30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650"/>
                                        <p:tgtEl>
                                          <p:spTgt spid="9"/>
                                        </p:tgtEl>
                                      </p:cBhvr>
                                    </p:animEffect>
                                    <p:anim calcmode="lin" valueType="num">
                                      <p:cBhvr>
                                        <p:cTn id="34" dur="650" fill="hold"/>
                                        <p:tgtEl>
                                          <p:spTgt spid="9"/>
                                        </p:tgtEl>
                                        <p:attrNameLst>
                                          <p:attrName>ppt_x</p:attrName>
                                        </p:attrNameLst>
                                      </p:cBhvr>
                                      <p:tavLst>
                                        <p:tav tm="0">
                                          <p:val>
                                            <p:strVal val="#ppt_x"/>
                                          </p:val>
                                        </p:tav>
                                        <p:tav tm="100000">
                                          <p:val>
                                            <p:strVal val="#ppt_x"/>
                                          </p:val>
                                        </p:tav>
                                      </p:tavLst>
                                    </p:anim>
                                    <p:anim calcmode="lin" valueType="num">
                                      <p:cBhvr>
                                        <p:cTn id="35" dur="650" fill="hold"/>
                                        <p:tgtEl>
                                          <p:spTgt spid="9"/>
                                        </p:tgtEl>
                                        <p:attrNameLst>
                                          <p:attrName>ppt_y</p:attrName>
                                        </p:attrNameLst>
                                      </p:cBhvr>
                                      <p:tavLst>
                                        <p:tav tm="0">
                                          <p:val>
                                            <p:strVal val="#ppt_y+.05"/>
                                          </p:val>
                                        </p:tav>
                                        <p:tav tm="100000">
                                          <p:val>
                                            <p:strVal val="#ppt_y"/>
                                          </p:val>
                                        </p:tav>
                                      </p:tavLst>
                                    </p:anim>
                                  </p:childTnLst>
                                </p:cTn>
                              </p:par>
                              <p:par>
                                <p:cTn id="36" presetID="42" presetClass="entr" presetSubtype="0" fill="hold" grpId="0" nodeType="withEffect">
                                  <p:stCondLst>
                                    <p:cond delay="41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650"/>
                                        <p:tgtEl>
                                          <p:spTgt spid="10"/>
                                        </p:tgtEl>
                                      </p:cBhvr>
                                    </p:animEffect>
                                    <p:anim calcmode="lin" valueType="num">
                                      <p:cBhvr>
                                        <p:cTn id="39" dur="650" fill="hold"/>
                                        <p:tgtEl>
                                          <p:spTgt spid="10"/>
                                        </p:tgtEl>
                                        <p:attrNameLst>
                                          <p:attrName>ppt_x</p:attrName>
                                        </p:attrNameLst>
                                      </p:cBhvr>
                                      <p:tavLst>
                                        <p:tav tm="0">
                                          <p:val>
                                            <p:strVal val="#ppt_x"/>
                                          </p:val>
                                        </p:tav>
                                        <p:tav tm="100000">
                                          <p:val>
                                            <p:strVal val="#ppt_x"/>
                                          </p:val>
                                        </p:tav>
                                      </p:tavLst>
                                    </p:anim>
                                    <p:anim calcmode="lin" valueType="num">
                                      <p:cBhvr>
                                        <p:cTn id="40" dur="650" fill="hold"/>
                                        <p:tgtEl>
                                          <p:spTgt spid="10"/>
                                        </p:tgtEl>
                                        <p:attrNameLst>
                                          <p:attrName>ppt_y</p:attrName>
                                        </p:attrNameLst>
                                      </p:cBhvr>
                                      <p:tavLst>
                                        <p:tav tm="0">
                                          <p:val>
                                            <p:strVal val="#ppt_y+.05"/>
                                          </p:val>
                                        </p:tav>
                                        <p:tav tm="100000">
                                          <p:val>
                                            <p:strVal val="#ppt_y"/>
                                          </p:val>
                                        </p:tav>
                                      </p:tavLst>
                                    </p:anim>
                                  </p:childTnLst>
                                </p:cTn>
                              </p:par>
                              <p:par>
                                <p:cTn id="41" presetID="42" presetClass="entr" presetSubtype="0" fill="hold" grpId="0" nodeType="withEffect">
                                  <p:stCondLst>
                                    <p:cond delay="41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650"/>
                                        <p:tgtEl>
                                          <p:spTgt spid="11"/>
                                        </p:tgtEl>
                                      </p:cBhvr>
                                    </p:animEffect>
                                    <p:anim calcmode="lin" valueType="num">
                                      <p:cBhvr>
                                        <p:cTn id="44" dur="650" fill="hold"/>
                                        <p:tgtEl>
                                          <p:spTgt spid="11"/>
                                        </p:tgtEl>
                                        <p:attrNameLst>
                                          <p:attrName>ppt_x</p:attrName>
                                        </p:attrNameLst>
                                      </p:cBhvr>
                                      <p:tavLst>
                                        <p:tav tm="0">
                                          <p:val>
                                            <p:strVal val="#ppt_x"/>
                                          </p:val>
                                        </p:tav>
                                        <p:tav tm="100000">
                                          <p:val>
                                            <p:strVal val="#ppt_x"/>
                                          </p:val>
                                        </p:tav>
                                      </p:tavLst>
                                    </p:anim>
                                    <p:anim calcmode="lin" valueType="num">
                                      <p:cBhvr>
                                        <p:cTn id="45" dur="650" fill="hold"/>
                                        <p:tgtEl>
                                          <p:spTgt spid="11"/>
                                        </p:tgtEl>
                                        <p:attrNameLst>
                                          <p:attrName>ppt_y</p:attrName>
                                        </p:attrNameLst>
                                      </p:cBhvr>
                                      <p:tavLst>
                                        <p:tav tm="0">
                                          <p:val>
                                            <p:strVal val="#ppt_y+.05"/>
                                          </p:val>
                                        </p:tav>
                                        <p:tav tm="100000">
                                          <p:val>
                                            <p:strVal val="#ppt_y"/>
                                          </p:val>
                                        </p:tav>
                                      </p:tavLst>
                                    </p:anim>
                                  </p:childTnLst>
                                </p:cTn>
                              </p:par>
                              <p:par>
                                <p:cTn id="46" presetID="42" presetClass="entr" presetSubtype="0" fill="hold" grpId="0" nodeType="withEffect">
                                  <p:stCondLst>
                                    <p:cond delay="410"/>
                                  </p:stCondLst>
                                  <p:childTnLst>
                                    <p:set>
                                      <p:cBhvr>
                                        <p:cTn id="47" dur="1" fill="hold">
                                          <p:stCondLst>
                                            <p:cond delay="0"/>
                                          </p:stCondLst>
                                        </p:cTn>
                                        <p:tgtEl>
                                          <p:spTgt spid="12"/>
                                        </p:tgtEl>
                                        <p:attrNameLst>
                                          <p:attrName>style.visibility</p:attrName>
                                        </p:attrNameLst>
                                      </p:cBhvr>
                                      <p:to>
                                        <p:strVal val="visible"/>
                                      </p:to>
                                    </p:set>
                                    <p:animEffect transition="in" filter="fade">
                                      <p:cBhvr>
                                        <p:cTn id="48" dur="650"/>
                                        <p:tgtEl>
                                          <p:spTgt spid="12"/>
                                        </p:tgtEl>
                                      </p:cBhvr>
                                    </p:animEffect>
                                    <p:anim calcmode="lin" valueType="num">
                                      <p:cBhvr>
                                        <p:cTn id="49" dur="650" fill="hold"/>
                                        <p:tgtEl>
                                          <p:spTgt spid="12"/>
                                        </p:tgtEl>
                                        <p:attrNameLst>
                                          <p:attrName>ppt_x</p:attrName>
                                        </p:attrNameLst>
                                      </p:cBhvr>
                                      <p:tavLst>
                                        <p:tav tm="0">
                                          <p:val>
                                            <p:strVal val="#ppt_x"/>
                                          </p:val>
                                        </p:tav>
                                        <p:tav tm="100000">
                                          <p:val>
                                            <p:strVal val="#ppt_x"/>
                                          </p:val>
                                        </p:tav>
                                      </p:tavLst>
                                    </p:anim>
                                    <p:anim calcmode="lin" valueType="num">
                                      <p:cBhvr>
                                        <p:cTn id="50" dur="650" fill="hold"/>
                                        <p:tgtEl>
                                          <p:spTgt spid="12"/>
                                        </p:tgtEl>
                                        <p:attrNameLst>
                                          <p:attrName>ppt_y</p:attrName>
                                        </p:attrNameLst>
                                      </p:cBhvr>
                                      <p:tavLst>
                                        <p:tav tm="0">
                                          <p:val>
                                            <p:strVal val="#ppt_y+.05"/>
                                          </p:val>
                                        </p:tav>
                                        <p:tav tm="100000">
                                          <p:val>
                                            <p:strVal val="#ppt_y"/>
                                          </p:val>
                                        </p:tav>
                                      </p:tavLst>
                                    </p:anim>
                                  </p:childTnLst>
                                </p:cTn>
                              </p:par>
                              <p:par>
                                <p:cTn id="51" presetID="42" presetClass="entr" presetSubtype="0" fill="hold" grpId="0" nodeType="withEffect">
                                  <p:stCondLst>
                                    <p:cond delay="410"/>
                                  </p:stCondLst>
                                  <p:childTnLst>
                                    <p:set>
                                      <p:cBhvr>
                                        <p:cTn id="52" dur="1" fill="hold">
                                          <p:stCondLst>
                                            <p:cond delay="0"/>
                                          </p:stCondLst>
                                        </p:cTn>
                                        <p:tgtEl>
                                          <p:spTgt spid="13"/>
                                        </p:tgtEl>
                                        <p:attrNameLst>
                                          <p:attrName>style.visibility</p:attrName>
                                        </p:attrNameLst>
                                      </p:cBhvr>
                                      <p:to>
                                        <p:strVal val="visible"/>
                                      </p:to>
                                    </p:set>
                                    <p:animEffect transition="in" filter="fade">
                                      <p:cBhvr>
                                        <p:cTn id="53" dur="650"/>
                                        <p:tgtEl>
                                          <p:spTgt spid="13"/>
                                        </p:tgtEl>
                                      </p:cBhvr>
                                    </p:animEffect>
                                    <p:anim calcmode="lin" valueType="num">
                                      <p:cBhvr>
                                        <p:cTn id="54" dur="650" fill="hold"/>
                                        <p:tgtEl>
                                          <p:spTgt spid="13"/>
                                        </p:tgtEl>
                                        <p:attrNameLst>
                                          <p:attrName>ppt_x</p:attrName>
                                        </p:attrNameLst>
                                      </p:cBhvr>
                                      <p:tavLst>
                                        <p:tav tm="0">
                                          <p:val>
                                            <p:strVal val="#ppt_x"/>
                                          </p:val>
                                        </p:tav>
                                        <p:tav tm="100000">
                                          <p:val>
                                            <p:strVal val="#ppt_x"/>
                                          </p:val>
                                        </p:tav>
                                      </p:tavLst>
                                    </p:anim>
                                    <p:anim calcmode="lin" valueType="num">
                                      <p:cBhvr>
                                        <p:cTn id="55" dur="650" fill="hold"/>
                                        <p:tgtEl>
                                          <p:spTgt spid="13"/>
                                        </p:tgtEl>
                                        <p:attrNameLst>
                                          <p:attrName>ppt_y</p:attrName>
                                        </p:attrNameLst>
                                      </p:cBhvr>
                                      <p:tavLst>
                                        <p:tav tm="0">
                                          <p:val>
                                            <p:strVal val="#ppt_y+.05"/>
                                          </p:val>
                                        </p:tav>
                                        <p:tav tm="100000">
                                          <p:val>
                                            <p:strVal val="#ppt_y"/>
                                          </p:val>
                                        </p:tav>
                                      </p:tavLst>
                                    </p:anim>
                                  </p:childTnLst>
                                </p:cTn>
                              </p:par>
                              <p:par>
                                <p:cTn id="56" presetID="42" presetClass="entr" presetSubtype="0" fill="hold" grpId="0" nodeType="withEffect">
                                  <p:stCondLst>
                                    <p:cond delay="410"/>
                                  </p:stCondLst>
                                  <p:childTnLst>
                                    <p:set>
                                      <p:cBhvr>
                                        <p:cTn id="57" dur="1" fill="hold">
                                          <p:stCondLst>
                                            <p:cond delay="0"/>
                                          </p:stCondLst>
                                        </p:cTn>
                                        <p:tgtEl>
                                          <p:spTgt spid="14"/>
                                        </p:tgtEl>
                                        <p:attrNameLst>
                                          <p:attrName>style.visibility</p:attrName>
                                        </p:attrNameLst>
                                      </p:cBhvr>
                                      <p:to>
                                        <p:strVal val="visible"/>
                                      </p:to>
                                    </p:set>
                                    <p:animEffect transition="in" filter="fade">
                                      <p:cBhvr>
                                        <p:cTn id="58" dur="650"/>
                                        <p:tgtEl>
                                          <p:spTgt spid="14"/>
                                        </p:tgtEl>
                                      </p:cBhvr>
                                    </p:animEffect>
                                    <p:anim calcmode="lin" valueType="num">
                                      <p:cBhvr>
                                        <p:cTn id="59" dur="650" fill="hold"/>
                                        <p:tgtEl>
                                          <p:spTgt spid="14"/>
                                        </p:tgtEl>
                                        <p:attrNameLst>
                                          <p:attrName>ppt_x</p:attrName>
                                        </p:attrNameLst>
                                      </p:cBhvr>
                                      <p:tavLst>
                                        <p:tav tm="0">
                                          <p:val>
                                            <p:strVal val="#ppt_x"/>
                                          </p:val>
                                        </p:tav>
                                        <p:tav tm="100000">
                                          <p:val>
                                            <p:strVal val="#ppt_x"/>
                                          </p:val>
                                        </p:tav>
                                      </p:tavLst>
                                    </p:anim>
                                    <p:anim calcmode="lin" valueType="num">
                                      <p:cBhvr>
                                        <p:cTn id="60" dur="650" fill="hold"/>
                                        <p:tgtEl>
                                          <p:spTgt spid="14"/>
                                        </p:tgtEl>
                                        <p:attrNameLst>
                                          <p:attrName>ppt_y</p:attrName>
                                        </p:attrNameLst>
                                      </p:cBhvr>
                                      <p:tavLst>
                                        <p:tav tm="0">
                                          <p:val>
                                            <p:strVal val="#ppt_y+.05"/>
                                          </p:val>
                                        </p:tav>
                                        <p:tav tm="100000">
                                          <p:val>
                                            <p:strVal val="#ppt_y"/>
                                          </p:val>
                                        </p:tav>
                                      </p:tavLst>
                                    </p:anim>
                                  </p:childTnLst>
                                </p:cTn>
                              </p:par>
                              <p:par>
                                <p:cTn id="61" presetID="42" presetClass="entr" presetSubtype="0" fill="hold" grpId="0" nodeType="withEffect">
                                  <p:stCondLst>
                                    <p:cond delay="520"/>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650"/>
                                        <p:tgtEl>
                                          <p:spTgt spid="15"/>
                                        </p:tgtEl>
                                      </p:cBhvr>
                                    </p:animEffect>
                                    <p:anim calcmode="lin" valueType="num">
                                      <p:cBhvr>
                                        <p:cTn id="64" dur="650" fill="hold"/>
                                        <p:tgtEl>
                                          <p:spTgt spid="15"/>
                                        </p:tgtEl>
                                        <p:attrNameLst>
                                          <p:attrName>ppt_x</p:attrName>
                                        </p:attrNameLst>
                                      </p:cBhvr>
                                      <p:tavLst>
                                        <p:tav tm="0">
                                          <p:val>
                                            <p:strVal val="#ppt_x"/>
                                          </p:val>
                                        </p:tav>
                                        <p:tav tm="100000">
                                          <p:val>
                                            <p:strVal val="#ppt_x"/>
                                          </p:val>
                                        </p:tav>
                                      </p:tavLst>
                                    </p:anim>
                                    <p:anim calcmode="lin" valueType="num">
                                      <p:cBhvr>
                                        <p:cTn id="65" dur="650" fill="hold"/>
                                        <p:tgtEl>
                                          <p:spTgt spid="15"/>
                                        </p:tgtEl>
                                        <p:attrNameLst>
                                          <p:attrName>ppt_y</p:attrName>
                                        </p:attrNameLst>
                                      </p:cBhvr>
                                      <p:tavLst>
                                        <p:tav tm="0">
                                          <p:val>
                                            <p:strVal val="#ppt_y+.05"/>
                                          </p:val>
                                        </p:tav>
                                        <p:tav tm="100000">
                                          <p:val>
                                            <p:strVal val="#ppt_y"/>
                                          </p:val>
                                        </p:tav>
                                      </p:tavLst>
                                    </p:anim>
                                  </p:childTnLst>
                                </p:cTn>
                              </p:par>
                              <p:par>
                                <p:cTn id="66" presetID="42" presetClass="entr" presetSubtype="0" fill="hold" grpId="0" nodeType="withEffect">
                                  <p:stCondLst>
                                    <p:cond delay="520"/>
                                  </p:stCondLst>
                                  <p:childTnLst>
                                    <p:set>
                                      <p:cBhvr>
                                        <p:cTn id="67" dur="1" fill="hold">
                                          <p:stCondLst>
                                            <p:cond delay="0"/>
                                          </p:stCondLst>
                                        </p:cTn>
                                        <p:tgtEl>
                                          <p:spTgt spid="16"/>
                                        </p:tgtEl>
                                        <p:attrNameLst>
                                          <p:attrName>style.visibility</p:attrName>
                                        </p:attrNameLst>
                                      </p:cBhvr>
                                      <p:to>
                                        <p:strVal val="visible"/>
                                      </p:to>
                                    </p:set>
                                    <p:animEffect transition="in" filter="fade">
                                      <p:cBhvr>
                                        <p:cTn id="68" dur="650"/>
                                        <p:tgtEl>
                                          <p:spTgt spid="16"/>
                                        </p:tgtEl>
                                      </p:cBhvr>
                                    </p:animEffect>
                                    <p:anim calcmode="lin" valueType="num">
                                      <p:cBhvr>
                                        <p:cTn id="69" dur="650" fill="hold"/>
                                        <p:tgtEl>
                                          <p:spTgt spid="16"/>
                                        </p:tgtEl>
                                        <p:attrNameLst>
                                          <p:attrName>ppt_x</p:attrName>
                                        </p:attrNameLst>
                                      </p:cBhvr>
                                      <p:tavLst>
                                        <p:tav tm="0">
                                          <p:val>
                                            <p:strVal val="#ppt_x"/>
                                          </p:val>
                                        </p:tav>
                                        <p:tav tm="100000">
                                          <p:val>
                                            <p:strVal val="#ppt_x"/>
                                          </p:val>
                                        </p:tav>
                                      </p:tavLst>
                                    </p:anim>
                                    <p:anim calcmode="lin" valueType="num">
                                      <p:cBhvr>
                                        <p:cTn id="70" dur="650" fill="hold"/>
                                        <p:tgtEl>
                                          <p:spTgt spid="16"/>
                                        </p:tgtEl>
                                        <p:attrNameLst>
                                          <p:attrName>ppt_y</p:attrName>
                                        </p:attrNameLst>
                                      </p:cBhvr>
                                      <p:tavLst>
                                        <p:tav tm="0">
                                          <p:val>
                                            <p:strVal val="#ppt_y+.05"/>
                                          </p:val>
                                        </p:tav>
                                        <p:tav tm="100000">
                                          <p:val>
                                            <p:strVal val="#ppt_y"/>
                                          </p:val>
                                        </p:tav>
                                      </p:tavLst>
                                    </p:anim>
                                  </p:childTnLst>
                                </p:cTn>
                              </p:par>
                              <p:par>
                                <p:cTn id="71" presetID="42" presetClass="entr" presetSubtype="0" fill="hold" grpId="0" nodeType="withEffect">
                                  <p:stCondLst>
                                    <p:cond delay="520"/>
                                  </p:stCondLst>
                                  <p:childTnLst>
                                    <p:set>
                                      <p:cBhvr>
                                        <p:cTn id="72" dur="1" fill="hold">
                                          <p:stCondLst>
                                            <p:cond delay="0"/>
                                          </p:stCondLst>
                                        </p:cTn>
                                        <p:tgtEl>
                                          <p:spTgt spid="17"/>
                                        </p:tgtEl>
                                        <p:attrNameLst>
                                          <p:attrName>style.visibility</p:attrName>
                                        </p:attrNameLst>
                                      </p:cBhvr>
                                      <p:to>
                                        <p:strVal val="visible"/>
                                      </p:to>
                                    </p:set>
                                    <p:animEffect transition="in" filter="fade">
                                      <p:cBhvr>
                                        <p:cTn id="73" dur="650"/>
                                        <p:tgtEl>
                                          <p:spTgt spid="17"/>
                                        </p:tgtEl>
                                      </p:cBhvr>
                                    </p:animEffect>
                                    <p:anim calcmode="lin" valueType="num">
                                      <p:cBhvr>
                                        <p:cTn id="74" dur="650" fill="hold"/>
                                        <p:tgtEl>
                                          <p:spTgt spid="17"/>
                                        </p:tgtEl>
                                        <p:attrNameLst>
                                          <p:attrName>ppt_x</p:attrName>
                                        </p:attrNameLst>
                                      </p:cBhvr>
                                      <p:tavLst>
                                        <p:tav tm="0">
                                          <p:val>
                                            <p:strVal val="#ppt_x"/>
                                          </p:val>
                                        </p:tav>
                                        <p:tav tm="100000">
                                          <p:val>
                                            <p:strVal val="#ppt_x"/>
                                          </p:val>
                                        </p:tav>
                                      </p:tavLst>
                                    </p:anim>
                                    <p:anim calcmode="lin" valueType="num">
                                      <p:cBhvr>
                                        <p:cTn id="75" dur="650" fill="hold"/>
                                        <p:tgtEl>
                                          <p:spTgt spid="17"/>
                                        </p:tgtEl>
                                        <p:attrNameLst>
                                          <p:attrName>ppt_y</p:attrName>
                                        </p:attrNameLst>
                                      </p:cBhvr>
                                      <p:tavLst>
                                        <p:tav tm="0">
                                          <p:val>
                                            <p:strVal val="#ppt_y+.05"/>
                                          </p:val>
                                        </p:tav>
                                        <p:tav tm="100000">
                                          <p:val>
                                            <p:strVal val="#ppt_y"/>
                                          </p:val>
                                        </p:tav>
                                      </p:tavLst>
                                    </p:anim>
                                  </p:childTnLst>
                                </p:cTn>
                              </p:par>
                              <p:par>
                                <p:cTn id="76" presetID="42" presetClass="entr" presetSubtype="0" fill="hold" grpId="0" nodeType="withEffect">
                                  <p:stCondLst>
                                    <p:cond delay="520"/>
                                  </p:stCondLst>
                                  <p:childTnLst>
                                    <p:set>
                                      <p:cBhvr>
                                        <p:cTn id="77" dur="1" fill="hold">
                                          <p:stCondLst>
                                            <p:cond delay="0"/>
                                          </p:stCondLst>
                                        </p:cTn>
                                        <p:tgtEl>
                                          <p:spTgt spid="18"/>
                                        </p:tgtEl>
                                        <p:attrNameLst>
                                          <p:attrName>style.visibility</p:attrName>
                                        </p:attrNameLst>
                                      </p:cBhvr>
                                      <p:to>
                                        <p:strVal val="visible"/>
                                      </p:to>
                                    </p:set>
                                    <p:animEffect transition="in" filter="fade">
                                      <p:cBhvr>
                                        <p:cTn id="78" dur="650"/>
                                        <p:tgtEl>
                                          <p:spTgt spid="18"/>
                                        </p:tgtEl>
                                      </p:cBhvr>
                                    </p:animEffect>
                                    <p:anim calcmode="lin" valueType="num">
                                      <p:cBhvr>
                                        <p:cTn id="79" dur="650" fill="hold"/>
                                        <p:tgtEl>
                                          <p:spTgt spid="18"/>
                                        </p:tgtEl>
                                        <p:attrNameLst>
                                          <p:attrName>ppt_x</p:attrName>
                                        </p:attrNameLst>
                                      </p:cBhvr>
                                      <p:tavLst>
                                        <p:tav tm="0">
                                          <p:val>
                                            <p:strVal val="#ppt_x"/>
                                          </p:val>
                                        </p:tav>
                                        <p:tav tm="100000">
                                          <p:val>
                                            <p:strVal val="#ppt_x"/>
                                          </p:val>
                                        </p:tav>
                                      </p:tavLst>
                                    </p:anim>
                                    <p:anim calcmode="lin" valueType="num">
                                      <p:cBhvr>
                                        <p:cTn id="80" dur="650" fill="hold"/>
                                        <p:tgtEl>
                                          <p:spTgt spid="18"/>
                                        </p:tgtEl>
                                        <p:attrNameLst>
                                          <p:attrName>ppt_y</p:attrName>
                                        </p:attrNameLst>
                                      </p:cBhvr>
                                      <p:tavLst>
                                        <p:tav tm="0">
                                          <p:val>
                                            <p:strVal val="#ppt_y+.05"/>
                                          </p:val>
                                        </p:tav>
                                        <p:tav tm="100000">
                                          <p:val>
                                            <p:strVal val="#ppt_y"/>
                                          </p:val>
                                        </p:tav>
                                      </p:tavLst>
                                    </p:anim>
                                  </p:childTnLst>
                                </p:cTn>
                              </p:par>
                              <p:par>
                                <p:cTn id="81" presetID="42" presetClass="entr" presetSubtype="0" fill="hold" grpId="0" nodeType="withEffect">
                                  <p:stCondLst>
                                    <p:cond delay="520"/>
                                  </p:stCondLst>
                                  <p:childTnLst>
                                    <p:set>
                                      <p:cBhvr>
                                        <p:cTn id="82" dur="1" fill="hold">
                                          <p:stCondLst>
                                            <p:cond delay="0"/>
                                          </p:stCondLst>
                                        </p:cTn>
                                        <p:tgtEl>
                                          <p:spTgt spid="19"/>
                                        </p:tgtEl>
                                        <p:attrNameLst>
                                          <p:attrName>style.visibility</p:attrName>
                                        </p:attrNameLst>
                                      </p:cBhvr>
                                      <p:to>
                                        <p:strVal val="visible"/>
                                      </p:to>
                                    </p:set>
                                    <p:animEffect transition="in" filter="fade">
                                      <p:cBhvr>
                                        <p:cTn id="83" dur="650"/>
                                        <p:tgtEl>
                                          <p:spTgt spid="19"/>
                                        </p:tgtEl>
                                      </p:cBhvr>
                                    </p:animEffect>
                                    <p:anim calcmode="lin" valueType="num">
                                      <p:cBhvr>
                                        <p:cTn id="84" dur="650" fill="hold"/>
                                        <p:tgtEl>
                                          <p:spTgt spid="19"/>
                                        </p:tgtEl>
                                        <p:attrNameLst>
                                          <p:attrName>ppt_x</p:attrName>
                                        </p:attrNameLst>
                                      </p:cBhvr>
                                      <p:tavLst>
                                        <p:tav tm="0">
                                          <p:val>
                                            <p:strVal val="#ppt_x"/>
                                          </p:val>
                                        </p:tav>
                                        <p:tav tm="100000">
                                          <p:val>
                                            <p:strVal val="#ppt_x"/>
                                          </p:val>
                                        </p:tav>
                                      </p:tavLst>
                                    </p:anim>
                                    <p:anim calcmode="lin" valueType="num">
                                      <p:cBhvr>
                                        <p:cTn id="85" dur="650" fill="hold"/>
                                        <p:tgtEl>
                                          <p:spTgt spid="19"/>
                                        </p:tgtEl>
                                        <p:attrNameLst>
                                          <p:attrName>ppt_y</p:attrName>
                                        </p:attrNameLst>
                                      </p:cBhvr>
                                      <p:tavLst>
                                        <p:tav tm="0">
                                          <p:val>
                                            <p:strVal val="#ppt_y+.05"/>
                                          </p:val>
                                        </p:tav>
                                        <p:tav tm="100000">
                                          <p:val>
                                            <p:strVal val="#ppt_y"/>
                                          </p:val>
                                        </p:tav>
                                      </p:tavLst>
                                    </p:anim>
                                  </p:childTnLst>
                                </p:cTn>
                              </p:par>
                              <p:par>
                                <p:cTn id="86" presetID="42" presetClass="entr" presetSubtype="0" fill="hold" grpId="0" nodeType="withEffect">
                                  <p:stCondLst>
                                    <p:cond delay="630"/>
                                  </p:stCondLst>
                                  <p:childTnLst>
                                    <p:set>
                                      <p:cBhvr>
                                        <p:cTn id="87" dur="1" fill="hold">
                                          <p:stCondLst>
                                            <p:cond delay="0"/>
                                          </p:stCondLst>
                                        </p:cTn>
                                        <p:tgtEl>
                                          <p:spTgt spid="20"/>
                                        </p:tgtEl>
                                        <p:attrNameLst>
                                          <p:attrName>style.visibility</p:attrName>
                                        </p:attrNameLst>
                                      </p:cBhvr>
                                      <p:to>
                                        <p:strVal val="visible"/>
                                      </p:to>
                                    </p:set>
                                    <p:animEffect transition="in" filter="fade">
                                      <p:cBhvr>
                                        <p:cTn id="88" dur="650"/>
                                        <p:tgtEl>
                                          <p:spTgt spid="20"/>
                                        </p:tgtEl>
                                      </p:cBhvr>
                                    </p:animEffect>
                                    <p:anim calcmode="lin" valueType="num">
                                      <p:cBhvr>
                                        <p:cTn id="89" dur="650" fill="hold"/>
                                        <p:tgtEl>
                                          <p:spTgt spid="20"/>
                                        </p:tgtEl>
                                        <p:attrNameLst>
                                          <p:attrName>ppt_x</p:attrName>
                                        </p:attrNameLst>
                                      </p:cBhvr>
                                      <p:tavLst>
                                        <p:tav tm="0">
                                          <p:val>
                                            <p:strVal val="#ppt_x"/>
                                          </p:val>
                                        </p:tav>
                                        <p:tav tm="100000">
                                          <p:val>
                                            <p:strVal val="#ppt_x"/>
                                          </p:val>
                                        </p:tav>
                                      </p:tavLst>
                                    </p:anim>
                                    <p:anim calcmode="lin" valueType="num">
                                      <p:cBhvr>
                                        <p:cTn id="90" dur="650" fill="hold"/>
                                        <p:tgtEl>
                                          <p:spTgt spid="20"/>
                                        </p:tgtEl>
                                        <p:attrNameLst>
                                          <p:attrName>ppt_y</p:attrName>
                                        </p:attrNameLst>
                                      </p:cBhvr>
                                      <p:tavLst>
                                        <p:tav tm="0">
                                          <p:val>
                                            <p:strVal val="#ppt_y+.05"/>
                                          </p:val>
                                        </p:tav>
                                        <p:tav tm="100000">
                                          <p:val>
                                            <p:strVal val="#ppt_y"/>
                                          </p:val>
                                        </p:tav>
                                      </p:tavLst>
                                    </p:anim>
                                  </p:childTnLst>
                                </p:cTn>
                              </p:par>
                              <p:par>
                                <p:cTn id="91" presetID="42" presetClass="entr" presetSubtype="0" fill="hold" grpId="0" nodeType="withEffect">
                                  <p:stCondLst>
                                    <p:cond delay="630"/>
                                  </p:stCondLst>
                                  <p:childTnLst>
                                    <p:set>
                                      <p:cBhvr>
                                        <p:cTn id="92" dur="1" fill="hold">
                                          <p:stCondLst>
                                            <p:cond delay="0"/>
                                          </p:stCondLst>
                                        </p:cTn>
                                        <p:tgtEl>
                                          <p:spTgt spid="21"/>
                                        </p:tgtEl>
                                        <p:attrNameLst>
                                          <p:attrName>style.visibility</p:attrName>
                                        </p:attrNameLst>
                                      </p:cBhvr>
                                      <p:to>
                                        <p:strVal val="visible"/>
                                      </p:to>
                                    </p:set>
                                    <p:animEffect transition="in" filter="fade">
                                      <p:cBhvr>
                                        <p:cTn id="93" dur="650"/>
                                        <p:tgtEl>
                                          <p:spTgt spid="21"/>
                                        </p:tgtEl>
                                      </p:cBhvr>
                                    </p:animEffect>
                                    <p:anim calcmode="lin" valueType="num">
                                      <p:cBhvr>
                                        <p:cTn id="94" dur="650" fill="hold"/>
                                        <p:tgtEl>
                                          <p:spTgt spid="21"/>
                                        </p:tgtEl>
                                        <p:attrNameLst>
                                          <p:attrName>ppt_x</p:attrName>
                                        </p:attrNameLst>
                                      </p:cBhvr>
                                      <p:tavLst>
                                        <p:tav tm="0">
                                          <p:val>
                                            <p:strVal val="#ppt_x"/>
                                          </p:val>
                                        </p:tav>
                                        <p:tav tm="100000">
                                          <p:val>
                                            <p:strVal val="#ppt_x"/>
                                          </p:val>
                                        </p:tav>
                                      </p:tavLst>
                                    </p:anim>
                                    <p:anim calcmode="lin" valueType="num">
                                      <p:cBhvr>
                                        <p:cTn id="95" dur="650" fill="hold"/>
                                        <p:tgtEl>
                                          <p:spTgt spid="21"/>
                                        </p:tgtEl>
                                        <p:attrNameLst>
                                          <p:attrName>ppt_y</p:attrName>
                                        </p:attrNameLst>
                                      </p:cBhvr>
                                      <p:tavLst>
                                        <p:tav tm="0">
                                          <p:val>
                                            <p:strVal val="#ppt_y+.05"/>
                                          </p:val>
                                        </p:tav>
                                        <p:tav tm="100000">
                                          <p:val>
                                            <p:strVal val="#ppt_y"/>
                                          </p:val>
                                        </p:tav>
                                      </p:tavLst>
                                    </p:anim>
                                  </p:childTnLst>
                                </p:cTn>
                              </p:par>
                              <p:par>
                                <p:cTn id="96" presetID="42" presetClass="entr" presetSubtype="0" fill="hold" grpId="0" nodeType="withEffect">
                                  <p:stCondLst>
                                    <p:cond delay="630"/>
                                  </p:stCondLst>
                                  <p:childTnLst>
                                    <p:set>
                                      <p:cBhvr>
                                        <p:cTn id="97" dur="1" fill="hold">
                                          <p:stCondLst>
                                            <p:cond delay="0"/>
                                          </p:stCondLst>
                                        </p:cTn>
                                        <p:tgtEl>
                                          <p:spTgt spid="22"/>
                                        </p:tgtEl>
                                        <p:attrNameLst>
                                          <p:attrName>style.visibility</p:attrName>
                                        </p:attrNameLst>
                                      </p:cBhvr>
                                      <p:to>
                                        <p:strVal val="visible"/>
                                      </p:to>
                                    </p:set>
                                    <p:animEffect transition="in" filter="fade">
                                      <p:cBhvr>
                                        <p:cTn id="98" dur="650"/>
                                        <p:tgtEl>
                                          <p:spTgt spid="22"/>
                                        </p:tgtEl>
                                      </p:cBhvr>
                                    </p:animEffect>
                                    <p:anim calcmode="lin" valueType="num">
                                      <p:cBhvr>
                                        <p:cTn id="99" dur="650" fill="hold"/>
                                        <p:tgtEl>
                                          <p:spTgt spid="22"/>
                                        </p:tgtEl>
                                        <p:attrNameLst>
                                          <p:attrName>ppt_x</p:attrName>
                                        </p:attrNameLst>
                                      </p:cBhvr>
                                      <p:tavLst>
                                        <p:tav tm="0">
                                          <p:val>
                                            <p:strVal val="#ppt_x"/>
                                          </p:val>
                                        </p:tav>
                                        <p:tav tm="100000">
                                          <p:val>
                                            <p:strVal val="#ppt_x"/>
                                          </p:val>
                                        </p:tav>
                                      </p:tavLst>
                                    </p:anim>
                                    <p:anim calcmode="lin" valueType="num">
                                      <p:cBhvr>
                                        <p:cTn id="100" dur="650" fill="hold"/>
                                        <p:tgtEl>
                                          <p:spTgt spid="22"/>
                                        </p:tgtEl>
                                        <p:attrNameLst>
                                          <p:attrName>ppt_y</p:attrName>
                                        </p:attrNameLst>
                                      </p:cBhvr>
                                      <p:tavLst>
                                        <p:tav tm="0">
                                          <p:val>
                                            <p:strVal val="#ppt_y+.05"/>
                                          </p:val>
                                        </p:tav>
                                        <p:tav tm="100000">
                                          <p:val>
                                            <p:strVal val="#ppt_y"/>
                                          </p:val>
                                        </p:tav>
                                      </p:tavLst>
                                    </p:anim>
                                  </p:childTnLst>
                                </p:cTn>
                              </p:par>
                              <p:par>
                                <p:cTn id="101" presetID="42" presetClass="entr" presetSubtype="0" fill="hold" grpId="0" nodeType="withEffect">
                                  <p:stCondLst>
                                    <p:cond delay="630"/>
                                  </p:stCondLst>
                                  <p:childTnLst>
                                    <p:set>
                                      <p:cBhvr>
                                        <p:cTn id="102" dur="1" fill="hold">
                                          <p:stCondLst>
                                            <p:cond delay="0"/>
                                          </p:stCondLst>
                                        </p:cTn>
                                        <p:tgtEl>
                                          <p:spTgt spid="23"/>
                                        </p:tgtEl>
                                        <p:attrNameLst>
                                          <p:attrName>style.visibility</p:attrName>
                                        </p:attrNameLst>
                                      </p:cBhvr>
                                      <p:to>
                                        <p:strVal val="visible"/>
                                      </p:to>
                                    </p:set>
                                    <p:animEffect transition="in" filter="fade">
                                      <p:cBhvr>
                                        <p:cTn id="103" dur="650"/>
                                        <p:tgtEl>
                                          <p:spTgt spid="23"/>
                                        </p:tgtEl>
                                      </p:cBhvr>
                                    </p:animEffect>
                                    <p:anim calcmode="lin" valueType="num">
                                      <p:cBhvr>
                                        <p:cTn id="104" dur="650" fill="hold"/>
                                        <p:tgtEl>
                                          <p:spTgt spid="23"/>
                                        </p:tgtEl>
                                        <p:attrNameLst>
                                          <p:attrName>ppt_x</p:attrName>
                                        </p:attrNameLst>
                                      </p:cBhvr>
                                      <p:tavLst>
                                        <p:tav tm="0">
                                          <p:val>
                                            <p:strVal val="#ppt_x"/>
                                          </p:val>
                                        </p:tav>
                                        <p:tav tm="100000">
                                          <p:val>
                                            <p:strVal val="#ppt_x"/>
                                          </p:val>
                                        </p:tav>
                                      </p:tavLst>
                                    </p:anim>
                                    <p:anim calcmode="lin" valueType="num">
                                      <p:cBhvr>
                                        <p:cTn id="105" dur="650" fill="hold"/>
                                        <p:tgtEl>
                                          <p:spTgt spid="23"/>
                                        </p:tgtEl>
                                        <p:attrNameLst>
                                          <p:attrName>ppt_y</p:attrName>
                                        </p:attrNameLst>
                                      </p:cBhvr>
                                      <p:tavLst>
                                        <p:tav tm="0">
                                          <p:val>
                                            <p:strVal val="#ppt_y+.05"/>
                                          </p:val>
                                        </p:tav>
                                        <p:tav tm="100000">
                                          <p:val>
                                            <p:strVal val="#ppt_y"/>
                                          </p:val>
                                        </p:tav>
                                      </p:tavLst>
                                    </p:anim>
                                  </p:childTnLst>
                                </p:cTn>
                              </p:par>
                              <p:par>
                                <p:cTn id="106" presetID="42" presetClass="entr" presetSubtype="0" fill="hold" grpId="0" nodeType="withEffect">
                                  <p:stCondLst>
                                    <p:cond delay="630"/>
                                  </p:stCondLst>
                                  <p:childTnLst>
                                    <p:set>
                                      <p:cBhvr>
                                        <p:cTn id="107" dur="1" fill="hold">
                                          <p:stCondLst>
                                            <p:cond delay="0"/>
                                          </p:stCondLst>
                                        </p:cTn>
                                        <p:tgtEl>
                                          <p:spTgt spid="24"/>
                                        </p:tgtEl>
                                        <p:attrNameLst>
                                          <p:attrName>style.visibility</p:attrName>
                                        </p:attrNameLst>
                                      </p:cBhvr>
                                      <p:to>
                                        <p:strVal val="visible"/>
                                      </p:to>
                                    </p:set>
                                    <p:animEffect transition="in" filter="fade">
                                      <p:cBhvr>
                                        <p:cTn id="108" dur="650"/>
                                        <p:tgtEl>
                                          <p:spTgt spid="24"/>
                                        </p:tgtEl>
                                      </p:cBhvr>
                                    </p:animEffect>
                                    <p:anim calcmode="lin" valueType="num">
                                      <p:cBhvr>
                                        <p:cTn id="109" dur="650" fill="hold"/>
                                        <p:tgtEl>
                                          <p:spTgt spid="24"/>
                                        </p:tgtEl>
                                        <p:attrNameLst>
                                          <p:attrName>ppt_x</p:attrName>
                                        </p:attrNameLst>
                                      </p:cBhvr>
                                      <p:tavLst>
                                        <p:tav tm="0">
                                          <p:val>
                                            <p:strVal val="#ppt_x"/>
                                          </p:val>
                                        </p:tav>
                                        <p:tav tm="100000">
                                          <p:val>
                                            <p:strVal val="#ppt_x"/>
                                          </p:val>
                                        </p:tav>
                                      </p:tavLst>
                                    </p:anim>
                                    <p:anim calcmode="lin" valueType="num">
                                      <p:cBhvr>
                                        <p:cTn id="110" dur="650" fill="hold"/>
                                        <p:tgtEl>
                                          <p:spTgt spid="24"/>
                                        </p:tgtEl>
                                        <p:attrNameLst>
                                          <p:attrName>ppt_y</p:attrName>
                                        </p:attrNameLst>
                                      </p:cBhvr>
                                      <p:tavLst>
                                        <p:tav tm="0">
                                          <p:val>
                                            <p:strVal val="#ppt_y+.05"/>
                                          </p:val>
                                        </p:tav>
                                        <p:tav tm="100000">
                                          <p:val>
                                            <p:strVal val="#ppt_y"/>
                                          </p:val>
                                        </p:tav>
                                      </p:tavLst>
                                    </p:anim>
                                  </p:childTnLst>
                                </p:cTn>
                              </p:par>
                              <p:par>
                                <p:cTn id="111" presetID="42" presetClass="entr" presetSubtype="0" fill="hold" grpId="0" nodeType="withEffect">
                                  <p:stCondLst>
                                    <p:cond delay="740"/>
                                  </p:stCondLst>
                                  <p:childTnLst>
                                    <p:set>
                                      <p:cBhvr>
                                        <p:cTn id="112" dur="1" fill="hold">
                                          <p:stCondLst>
                                            <p:cond delay="0"/>
                                          </p:stCondLst>
                                        </p:cTn>
                                        <p:tgtEl>
                                          <p:spTgt spid="25"/>
                                        </p:tgtEl>
                                        <p:attrNameLst>
                                          <p:attrName>style.visibility</p:attrName>
                                        </p:attrNameLst>
                                      </p:cBhvr>
                                      <p:to>
                                        <p:strVal val="visible"/>
                                      </p:to>
                                    </p:set>
                                    <p:animEffect transition="in" filter="fade">
                                      <p:cBhvr>
                                        <p:cTn id="113" dur="650"/>
                                        <p:tgtEl>
                                          <p:spTgt spid="25"/>
                                        </p:tgtEl>
                                      </p:cBhvr>
                                    </p:animEffect>
                                    <p:anim calcmode="lin" valueType="num">
                                      <p:cBhvr>
                                        <p:cTn id="114" dur="650" fill="hold"/>
                                        <p:tgtEl>
                                          <p:spTgt spid="25"/>
                                        </p:tgtEl>
                                        <p:attrNameLst>
                                          <p:attrName>ppt_x</p:attrName>
                                        </p:attrNameLst>
                                      </p:cBhvr>
                                      <p:tavLst>
                                        <p:tav tm="0">
                                          <p:val>
                                            <p:strVal val="#ppt_x"/>
                                          </p:val>
                                        </p:tav>
                                        <p:tav tm="100000">
                                          <p:val>
                                            <p:strVal val="#ppt_x"/>
                                          </p:val>
                                        </p:tav>
                                      </p:tavLst>
                                    </p:anim>
                                    <p:anim calcmode="lin" valueType="num">
                                      <p:cBhvr>
                                        <p:cTn id="115" dur="650" fill="hold"/>
                                        <p:tgtEl>
                                          <p:spTgt spid="25"/>
                                        </p:tgtEl>
                                        <p:attrNameLst>
                                          <p:attrName>ppt_y</p:attrName>
                                        </p:attrNameLst>
                                      </p:cBhvr>
                                      <p:tavLst>
                                        <p:tav tm="0">
                                          <p:val>
                                            <p:strVal val="#ppt_y+.05"/>
                                          </p:val>
                                        </p:tav>
                                        <p:tav tm="100000">
                                          <p:val>
                                            <p:strVal val="#ppt_y"/>
                                          </p:val>
                                        </p:tav>
                                      </p:tavLst>
                                    </p:anim>
                                  </p:childTnLst>
                                </p:cTn>
                              </p:par>
                              <p:par>
                                <p:cTn id="116" presetID="42" presetClass="entr" presetSubtype="0" fill="hold" grpId="0" nodeType="withEffect">
                                  <p:stCondLst>
                                    <p:cond delay="740"/>
                                  </p:stCondLst>
                                  <p:childTnLst>
                                    <p:set>
                                      <p:cBhvr>
                                        <p:cTn id="117" dur="1" fill="hold">
                                          <p:stCondLst>
                                            <p:cond delay="0"/>
                                          </p:stCondLst>
                                        </p:cTn>
                                        <p:tgtEl>
                                          <p:spTgt spid="26"/>
                                        </p:tgtEl>
                                        <p:attrNameLst>
                                          <p:attrName>style.visibility</p:attrName>
                                        </p:attrNameLst>
                                      </p:cBhvr>
                                      <p:to>
                                        <p:strVal val="visible"/>
                                      </p:to>
                                    </p:set>
                                    <p:animEffect transition="in" filter="fade">
                                      <p:cBhvr>
                                        <p:cTn id="118" dur="650"/>
                                        <p:tgtEl>
                                          <p:spTgt spid="26"/>
                                        </p:tgtEl>
                                      </p:cBhvr>
                                    </p:animEffect>
                                    <p:anim calcmode="lin" valueType="num">
                                      <p:cBhvr>
                                        <p:cTn id="119" dur="650" fill="hold"/>
                                        <p:tgtEl>
                                          <p:spTgt spid="26"/>
                                        </p:tgtEl>
                                        <p:attrNameLst>
                                          <p:attrName>ppt_x</p:attrName>
                                        </p:attrNameLst>
                                      </p:cBhvr>
                                      <p:tavLst>
                                        <p:tav tm="0">
                                          <p:val>
                                            <p:strVal val="#ppt_x"/>
                                          </p:val>
                                        </p:tav>
                                        <p:tav tm="100000">
                                          <p:val>
                                            <p:strVal val="#ppt_x"/>
                                          </p:val>
                                        </p:tav>
                                      </p:tavLst>
                                    </p:anim>
                                    <p:anim calcmode="lin" valueType="num">
                                      <p:cBhvr>
                                        <p:cTn id="120" dur="650" fill="hold"/>
                                        <p:tgtEl>
                                          <p:spTgt spid="26"/>
                                        </p:tgtEl>
                                        <p:attrNameLst>
                                          <p:attrName>ppt_y</p:attrName>
                                        </p:attrNameLst>
                                      </p:cBhvr>
                                      <p:tavLst>
                                        <p:tav tm="0">
                                          <p:val>
                                            <p:strVal val="#ppt_y+.05"/>
                                          </p:val>
                                        </p:tav>
                                        <p:tav tm="100000">
                                          <p:val>
                                            <p:strVal val="#ppt_y"/>
                                          </p:val>
                                        </p:tav>
                                      </p:tavLst>
                                    </p:anim>
                                  </p:childTnLst>
                                </p:cTn>
                              </p:par>
                              <p:par>
                                <p:cTn id="121" presetID="42" presetClass="entr" presetSubtype="0" fill="hold" grpId="0" nodeType="withEffect">
                                  <p:stCondLst>
                                    <p:cond delay="740"/>
                                  </p:stCondLst>
                                  <p:childTnLst>
                                    <p:set>
                                      <p:cBhvr>
                                        <p:cTn id="122" dur="1" fill="hold">
                                          <p:stCondLst>
                                            <p:cond delay="0"/>
                                          </p:stCondLst>
                                        </p:cTn>
                                        <p:tgtEl>
                                          <p:spTgt spid="27"/>
                                        </p:tgtEl>
                                        <p:attrNameLst>
                                          <p:attrName>style.visibility</p:attrName>
                                        </p:attrNameLst>
                                      </p:cBhvr>
                                      <p:to>
                                        <p:strVal val="visible"/>
                                      </p:to>
                                    </p:set>
                                    <p:animEffect transition="in" filter="fade">
                                      <p:cBhvr>
                                        <p:cTn id="123" dur="650"/>
                                        <p:tgtEl>
                                          <p:spTgt spid="27"/>
                                        </p:tgtEl>
                                      </p:cBhvr>
                                    </p:animEffect>
                                    <p:anim calcmode="lin" valueType="num">
                                      <p:cBhvr>
                                        <p:cTn id="124" dur="650" fill="hold"/>
                                        <p:tgtEl>
                                          <p:spTgt spid="27"/>
                                        </p:tgtEl>
                                        <p:attrNameLst>
                                          <p:attrName>ppt_x</p:attrName>
                                        </p:attrNameLst>
                                      </p:cBhvr>
                                      <p:tavLst>
                                        <p:tav tm="0">
                                          <p:val>
                                            <p:strVal val="#ppt_x"/>
                                          </p:val>
                                        </p:tav>
                                        <p:tav tm="100000">
                                          <p:val>
                                            <p:strVal val="#ppt_x"/>
                                          </p:val>
                                        </p:tav>
                                      </p:tavLst>
                                    </p:anim>
                                    <p:anim calcmode="lin" valueType="num">
                                      <p:cBhvr>
                                        <p:cTn id="125" dur="650" fill="hold"/>
                                        <p:tgtEl>
                                          <p:spTgt spid="27"/>
                                        </p:tgtEl>
                                        <p:attrNameLst>
                                          <p:attrName>ppt_y</p:attrName>
                                        </p:attrNameLst>
                                      </p:cBhvr>
                                      <p:tavLst>
                                        <p:tav tm="0">
                                          <p:val>
                                            <p:strVal val="#ppt_y+.05"/>
                                          </p:val>
                                        </p:tav>
                                        <p:tav tm="100000">
                                          <p:val>
                                            <p:strVal val="#ppt_y"/>
                                          </p:val>
                                        </p:tav>
                                      </p:tavLst>
                                    </p:anim>
                                  </p:childTnLst>
                                </p:cTn>
                              </p:par>
                              <p:par>
                                <p:cTn id="126" presetID="42" presetClass="entr" presetSubtype="0" fill="hold" grpId="0" nodeType="withEffect">
                                  <p:stCondLst>
                                    <p:cond delay="740"/>
                                  </p:stCondLst>
                                  <p:childTnLst>
                                    <p:set>
                                      <p:cBhvr>
                                        <p:cTn id="127" dur="1" fill="hold">
                                          <p:stCondLst>
                                            <p:cond delay="0"/>
                                          </p:stCondLst>
                                        </p:cTn>
                                        <p:tgtEl>
                                          <p:spTgt spid="28"/>
                                        </p:tgtEl>
                                        <p:attrNameLst>
                                          <p:attrName>style.visibility</p:attrName>
                                        </p:attrNameLst>
                                      </p:cBhvr>
                                      <p:to>
                                        <p:strVal val="visible"/>
                                      </p:to>
                                    </p:set>
                                    <p:animEffect transition="in" filter="fade">
                                      <p:cBhvr>
                                        <p:cTn id="128" dur="650"/>
                                        <p:tgtEl>
                                          <p:spTgt spid="28"/>
                                        </p:tgtEl>
                                      </p:cBhvr>
                                    </p:animEffect>
                                    <p:anim calcmode="lin" valueType="num">
                                      <p:cBhvr>
                                        <p:cTn id="129" dur="650" fill="hold"/>
                                        <p:tgtEl>
                                          <p:spTgt spid="28"/>
                                        </p:tgtEl>
                                        <p:attrNameLst>
                                          <p:attrName>ppt_x</p:attrName>
                                        </p:attrNameLst>
                                      </p:cBhvr>
                                      <p:tavLst>
                                        <p:tav tm="0">
                                          <p:val>
                                            <p:strVal val="#ppt_x"/>
                                          </p:val>
                                        </p:tav>
                                        <p:tav tm="100000">
                                          <p:val>
                                            <p:strVal val="#ppt_x"/>
                                          </p:val>
                                        </p:tav>
                                      </p:tavLst>
                                    </p:anim>
                                    <p:anim calcmode="lin" valueType="num">
                                      <p:cBhvr>
                                        <p:cTn id="130" dur="650" fill="hold"/>
                                        <p:tgtEl>
                                          <p:spTgt spid="28"/>
                                        </p:tgtEl>
                                        <p:attrNameLst>
                                          <p:attrName>ppt_y</p:attrName>
                                        </p:attrNameLst>
                                      </p:cBhvr>
                                      <p:tavLst>
                                        <p:tav tm="0">
                                          <p:val>
                                            <p:strVal val="#ppt_y+.05"/>
                                          </p:val>
                                        </p:tav>
                                        <p:tav tm="100000">
                                          <p:val>
                                            <p:strVal val="#ppt_y"/>
                                          </p:val>
                                        </p:tav>
                                      </p:tavLst>
                                    </p:anim>
                                  </p:childTnLst>
                                </p:cTn>
                              </p:par>
                              <p:par>
                                <p:cTn id="131" presetID="42" presetClass="entr" presetSubtype="0" fill="hold" grpId="0" nodeType="withEffect">
                                  <p:stCondLst>
                                    <p:cond delay="740"/>
                                  </p:stCondLst>
                                  <p:childTnLst>
                                    <p:set>
                                      <p:cBhvr>
                                        <p:cTn id="132" dur="1" fill="hold">
                                          <p:stCondLst>
                                            <p:cond delay="0"/>
                                          </p:stCondLst>
                                        </p:cTn>
                                        <p:tgtEl>
                                          <p:spTgt spid="29"/>
                                        </p:tgtEl>
                                        <p:attrNameLst>
                                          <p:attrName>style.visibility</p:attrName>
                                        </p:attrNameLst>
                                      </p:cBhvr>
                                      <p:to>
                                        <p:strVal val="visible"/>
                                      </p:to>
                                    </p:set>
                                    <p:animEffect transition="in" filter="fade">
                                      <p:cBhvr>
                                        <p:cTn id="133" dur="650"/>
                                        <p:tgtEl>
                                          <p:spTgt spid="29"/>
                                        </p:tgtEl>
                                      </p:cBhvr>
                                    </p:animEffect>
                                    <p:anim calcmode="lin" valueType="num">
                                      <p:cBhvr>
                                        <p:cTn id="134" dur="650" fill="hold"/>
                                        <p:tgtEl>
                                          <p:spTgt spid="29"/>
                                        </p:tgtEl>
                                        <p:attrNameLst>
                                          <p:attrName>ppt_x</p:attrName>
                                        </p:attrNameLst>
                                      </p:cBhvr>
                                      <p:tavLst>
                                        <p:tav tm="0">
                                          <p:val>
                                            <p:strVal val="#ppt_x"/>
                                          </p:val>
                                        </p:tav>
                                        <p:tav tm="100000">
                                          <p:val>
                                            <p:strVal val="#ppt_x"/>
                                          </p:val>
                                        </p:tav>
                                      </p:tavLst>
                                    </p:anim>
                                    <p:anim calcmode="lin" valueType="num">
                                      <p:cBhvr>
                                        <p:cTn id="135" dur="650" fill="hold"/>
                                        <p:tgtEl>
                                          <p:spTgt spid="29"/>
                                        </p:tgtEl>
                                        <p:attrNameLst>
                                          <p:attrName>ppt_y</p:attrName>
                                        </p:attrNameLst>
                                      </p:cBhvr>
                                      <p:tavLst>
                                        <p:tav tm="0">
                                          <p:val>
                                            <p:strVal val="#ppt_y+.05"/>
                                          </p:val>
                                        </p:tav>
                                        <p:tav tm="100000">
                                          <p:val>
                                            <p:strVal val="#ppt_y"/>
                                          </p:val>
                                        </p:tav>
                                      </p:tavLst>
                                    </p:anim>
                                  </p:childTnLst>
                                </p:cTn>
                              </p:par>
                              <p:par>
                                <p:cTn id="136" presetID="42" presetClass="entr" presetSubtype="0" fill="hold" grpId="0" nodeType="withEffect">
                                  <p:stCondLst>
                                    <p:cond delay="850"/>
                                  </p:stCondLst>
                                  <p:childTnLst>
                                    <p:set>
                                      <p:cBhvr>
                                        <p:cTn id="137" dur="1" fill="hold">
                                          <p:stCondLst>
                                            <p:cond delay="0"/>
                                          </p:stCondLst>
                                        </p:cTn>
                                        <p:tgtEl>
                                          <p:spTgt spid="30"/>
                                        </p:tgtEl>
                                        <p:attrNameLst>
                                          <p:attrName>style.visibility</p:attrName>
                                        </p:attrNameLst>
                                      </p:cBhvr>
                                      <p:to>
                                        <p:strVal val="visible"/>
                                      </p:to>
                                    </p:set>
                                    <p:animEffect transition="in" filter="fade">
                                      <p:cBhvr>
                                        <p:cTn id="138" dur="650"/>
                                        <p:tgtEl>
                                          <p:spTgt spid="30"/>
                                        </p:tgtEl>
                                      </p:cBhvr>
                                    </p:animEffect>
                                    <p:anim calcmode="lin" valueType="num">
                                      <p:cBhvr>
                                        <p:cTn id="139" dur="650" fill="hold"/>
                                        <p:tgtEl>
                                          <p:spTgt spid="30"/>
                                        </p:tgtEl>
                                        <p:attrNameLst>
                                          <p:attrName>ppt_x</p:attrName>
                                        </p:attrNameLst>
                                      </p:cBhvr>
                                      <p:tavLst>
                                        <p:tav tm="0">
                                          <p:val>
                                            <p:strVal val="#ppt_x"/>
                                          </p:val>
                                        </p:tav>
                                        <p:tav tm="100000">
                                          <p:val>
                                            <p:strVal val="#ppt_x"/>
                                          </p:val>
                                        </p:tav>
                                      </p:tavLst>
                                    </p:anim>
                                    <p:anim calcmode="lin" valueType="num">
                                      <p:cBhvr>
                                        <p:cTn id="140" dur="650" fill="hold"/>
                                        <p:tgtEl>
                                          <p:spTgt spid="30"/>
                                        </p:tgtEl>
                                        <p:attrNameLst>
                                          <p:attrName>ppt_y</p:attrName>
                                        </p:attrNameLst>
                                      </p:cBhvr>
                                      <p:tavLst>
                                        <p:tav tm="0">
                                          <p:val>
                                            <p:strVal val="#ppt_y+.05"/>
                                          </p:val>
                                        </p:tav>
                                        <p:tav tm="100000">
                                          <p:val>
                                            <p:strVal val="#ppt_y"/>
                                          </p:val>
                                        </p:tav>
                                      </p:tavLst>
                                    </p:anim>
                                  </p:childTnLst>
                                </p:cTn>
                              </p:par>
                              <p:par>
                                <p:cTn id="141" presetID="42" presetClass="entr" presetSubtype="0" fill="hold" grpId="0" nodeType="withEffect">
                                  <p:stCondLst>
                                    <p:cond delay="850"/>
                                  </p:stCondLst>
                                  <p:childTnLst>
                                    <p:set>
                                      <p:cBhvr>
                                        <p:cTn id="142" dur="1" fill="hold">
                                          <p:stCondLst>
                                            <p:cond delay="0"/>
                                          </p:stCondLst>
                                        </p:cTn>
                                        <p:tgtEl>
                                          <p:spTgt spid="31"/>
                                        </p:tgtEl>
                                        <p:attrNameLst>
                                          <p:attrName>style.visibility</p:attrName>
                                        </p:attrNameLst>
                                      </p:cBhvr>
                                      <p:to>
                                        <p:strVal val="visible"/>
                                      </p:to>
                                    </p:set>
                                    <p:animEffect transition="in" filter="fade">
                                      <p:cBhvr>
                                        <p:cTn id="143" dur="650"/>
                                        <p:tgtEl>
                                          <p:spTgt spid="31"/>
                                        </p:tgtEl>
                                      </p:cBhvr>
                                    </p:animEffect>
                                    <p:anim calcmode="lin" valueType="num">
                                      <p:cBhvr>
                                        <p:cTn id="144" dur="650" fill="hold"/>
                                        <p:tgtEl>
                                          <p:spTgt spid="31"/>
                                        </p:tgtEl>
                                        <p:attrNameLst>
                                          <p:attrName>ppt_x</p:attrName>
                                        </p:attrNameLst>
                                      </p:cBhvr>
                                      <p:tavLst>
                                        <p:tav tm="0">
                                          <p:val>
                                            <p:strVal val="#ppt_x"/>
                                          </p:val>
                                        </p:tav>
                                        <p:tav tm="100000">
                                          <p:val>
                                            <p:strVal val="#ppt_x"/>
                                          </p:val>
                                        </p:tav>
                                      </p:tavLst>
                                    </p:anim>
                                    <p:anim calcmode="lin" valueType="num">
                                      <p:cBhvr>
                                        <p:cTn id="145" dur="650" fill="hold"/>
                                        <p:tgtEl>
                                          <p:spTgt spid="31"/>
                                        </p:tgtEl>
                                        <p:attrNameLst>
                                          <p:attrName>ppt_y</p:attrName>
                                        </p:attrNameLst>
                                      </p:cBhvr>
                                      <p:tavLst>
                                        <p:tav tm="0">
                                          <p:val>
                                            <p:strVal val="#ppt_y+.05"/>
                                          </p:val>
                                        </p:tav>
                                        <p:tav tm="100000">
                                          <p:val>
                                            <p:strVal val="#ppt_y"/>
                                          </p:val>
                                        </p:tav>
                                      </p:tavLst>
                                    </p:anim>
                                  </p:childTnLst>
                                </p:cTn>
                              </p:par>
                              <p:par>
                                <p:cTn id="146" presetID="42" presetClass="entr" presetSubtype="0" fill="hold" grpId="0" nodeType="withEffect">
                                  <p:stCondLst>
                                    <p:cond delay="850"/>
                                  </p:stCondLst>
                                  <p:childTnLst>
                                    <p:set>
                                      <p:cBhvr>
                                        <p:cTn id="147" dur="1" fill="hold">
                                          <p:stCondLst>
                                            <p:cond delay="0"/>
                                          </p:stCondLst>
                                        </p:cTn>
                                        <p:tgtEl>
                                          <p:spTgt spid="32"/>
                                        </p:tgtEl>
                                        <p:attrNameLst>
                                          <p:attrName>style.visibility</p:attrName>
                                        </p:attrNameLst>
                                      </p:cBhvr>
                                      <p:to>
                                        <p:strVal val="visible"/>
                                      </p:to>
                                    </p:set>
                                    <p:animEffect transition="in" filter="fade">
                                      <p:cBhvr>
                                        <p:cTn id="148" dur="650"/>
                                        <p:tgtEl>
                                          <p:spTgt spid="32"/>
                                        </p:tgtEl>
                                      </p:cBhvr>
                                    </p:animEffect>
                                    <p:anim calcmode="lin" valueType="num">
                                      <p:cBhvr>
                                        <p:cTn id="149" dur="650" fill="hold"/>
                                        <p:tgtEl>
                                          <p:spTgt spid="32"/>
                                        </p:tgtEl>
                                        <p:attrNameLst>
                                          <p:attrName>ppt_x</p:attrName>
                                        </p:attrNameLst>
                                      </p:cBhvr>
                                      <p:tavLst>
                                        <p:tav tm="0">
                                          <p:val>
                                            <p:strVal val="#ppt_x"/>
                                          </p:val>
                                        </p:tav>
                                        <p:tav tm="100000">
                                          <p:val>
                                            <p:strVal val="#ppt_x"/>
                                          </p:val>
                                        </p:tav>
                                      </p:tavLst>
                                    </p:anim>
                                    <p:anim calcmode="lin" valueType="num">
                                      <p:cBhvr>
                                        <p:cTn id="150" dur="650" fill="hold"/>
                                        <p:tgtEl>
                                          <p:spTgt spid="32"/>
                                        </p:tgtEl>
                                        <p:attrNameLst>
                                          <p:attrName>ppt_y</p:attrName>
                                        </p:attrNameLst>
                                      </p:cBhvr>
                                      <p:tavLst>
                                        <p:tav tm="0">
                                          <p:val>
                                            <p:strVal val="#ppt_y+.05"/>
                                          </p:val>
                                        </p:tav>
                                        <p:tav tm="100000">
                                          <p:val>
                                            <p:strVal val="#ppt_y"/>
                                          </p:val>
                                        </p:tav>
                                      </p:tavLst>
                                    </p:anim>
                                  </p:childTnLst>
                                </p:cTn>
                              </p:par>
                              <p:par>
                                <p:cTn id="151" presetID="42" presetClass="entr" presetSubtype="0" fill="hold" grpId="0" nodeType="withEffect">
                                  <p:stCondLst>
                                    <p:cond delay="850"/>
                                  </p:stCondLst>
                                  <p:childTnLst>
                                    <p:set>
                                      <p:cBhvr>
                                        <p:cTn id="152" dur="1" fill="hold">
                                          <p:stCondLst>
                                            <p:cond delay="0"/>
                                          </p:stCondLst>
                                        </p:cTn>
                                        <p:tgtEl>
                                          <p:spTgt spid="33"/>
                                        </p:tgtEl>
                                        <p:attrNameLst>
                                          <p:attrName>style.visibility</p:attrName>
                                        </p:attrNameLst>
                                      </p:cBhvr>
                                      <p:to>
                                        <p:strVal val="visible"/>
                                      </p:to>
                                    </p:set>
                                    <p:animEffect transition="in" filter="fade">
                                      <p:cBhvr>
                                        <p:cTn id="153" dur="650"/>
                                        <p:tgtEl>
                                          <p:spTgt spid="33"/>
                                        </p:tgtEl>
                                      </p:cBhvr>
                                    </p:animEffect>
                                    <p:anim calcmode="lin" valueType="num">
                                      <p:cBhvr>
                                        <p:cTn id="154" dur="650" fill="hold"/>
                                        <p:tgtEl>
                                          <p:spTgt spid="33"/>
                                        </p:tgtEl>
                                        <p:attrNameLst>
                                          <p:attrName>ppt_x</p:attrName>
                                        </p:attrNameLst>
                                      </p:cBhvr>
                                      <p:tavLst>
                                        <p:tav tm="0">
                                          <p:val>
                                            <p:strVal val="#ppt_x"/>
                                          </p:val>
                                        </p:tav>
                                        <p:tav tm="100000">
                                          <p:val>
                                            <p:strVal val="#ppt_x"/>
                                          </p:val>
                                        </p:tav>
                                      </p:tavLst>
                                    </p:anim>
                                    <p:anim calcmode="lin" valueType="num">
                                      <p:cBhvr>
                                        <p:cTn id="155" dur="650" fill="hold"/>
                                        <p:tgtEl>
                                          <p:spTgt spid="33"/>
                                        </p:tgtEl>
                                        <p:attrNameLst>
                                          <p:attrName>ppt_y</p:attrName>
                                        </p:attrNameLst>
                                      </p:cBhvr>
                                      <p:tavLst>
                                        <p:tav tm="0">
                                          <p:val>
                                            <p:strVal val="#ppt_y+.05"/>
                                          </p:val>
                                        </p:tav>
                                        <p:tav tm="100000">
                                          <p:val>
                                            <p:strVal val="#ppt_y"/>
                                          </p:val>
                                        </p:tav>
                                      </p:tavLst>
                                    </p:anim>
                                  </p:childTnLst>
                                </p:cTn>
                              </p:par>
                              <p:par>
                                <p:cTn id="156" presetID="42" presetClass="entr" presetSubtype="0" fill="hold" grpId="0" nodeType="withEffect">
                                  <p:stCondLst>
                                    <p:cond delay="850"/>
                                  </p:stCondLst>
                                  <p:childTnLst>
                                    <p:set>
                                      <p:cBhvr>
                                        <p:cTn id="157" dur="1" fill="hold">
                                          <p:stCondLst>
                                            <p:cond delay="0"/>
                                          </p:stCondLst>
                                        </p:cTn>
                                        <p:tgtEl>
                                          <p:spTgt spid="34"/>
                                        </p:tgtEl>
                                        <p:attrNameLst>
                                          <p:attrName>style.visibility</p:attrName>
                                        </p:attrNameLst>
                                      </p:cBhvr>
                                      <p:to>
                                        <p:strVal val="visible"/>
                                      </p:to>
                                    </p:set>
                                    <p:animEffect transition="in" filter="fade">
                                      <p:cBhvr>
                                        <p:cTn id="158" dur="650"/>
                                        <p:tgtEl>
                                          <p:spTgt spid="34"/>
                                        </p:tgtEl>
                                      </p:cBhvr>
                                    </p:animEffect>
                                    <p:anim calcmode="lin" valueType="num">
                                      <p:cBhvr>
                                        <p:cTn id="159" dur="650" fill="hold"/>
                                        <p:tgtEl>
                                          <p:spTgt spid="34"/>
                                        </p:tgtEl>
                                        <p:attrNameLst>
                                          <p:attrName>ppt_x</p:attrName>
                                        </p:attrNameLst>
                                      </p:cBhvr>
                                      <p:tavLst>
                                        <p:tav tm="0">
                                          <p:val>
                                            <p:strVal val="#ppt_x"/>
                                          </p:val>
                                        </p:tav>
                                        <p:tav tm="100000">
                                          <p:val>
                                            <p:strVal val="#ppt_x"/>
                                          </p:val>
                                        </p:tav>
                                      </p:tavLst>
                                    </p:anim>
                                    <p:anim calcmode="lin" valueType="num">
                                      <p:cBhvr>
                                        <p:cTn id="160" dur="650" fill="hold"/>
                                        <p:tgtEl>
                                          <p:spTgt spid="34"/>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6" grpId="0" animBg="1"/>
      <p:bldP spid="8" grpId="0" animBg="1"/>
      <p:bldP spid="9" grpId="0" animBg="1"/>
      <p:bldP spid="10" grpId="0" animBg="1"/>
      <p:bldP spid="11" grpId="0" animBg="1"/>
      <p:bldP spid="13" grpId="0" animBg="1"/>
      <p:bldP spid="14" grpId="0" animBg="1"/>
      <p:bldP spid="15" grpId="0" animBg="1"/>
      <p:bldP spid="16" grpId="0" animBg="1"/>
      <p:bldP spid="18" grpId="0" animBg="1"/>
      <p:bldP spid="19" grpId="0" animBg="1"/>
      <p:bldP spid="20" grpId="0" animBg="1"/>
      <p:bldP spid="21" grpId="0" animBg="1"/>
      <p:bldP spid="23" grpId="0" animBg="1"/>
      <p:bldP spid="24" grpId="0" animBg="1"/>
      <p:bldP spid="25" grpId="0" animBg="1"/>
      <p:bldP spid="26" grpId="0" animBg="1"/>
      <p:bldP spid="28" grpId="0" animBg="1"/>
      <p:bldP spid="29" grpId="0" animBg="1"/>
      <p:bldP spid="30" grpId="0" animBg="1"/>
      <p:bldP spid="31" grpId="0" animBg="1"/>
      <p:bldP spid="33" grpId="0" animBg="1"/>
      <p:bldP spid="3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eyebrow-pill"/>
          <p:cNvSpPr/>
          <p:nvPr/>
        </p:nvSpPr>
        <p:spPr>
          <a:xfrm>
            <a:off x="548640" y="475488"/>
            <a:ext cx="1035101" cy="274320"/>
          </a:xfrm>
          <a:prstGeom prst="roundRect">
            <a:avLst>
              <a:gd name="adj" fmla="val 50000"/>
            </a:avLst>
          </a:prstGeom>
          <a:solidFill>
            <a:srgbClr val="E5E5EA"/>
          </a:solidFill>
          <a:ln/>
        </p:spPr>
      </p:sp>
      <p:sp>
        <p:nvSpPr>
          <p:cNvPr id="3" name="eyebrow"/>
          <p:cNvSpPr txBox="1"/>
          <p:nvPr/>
        </p:nvSpPr>
        <p:spPr>
          <a:xfrm>
            <a:off x="548640" y="475488"/>
            <a:ext cx="1035101" cy="274320"/>
          </a:xfrm>
          <a:prstGeom prst="rect">
            <a:avLst/>
          </a:prstGeom>
          <a:noFill/>
          <a:ln/>
        </p:spPr>
        <p:txBody>
          <a:bodyPr wrap="square" lIns="0" tIns="0" rIns="0" bIns="0" rtlCol="0" anchor="ctr"/>
          <a:lstStyle/>
          <a:p>
            <a:pPr algn="ctr" indent="0" marL="0">
              <a:buNone/>
            </a:pPr>
            <a:r>
              <a:rPr lang="en-US" sz="900" b="1" spc="160" kern="0" dirty="0">
                <a:solidFill>
                  <a:srgbClr val="5C5C61"/>
                </a:solidFill>
                <a:latin typeface="Arial" pitchFamily="34" charset="0"/>
                <a:ea typeface="Arial" pitchFamily="34" charset="-122"/>
                <a:cs typeface="Arial" pitchFamily="34" charset="-120"/>
              </a:rPr>
              <a:t>EVERY DAY</a:t>
            </a:r>
            <a:endParaRPr lang="en-US" sz="900" dirty="0"/>
          </a:p>
        </p:txBody>
      </p:sp>
      <p:sp>
        <p:nvSpPr>
          <p:cNvPr id="4" name="Text 1"/>
          <p:cNvSpPr/>
          <p:nvPr>
            <p:ph idx="101" type="title" hasCustomPrompt="1"/>
          </p:nvPr>
        </p:nvSpPr>
        <p:spPr>
          <a:xfrm>
            <a:off x="548640" y="896112"/>
            <a:ext cx="6583680" cy="1207008"/>
          </a:xfrm>
          <a:prstGeom prst="rect">
            <a:avLst/>
          </a:prstGeom>
          <a:noFill/>
          <a:ln/>
        </p:spPr>
        <p:txBody>
          <a:bodyPr wrap="square" lIns="0" tIns="0" rIns="0" bIns="0" rtlCol="0" anchor="t"/>
          <a:lstStyle/>
          <a:p>
            <a:pPr algn="l" indent="0" marL="0">
              <a:buNone/>
            </a:pPr>
            <a:r>
              <a:rPr lang="en-US" sz="3400" b="1" dirty="0">
                <a:solidFill>
                  <a:srgbClr val="1D1D1F"/>
                </a:solidFill>
                <a:latin typeface="Arial" pitchFamily="34" charset="0"/>
                <a:ea typeface="Arial" pitchFamily="34" charset="-122"/>
                <a:cs typeface="Arial" pitchFamily="34" charset="-120"/>
              </a:rPr>
              <a:t>Daily reporting,</a:t>
            </a:r>
            <a:endParaRPr lang="en-US" sz="3400" dirty="0"/>
          </a:p>
          <a:p>
            <a:pPr algn="l" indent="0" marL="0">
              <a:buNone/>
            </a:pPr>
            <a:r>
              <a:rPr lang="en-US" sz="3400" dirty="0">
                <a:solidFill>
                  <a:srgbClr val="8E8E93"/>
                </a:solidFill>
                <a:latin typeface="Arial" pitchFamily="34" charset="0"/>
                <a:ea typeface="Arial" pitchFamily="34" charset="-122"/>
                <a:cs typeface="Arial" pitchFamily="34" charset="-120"/>
              </a:rPr>
              <a:t>built in</a:t>
            </a:r>
            <a:endParaRPr lang="en-US" sz="3400" dirty="0"/>
          </a:p>
        </p:txBody>
      </p:sp>
      <p:sp>
        <p:nvSpPr>
          <p:cNvPr id="5" name="dot-up"/>
          <p:cNvSpPr/>
          <p:nvPr/>
        </p:nvSpPr>
        <p:spPr>
          <a:xfrm>
            <a:off x="548640" y="2423160"/>
            <a:ext cx="475488" cy="475488"/>
          </a:xfrm>
          <a:prstGeom prst="ellipse">
            <a:avLst/>
          </a:prstGeom>
          <a:solidFill>
            <a:srgbClr val="1D1D1F"/>
          </a:solidFill>
          <a:ln/>
        </p:spPr>
      </p:sp>
      <p:pic>
        <p:nvPicPr>
          <p:cNvPr id="6" name="icon-up" descr="">    </p:cNvPr>
          <p:cNvPicPr>
            <a:picLocks noChangeAspect="1"/>
          </p:cNvPicPr>
          <p:nvPr/>
        </p:nvPicPr>
        <p:blipFill>
          <a:blip r:embed="rId1"/>
          <a:stretch>
            <a:fillRect/>
          </a:stretch>
        </p:blipFill>
        <p:spPr>
          <a:xfrm>
            <a:off x="658002" y="2532522"/>
            <a:ext cx="256764" cy="256764"/>
          </a:xfrm>
          <a:prstGeom prst="rect">
            <a:avLst/>
          </a:prstGeom>
        </p:spPr>
      </p:pic>
      <p:sp>
        <p:nvSpPr>
          <p:cNvPr id="7" name="h"/>
          <p:cNvSpPr txBox="1"/>
          <p:nvPr/>
        </p:nvSpPr>
        <p:spPr>
          <a:xfrm>
            <a:off x="1225296" y="2404872"/>
            <a:ext cx="4261104" cy="310896"/>
          </a:xfrm>
          <a:prstGeom prst="rect">
            <a:avLst/>
          </a:prstGeom>
          <a:noFill/>
          <a:ln/>
        </p:spPr>
        <p:txBody>
          <a:bodyPr wrap="square" lIns="0" tIns="0" rIns="0" bIns="0" rtlCol="0" anchor="ctr"/>
          <a:lstStyle/>
          <a:p>
            <a:pPr indent="0" marL="0">
              <a:buNone/>
            </a:pPr>
            <a:r>
              <a:rPr lang="en-US" sz="1500" b="1" dirty="0">
                <a:solidFill>
                  <a:srgbClr val="1D1D1F"/>
                </a:solidFill>
                <a:latin typeface="Arial" pitchFamily="34" charset="0"/>
                <a:ea typeface="Arial" pitchFamily="34" charset="-122"/>
                <a:cs typeface="Arial" pitchFamily="34" charset="-120"/>
              </a:rPr>
              <a:t>Drop yesterday's exports</a:t>
            </a:r>
            <a:endParaRPr lang="en-US" sz="1500" dirty="0"/>
          </a:p>
        </p:txBody>
      </p:sp>
      <p:sp>
        <p:nvSpPr>
          <p:cNvPr id="8" name="t"/>
          <p:cNvSpPr txBox="1"/>
          <p:nvPr/>
        </p:nvSpPr>
        <p:spPr>
          <a:xfrm>
            <a:off x="1225296" y="2715768"/>
            <a:ext cx="4261104" cy="731520"/>
          </a:xfrm>
          <a:prstGeom prst="rect">
            <a:avLst/>
          </a:prstGeom>
          <a:noFill/>
          <a:ln/>
        </p:spPr>
        <p:txBody>
          <a:bodyPr wrap="square" lIns="0" tIns="0" rIns="0" bIns="0" rtlCol="0" anchor="t"/>
          <a:lstStyle/>
          <a:p>
            <a:pPr indent="0" marL="0">
              <a:lnSpc>
                <a:spcPct val="105000"/>
              </a:lnSpc>
              <a:buNone/>
            </a:pPr>
            <a:r>
              <a:rPr lang="en-US" sz="1250" dirty="0">
                <a:solidFill>
                  <a:srgbClr val="5C5C61"/>
                </a:solidFill>
                <a:latin typeface="Arial" pitchFamily="34" charset="0"/>
                <a:ea typeface="Arial" pitchFamily="34" charset="-122"/>
                <a:cs typeface="Arial" pitchFamily="34" charset="-120"/>
              </a:rPr>
              <a:t>MC Leaders and the WFM Daily Review are made in the tool.</a:t>
            </a:r>
            <a:endParaRPr lang="en-US" sz="1250" dirty="0"/>
          </a:p>
        </p:txBody>
      </p:sp>
      <p:sp>
        <p:nvSpPr>
          <p:cNvPr id="9" name="dot-mail"/>
          <p:cNvSpPr/>
          <p:nvPr/>
        </p:nvSpPr>
        <p:spPr>
          <a:xfrm>
            <a:off x="548640" y="3630168"/>
            <a:ext cx="475488" cy="475488"/>
          </a:xfrm>
          <a:prstGeom prst="ellipse">
            <a:avLst/>
          </a:prstGeom>
          <a:solidFill>
            <a:srgbClr val="1D1D1F"/>
          </a:solidFill>
          <a:ln/>
        </p:spPr>
      </p:sp>
      <p:pic>
        <p:nvPicPr>
          <p:cNvPr id="10" name="icon-mail" descr="">    </p:cNvPr>
          <p:cNvPicPr>
            <a:picLocks noChangeAspect="1"/>
          </p:cNvPicPr>
          <p:nvPr/>
        </p:nvPicPr>
        <p:blipFill>
          <a:blip r:embed="rId2"/>
          <a:stretch>
            <a:fillRect/>
          </a:stretch>
        </p:blipFill>
        <p:spPr>
          <a:xfrm>
            <a:off x="658002" y="3739530"/>
            <a:ext cx="256764" cy="256764"/>
          </a:xfrm>
          <a:prstGeom prst="rect">
            <a:avLst/>
          </a:prstGeom>
        </p:spPr>
      </p:pic>
      <p:sp>
        <p:nvSpPr>
          <p:cNvPr id="11" name="h"/>
          <p:cNvSpPr txBox="1"/>
          <p:nvPr/>
        </p:nvSpPr>
        <p:spPr>
          <a:xfrm>
            <a:off x="1225296" y="3611880"/>
            <a:ext cx="4261104" cy="310896"/>
          </a:xfrm>
          <a:prstGeom prst="rect">
            <a:avLst/>
          </a:prstGeom>
          <a:noFill/>
          <a:ln/>
        </p:spPr>
        <p:txBody>
          <a:bodyPr wrap="square" lIns="0" tIns="0" rIns="0" bIns="0" rtlCol="0" anchor="ctr"/>
          <a:lstStyle/>
          <a:p>
            <a:pPr indent="0" marL="0">
              <a:buNone/>
            </a:pPr>
            <a:r>
              <a:rPr lang="en-US" sz="1500" b="1" dirty="0">
                <a:solidFill>
                  <a:srgbClr val="1D1D1F"/>
                </a:solidFill>
                <a:latin typeface="Arial" pitchFamily="34" charset="0"/>
                <a:ea typeface="Arial" pitchFamily="34" charset="-122"/>
                <a:cs typeface="Arial" pitchFamily="34" charset="-120"/>
              </a:rPr>
              <a:t>Four brand emails</a:t>
            </a:r>
            <a:endParaRPr lang="en-US" sz="1500" dirty="0"/>
          </a:p>
        </p:txBody>
      </p:sp>
      <p:sp>
        <p:nvSpPr>
          <p:cNvPr id="12" name="t"/>
          <p:cNvSpPr txBox="1"/>
          <p:nvPr/>
        </p:nvSpPr>
        <p:spPr>
          <a:xfrm>
            <a:off x="1225296" y="3922776"/>
            <a:ext cx="4261104" cy="731520"/>
          </a:xfrm>
          <a:prstGeom prst="rect">
            <a:avLst/>
          </a:prstGeom>
          <a:noFill/>
          <a:ln/>
        </p:spPr>
        <p:txBody>
          <a:bodyPr wrap="square" lIns="0" tIns="0" rIns="0" bIns="0" rtlCol="0" anchor="t"/>
          <a:lstStyle/>
          <a:p>
            <a:pPr indent="0" marL="0">
              <a:lnSpc>
                <a:spcPct val="105000"/>
              </a:lnSpc>
              <a:buNone/>
            </a:pPr>
            <a:r>
              <a:rPr lang="en-US" sz="1250" dirty="0">
                <a:solidFill>
                  <a:srgbClr val="5C5C61"/>
                </a:solidFill>
                <a:latin typeface="Arial" pitchFamily="34" charset="0"/>
                <a:ea typeface="Arial" pitchFamily="34" charset="-122"/>
                <a:cs typeface="Arial" pitchFamily="34" charset="-120"/>
              </a:rPr>
              <a:t>Virgin Postpaid, Virgin Mobile, FRiENDi Mobile and FRiENDi Pay go straight to the WFM manager to send.</a:t>
            </a:r>
            <a:endParaRPr lang="en-US" sz="1250" dirty="0"/>
          </a:p>
        </p:txBody>
      </p:sp>
      <p:sp>
        <p:nvSpPr>
          <p:cNvPr id="13" name="dot-day"/>
          <p:cNvSpPr/>
          <p:nvPr/>
        </p:nvSpPr>
        <p:spPr>
          <a:xfrm>
            <a:off x="548640" y="4837176"/>
            <a:ext cx="475488" cy="475488"/>
          </a:xfrm>
          <a:prstGeom prst="ellipse">
            <a:avLst/>
          </a:prstGeom>
          <a:solidFill>
            <a:srgbClr val="1D1D1F"/>
          </a:solidFill>
          <a:ln/>
        </p:spPr>
      </p:sp>
      <p:pic>
        <p:nvPicPr>
          <p:cNvPr id="14" name="icon-day" descr="">    </p:cNvPr>
          <p:cNvPicPr>
            <a:picLocks noChangeAspect="1"/>
          </p:cNvPicPr>
          <p:nvPr/>
        </p:nvPicPr>
        <p:blipFill>
          <a:blip r:embed="rId3"/>
          <a:stretch>
            <a:fillRect/>
          </a:stretch>
        </p:blipFill>
        <p:spPr>
          <a:xfrm>
            <a:off x="658002" y="4946538"/>
            <a:ext cx="256764" cy="256764"/>
          </a:xfrm>
          <a:prstGeom prst="rect">
            <a:avLst/>
          </a:prstGeom>
        </p:spPr>
      </p:pic>
      <p:sp>
        <p:nvSpPr>
          <p:cNvPr id="15" name="h"/>
          <p:cNvSpPr txBox="1"/>
          <p:nvPr/>
        </p:nvSpPr>
        <p:spPr>
          <a:xfrm>
            <a:off x="1225296" y="4818888"/>
            <a:ext cx="4261104" cy="310896"/>
          </a:xfrm>
          <a:prstGeom prst="rect">
            <a:avLst/>
          </a:prstGeom>
          <a:noFill/>
          <a:ln/>
        </p:spPr>
        <p:txBody>
          <a:bodyPr wrap="square" lIns="0" tIns="0" rIns="0" bIns="0" rtlCol="0" anchor="ctr"/>
          <a:lstStyle/>
          <a:p>
            <a:pPr indent="0" marL="0">
              <a:buNone/>
            </a:pPr>
            <a:r>
              <a:rPr lang="en-US" sz="1500" b="1" dirty="0">
                <a:solidFill>
                  <a:srgbClr val="1D1D1F"/>
                </a:solidFill>
                <a:latin typeface="Arial" pitchFamily="34" charset="0"/>
                <a:ea typeface="Arial" pitchFamily="34" charset="-122"/>
                <a:cs typeface="Arial" pitchFamily="34" charset="-120"/>
              </a:rPr>
              <a:t>A history that builds itself</a:t>
            </a:r>
            <a:endParaRPr lang="en-US" sz="1500" dirty="0"/>
          </a:p>
        </p:txBody>
      </p:sp>
      <p:sp>
        <p:nvSpPr>
          <p:cNvPr id="16" name="t"/>
          <p:cNvSpPr txBox="1"/>
          <p:nvPr/>
        </p:nvSpPr>
        <p:spPr>
          <a:xfrm>
            <a:off x="1225296" y="5129784"/>
            <a:ext cx="4261104" cy="731520"/>
          </a:xfrm>
          <a:prstGeom prst="rect">
            <a:avLst/>
          </a:prstGeom>
          <a:noFill/>
          <a:ln/>
        </p:spPr>
        <p:txBody>
          <a:bodyPr wrap="square" lIns="0" tIns="0" rIns="0" bIns="0" rtlCol="0" anchor="t"/>
          <a:lstStyle/>
          <a:p>
            <a:pPr indent="0" marL="0">
              <a:lnSpc>
                <a:spcPct val="105000"/>
              </a:lnSpc>
              <a:buNone/>
            </a:pPr>
            <a:r>
              <a:rPr lang="en-US" sz="1250" dirty="0">
                <a:solidFill>
                  <a:srgbClr val="5C5C61"/>
                </a:solidFill>
                <a:latin typeface="Arial" pitchFamily="34" charset="0"/>
                <a:ea typeface="Arial" pitchFamily="34" charset="-122"/>
                <a:cs typeface="Arial" pitchFamily="34" charset="-120"/>
              </a:rPr>
              <a:t>Each day is kept, so the month can be followed day by day.</a:t>
            </a:r>
            <a:endParaRPr lang="en-US" sz="1250" dirty="0"/>
          </a:p>
        </p:txBody>
      </p:sp>
      <p:pic>
        <p:nvPicPr>
          <p:cNvPr id="17" name="builder" descr="WFM team, Report builder">    </p:cNvPr>
          <p:cNvPicPr>
            <a:picLocks noChangeAspect="1"/>
          </p:cNvPicPr>
          <p:nvPr/>
        </p:nvPicPr>
        <p:blipFill>
          <a:blip r:embed="rId4"/>
          <a:stretch>
            <a:fillRect/>
          </a:stretch>
        </p:blipFill>
        <p:spPr>
          <a:xfrm>
            <a:off x="5760720" y="1143000"/>
            <a:ext cx="6172200" cy="4276453"/>
          </a:xfrm>
          <a:prstGeom prst="rect">
            <a:avLst/>
          </a:prstGeom>
        </p:spPr>
      </p:pic>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E8E93"/>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42" presetClass="entr" presetSubtype="0" fill="hold" grpId="0" nodeType="withEffect">
                                  <p:stCondLst>
                                    <p:cond delay="25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650"/>
                                        <p:tgtEl>
                                          <p:spTgt spid="17"/>
                                        </p:tgtEl>
                                      </p:cBhvr>
                                    </p:animEffect>
                                    <p:anim calcmode="lin" valueType="num">
                                      <p:cBhvr>
                                        <p:cTn id="14" dur="650" fill="hold"/>
                                        <p:tgtEl>
                                          <p:spTgt spid="17"/>
                                        </p:tgtEl>
                                        <p:attrNameLst>
                                          <p:attrName>ppt_x</p:attrName>
                                        </p:attrNameLst>
                                      </p:cBhvr>
                                      <p:tavLst>
                                        <p:tav tm="0">
                                          <p:val>
                                            <p:strVal val="#ppt_x"/>
                                          </p:val>
                                        </p:tav>
                                        <p:tav tm="100000">
                                          <p:val>
                                            <p:strVal val="#ppt_x"/>
                                          </p:val>
                                        </p:tav>
                                      </p:tavLst>
                                    </p:anim>
                                    <p:anim calcmode="lin" valueType="num">
                                      <p:cBhvr>
                                        <p:cTn id="15" dur="650" fill="hold"/>
                                        <p:tgtEl>
                                          <p:spTgt spid="17"/>
                                        </p:tgtEl>
                                        <p:attrNameLst>
                                          <p:attrName>ppt_y</p:attrName>
                                        </p:attrNameLst>
                                      </p:cBhvr>
                                      <p:tavLst>
                                        <p:tav tm="0">
                                          <p:val>
                                            <p:strVal val="#ppt_y+.05"/>
                                          </p:val>
                                        </p:tav>
                                        <p:tav tm="100000">
                                          <p:val>
                                            <p:strVal val="#ppt_y"/>
                                          </p:val>
                                        </p:tav>
                                      </p:tavLst>
                                    </p:anim>
                                  </p:childTnLst>
                                </p:cTn>
                              </p:par>
                              <p:par>
                                <p:cTn id="16" presetID="42" presetClass="entr" presetSubtype="0" fill="hold" grpId="0" nodeType="withEffect">
                                  <p:stCondLst>
                                    <p:cond delay="30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650"/>
                                        <p:tgtEl>
                                          <p:spTgt spid="5"/>
                                        </p:tgtEl>
                                      </p:cBhvr>
                                    </p:animEffect>
                                    <p:anim calcmode="lin" valueType="num">
                                      <p:cBhvr>
                                        <p:cTn id="19" dur="650" fill="hold"/>
                                        <p:tgtEl>
                                          <p:spTgt spid="5"/>
                                        </p:tgtEl>
                                        <p:attrNameLst>
                                          <p:attrName>ppt_x</p:attrName>
                                        </p:attrNameLst>
                                      </p:cBhvr>
                                      <p:tavLst>
                                        <p:tav tm="0">
                                          <p:val>
                                            <p:strVal val="#ppt_x"/>
                                          </p:val>
                                        </p:tav>
                                        <p:tav tm="100000">
                                          <p:val>
                                            <p:strVal val="#ppt_x"/>
                                          </p:val>
                                        </p:tav>
                                      </p:tavLst>
                                    </p:anim>
                                    <p:anim calcmode="lin" valueType="num">
                                      <p:cBhvr>
                                        <p:cTn id="20" dur="650" fill="hold"/>
                                        <p:tgtEl>
                                          <p:spTgt spid="5"/>
                                        </p:tgtEl>
                                        <p:attrNameLst>
                                          <p:attrName>ppt_y</p:attrName>
                                        </p:attrNameLst>
                                      </p:cBhvr>
                                      <p:tavLst>
                                        <p:tav tm="0">
                                          <p:val>
                                            <p:strVal val="#ppt_y+.05"/>
                                          </p:val>
                                        </p:tav>
                                        <p:tav tm="100000">
                                          <p:val>
                                            <p:strVal val="#ppt_y"/>
                                          </p:val>
                                        </p:tav>
                                      </p:tavLst>
                                    </p:anim>
                                  </p:childTnLst>
                                </p:cTn>
                              </p:par>
                              <p:par>
                                <p:cTn id="21" presetID="42" presetClass="entr" presetSubtype="0" fill="hold" grpId="0" nodeType="withEffect">
                                  <p:stCondLst>
                                    <p:cond delay="30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650"/>
                                        <p:tgtEl>
                                          <p:spTgt spid="6"/>
                                        </p:tgtEl>
                                      </p:cBhvr>
                                    </p:animEffect>
                                    <p:anim calcmode="lin" valueType="num">
                                      <p:cBhvr>
                                        <p:cTn id="24" dur="650" fill="hold"/>
                                        <p:tgtEl>
                                          <p:spTgt spid="6"/>
                                        </p:tgtEl>
                                        <p:attrNameLst>
                                          <p:attrName>ppt_x</p:attrName>
                                        </p:attrNameLst>
                                      </p:cBhvr>
                                      <p:tavLst>
                                        <p:tav tm="0">
                                          <p:val>
                                            <p:strVal val="#ppt_x"/>
                                          </p:val>
                                        </p:tav>
                                        <p:tav tm="100000">
                                          <p:val>
                                            <p:strVal val="#ppt_x"/>
                                          </p:val>
                                        </p:tav>
                                      </p:tavLst>
                                    </p:anim>
                                    <p:anim calcmode="lin" valueType="num">
                                      <p:cBhvr>
                                        <p:cTn id="25" dur="650" fill="hold"/>
                                        <p:tgtEl>
                                          <p:spTgt spid="6"/>
                                        </p:tgtEl>
                                        <p:attrNameLst>
                                          <p:attrName>ppt_y</p:attrName>
                                        </p:attrNameLst>
                                      </p:cBhvr>
                                      <p:tavLst>
                                        <p:tav tm="0">
                                          <p:val>
                                            <p:strVal val="#ppt_y+.05"/>
                                          </p:val>
                                        </p:tav>
                                        <p:tav tm="100000">
                                          <p:val>
                                            <p:strVal val="#ppt_y"/>
                                          </p:val>
                                        </p:tav>
                                      </p:tavLst>
                                    </p:anim>
                                  </p:childTnLst>
                                </p:cTn>
                              </p:par>
                              <p:par>
                                <p:cTn id="26" presetID="42" presetClass="entr" presetSubtype="0" fill="hold" grpId="0" nodeType="withEffect">
                                  <p:stCondLst>
                                    <p:cond delay="30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650"/>
                                        <p:tgtEl>
                                          <p:spTgt spid="7"/>
                                        </p:tgtEl>
                                      </p:cBhvr>
                                    </p:animEffect>
                                    <p:anim calcmode="lin" valueType="num">
                                      <p:cBhvr>
                                        <p:cTn id="29" dur="650" fill="hold"/>
                                        <p:tgtEl>
                                          <p:spTgt spid="7"/>
                                        </p:tgtEl>
                                        <p:attrNameLst>
                                          <p:attrName>ppt_x</p:attrName>
                                        </p:attrNameLst>
                                      </p:cBhvr>
                                      <p:tavLst>
                                        <p:tav tm="0">
                                          <p:val>
                                            <p:strVal val="#ppt_x"/>
                                          </p:val>
                                        </p:tav>
                                        <p:tav tm="100000">
                                          <p:val>
                                            <p:strVal val="#ppt_x"/>
                                          </p:val>
                                        </p:tav>
                                      </p:tavLst>
                                    </p:anim>
                                    <p:anim calcmode="lin" valueType="num">
                                      <p:cBhvr>
                                        <p:cTn id="30" dur="650" fill="hold"/>
                                        <p:tgtEl>
                                          <p:spTgt spid="7"/>
                                        </p:tgtEl>
                                        <p:attrNameLst>
                                          <p:attrName>ppt_y</p:attrName>
                                        </p:attrNameLst>
                                      </p:cBhvr>
                                      <p:tavLst>
                                        <p:tav tm="0">
                                          <p:val>
                                            <p:strVal val="#ppt_y+.05"/>
                                          </p:val>
                                        </p:tav>
                                        <p:tav tm="100000">
                                          <p:val>
                                            <p:strVal val="#ppt_y"/>
                                          </p:val>
                                        </p:tav>
                                      </p:tavLst>
                                    </p:anim>
                                  </p:childTnLst>
                                </p:cTn>
                              </p:par>
                              <p:par>
                                <p:cTn id="31" presetID="42" presetClass="entr" presetSubtype="0" fill="hold" grpId="0" nodeType="withEffect">
                                  <p:stCondLst>
                                    <p:cond delay="30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650"/>
                                        <p:tgtEl>
                                          <p:spTgt spid="8"/>
                                        </p:tgtEl>
                                      </p:cBhvr>
                                    </p:animEffect>
                                    <p:anim calcmode="lin" valueType="num">
                                      <p:cBhvr>
                                        <p:cTn id="34" dur="650" fill="hold"/>
                                        <p:tgtEl>
                                          <p:spTgt spid="8"/>
                                        </p:tgtEl>
                                        <p:attrNameLst>
                                          <p:attrName>ppt_x</p:attrName>
                                        </p:attrNameLst>
                                      </p:cBhvr>
                                      <p:tavLst>
                                        <p:tav tm="0">
                                          <p:val>
                                            <p:strVal val="#ppt_x"/>
                                          </p:val>
                                        </p:tav>
                                        <p:tav tm="100000">
                                          <p:val>
                                            <p:strVal val="#ppt_x"/>
                                          </p:val>
                                        </p:tav>
                                      </p:tavLst>
                                    </p:anim>
                                    <p:anim calcmode="lin" valueType="num">
                                      <p:cBhvr>
                                        <p:cTn id="35" dur="650" fill="hold"/>
                                        <p:tgtEl>
                                          <p:spTgt spid="8"/>
                                        </p:tgtEl>
                                        <p:attrNameLst>
                                          <p:attrName>ppt_y</p:attrName>
                                        </p:attrNameLst>
                                      </p:cBhvr>
                                      <p:tavLst>
                                        <p:tav tm="0">
                                          <p:val>
                                            <p:strVal val="#ppt_y+.05"/>
                                          </p:val>
                                        </p:tav>
                                        <p:tav tm="100000">
                                          <p:val>
                                            <p:strVal val="#ppt_y"/>
                                          </p:val>
                                        </p:tav>
                                      </p:tavLst>
                                    </p:anim>
                                  </p:childTnLst>
                                </p:cTn>
                              </p:par>
                              <p:par>
                                <p:cTn id="36" presetID="42" presetClass="entr" presetSubtype="0" fill="hold" grpId="0" nodeType="withEffect">
                                  <p:stCondLst>
                                    <p:cond delay="45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650"/>
                                        <p:tgtEl>
                                          <p:spTgt spid="9"/>
                                        </p:tgtEl>
                                      </p:cBhvr>
                                    </p:animEffect>
                                    <p:anim calcmode="lin" valueType="num">
                                      <p:cBhvr>
                                        <p:cTn id="39" dur="650" fill="hold"/>
                                        <p:tgtEl>
                                          <p:spTgt spid="9"/>
                                        </p:tgtEl>
                                        <p:attrNameLst>
                                          <p:attrName>ppt_x</p:attrName>
                                        </p:attrNameLst>
                                      </p:cBhvr>
                                      <p:tavLst>
                                        <p:tav tm="0">
                                          <p:val>
                                            <p:strVal val="#ppt_x"/>
                                          </p:val>
                                        </p:tav>
                                        <p:tav tm="100000">
                                          <p:val>
                                            <p:strVal val="#ppt_x"/>
                                          </p:val>
                                        </p:tav>
                                      </p:tavLst>
                                    </p:anim>
                                    <p:anim calcmode="lin" valueType="num">
                                      <p:cBhvr>
                                        <p:cTn id="40" dur="650" fill="hold"/>
                                        <p:tgtEl>
                                          <p:spTgt spid="9"/>
                                        </p:tgtEl>
                                        <p:attrNameLst>
                                          <p:attrName>ppt_y</p:attrName>
                                        </p:attrNameLst>
                                      </p:cBhvr>
                                      <p:tavLst>
                                        <p:tav tm="0">
                                          <p:val>
                                            <p:strVal val="#ppt_y+.05"/>
                                          </p:val>
                                        </p:tav>
                                        <p:tav tm="100000">
                                          <p:val>
                                            <p:strVal val="#ppt_y"/>
                                          </p:val>
                                        </p:tav>
                                      </p:tavLst>
                                    </p:anim>
                                  </p:childTnLst>
                                </p:cTn>
                              </p:par>
                              <p:par>
                                <p:cTn id="41" presetID="42" presetClass="entr" presetSubtype="0" fill="hold" grpId="0" nodeType="withEffect">
                                  <p:stCondLst>
                                    <p:cond delay="45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650"/>
                                        <p:tgtEl>
                                          <p:spTgt spid="10"/>
                                        </p:tgtEl>
                                      </p:cBhvr>
                                    </p:animEffect>
                                    <p:anim calcmode="lin" valueType="num">
                                      <p:cBhvr>
                                        <p:cTn id="44" dur="650" fill="hold"/>
                                        <p:tgtEl>
                                          <p:spTgt spid="10"/>
                                        </p:tgtEl>
                                        <p:attrNameLst>
                                          <p:attrName>ppt_x</p:attrName>
                                        </p:attrNameLst>
                                      </p:cBhvr>
                                      <p:tavLst>
                                        <p:tav tm="0">
                                          <p:val>
                                            <p:strVal val="#ppt_x"/>
                                          </p:val>
                                        </p:tav>
                                        <p:tav tm="100000">
                                          <p:val>
                                            <p:strVal val="#ppt_x"/>
                                          </p:val>
                                        </p:tav>
                                      </p:tavLst>
                                    </p:anim>
                                    <p:anim calcmode="lin" valueType="num">
                                      <p:cBhvr>
                                        <p:cTn id="45" dur="650" fill="hold"/>
                                        <p:tgtEl>
                                          <p:spTgt spid="10"/>
                                        </p:tgtEl>
                                        <p:attrNameLst>
                                          <p:attrName>ppt_y</p:attrName>
                                        </p:attrNameLst>
                                      </p:cBhvr>
                                      <p:tavLst>
                                        <p:tav tm="0">
                                          <p:val>
                                            <p:strVal val="#ppt_y+.05"/>
                                          </p:val>
                                        </p:tav>
                                        <p:tav tm="100000">
                                          <p:val>
                                            <p:strVal val="#ppt_y"/>
                                          </p:val>
                                        </p:tav>
                                      </p:tavLst>
                                    </p:anim>
                                  </p:childTnLst>
                                </p:cTn>
                              </p:par>
                              <p:par>
                                <p:cTn id="46" presetID="42" presetClass="entr" presetSubtype="0" fill="hold" grpId="0" nodeType="withEffect">
                                  <p:stCondLst>
                                    <p:cond delay="45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650"/>
                                        <p:tgtEl>
                                          <p:spTgt spid="11"/>
                                        </p:tgtEl>
                                      </p:cBhvr>
                                    </p:animEffect>
                                    <p:anim calcmode="lin" valueType="num">
                                      <p:cBhvr>
                                        <p:cTn id="49" dur="650" fill="hold"/>
                                        <p:tgtEl>
                                          <p:spTgt spid="11"/>
                                        </p:tgtEl>
                                        <p:attrNameLst>
                                          <p:attrName>ppt_x</p:attrName>
                                        </p:attrNameLst>
                                      </p:cBhvr>
                                      <p:tavLst>
                                        <p:tav tm="0">
                                          <p:val>
                                            <p:strVal val="#ppt_x"/>
                                          </p:val>
                                        </p:tav>
                                        <p:tav tm="100000">
                                          <p:val>
                                            <p:strVal val="#ppt_x"/>
                                          </p:val>
                                        </p:tav>
                                      </p:tavLst>
                                    </p:anim>
                                    <p:anim calcmode="lin" valueType="num">
                                      <p:cBhvr>
                                        <p:cTn id="50" dur="650" fill="hold"/>
                                        <p:tgtEl>
                                          <p:spTgt spid="11"/>
                                        </p:tgtEl>
                                        <p:attrNameLst>
                                          <p:attrName>ppt_y</p:attrName>
                                        </p:attrNameLst>
                                      </p:cBhvr>
                                      <p:tavLst>
                                        <p:tav tm="0">
                                          <p:val>
                                            <p:strVal val="#ppt_y+.05"/>
                                          </p:val>
                                        </p:tav>
                                        <p:tav tm="100000">
                                          <p:val>
                                            <p:strVal val="#ppt_y"/>
                                          </p:val>
                                        </p:tav>
                                      </p:tavLst>
                                    </p:anim>
                                  </p:childTnLst>
                                </p:cTn>
                              </p:par>
                              <p:par>
                                <p:cTn id="51" presetID="42" presetClass="entr" presetSubtype="0" fill="hold" grpId="0" nodeType="withEffect">
                                  <p:stCondLst>
                                    <p:cond delay="450"/>
                                  </p:stCondLst>
                                  <p:childTnLst>
                                    <p:set>
                                      <p:cBhvr>
                                        <p:cTn id="52" dur="1" fill="hold">
                                          <p:stCondLst>
                                            <p:cond delay="0"/>
                                          </p:stCondLst>
                                        </p:cTn>
                                        <p:tgtEl>
                                          <p:spTgt spid="12"/>
                                        </p:tgtEl>
                                        <p:attrNameLst>
                                          <p:attrName>style.visibility</p:attrName>
                                        </p:attrNameLst>
                                      </p:cBhvr>
                                      <p:to>
                                        <p:strVal val="visible"/>
                                      </p:to>
                                    </p:set>
                                    <p:animEffect transition="in" filter="fade">
                                      <p:cBhvr>
                                        <p:cTn id="53" dur="650"/>
                                        <p:tgtEl>
                                          <p:spTgt spid="12"/>
                                        </p:tgtEl>
                                      </p:cBhvr>
                                    </p:animEffect>
                                    <p:anim calcmode="lin" valueType="num">
                                      <p:cBhvr>
                                        <p:cTn id="54" dur="650" fill="hold"/>
                                        <p:tgtEl>
                                          <p:spTgt spid="12"/>
                                        </p:tgtEl>
                                        <p:attrNameLst>
                                          <p:attrName>ppt_x</p:attrName>
                                        </p:attrNameLst>
                                      </p:cBhvr>
                                      <p:tavLst>
                                        <p:tav tm="0">
                                          <p:val>
                                            <p:strVal val="#ppt_x"/>
                                          </p:val>
                                        </p:tav>
                                        <p:tav tm="100000">
                                          <p:val>
                                            <p:strVal val="#ppt_x"/>
                                          </p:val>
                                        </p:tav>
                                      </p:tavLst>
                                    </p:anim>
                                    <p:anim calcmode="lin" valueType="num">
                                      <p:cBhvr>
                                        <p:cTn id="55" dur="650" fill="hold"/>
                                        <p:tgtEl>
                                          <p:spTgt spid="12"/>
                                        </p:tgtEl>
                                        <p:attrNameLst>
                                          <p:attrName>ppt_y</p:attrName>
                                        </p:attrNameLst>
                                      </p:cBhvr>
                                      <p:tavLst>
                                        <p:tav tm="0">
                                          <p:val>
                                            <p:strVal val="#ppt_y+.05"/>
                                          </p:val>
                                        </p:tav>
                                        <p:tav tm="100000">
                                          <p:val>
                                            <p:strVal val="#ppt_y"/>
                                          </p:val>
                                        </p:tav>
                                      </p:tavLst>
                                    </p:anim>
                                  </p:childTnLst>
                                </p:cTn>
                              </p:par>
                              <p:par>
                                <p:cTn id="56" presetID="42" presetClass="entr" presetSubtype="0" fill="hold" grpId="0" nodeType="withEffect">
                                  <p:stCondLst>
                                    <p:cond delay="600"/>
                                  </p:stCondLst>
                                  <p:childTnLst>
                                    <p:set>
                                      <p:cBhvr>
                                        <p:cTn id="57" dur="1" fill="hold">
                                          <p:stCondLst>
                                            <p:cond delay="0"/>
                                          </p:stCondLst>
                                        </p:cTn>
                                        <p:tgtEl>
                                          <p:spTgt spid="13"/>
                                        </p:tgtEl>
                                        <p:attrNameLst>
                                          <p:attrName>style.visibility</p:attrName>
                                        </p:attrNameLst>
                                      </p:cBhvr>
                                      <p:to>
                                        <p:strVal val="visible"/>
                                      </p:to>
                                    </p:set>
                                    <p:animEffect transition="in" filter="fade">
                                      <p:cBhvr>
                                        <p:cTn id="58" dur="650"/>
                                        <p:tgtEl>
                                          <p:spTgt spid="13"/>
                                        </p:tgtEl>
                                      </p:cBhvr>
                                    </p:animEffect>
                                    <p:anim calcmode="lin" valueType="num">
                                      <p:cBhvr>
                                        <p:cTn id="59" dur="650" fill="hold"/>
                                        <p:tgtEl>
                                          <p:spTgt spid="13"/>
                                        </p:tgtEl>
                                        <p:attrNameLst>
                                          <p:attrName>ppt_x</p:attrName>
                                        </p:attrNameLst>
                                      </p:cBhvr>
                                      <p:tavLst>
                                        <p:tav tm="0">
                                          <p:val>
                                            <p:strVal val="#ppt_x"/>
                                          </p:val>
                                        </p:tav>
                                        <p:tav tm="100000">
                                          <p:val>
                                            <p:strVal val="#ppt_x"/>
                                          </p:val>
                                        </p:tav>
                                      </p:tavLst>
                                    </p:anim>
                                    <p:anim calcmode="lin" valueType="num">
                                      <p:cBhvr>
                                        <p:cTn id="60" dur="650" fill="hold"/>
                                        <p:tgtEl>
                                          <p:spTgt spid="13"/>
                                        </p:tgtEl>
                                        <p:attrNameLst>
                                          <p:attrName>ppt_y</p:attrName>
                                        </p:attrNameLst>
                                      </p:cBhvr>
                                      <p:tavLst>
                                        <p:tav tm="0">
                                          <p:val>
                                            <p:strVal val="#ppt_y+.05"/>
                                          </p:val>
                                        </p:tav>
                                        <p:tav tm="100000">
                                          <p:val>
                                            <p:strVal val="#ppt_y"/>
                                          </p:val>
                                        </p:tav>
                                      </p:tavLst>
                                    </p:anim>
                                  </p:childTnLst>
                                </p:cTn>
                              </p:par>
                              <p:par>
                                <p:cTn id="61" presetID="42" presetClass="entr" presetSubtype="0" fill="hold" grpId="0" nodeType="withEffect">
                                  <p:stCondLst>
                                    <p:cond delay="60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650"/>
                                        <p:tgtEl>
                                          <p:spTgt spid="14"/>
                                        </p:tgtEl>
                                      </p:cBhvr>
                                    </p:animEffect>
                                    <p:anim calcmode="lin" valueType="num">
                                      <p:cBhvr>
                                        <p:cTn id="64" dur="650" fill="hold"/>
                                        <p:tgtEl>
                                          <p:spTgt spid="14"/>
                                        </p:tgtEl>
                                        <p:attrNameLst>
                                          <p:attrName>ppt_x</p:attrName>
                                        </p:attrNameLst>
                                      </p:cBhvr>
                                      <p:tavLst>
                                        <p:tav tm="0">
                                          <p:val>
                                            <p:strVal val="#ppt_x"/>
                                          </p:val>
                                        </p:tav>
                                        <p:tav tm="100000">
                                          <p:val>
                                            <p:strVal val="#ppt_x"/>
                                          </p:val>
                                        </p:tav>
                                      </p:tavLst>
                                    </p:anim>
                                    <p:anim calcmode="lin" valueType="num">
                                      <p:cBhvr>
                                        <p:cTn id="65" dur="650" fill="hold"/>
                                        <p:tgtEl>
                                          <p:spTgt spid="14"/>
                                        </p:tgtEl>
                                        <p:attrNameLst>
                                          <p:attrName>ppt_y</p:attrName>
                                        </p:attrNameLst>
                                      </p:cBhvr>
                                      <p:tavLst>
                                        <p:tav tm="0">
                                          <p:val>
                                            <p:strVal val="#ppt_y+.05"/>
                                          </p:val>
                                        </p:tav>
                                        <p:tav tm="100000">
                                          <p:val>
                                            <p:strVal val="#ppt_y"/>
                                          </p:val>
                                        </p:tav>
                                      </p:tavLst>
                                    </p:anim>
                                  </p:childTnLst>
                                </p:cTn>
                              </p:par>
                              <p:par>
                                <p:cTn id="66" presetID="42" presetClass="entr" presetSubtype="0" fill="hold" grpId="0" nodeType="withEffect">
                                  <p:stCondLst>
                                    <p:cond delay="600"/>
                                  </p:stCondLst>
                                  <p:childTnLst>
                                    <p:set>
                                      <p:cBhvr>
                                        <p:cTn id="67" dur="1" fill="hold">
                                          <p:stCondLst>
                                            <p:cond delay="0"/>
                                          </p:stCondLst>
                                        </p:cTn>
                                        <p:tgtEl>
                                          <p:spTgt spid="15"/>
                                        </p:tgtEl>
                                        <p:attrNameLst>
                                          <p:attrName>style.visibility</p:attrName>
                                        </p:attrNameLst>
                                      </p:cBhvr>
                                      <p:to>
                                        <p:strVal val="visible"/>
                                      </p:to>
                                    </p:set>
                                    <p:animEffect transition="in" filter="fade">
                                      <p:cBhvr>
                                        <p:cTn id="68" dur="650"/>
                                        <p:tgtEl>
                                          <p:spTgt spid="15"/>
                                        </p:tgtEl>
                                      </p:cBhvr>
                                    </p:animEffect>
                                    <p:anim calcmode="lin" valueType="num">
                                      <p:cBhvr>
                                        <p:cTn id="69" dur="650" fill="hold"/>
                                        <p:tgtEl>
                                          <p:spTgt spid="15"/>
                                        </p:tgtEl>
                                        <p:attrNameLst>
                                          <p:attrName>ppt_x</p:attrName>
                                        </p:attrNameLst>
                                      </p:cBhvr>
                                      <p:tavLst>
                                        <p:tav tm="0">
                                          <p:val>
                                            <p:strVal val="#ppt_x"/>
                                          </p:val>
                                        </p:tav>
                                        <p:tav tm="100000">
                                          <p:val>
                                            <p:strVal val="#ppt_x"/>
                                          </p:val>
                                        </p:tav>
                                      </p:tavLst>
                                    </p:anim>
                                    <p:anim calcmode="lin" valueType="num">
                                      <p:cBhvr>
                                        <p:cTn id="70" dur="650" fill="hold"/>
                                        <p:tgtEl>
                                          <p:spTgt spid="15"/>
                                        </p:tgtEl>
                                        <p:attrNameLst>
                                          <p:attrName>ppt_y</p:attrName>
                                        </p:attrNameLst>
                                      </p:cBhvr>
                                      <p:tavLst>
                                        <p:tav tm="0">
                                          <p:val>
                                            <p:strVal val="#ppt_y+.05"/>
                                          </p:val>
                                        </p:tav>
                                        <p:tav tm="100000">
                                          <p:val>
                                            <p:strVal val="#ppt_y"/>
                                          </p:val>
                                        </p:tav>
                                      </p:tavLst>
                                    </p:anim>
                                  </p:childTnLst>
                                </p:cTn>
                              </p:par>
                              <p:par>
                                <p:cTn id="71" presetID="42" presetClass="entr" presetSubtype="0" fill="hold" grpId="0" nodeType="withEffect">
                                  <p:stCondLst>
                                    <p:cond delay="600"/>
                                  </p:stCondLst>
                                  <p:childTnLst>
                                    <p:set>
                                      <p:cBhvr>
                                        <p:cTn id="72" dur="1" fill="hold">
                                          <p:stCondLst>
                                            <p:cond delay="0"/>
                                          </p:stCondLst>
                                        </p:cTn>
                                        <p:tgtEl>
                                          <p:spTgt spid="16"/>
                                        </p:tgtEl>
                                        <p:attrNameLst>
                                          <p:attrName>style.visibility</p:attrName>
                                        </p:attrNameLst>
                                      </p:cBhvr>
                                      <p:to>
                                        <p:strVal val="visible"/>
                                      </p:to>
                                    </p:set>
                                    <p:animEffect transition="in" filter="fade">
                                      <p:cBhvr>
                                        <p:cTn id="73" dur="650"/>
                                        <p:tgtEl>
                                          <p:spTgt spid="16"/>
                                        </p:tgtEl>
                                      </p:cBhvr>
                                    </p:animEffect>
                                    <p:anim calcmode="lin" valueType="num">
                                      <p:cBhvr>
                                        <p:cTn id="74" dur="650" fill="hold"/>
                                        <p:tgtEl>
                                          <p:spTgt spid="16"/>
                                        </p:tgtEl>
                                        <p:attrNameLst>
                                          <p:attrName>ppt_x</p:attrName>
                                        </p:attrNameLst>
                                      </p:cBhvr>
                                      <p:tavLst>
                                        <p:tav tm="0">
                                          <p:val>
                                            <p:strVal val="#ppt_x"/>
                                          </p:val>
                                        </p:tav>
                                        <p:tav tm="100000">
                                          <p:val>
                                            <p:strVal val="#ppt_x"/>
                                          </p:val>
                                        </p:tav>
                                      </p:tavLst>
                                    </p:anim>
                                    <p:anim calcmode="lin" valueType="num">
                                      <p:cBhvr>
                                        <p:cTn id="75" dur="650" fill="hold"/>
                                        <p:tgtEl>
                                          <p:spTgt spid="16"/>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7" grpId="0" animBg="1"/>
      <p:bldP spid="8" grpId="0" animBg="1"/>
      <p:bldP spid="9" grpId="0" animBg="1"/>
      <p:bldP spid="11" grpId="0" animBg="1"/>
      <p:bldP spid="12" grpId="0" animBg="1"/>
      <p:bldP spid="13" grpId="0" animBg="1"/>
      <p:bldP spid="15" grpId="0" animBg="1"/>
      <p:bldP spid="1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eyebrow-pill"/>
          <p:cNvSpPr/>
          <p:nvPr/>
        </p:nvSpPr>
        <p:spPr>
          <a:xfrm>
            <a:off x="548640" y="475488"/>
            <a:ext cx="1356970" cy="274320"/>
          </a:xfrm>
          <a:prstGeom prst="roundRect">
            <a:avLst>
              <a:gd name="adj" fmla="val 50000"/>
            </a:avLst>
          </a:prstGeom>
          <a:solidFill>
            <a:srgbClr val="E5E5EA"/>
          </a:solidFill>
          <a:ln/>
        </p:spPr>
      </p:sp>
      <p:sp>
        <p:nvSpPr>
          <p:cNvPr id="3" name="eyebrow"/>
          <p:cNvSpPr txBox="1"/>
          <p:nvPr/>
        </p:nvSpPr>
        <p:spPr>
          <a:xfrm>
            <a:off x="548640" y="475488"/>
            <a:ext cx="1356970" cy="274320"/>
          </a:xfrm>
          <a:prstGeom prst="rect">
            <a:avLst/>
          </a:prstGeom>
          <a:noFill/>
          <a:ln/>
        </p:spPr>
        <p:txBody>
          <a:bodyPr wrap="square" lIns="0" tIns="0" rIns="0" bIns="0" rtlCol="0" anchor="ctr"/>
          <a:lstStyle/>
          <a:p>
            <a:pPr algn="ctr" indent="0" marL="0">
              <a:buNone/>
            </a:pPr>
            <a:r>
              <a:rPr lang="en-US" sz="900" b="1" spc="160" kern="0" dirty="0">
                <a:solidFill>
                  <a:srgbClr val="5C5C61"/>
                </a:solidFill>
                <a:latin typeface="Arial" pitchFamily="34" charset="0"/>
                <a:ea typeface="Arial" pitchFamily="34" charset="-122"/>
                <a:cs typeface="Arial" pitchFamily="34" charset="-120"/>
              </a:rPr>
              <a:t>WHAT IT MEANS</a:t>
            </a:r>
            <a:endParaRPr lang="en-US" sz="900" dirty="0"/>
          </a:p>
        </p:txBody>
      </p:sp>
      <p:sp>
        <p:nvSpPr>
          <p:cNvPr id="4" name="Text 1"/>
          <p:cNvSpPr/>
          <p:nvPr>
            <p:ph idx="101" type="title" hasCustomPrompt="1"/>
          </p:nvPr>
        </p:nvSpPr>
        <p:spPr>
          <a:xfrm>
            <a:off x="548640" y="896112"/>
            <a:ext cx="6583680" cy="1207008"/>
          </a:xfrm>
          <a:prstGeom prst="rect">
            <a:avLst/>
          </a:prstGeom>
          <a:noFill/>
          <a:ln/>
        </p:spPr>
        <p:txBody>
          <a:bodyPr wrap="square" lIns="0" tIns="0" rIns="0" bIns="0" rtlCol="0" anchor="t"/>
          <a:lstStyle/>
          <a:p>
            <a:pPr algn="l" indent="0" marL="0">
              <a:buNone/>
            </a:pPr>
            <a:r>
              <a:rPr lang="en-US" sz="3400" b="1" dirty="0">
                <a:solidFill>
                  <a:srgbClr val="1D1D1F"/>
                </a:solidFill>
                <a:latin typeface="Arial" pitchFamily="34" charset="0"/>
                <a:ea typeface="Arial" pitchFamily="34" charset="-122"/>
                <a:cs typeface="Arial" pitchFamily="34" charset="-120"/>
              </a:rPr>
              <a:t>What changes</a:t>
            </a:r>
            <a:endParaRPr lang="en-US" sz="3400" dirty="0"/>
          </a:p>
          <a:p>
            <a:pPr algn="l" indent="0" marL="0">
              <a:buNone/>
            </a:pPr>
            <a:r>
              <a:rPr lang="en-US" sz="3400" dirty="0">
                <a:solidFill>
                  <a:srgbClr val="8E8E93"/>
                </a:solidFill>
                <a:latin typeface="Arial" pitchFamily="34" charset="0"/>
                <a:ea typeface="Arial" pitchFamily="34" charset="-122"/>
                <a:cs typeface="Arial" pitchFamily="34" charset="-120"/>
              </a:rPr>
              <a:t>for Member Care</a:t>
            </a:r>
            <a:endParaRPr lang="en-US" sz="3400" dirty="0"/>
          </a:p>
        </p:txBody>
      </p:sp>
      <p:sp>
        <p:nvSpPr>
          <p:cNvPr id="5" name="card0"/>
          <p:cNvSpPr/>
          <p:nvPr/>
        </p:nvSpPr>
        <p:spPr>
          <a:xfrm>
            <a:off x="548640" y="2286000"/>
            <a:ext cx="3515258" cy="1874520"/>
          </a:xfrm>
          <a:prstGeom prst="roundRect">
            <a:avLst>
              <a:gd name="adj" fmla="val 7805"/>
            </a:avLst>
          </a:prstGeom>
          <a:solidFill>
            <a:srgbClr val="FFFFFF"/>
          </a:solidFill>
          <a:ln w="9525">
            <a:solidFill>
              <a:srgbClr val="E5E5EA"/>
            </a:solidFill>
            <a:prstDash val="solid"/>
          </a:ln>
          <a:effectLst>
            <a:outerShdw sx="100000" sy="100000" kx="0" ky="0" algn="bl" rotWithShape="0" blurRad="177800" dist="38100" dir="5400000">
              <a:srgbClr val="000000">
                <a:alpha val="7000"/>
              </a:srgbClr>
            </a:outerShdw>
          </a:effectLst>
        </p:spPr>
      </p:sp>
      <p:sp>
        <p:nvSpPr>
          <p:cNvPr id="6" name="dot-target"/>
          <p:cNvSpPr/>
          <p:nvPr/>
        </p:nvSpPr>
        <p:spPr>
          <a:xfrm>
            <a:off x="822960" y="2542032"/>
            <a:ext cx="457200" cy="457200"/>
          </a:xfrm>
          <a:prstGeom prst="ellipse">
            <a:avLst/>
          </a:prstGeom>
          <a:solidFill>
            <a:srgbClr val="1D1D1F"/>
          </a:solidFill>
          <a:ln/>
        </p:spPr>
      </p:sp>
      <p:pic>
        <p:nvPicPr>
          <p:cNvPr id="7" name="icon-target" descr="">    </p:cNvPr>
          <p:cNvPicPr>
            <a:picLocks noChangeAspect="1"/>
          </p:cNvPicPr>
          <p:nvPr/>
        </p:nvPicPr>
        <p:blipFill>
          <a:blip r:embed="rId1"/>
          <a:stretch>
            <a:fillRect/>
          </a:stretch>
        </p:blipFill>
        <p:spPr>
          <a:xfrm>
            <a:off x="928116" y="2647188"/>
            <a:ext cx="246888" cy="246888"/>
          </a:xfrm>
          <a:prstGeom prst="rect">
            <a:avLst/>
          </a:prstGeom>
        </p:spPr>
      </p:pic>
      <p:sp>
        <p:nvSpPr>
          <p:cNvPr id="8" name="h0"/>
          <p:cNvSpPr txBox="1"/>
          <p:nvPr/>
        </p:nvSpPr>
        <p:spPr>
          <a:xfrm>
            <a:off x="822960" y="3108960"/>
            <a:ext cx="2966618" cy="329184"/>
          </a:xfrm>
          <a:prstGeom prst="rect">
            <a:avLst/>
          </a:prstGeom>
          <a:noFill/>
          <a:ln/>
        </p:spPr>
        <p:txBody>
          <a:bodyPr wrap="square" lIns="0" tIns="0" rIns="0" bIns="0" rtlCol="0" anchor="ctr"/>
          <a:lstStyle/>
          <a:p>
            <a:pPr indent="0" marL="0">
              <a:buNone/>
            </a:pPr>
            <a:r>
              <a:rPr lang="en-US" sz="1500" b="1" dirty="0">
                <a:solidFill>
                  <a:srgbClr val="1D1D1F"/>
                </a:solidFill>
                <a:latin typeface="Arial" pitchFamily="34" charset="0"/>
                <a:ea typeface="Arial" pitchFamily="34" charset="-122"/>
                <a:cs typeface="Arial" pitchFamily="34" charset="-120"/>
              </a:rPr>
              <a:t>Accuracy</a:t>
            </a:r>
            <a:endParaRPr lang="en-US" sz="1500" dirty="0"/>
          </a:p>
        </p:txBody>
      </p:sp>
      <p:sp>
        <p:nvSpPr>
          <p:cNvPr id="9" name="t0"/>
          <p:cNvSpPr txBox="1"/>
          <p:nvPr/>
        </p:nvSpPr>
        <p:spPr>
          <a:xfrm>
            <a:off x="822960" y="3447288"/>
            <a:ext cx="2966618" cy="640080"/>
          </a:xfrm>
          <a:prstGeom prst="rect">
            <a:avLst/>
          </a:prstGeom>
          <a:noFill/>
          <a:ln/>
        </p:spPr>
        <p:txBody>
          <a:bodyPr wrap="square" lIns="0" tIns="0" rIns="0" bIns="0" rtlCol="0" anchor="t"/>
          <a:lstStyle/>
          <a:p>
            <a:pPr indent="0" marL="0">
              <a:buNone/>
            </a:pPr>
            <a:r>
              <a:rPr lang="en-US" sz="1200" dirty="0">
                <a:solidFill>
                  <a:srgbClr val="5C5C61"/>
                </a:solidFill>
                <a:latin typeface="Arial" pitchFamily="34" charset="0"/>
                <a:ea typeface="Arial" pitchFamily="34" charset="-122"/>
                <a:cs typeface="Arial" pitchFamily="34" charset="-120"/>
              </a:rPr>
              <a:t>The same rules every month, tested against the previous engine.</a:t>
            </a:r>
            <a:endParaRPr lang="en-US" sz="1200" dirty="0"/>
          </a:p>
        </p:txBody>
      </p:sp>
      <p:sp>
        <p:nvSpPr>
          <p:cNvPr id="10" name="card1"/>
          <p:cNvSpPr/>
          <p:nvPr/>
        </p:nvSpPr>
        <p:spPr>
          <a:xfrm>
            <a:off x="4338218" y="2286000"/>
            <a:ext cx="3515258" cy="1874520"/>
          </a:xfrm>
          <a:prstGeom prst="roundRect">
            <a:avLst>
              <a:gd name="adj" fmla="val 7805"/>
            </a:avLst>
          </a:prstGeom>
          <a:solidFill>
            <a:srgbClr val="FFFFFF"/>
          </a:solidFill>
          <a:ln w="9525">
            <a:solidFill>
              <a:srgbClr val="E5E5EA"/>
            </a:solidFill>
            <a:prstDash val="solid"/>
          </a:ln>
          <a:effectLst>
            <a:outerShdw sx="100000" sy="100000" kx="0" ky="0" algn="bl" rotWithShape="0" blurRad="177800" dist="38100" dir="5400000">
              <a:srgbClr val="000000">
                <a:alpha val="7000"/>
              </a:srgbClr>
            </a:outerShdw>
          </a:effectLst>
        </p:spPr>
      </p:sp>
      <p:sp>
        <p:nvSpPr>
          <p:cNvPr id="11" name="dot-zap"/>
          <p:cNvSpPr/>
          <p:nvPr/>
        </p:nvSpPr>
        <p:spPr>
          <a:xfrm>
            <a:off x="4612538" y="2542032"/>
            <a:ext cx="457200" cy="457200"/>
          </a:xfrm>
          <a:prstGeom prst="ellipse">
            <a:avLst/>
          </a:prstGeom>
          <a:solidFill>
            <a:srgbClr val="1D1D1F"/>
          </a:solidFill>
          <a:ln/>
        </p:spPr>
      </p:sp>
      <p:pic>
        <p:nvPicPr>
          <p:cNvPr id="12" name="icon-zap" descr="">    </p:cNvPr>
          <p:cNvPicPr>
            <a:picLocks noChangeAspect="1"/>
          </p:cNvPicPr>
          <p:nvPr/>
        </p:nvPicPr>
        <p:blipFill>
          <a:blip r:embed="rId2"/>
          <a:stretch>
            <a:fillRect/>
          </a:stretch>
        </p:blipFill>
        <p:spPr>
          <a:xfrm>
            <a:off x="4717694" y="2647188"/>
            <a:ext cx="246888" cy="246888"/>
          </a:xfrm>
          <a:prstGeom prst="rect">
            <a:avLst/>
          </a:prstGeom>
        </p:spPr>
      </p:pic>
      <p:sp>
        <p:nvSpPr>
          <p:cNvPr id="13" name="h1"/>
          <p:cNvSpPr txBox="1"/>
          <p:nvPr/>
        </p:nvSpPr>
        <p:spPr>
          <a:xfrm>
            <a:off x="4612538" y="3108960"/>
            <a:ext cx="2966618" cy="329184"/>
          </a:xfrm>
          <a:prstGeom prst="rect">
            <a:avLst/>
          </a:prstGeom>
          <a:noFill/>
          <a:ln/>
        </p:spPr>
        <p:txBody>
          <a:bodyPr wrap="square" lIns="0" tIns="0" rIns="0" bIns="0" rtlCol="0" anchor="ctr"/>
          <a:lstStyle/>
          <a:p>
            <a:pPr indent="0" marL="0">
              <a:buNone/>
            </a:pPr>
            <a:r>
              <a:rPr lang="en-US" sz="1500" b="1" dirty="0">
                <a:solidFill>
                  <a:srgbClr val="1D1D1F"/>
                </a:solidFill>
                <a:latin typeface="Arial" pitchFamily="34" charset="0"/>
                <a:ea typeface="Arial" pitchFamily="34" charset="-122"/>
                <a:cs typeface="Arial" pitchFamily="34" charset="-120"/>
              </a:rPr>
              <a:t>Speed</a:t>
            </a:r>
            <a:endParaRPr lang="en-US" sz="1500" dirty="0"/>
          </a:p>
        </p:txBody>
      </p:sp>
      <p:sp>
        <p:nvSpPr>
          <p:cNvPr id="14" name="t1"/>
          <p:cNvSpPr txBox="1"/>
          <p:nvPr/>
        </p:nvSpPr>
        <p:spPr>
          <a:xfrm>
            <a:off x="4612538" y="3447288"/>
            <a:ext cx="2966618" cy="640080"/>
          </a:xfrm>
          <a:prstGeom prst="rect">
            <a:avLst/>
          </a:prstGeom>
          <a:noFill/>
          <a:ln/>
        </p:spPr>
        <p:txBody>
          <a:bodyPr wrap="square" lIns="0" tIns="0" rIns="0" bIns="0" rtlCol="0" anchor="t"/>
          <a:lstStyle/>
          <a:p>
            <a:pPr indent="0" marL="0">
              <a:buNone/>
            </a:pPr>
            <a:r>
              <a:rPr lang="en-US" sz="1200" dirty="0">
                <a:solidFill>
                  <a:srgbClr val="5C5C61"/>
                </a:solidFill>
                <a:latin typeface="Arial" pitchFamily="34" charset="0"/>
                <a:ea typeface="Arial" pitchFamily="34" charset="-122"/>
                <a:cs typeface="Arial" pitchFamily="34" charset="-120"/>
              </a:rPr>
              <a:t>The month's files read in one drop; the workbooks and emails built in a click.</a:t>
            </a:r>
            <a:endParaRPr lang="en-US" sz="1200" dirty="0"/>
          </a:p>
        </p:txBody>
      </p:sp>
      <p:sp>
        <p:nvSpPr>
          <p:cNvPr id="15" name="card2"/>
          <p:cNvSpPr/>
          <p:nvPr/>
        </p:nvSpPr>
        <p:spPr>
          <a:xfrm>
            <a:off x="8127797" y="2286000"/>
            <a:ext cx="3515258" cy="1874520"/>
          </a:xfrm>
          <a:prstGeom prst="roundRect">
            <a:avLst>
              <a:gd name="adj" fmla="val 7805"/>
            </a:avLst>
          </a:prstGeom>
          <a:solidFill>
            <a:srgbClr val="1D1D1F"/>
          </a:solidFill>
          <a:ln w="9525">
            <a:solidFill>
              <a:srgbClr val="E5E5EA"/>
            </a:solidFill>
            <a:prstDash val="solid"/>
          </a:ln>
        </p:spPr>
      </p:sp>
      <p:sp>
        <p:nvSpPr>
          <p:cNvPr id="16" name="dot-eye"/>
          <p:cNvSpPr/>
          <p:nvPr/>
        </p:nvSpPr>
        <p:spPr>
          <a:xfrm>
            <a:off x="8402117" y="2542032"/>
            <a:ext cx="457200" cy="457200"/>
          </a:xfrm>
          <a:prstGeom prst="ellipse">
            <a:avLst/>
          </a:prstGeom>
          <a:solidFill>
            <a:srgbClr val="F26722"/>
          </a:solidFill>
          <a:ln/>
        </p:spPr>
      </p:sp>
      <p:pic>
        <p:nvPicPr>
          <p:cNvPr id="17" name="icon-eye" descr="">    </p:cNvPr>
          <p:cNvPicPr>
            <a:picLocks noChangeAspect="1"/>
          </p:cNvPicPr>
          <p:nvPr/>
        </p:nvPicPr>
        <p:blipFill>
          <a:blip r:embed="rId3"/>
          <a:stretch>
            <a:fillRect/>
          </a:stretch>
        </p:blipFill>
        <p:spPr>
          <a:xfrm>
            <a:off x="8507273" y="2647188"/>
            <a:ext cx="246888" cy="246888"/>
          </a:xfrm>
          <a:prstGeom prst="rect">
            <a:avLst/>
          </a:prstGeom>
        </p:spPr>
      </p:pic>
      <p:sp>
        <p:nvSpPr>
          <p:cNvPr id="18" name="h2"/>
          <p:cNvSpPr txBox="1"/>
          <p:nvPr/>
        </p:nvSpPr>
        <p:spPr>
          <a:xfrm>
            <a:off x="8402117" y="3108960"/>
            <a:ext cx="2966618" cy="329184"/>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Transparency</a:t>
            </a:r>
            <a:endParaRPr lang="en-US" sz="1500" dirty="0"/>
          </a:p>
        </p:txBody>
      </p:sp>
      <p:sp>
        <p:nvSpPr>
          <p:cNvPr id="19" name="t2"/>
          <p:cNvSpPr txBox="1"/>
          <p:nvPr/>
        </p:nvSpPr>
        <p:spPr>
          <a:xfrm>
            <a:off x="8402117" y="3447288"/>
            <a:ext cx="2966618" cy="640080"/>
          </a:xfrm>
          <a:prstGeom prst="rect">
            <a:avLst/>
          </a:prstGeom>
          <a:noFill/>
          <a:ln/>
        </p:spPr>
        <p:txBody>
          <a:bodyPr wrap="square" lIns="0" tIns="0" rIns="0" bIns="0" rtlCol="0" anchor="t"/>
          <a:lstStyle/>
          <a:p>
            <a:pPr indent="0" marL="0">
              <a:buNone/>
            </a:pPr>
            <a:r>
              <a:rPr lang="en-US" sz="1200" dirty="0">
                <a:solidFill>
                  <a:srgbClr val="A8A8AD"/>
                </a:solidFill>
                <a:latin typeface="Arial" pitchFamily="34" charset="0"/>
                <a:ea typeface="Arial" pitchFamily="34" charset="-122"/>
                <a:cs typeface="Arial" pitchFamily="34" charset="-120"/>
              </a:rPr>
              <a:t>Every number explained, every change logged.</a:t>
            </a:r>
            <a:endParaRPr lang="en-US" sz="1200" dirty="0"/>
          </a:p>
        </p:txBody>
      </p:sp>
      <p:sp>
        <p:nvSpPr>
          <p:cNvPr id="20" name="card3"/>
          <p:cNvSpPr/>
          <p:nvPr/>
        </p:nvSpPr>
        <p:spPr>
          <a:xfrm>
            <a:off x="548640" y="4389120"/>
            <a:ext cx="3515258" cy="1874520"/>
          </a:xfrm>
          <a:prstGeom prst="roundRect">
            <a:avLst>
              <a:gd name="adj" fmla="val 7805"/>
            </a:avLst>
          </a:prstGeom>
          <a:solidFill>
            <a:srgbClr val="FFFFFF"/>
          </a:solidFill>
          <a:ln w="9525">
            <a:solidFill>
              <a:srgbClr val="E5E5EA"/>
            </a:solidFill>
            <a:prstDash val="solid"/>
          </a:ln>
          <a:effectLst>
            <a:outerShdw sx="100000" sy="100000" kx="0" ky="0" algn="bl" rotWithShape="0" blurRad="177800" dist="38100" dir="5400000">
              <a:srgbClr val="000000">
                <a:alpha val="7000"/>
              </a:srgbClr>
            </a:outerShdw>
          </a:effectLst>
        </p:spPr>
      </p:sp>
      <p:sp>
        <p:nvSpPr>
          <p:cNvPr id="21" name="dot-handshake"/>
          <p:cNvSpPr/>
          <p:nvPr/>
        </p:nvSpPr>
        <p:spPr>
          <a:xfrm>
            <a:off x="822960" y="4645152"/>
            <a:ext cx="457200" cy="457200"/>
          </a:xfrm>
          <a:prstGeom prst="ellipse">
            <a:avLst/>
          </a:prstGeom>
          <a:solidFill>
            <a:srgbClr val="1D1D1F"/>
          </a:solidFill>
          <a:ln/>
        </p:spPr>
      </p:sp>
      <p:pic>
        <p:nvPicPr>
          <p:cNvPr id="22" name="icon-handshake" descr="">    </p:cNvPr>
          <p:cNvPicPr>
            <a:picLocks noChangeAspect="1"/>
          </p:cNvPicPr>
          <p:nvPr/>
        </p:nvPicPr>
        <p:blipFill>
          <a:blip r:embed="rId4"/>
          <a:stretch>
            <a:fillRect/>
          </a:stretch>
        </p:blipFill>
        <p:spPr>
          <a:xfrm>
            <a:off x="928116" y="4750308"/>
            <a:ext cx="246888" cy="246888"/>
          </a:xfrm>
          <a:prstGeom prst="rect">
            <a:avLst/>
          </a:prstGeom>
        </p:spPr>
      </p:pic>
      <p:sp>
        <p:nvSpPr>
          <p:cNvPr id="23" name="h3"/>
          <p:cNvSpPr txBox="1"/>
          <p:nvPr/>
        </p:nvSpPr>
        <p:spPr>
          <a:xfrm>
            <a:off x="822960" y="5212080"/>
            <a:ext cx="2966618" cy="329184"/>
          </a:xfrm>
          <a:prstGeom prst="rect">
            <a:avLst/>
          </a:prstGeom>
          <a:noFill/>
          <a:ln/>
        </p:spPr>
        <p:txBody>
          <a:bodyPr wrap="square" lIns="0" tIns="0" rIns="0" bIns="0" rtlCol="0" anchor="ctr"/>
          <a:lstStyle/>
          <a:p>
            <a:pPr indent="0" marL="0">
              <a:buNone/>
            </a:pPr>
            <a:r>
              <a:rPr lang="en-US" sz="1500" b="1" dirty="0">
                <a:solidFill>
                  <a:srgbClr val="1D1D1F"/>
                </a:solidFill>
                <a:latin typeface="Arial" pitchFamily="34" charset="0"/>
                <a:ea typeface="Arial" pitchFamily="34" charset="-122"/>
                <a:cs typeface="Arial" pitchFamily="34" charset="-120"/>
              </a:rPr>
              <a:t>Fairness</a:t>
            </a:r>
            <a:endParaRPr lang="en-US" sz="1500" dirty="0"/>
          </a:p>
        </p:txBody>
      </p:sp>
      <p:sp>
        <p:nvSpPr>
          <p:cNvPr id="24" name="t3"/>
          <p:cNvSpPr txBox="1"/>
          <p:nvPr/>
        </p:nvSpPr>
        <p:spPr>
          <a:xfrm>
            <a:off x="822960" y="5550408"/>
            <a:ext cx="2966618" cy="640080"/>
          </a:xfrm>
          <a:prstGeom prst="rect">
            <a:avLst/>
          </a:prstGeom>
          <a:noFill/>
          <a:ln/>
        </p:spPr>
        <p:txBody>
          <a:bodyPr wrap="square" lIns="0" tIns="0" rIns="0" bIns="0" rtlCol="0" anchor="t"/>
          <a:lstStyle/>
          <a:p>
            <a:pPr indent="0" marL="0">
              <a:buNone/>
            </a:pPr>
            <a:r>
              <a:rPr lang="en-US" sz="1200" dirty="0">
                <a:solidFill>
                  <a:srgbClr val="5C5C61"/>
                </a:solidFill>
                <a:latin typeface="Arial" pitchFamily="34" charset="0"/>
                <a:ea typeface="Arial" pitchFamily="34" charset="-122"/>
                <a:cs typeface="Arial" pitchFamily="34" charset="-120"/>
              </a:rPr>
              <a:t>The bonus counted the same way for everyone, from one set of rules.</a:t>
            </a:r>
            <a:endParaRPr lang="en-US" sz="1200" dirty="0"/>
          </a:p>
        </p:txBody>
      </p:sp>
      <p:sp>
        <p:nvSpPr>
          <p:cNvPr id="25" name="card4"/>
          <p:cNvSpPr/>
          <p:nvPr/>
        </p:nvSpPr>
        <p:spPr>
          <a:xfrm>
            <a:off x="4338218" y="4389120"/>
            <a:ext cx="3515258" cy="1874520"/>
          </a:xfrm>
          <a:prstGeom prst="roundRect">
            <a:avLst>
              <a:gd name="adj" fmla="val 7805"/>
            </a:avLst>
          </a:prstGeom>
          <a:solidFill>
            <a:srgbClr val="FFFFFF"/>
          </a:solidFill>
          <a:ln w="9525">
            <a:solidFill>
              <a:srgbClr val="E5E5EA"/>
            </a:solidFill>
            <a:prstDash val="solid"/>
          </a:ln>
          <a:effectLst>
            <a:outerShdw sx="100000" sy="100000" kx="0" ky="0" algn="bl" rotWithShape="0" blurRad="177800" dist="38100" dir="5400000">
              <a:srgbClr val="000000">
                <a:alpha val="7000"/>
              </a:srgbClr>
            </a:outerShdw>
          </a:effectLst>
        </p:spPr>
      </p:sp>
      <p:sp>
        <p:nvSpPr>
          <p:cNvPr id="26" name="dot-bell"/>
          <p:cNvSpPr/>
          <p:nvPr/>
        </p:nvSpPr>
        <p:spPr>
          <a:xfrm>
            <a:off x="4612538" y="4645152"/>
            <a:ext cx="457200" cy="457200"/>
          </a:xfrm>
          <a:prstGeom prst="ellipse">
            <a:avLst/>
          </a:prstGeom>
          <a:solidFill>
            <a:srgbClr val="1D1D1F"/>
          </a:solidFill>
          <a:ln/>
        </p:spPr>
      </p:sp>
      <p:pic>
        <p:nvPicPr>
          <p:cNvPr id="27" name="icon-bell" descr="">    </p:cNvPr>
          <p:cNvPicPr>
            <a:picLocks noChangeAspect="1"/>
          </p:cNvPicPr>
          <p:nvPr/>
        </p:nvPicPr>
        <p:blipFill>
          <a:blip r:embed="rId5"/>
          <a:stretch>
            <a:fillRect/>
          </a:stretch>
        </p:blipFill>
        <p:spPr>
          <a:xfrm>
            <a:off x="4717694" y="4750308"/>
            <a:ext cx="246888" cy="246888"/>
          </a:xfrm>
          <a:prstGeom prst="rect">
            <a:avLst/>
          </a:prstGeom>
        </p:spPr>
      </p:pic>
      <p:sp>
        <p:nvSpPr>
          <p:cNvPr id="28" name="h4"/>
          <p:cNvSpPr txBox="1"/>
          <p:nvPr/>
        </p:nvSpPr>
        <p:spPr>
          <a:xfrm>
            <a:off x="4612538" y="5212080"/>
            <a:ext cx="2966618" cy="329184"/>
          </a:xfrm>
          <a:prstGeom prst="rect">
            <a:avLst/>
          </a:prstGeom>
          <a:noFill/>
          <a:ln/>
        </p:spPr>
        <p:txBody>
          <a:bodyPr wrap="square" lIns="0" tIns="0" rIns="0" bIns="0" rtlCol="0" anchor="ctr"/>
          <a:lstStyle/>
          <a:p>
            <a:pPr indent="0" marL="0">
              <a:buNone/>
            </a:pPr>
            <a:r>
              <a:rPr lang="en-US" sz="1500" b="1" dirty="0">
                <a:solidFill>
                  <a:srgbClr val="1D1D1F"/>
                </a:solidFill>
                <a:latin typeface="Arial" pitchFamily="34" charset="0"/>
                <a:ea typeface="Arial" pitchFamily="34" charset="-122"/>
                <a:cs typeface="Arial" pitchFamily="34" charset="-120"/>
              </a:rPr>
              <a:t>Accountability</a:t>
            </a:r>
            <a:endParaRPr lang="en-US" sz="1500" dirty="0"/>
          </a:p>
        </p:txBody>
      </p:sp>
      <p:sp>
        <p:nvSpPr>
          <p:cNvPr id="29" name="t4"/>
          <p:cNvSpPr txBox="1"/>
          <p:nvPr/>
        </p:nvSpPr>
        <p:spPr>
          <a:xfrm>
            <a:off x="4612538" y="5550408"/>
            <a:ext cx="2966618" cy="640080"/>
          </a:xfrm>
          <a:prstGeom prst="rect">
            <a:avLst/>
          </a:prstGeom>
          <a:noFill/>
          <a:ln/>
        </p:spPr>
        <p:txBody>
          <a:bodyPr wrap="square" lIns="0" tIns="0" rIns="0" bIns="0" rtlCol="0" anchor="t"/>
          <a:lstStyle/>
          <a:p>
            <a:pPr indent="0" marL="0">
              <a:buNone/>
            </a:pPr>
            <a:r>
              <a:rPr lang="en-US" sz="1200" dirty="0">
                <a:solidFill>
                  <a:srgbClr val="5C5C61"/>
                </a:solidFill>
                <a:latin typeface="Arial" pitchFamily="34" charset="0"/>
                <a:ea typeface="Arial" pitchFamily="34" charset="-122"/>
                <a:cs typeface="Arial" pitchFamily="34" charset="-120"/>
              </a:rPr>
              <a:t>Deadlines and the month close in each person's bell.</a:t>
            </a:r>
            <a:endParaRPr lang="en-US" sz="1200" dirty="0"/>
          </a:p>
        </p:txBody>
      </p:sp>
      <p:sp>
        <p:nvSpPr>
          <p:cNvPr id="30" name="card5"/>
          <p:cNvSpPr/>
          <p:nvPr/>
        </p:nvSpPr>
        <p:spPr>
          <a:xfrm>
            <a:off x="8127797" y="4389120"/>
            <a:ext cx="3515258" cy="1874520"/>
          </a:xfrm>
          <a:prstGeom prst="roundRect">
            <a:avLst>
              <a:gd name="adj" fmla="val 7805"/>
            </a:avLst>
          </a:prstGeom>
          <a:solidFill>
            <a:srgbClr val="FFFFFF"/>
          </a:solidFill>
          <a:ln w="9525">
            <a:solidFill>
              <a:srgbClr val="E5E5EA"/>
            </a:solidFill>
            <a:prstDash val="solid"/>
          </a:ln>
          <a:effectLst>
            <a:outerShdw sx="100000" sy="100000" kx="0" ky="0" algn="bl" rotWithShape="0" blurRad="177800" dist="38100" dir="5400000">
              <a:srgbClr val="000000">
                <a:alpha val="7000"/>
              </a:srgbClr>
            </a:outerShdw>
          </a:effectLst>
        </p:spPr>
      </p:sp>
      <p:sp>
        <p:nvSpPr>
          <p:cNvPr id="31" name="dot-layers"/>
          <p:cNvSpPr/>
          <p:nvPr/>
        </p:nvSpPr>
        <p:spPr>
          <a:xfrm>
            <a:off x="8402117" y="4645152"/>
            <a:ext cx="457200" cy="457200"/>
          </a:xfrm>
          <a:prstGeom prst="ellipse">
            <a:avLst/>
          </a:prstGeom>
          <a:solidFill>
            <a:srgbClr val="1D1D1F"/>
          </a:solidFill>
          <a:ln/>
        </p:spPr>
      </p:sp>
      <p:pic>
        <p:nvPicPr>
          <p:cNvPr id="32" name="icon-layers" descr="">    </p:cNvPr>
          <p:cNvPicPr>
            <a:picLocks noChangeAspect="1"/>
          </p:cNvPicPr>
          <p:nvPr/>
        </p:nvPicPr>
        <p:blipFill>
          <a:blip r:embed="rId6"/>
          <a:stretch>
            <a:fillRect/>
          </a:stretch>
        </p:blipFill>
        <p:spPr>
          <a:xfrm>
            <a:off x="8507273" y="4750308"/>
            <a:ext cx="246888" cy="246888"/>
          </a:xfrm>
          <a:prstGeom prst="rect">
            <a:avLst/>
          </a:prstGeom>
        </p:spPr>
      </p:pic>
      <p:sp>
        <p:nvSpPr>
          <p:cNvPr id="33" name="h5"/>
          <p:cNvSpPr txBox="1"/>
          <p:nvPr/>
        </p:nvSpPr>
        <p:spPr>
          <a:xfrm>
            <a:off x="8402117" y="5212080"/>
            <a:ext cx="2966618" cy="329184"/>
          </a:xfrm>
          <a:prstGeom prst="rect">
            <a:avLst/>
          </a:prstGeom>
          <a:noFill/>
          <a:ln/>
        </p:spPr>
        <p:txBody>
          <a:bodyPr wrap="square" lIns="0" tIns="0" rIns="0" bIns="0" rtlCol="0" anchor="ctr"/>
          <a:lstStyle/>
          <a:p>
            <a:pPr indent="0" marL="0">
              <a:buNone/>
            </a:pPr>
            <a:r>
              <a:rPr lang="en-US" sz="1500" b="1" dirty="0">
                <a:solidFill>
                  <a:srgbClr val="1D1D1F"/>
                </a:solidFill>
                <a:latin typeface="Arial" pitchFamily="34" charset="0"/>
                <a:ea typeface="Arial" pitchFamily="34" charset="-122"/>
                <a:cs typeface="Arial" pitchFamily="34" charset="-120"/>
              </a:rPr>
              <a:t>Continuity</a:t>
            </a:r>
            <a:endParaRPr lang="en-US" sz="1500" dirty="0"/>
          </a:p>
        </p:txBody>
      </p:sp>
      <p:sp>
        <p:nvSpPr>
          <p:cNvPr id="34" name="t5"/>
          <p:cNvSpPr txBox="1"/>
          <p:nvPr/>
        </p:nvSpPr>
        <p:spPr>
          <a:xfrm>
            <a:off x="8402117" y="5550408"/>
            <a:ext cx="2966618" cy="640080"/>
          </a:xfrm>
          <a:prstGeom prst="rect">
            <a:avLst/>
          </a:prstGeom>
          <a:noFill/>
          <a:ln/>
        </p:spPr>
        <p:txBody>
          <a:bodyPr wrap="square" lIns="0" tIns="0" rIns="0" bIns="0" rtlCol="0" anchor="t"/>
          <a:lstStyle/>
          <a:p>
            <a:pPr indent="0" marL="0">
              <a:buNone/>
            </a:pPr>
            <a:r>
              <a:rPr lang="en-US" sz="1200" dirty="0">
                <a:solidFill>
                  <a:srgbClr val="5C5C61"/>
                </a:solidFill>
                <a:latin typeface="Arial" pitchFamily="34" charset="0"/>
                <a:ea typeface="Arial" pitchFamily="34" charset="-122"/>
                <a:cs typeface="Arial" pitchFamily="34" charset="-120"/>
              </a:rPr>
              <a:t>Vacation cover, saved uploads and a locked backup: nothing rests on one person.</a:t>
            </a:r>
            <a:endParaRPr lang="en-US" sz="12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E8E93"/>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42" presetClass="entr" presetSubtype="0" fill="hold" grpId="0" nodeType="withEffect">
                                  <p:stCondLst>
                                    <p:cond delay="3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650"/>
                                        <p:tgtEl>
                                          <p:spTgt spid="5"/>
                                        </p:tgtEl>
                                      </p:cBhvr>
                                    </p:animEffect>
                                    <p:anim calcmode="lin" valueType="num">
                                      <p:cBhvr>
                                        <p:cTn id="14" dur="650" fill="hold"/>
                                        <p:tgtEl>
                                          <p:spTgt spid="5"/>
                                        </p:tgtEl>
                                        <p:attrNameLst>
                                          <p:attrName>ppt_x</p:attrName>
                                        </p:attrNameLst>
                                      </p:cBhvr>
                                      <p:tavLst>
                                        <p:tav tm="0">
                                          <p:val>
                                            <p:strVal val="#ppt_x"/>
                                          </p:val>
                                        </p:tav>
                                        <p:tav tm="100000">
                                          <p:val>
                                            <p:strVal val="#ppt_x"/>
                                          </p:val>
                                        </p:tav>
                                      </p:tavLst>
                                    </p:anim>
                                    <p:anim calcmode="lin" valueType="num">
                                      <p:cBhvr>
                                        <p:cTn id="15" dur="650" fill="hold"/>
                                        <p:tgtEl>
                                          <p:spTgt spid="5"/>
                                        </p:tgtEl>
                                        <p:attrNameLst>
                                          <p:attrName>ppt_y</p:attrName>
                                        </p:attrNameLst>
                                      </p:cBhvr>
                                      <p:tavLst>
                                        <p:tav tm="0">
                                          <p:val>
                                            <p:strVal val="#ppt_y+.05"/>
                                          </p:val>
                                        </p:tav>
                                        <p:tav tm="100000">
                                          <p:val>
                                            <p:strVal val="#ppt_y"/>
                                          </p:val>
                                        </p:tav>
                                      </p:tavLst>
                                    </p:anim>
                                  </p:childTnLst>
                                </p:cTn>
                              </p:par>
                              <p:par>
                                <p:cTn id="16" presetID="42" presetClass="entr" presetSubtype="0" fill="hold" grpId="0" nodeType="withEffect">
                                  <p:stCondLst>
                                    <p:cond delay="30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650"/>
                                        <p:tgtEl>
                                          <p:spTgt spid="6"/>
                                        </p:tgtEl>
                                      </p:cBhvr>
                                    </p:animEffect>
                                    <p:anim calcmode="lin" valueType="num">
                                      <p:cBhvr>
                                        <p:cTn id="19" dur="650" fill="hold"/>
                                        <p:tgtEl>
                                          <p:spTgt spid="6"/>
                                        </p:tgtEl>
                                        <p:attrNameLst>
                                          <p:attrName>ppt_x</p:attrName>
                                        </p:attrNameLst>
                                      </p:cBhvr>
                                      <p:tavLst>
                                        <p:tav tm="0">
                                          <p:val>
                                            <p:strVal val="#ppt_x"/>
                                          </p:val>
                                        </p:tav>
                                        <p:tav tm="100000">
                                          <p:val>
                                            <p:strVal val="#ppt_x"/>
                                          </p:val>
                                        </p:tav>
                                      </p:tavLst>
                                    </p:anim>
                                    <p:anim calcmode="lin" valueType="num">
                                      <p:cBhvr>
                                        <p:cTn id="20" dur="650" fill="hold"/>
                                        <p:tgtEl>
                                          <p:spTgt spid="6"/>
                                        </p:tgtEl>
                                        <p:attrNameLst>
                                          <p:attrName>ppt_y</p:attrName>
                                        </p:attrNameLst>
                                      </p:cBhvr>
                                      <p:tavLst>
                                        <p:tav tm="0">
                                          <p:val>
                                            <p:strVal val="#ppt_y+.05"/>
                                          </p:val>
                                        </p:tav>
                                        <p:tav tm="100000">
                                          <p:val>
                                            <p:strVal val="#ppt_y"/>
                                          </p:val>
                                        </p:tav>
                                      </p:tavLst>
                                    </p:anim>
                                  </p:childTnLst>
                                </p:cTn>
                              </p:par>
                              <p:par>
                                <p:cTn id="21" presetID="42" presetClass="entr" presetSubtype="0" fill="hold" grpId="0" nodeType="withEffect">
                                  <p:stCondLst>
                                    <p:cond delay="30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650"/>
                                        <p:tgtEl>
                                          <p:spTgt spid="7"/>
                                        </p:tgtEl>
                                      </p:cBhvr>
                                    </p:animEffect>
                                    <p:anim calcmode="lin" valueType="num">
                                      <p:cBhvr>
                                        <p:cTn id="24" dur="650" fill="hold"/>
                                        <p:tgtEl>
                                          <p:spTgt spid="7"/>
                                        </p:tgtEl>
                                        <p:attrNameLst>
                                          <p:attrName>ppt_x</p:attrName>
                                        </p:attrNameLst>
                                      </p:cBhvr>
                                      <p:tavLst>
                                        <p:tav tm="0">
                                          <p:val>
                                            <p:strVal val="#ppt_x"/>
                                          </p:val>
                                        </p:tav>
                                        <p:tav tm="100000">
                                          <p:val>
                                            <p:strVal val="#ppt_x"/>
                                          </p:val>
                                        </p:tav>
                                      </p:tavLst>
                                    </p:anim>
                                    <p:anim calcmode="lin" valueType="num">
                                      <p:cBhvr>
                                        <p:cTn id="25" dur="650" fill="hold"/>
                                        <p:tgtEl>
                                          <p:spTgt spid="7"/>
                                        </p:tgtEl>
                                        <p:attrNameLst>
                                          <p:attrName>ppt_y</p:attrName>
                                        </p:attrNameLst>
                                      </p:cBhvr>
                                      <p:tavLst>
                                        <p:tav tm="0">
                                          <p:val>
                                            <p:strVal val="#ppt_y+.05"/>
                                          </p:val>
                                        </p:tav>
                                        <p:tav tm="100000">
                                          <p:val>
                                            <p:strVal val="#ppt_y"/>
                                          </p:val>
                                        </p:tav>
                                      </p:tavLst>
                                    </p:anim>
                                  </p:childTnLst>
                                </p:cTn>
                              </p:par>
                              <p:par>
                                <p:cTn id="26" presetID="42" presetClass="entr" presetSubtype="0" fill="hold" grpId="0" nodeType="withEffect">
                                  <p:stCondLst>
                                    <p:cond delay="30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650"/>
                                        <p:tgtEl>
                                          <p:spTgt spid="8"/>
                                        </p:tgtEl>
                                      </p:cBhvr>
                                    </p:animEffect>
                                    <p:anim calcmode="lin" valueType="num">
                                      <p:cBhvr>
                                        <p:cTn id="29" dur="650" fill="hold"/>
                                        <p:tgtEl>
                                          <p:spTgt spid="8"/>
                                        </p:tgtEl>
                                        <p:attrNameLst>
                                          <p:attrName>ppt_x</p:attrName>
                                        </p:attrNameLst>
                                      </p:cBhvr>
                                      <p:tavLst>
                                        <p:tav tm="0">
                                          <p:val>
                                            <p:strVal val="#ppt_x"/>
                                          </p:val>
                                        </p:tav>
                                        <p:tav tm="100000">
                                          <p:val>
                                            <p:strVal val="#ppt_x"/>
                                          </p:val>
                                        </p:tav>
                                      </p:tavLst>
                                    </p:anim>
                                    <p:anim calcmode="lin" valueType="num">
                                      <p:cBhvr>
                                        <p:cTn id="30" dur="650" fill="hold"/>
                                        <p:tgtEl>
                                          <p:spTgt spid="8"/>
                                        </p:tgtEl>
                                        <p:attrNameLst>
                                          <p:attrName>ppt_y</p:attrName>
                                        </p:attrNameLst>
                                      </p:cBhvr>
                                      <p:tavLst>
                                        <p:tav tm="0">
                                          <p:val>
                                            <p:strVal val="#ppt_y+.05"/>
                                          </p:val>
                                        </p:tav>
                                        <p:tav tm="100000">
                                          <p:val>
                                            <p:strVal val="#ppt_y"/>
                                          </p:val>
                                        </p:tav>
                                      </p:tavLst>
                                    </p:anim>
                                  </p:childTnLst>
                                </p:cTn>
                              </p:par>
                              <p:par>
                                <p:cTn id="31" presetID="42" presetClass="entr" presetSubtype="0" fill="hold" grpId="0" nodeType="withEffect">
                                  <p:stCondLst>
                                    <p:cond delay="30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650"/>
                                        <p:tgtEl>
                                          <p:spTgt spid="9"/>
                                        </p:tgtEl>
                                      </p:cBhvr>
                                    </p:animEffect>
                                    <p:anim calcmode="lin" valueType="num">
                                      <p:cBhvr>
                                        <p:cTn id="34" dur="650" fill="hold"/>
                                        <p:tgtEl>
                                          <p:spTgt spid="9"/>
                                        </p:tgtEl>
                                        <p:attrNameLst>
                                          <p:attrName>ppt_x</p:attrName>
                                        </p:attrNameLst>
                                      </p:cBhvr>
                                      <p:tavLst>
                                        <p:tav tm="0">
                                          <p:val>
                                            <p:strVal val="#ppt_x"/>
                                          </p:val>
                                        </p:tav>
                                        <p:tav tm="100000">
                                          <p:val>
                                            <p:strVal val="#ppt_x"/>
                                          </p:val>
                                        </p:tav>
                                      </p:tavLst>
                                    </p:anim>
                                    <p:anim calcmode="lin" valueType="num">
                                      <p:cBhvr>
                                        <p:cTn id="35" dur="650" fill="hold"/>
                                        <p:tgtEl>
                                          <p:spTgt spid="9"/>
                                        </p:tgtEl>
                                        <p:attrNameLst>
                                          <p:attrName>ppt_y</p:attrName>
                                        </p:attrNameLst>
                                      </p:cBhvr>
                                      <p:tavLst>
                                        <p:tav tm="0">
                                          <p:val>
                                            <p:strVal val="#ppt_y+.05"/>
                                          </p:val>
                                        </p:tav>
                                        <p:tav tm="100000">
                                          <p:val>
                                            <p:strVal val="#ppt_y"/>
                                          </p:val>
                                        </p:tav>
                                      </p:tavLst>
                                    </p:anim>
                                  </p:childTnLst>
                                </p:cTn>
                              </p:par>
                              <p:par>
                                <p:cTn id="36" presetID="42" presetClass="entr" presetSubtype="0" fill="hold" grpId="0" nodeType="withEffect">
                                  <p:stCondLst>
                                    <p:cond delay="41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650"/>
                                        <p:tgtEl>
                                          <p:spTgt spid="10"/>
                                        </p:tgtEl>
                                      </p:cBhvr>
                                    </p:animEffect>
                                    <p:anim calcmode="lin" valueType="num">
                                      <p:cBhvr>
                                        <p:cTn id="39" dur="650" fill="hold"/>
                                        <p:tgtEl>
                                          <p:spTgt spid="10"/>
                                        </p:tgtEl>
                                        <p:attrNameLst>
                                          <p:attrName>ppt_x</p:attrName>
                                        </p:attrNameLst>
                                      </p:cBhvr>
                                      <p:tavLst>
                                        <p:tav tm="0">
                                          <p:val>
                                            <p:strVal val="#ppt_x"/>
                                          </p:val>
                                        </p:tav>
                                        <p:tav tm="100000">
                                          <p:val>
                                            <p:strVal val="#ppt_x"/>
                                          </p:val>
                                        </p:tav>
                                      </p:tavLst>
                                    </p:anim>
                                    <p:anim calcmode="lin" valueType="num">
                                      <p:cBhvr>
                                        <p:cTn id="40" dur="650" fill="hold"/>
                                        <p:tgtEl>
                                          <p:spTgt spid="10"/>
                                        </p:tgtEl>
                                        <p:attrNameLst>
                                          <p:attrName>ppt_y</p:attrName>
                                        </p:attrNameLst>
                                      </p:cBhvr>
                                      <p:tavLst>
                                        <p:tav tm="0">
                                          <p:val>
                                            <p:strVal val="#ppt_y+.05"/>
                                          </p:val>
                                        </p:tav>
                                        <p:tav tm="100000">
                                          <p:val>
                                            <p:strVal val="#ppt_y"/>
                                          </p:val>
                                        </p:tav>
                                      </p:tavLst>
                                    </p:anim>
                                  </p:childTnLst>
                                </p:cTn>
                              </p:par>
                              <p:par>
                                <p:cTn id="41" presetID="42" presetClass="entr" presetSubtype="0" fill="hold" grpId="0" nodeType="withEffect">
                                  <p:stCondLst>
                                    <p:cond delay="41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650"/>
                                        <p:tgtEl>
                                          <p:spTgt spid="11"/>
                                        </p:tgtEl>
                                      </p:cBhvr>
                                    </p:animEffect>
                                    <p:anim calcmode="lin" valueType="num">
                                      <p:cBhvr>
                                        <p:cTn id="44" dur="650" fill="hold"/>
                                        <p:tgtEl>
                                          <p:spTgt spid="11"/>
                                        </p:tgtEl>
                                        <p:attrNameLst>
                                          <p:attrName>ppt_x</p:attrName>
                                        </p:attrNameLst>
                                      </p:cBhvr>
                                      <p:tavLst>
                                        <p:tav tm="0">
                                          <p:val>
                                            <p:strVal val="#ppt_x"/>
                                          </p:val>
                                        </p:tav>
                                        <p:tav tm="100000">
                                          <p:val>
                                            <p:strVal val="#ppt_x"/>
                                          </p:val>
                                        </p:tav>
                                      </p:tavLst>
                                    </p:anim>
                                    <p:anim calcmode="lin" valueType="num">
                                      <p:cBhvr>
                                        <p:cTn id="45" dur="650" fill="hold"/>
                                        <p:tgtEl>
                                          <p:spTgt spid="11"/>
                                        </p:tgtEl>
                                        <p:attrNameLst>
                                          <p:attrName>ppt_y</p:attrName>
                                        </p:attrNameLst>
                                      </p:cBhvr>
                                      <p:tavLst>
                                        <p:tav tm="0">
                                          <p:val>
                                            <p:strVal val="#ppt_y+.05"/>
                                          </p:val>
                                        </p:tav>
                                        <p:tav tm="100000">
                                          <p:val>
                                            <p:strVal val="#ppt_y"/>
                                          </p:val>
                                        </p:tav>
                                      </p:tavLst>
                                    </p:anim>
                                  </p:childTnLst>
                                </p:cTn>
                              </p:par>
                              <p:par>
                                <p:cTn id="46" presetID="42" presetClass="entr" presetSubtype="0" fill="hold" grpId="0" nodeType="withEffect">
                                  <p:stCondLst>
                                    <p:cond delay="410"/>
                                  </p:stCondLst>
                                  <p:childTnLst>
                                    <p:set>
                                      <p:cBhvr>
                                        <p:cTn id="47" dur="1" fill="hold">
                                          <p:stCondLst>
                                            <p:cond delay="0"/>
                                          </p:stCondLst>
                                        </p:cTn>
                                        <p:tgtEl>
                                          <p:spTgt spid="12"/>
                                        </p:tgtEl>
                                        <p:attrNameLst>
                                          <p:attrName>style.visibility</p:attrName>
                                        </p:attrNameLst>
                                      </p:cBhvr>
                                      <p:to>
                                        <p:strVal val="visible"/>
                                      </p:to>
                                    </p:set>
                                    <p:animEffect transition="in" filter="fade">
                                      <p:cBhvr>
                                        <p:cTn id="48" dur="650"/>
                                        <p:tgtEl>
                                          <p:spTgt spid="12"/>
                                        </p:tgtEl>
                                      </p:cBhvr>
                                    </p:animEffect>
                                    <p:anim calcmode="lin" valueType="num">
                                      <p:cBhvr>
                                        <p:cTn id="49" dur="650" fill="hold"/>
                                        <p:tgtEl>
                                          <p:spTgt spid="12"/>
                                        </p:tgtEl>
                                        <p:attrNameLst>
                                          <p:attrName>ppt_x</p:attrName>
                                        </p:attrNameLst>
                                      </p:cBhvr>
                                      <p:tavLst>
                                        <p:tav tm="0">
                                          <p:val>
                                            <p:strVal val="#ppt_x"/>
                                          </p:val>
                                        </p:tav>
                                        <p:tav tm="100000">
                                          <p:val>
                                            <p:strVal val="#ppt_x"/>
                                          </p:val>
                                        </p:tav>
                                      </p:tavLst>
                                    </p:anim>
                                    <p:anim calcmode="lin" valueType="num">
                                      <p:cBhvr>
                                        <p:cTn id="50" dur="650" fill="hold"/>
                                        <p:tgtEl>
                                          <p:spTgt spid="12"/>
                                        </p:tgtEl>
                                        <p:attrNameLst>
                                          <p:attrName>ppt_y</p:attrName>
                                        </p:attrNameLst>
                                      </p:cBhvr>
                                      <p:tavLst>
                                        <p:tav tm="0">
                                          <p:val>
                                            <p:strVal val="#ppt_y+.05"/>
                                          </p:val>
                                        </p:tav>
                                        <p:tav tm="100000">
                                          <p:val>
                                            <p:strVal val="#ppt_y"/>
                                          </p:val>
                                        </p:tav>
                                      </p:tavLst>
                                    </p:anim>
                                  </p:childTnLst>
                                </p:cTn>
                              </p:par>
                              <p:par>
                                <p:cTn id="51" presetID="42" presetClass="entr" presetSubtype="0" fill="hold" grpId="0" nodeType="withEffect">
                                  <p:stCondLst>
                                    <p:cond delay="410"/>
                                  </p:stCondLst>
                                  <p:childTnLst>
                                    <p:set>
                                      <p:cBhvr>
                                        <p:cTn id="52" dur="1" fill="hold">
                                          <p:stCondLst>
                                            <p:cond delay="0"/>
                                          </p:stCondLst>
                                        </p:cTn>
                                        <p:tgtEl>
                                          <p:spTgt spid="13"/>
                                        </p:tgtEl>
                                        <p:attrNameLst>
                                          <p:attrName>style.visibility</p:attrName>
                                        </p:attrNameLst>
                                      </p:cBhvr>
                                      <p:to>
                                        <p:strVal val="visible"/>
                                      </p:to>
                                    </p:set>
                                    <p:animEffect transition="in" filter="fade">
                                      <p:cBhvr>
                                        <p:cTn id="53" dur="650"/>
                                        <p:tgtEl>
                                          <p:spTgt spid="13"/>
                                        </p:tgtEl>
                                      </p:cBhvr>
                                    </p:animEffect>
                                    <p:anim calcmode="lin" valueType="num">
                                      <p:cBhvr>
                                        <p:cTn id="54" dur="650" fill="hold"/>
                                        <p:tgtEl>
                                          <p:spTgt spid="13"/>
                                        </p:tgtEl>
                                        <p:attrNameLst>
                                          <p:attrName>ppt_x</p:attrName>
                                        </p:attrNameLst>
                                      </p:cBhvr>
                                      <p:tavLst>
                                        <p:tav tm="0">
                                          <p:val>
                                            <p:strVal val="#ppt_x"/>
                                          </p:val>
                                        </p:tav>
                                        <p:tav tm="100000">
                                          <p:val>
                                            <p:strVal val="#ppt_x"/>
                                          </p:val>
                                        </p:tav>
                                      </p:tavLst>
                                    </p:anim>
                                    <p:anim calcmode="lin" valueType="num">
                                      <p:cBhvr>
                                        <p:cTn id="55" dur="650" fill="hold"/>
                                        <p:tgtEl>
                                          <p:spTgt spid="13"/>
                                        </p:tgtEl>
                                        <p:attrNameLst>
                                          <p:attrName>ppt_y</p:attrName>
                                        </p:attrNameLst>
                                      </p:cBhvr>
                                      <p:tavLst>
                                        <p:tav tm="0">
                                          <p:val>
                                            <p:strVal val="#ppt_y+.05"/>
                                          </p:val>
                                        </p:tav>
                                        <p:tav tm="100000">
                                          <p:val>
                                            <p:strVal val="#ppt_y"/>
                                          </p:val>
                                        </p:tav>
                                      </p:tavLst>
                                    </p:anim>
                                  </p:childTnLst>
                                </p:cTn>
                              </p:par>
                              <p:par>
                                <p:cTn id="56" presetID="42" presetClass="entr" presetSubtype="0" fill="hold" grpId="0" nodeType="withEffect">
                                  <p:stCondLst>
                                    <p:cond delay="410"/>
                                  </p:stCondLst>
                                  <p:childTnLst>
                                    <p:set>
                                      <p:cBhvr>
                                        <p:cTn id="57" dur="1" fill="hold">
                                          <p:stCondLst>
                                            <p:cond delay="0"/>
                                          </p:stCondLst>
                                        </p:cTn>
                                        <p:tgtEl>
                                          <p:spTgt spid="14"/>
                                        </p:tgtEl>
                                        <p:attrNameLst>
                                          <p:attrName>style.visibility</p:attrName>
                                        </p:attrNameLst>
                                      </p:cBhvr>
                                      <p:to>
                                        <p:strVal val="visible"/>
                                      </p:to>
                                    </p:set>
                                    <p:animEffect transition="in" filter="fade">
                                      <p:cBhvr>
                                        <p:cTn id="58" dur="650"/>
                                        <p:tgtEl>
                                          <p:spTgt spid="14"/>
                                        </p:tgtEl>
                                      </p:cBhvr>
                                    </p:animEffect>
                                    <p:anim calcmode="lin" valueType="num">
                                      <p:cBhvr>
                                        <p:cTn id="59" dur="650" fill="hold"/>
                                        <p:tgtEl>
                                          <p:spTgt spid="14"/>
                                        </p:tgtEl>
                                        <p:attrNameLst>
                                          <p:attrName>ppt_x</p:attrName>
                                        </p:attrNameLst>
                                      </p:cBhvr>
                                      <p:tavLst>
                                        <p:tav tm="0">
                                          <p:val>
                                            <p:strVal val="#ppt_x"/>
                                          </p:val>
                                        </p:tav>
                                        <p:tav tm="100000">
                                          <p:val>
                                            <p:strVal val="#ppt_x"/>
                                          </p:val>
                                        </p:tav>
                                      </p:tavLst>
                                    </p:anim>
                                    <p:anim calcmode="lin" valueType="num">
                                      <p:cBhvr>
                                        <p:cTn id="60" dur="650" fill="hold"/>
                                        <p:tgtEl>
                                          <p:spTgt spid="14"/>
                                        </p:tgtEl>
                                        <p:attrNameLst>
                                          <p:attrName>ppt_y</p:attrName>
                                        </p:attrNameLst>
                                      </p:cBhvr>
                                      <p:tavLst>
                                        <p:tav tm="0">
                                          <p:val>
                                            <p:strVal val="#ppt_y+.05"/>
                                          </p:val>
                                        </p:tav>
                                        <p:tav tm="100000">
                                          <p:val>
                                            <p:strVal val="#ppt_y"/>
                                          </p:val>
                                        </p:tav>
                                      </p:tavLst>
                                    </p:anim>
                                  </p:childTnLst>
                                </p:cTn>
                              </p:par>
                              <p:par>
                                <p:cTn id="61" presetID="42" presetClass="entr" presetSubtype="0" fill="hold" grpId="0" nodeType="withEffect">
                                  <p:stCondLst>
                                    <p:cond delay="520"/>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650"/>
                                        <p:tgtEl>
                                          <p:spTgt spid="15"/>
                                        </p:tgtEl>
                                      </p:cBhvr>
                                    </p:animEffect>
                                    <p:anim calcmode="lin" valueType="num">
                                      <p:cBhvr>
                                        <p:cTn id="64" dur="650" fill="hold"/>
                                        <p:tgtEl>
                                          <p:spTgt spid="15"/>
                                        </p:tgtEl>
                                        <p:attrNameLst>
                                          <p:attrName>ppt_x</p:attrName>
                                        </p:attrNameLst>
                                      </p:cBhvr>
                                      <p:tavLst>
                                        <p:tav tm="0">
                                          <p:val>
                                            <p:strVal val="#ppt_x"/>
                                          </p:val>
                                        </p:tav>
                                        <p:tav tm="100000">
                                          <p:val>
                                            <p:strVal val="#ppt_x"/>
                                          </p:val>
                                        </p:tav>
                                      </p:tavLst>
                                    </p:anim>
                                    <p:anim calcmode="lin" valueType="num">
                                      <p:cBhvr>
                                        <p:cTn id="65" dur="650" fill="hold"/>
                                        <p:tgtEl>
                                          <p:spTgt spid="15"/>
                                        </p:tgtEl>
                                        <p:attrNameLst>
                                          <p:attrName>ppt_y</p:attrName>
                                        </p:attrNameLst>
                                      </p:cBhvr>
                                      <p:tavLst>
                                        <p:tav tm="0">
                                          <p:val>
                                            <p:strVal val="#ppt_y+.05"/>
                                          </p:val>
                                        </p:tav>
                                        <p:tav tm="100000">
                                          <p:val>
                                            <p:strVal val="#ppt_y"/>
                                          </p:val>
                                        </p:tav>
                                      </p:tavLst>
                                    </p:anim>
                                  </p:childTnLst>
                                </p:cTn>
                              </p:par>
                              <p:par>
                                <p:cTn id="66" presetID="42" presetClass="entr" presetSubtype="0" fill="hold" grpId="0" nodeType="withEffect">
                                  <p:stCondLst>
                                    <p:cond delay="520"/>
                                  </p:stCondLst>
                                  <p:childTnLst>
                                    <p:set>
                                      <p:cBhvr>
                                        <p:cTn id="67" dur="1" fill="hold">
                                          <p:stCondLst>
                                            <p:cond delay="0"/>
                                          </p:stCondLst>
                                        </p:cTn>
                                        <p:tgtEl>
                                          <p:spTgt spid="16"/>
                                        </p:tgtEl>
                                        <p:attrNameLst>
                                          <p:attrName>style.visibility</p:attrName>
                                        </p:attrNameLst>
                                      </p:cBhvr>
                                      <p:to>
                                        <p:strVal val="visible"/>
                                      </p:to>
                                    </p:set>
                                    <p:animEffect transition="in" filter="fade">
                                      <p:cBhvr>
                                        <p:cTn id="68" dur="650"/>
                                        <p:tgtEl>
                                          <p:spTgt spid="16"/>
                                        </p:tgtEl>
                                      </p:cBhvr>
                                    </p:animEffect>
                                    <p:anim calcmode="lin" valueType="num">
                                      <p:cBhvr>
                                        <p:cTn id="69" dur="650" fill="hold"/>
                                        <p:tgtEl>
                                          <p:spTgt spid="16"/>
                                        </p:tgtEl>
                                        <p:attrNameLst>
                                          <p:attrName>ppt_x</p:attrName>
                                        </p:attrNameLst>
                                      </p:cBhvr>
                                      <p:tavLst>
                                        <p:tav tm="0">
                                          <p:val>
                                            <p:strVal val="#ppt_x"/>
                                          </p:val>
                                        </p:tav>
                                        <p:tav tm="100000">
                                          <p:val>
                                            <p:strVal val="#ppt_x"/>
                                          </p:val>
                                        </p:tav>
                                      </p:tavLst>
                                    </p:anim>
                                    <p:anim calcmode="lin" valueType="num">
                                      <p:cBhvr>
                                        <p:cTn id="70" dur="650" fill="hold"/>
                                        <p:tgtEl>
                                          <p:spTgt spid="16"/>
                                        </p:tgtEl>
                                        <p:attrNameLst>
                                          <p:attrName>ppt_y</p:attrName>
                                        </p:attrNameLst>
                                      </p:cBhvr>
                                      <p:tavLst>
                                        <p:tav tm="0">
                                          <p:val>
                                            <p:strVal val="#ppt_y+.05"/>
                                          </p:val>
                                        </p:tav>
                                        <p:tav tm="100000">
                                          <p:val>
                                            <p:strVal val="#ppt_y"/>
                                          </p:val>
                                        </p:tav>
                                      </p:tavLst>
                                    </p:anim>
                                  </p:childTnLst>
                                </p:cTn>
                              </p:par>
                              <p:par>
                                <p:cTn id="71" presetID="42" presetClass="entr" presetSubtype="0" fill="hold" grpId="0" nodeType="withEffect">
                                  <p:stCondLst>
                                    <p:cond delay="520"/>
                                  </p:stCondLst>
                                  <p:childTnLst>
                                    <p:set>
                                      <p:cBhvr>
                                        <p:cTn id="72" dur="1" fill="hold">
                                          <p:stCondLst>
                                            <p:cond delay="0"/>
                                          </p:stCondLst>
                                        </p:cTn>
                                        <p:tgtEl>
                                          <p:spTgt spid="17"/>
                                        </p:tgtEl>
                                        <p:attrNameLst>
                                          <p:attrName>style.visibility</p:attrName>
                                        </p:attrNameLst>
                                      </p:cBhvr>
                                      <p:to>
                                        <p:strVal val="visible"/>
                                      </p:to>
                                    </p:set>
                                    <p:animEffect transition="in" filter="fade">
                                      <p:cBhvr>
                                        <p:cTn id="73" dur="650"/>
                                        <p:tgtEl>
                                          <p:spTgt spid="17"/>
                                        </p:tgtEl>
                                      </p:cBhvr>
                                    </p:animEffect>
                                    <p:anim calcmode="lin" valueType="num">
                                      <p:cBhvr>
                                        <p:cTn id="74" dur="650" fill="hold"/>
                                        <p:tgtEl>
                                          <p:spTgt spid="17"/>
                                        </p:tgtEl>
                                        <p:attrNameLst>
                                          <p:attrName>ppt_x</p:attrName>
                                        </p:attrNameLst>
                                      </p:cBhvr>
                                      <p:tavLst>
                                        <p:tav tm="0">
                                          <p:val>
                                            <p:strVal val="#ppt_x"/>
                                          </p:val>
                                        </p:tav>
                                        <p:tav tm="100000">
                                          <p:val>
                                            <p:strVal val="#ppt_x"/>
                                          </p:val>
                                        </p:tav>
                                      </p:tavLst>
                                    </p:anim>
                                    <p:anim calcmode="lin" valueType="num">
                                      <p:cBhvr>
                                        <p:cTn id="75" dur="650" fill="hold"/>
                                        <p:tgtEl>
                                          <p:spTgt spid="17"/>
                                        </p:tgtEl>
                                        <p:attrNameLst>
                                          <p:attrName>ppt_y</p:attrName>
                                        </p:attrNameLst>
                                      </p:cBhvr>
                                      <p:tavLst>
                                        <p:tav tm="0">
                                          <p:val>
                                            <p:strVal val="#ppt_y+.05"/>
                                          </p:val>
                                        </p:tav>
                                        <p:tav tm="100000">
                                          <p:val>
                                            <p:strVal val="#ppt_y"/>
                                          </p:val>
                                        </p:tav>
                                      </p:tavLst>
                                    </p:anim>
                                  </p:childTnLst>
                                </p:cTn>
                              </p:par>
                              <p:par>
                                <p:cTn id="76" presetID="42" presetClass="entr" presetSubtype="0" fill="hold" grpId="0" nodeType="withEffect">
                                  <p:stCondLst>
                                    <p:cond delay="520"/>
                                  </p:stCondLst>
                                  <p:childTnLst>
                                    <p:set>
                                      <p:cBhvr>
                                        <p:cTn id="77" dur="1" fill="hold">
                                          <p:stCondLst>
                                            <p:cond delay="0"/>
                                          </p:stCondLst>
                                        </p:cTn>
                                        <p:tgtEl>
                                          <p:spTgt spid="18"/>
                                        </p:tgtEl>
                                        <p:attrNameLst>
                                          <p:attrName>style.visibility</p:attrName>
                                        </p:attrNameLst>
                                      </p:cBhvr>
                                      <p:to>
                                        <p:strVal val="visible"/>
                                      </p:to>
                                    </p:set>
                                    <p:animEffect transition="in" filter="fade">
                                      <p:cBhvr>
                                        <p:cTn id="78" dur="650"/>
                                        <p:tgtEl>
                                          <p:spTgt spid="18"/>
                                        </p:tgtEl>
                                      </p:cBhvr>
                                    </p:animEffect>
                                    <p:anim calcmode="lin" valueType="num">
                                      <p:cBhvr>
                                        <p:cTn id="79" dur="650" fill="hold"/>
                                        <p:tgtEl>
                                          <p:spTgt spid="18"/>
                                        </p:tgtEl>
                                        <p:attrNameLst>
                                          <p:attrName>ppt_x</p:attrName>
                                        </p:attrNameLst>
                                      </p:cBhvr>
                                      <p:tavLst>
                                        <p:tav tm="0">
                                          <p:val>
                                            <p:strVal val="#ppt_x"/>
                                          </p:val>
                                        </p:tav>
                                        <p:tav tm="100000">
                                          <p:val>
                                            <p:strVal val="#ppt_x"/>
                                          </p:val>
                                        </p:tav>
                                      </p:tavLst>
                                    </p:anim>
                                    <p:anim calcmode="lin" valueType="num">
                                      <p:cBhvr>
                                        <p:cTn id="80" dur="650" fill="hold"/>
                                        <p:tgtEl>
                                          <p:spTgt spid="18"/>
                                        </p:tgtEl>
                                        <p:attrNameLst>
                                          <p:attrName>ppt_y</p:attrName>
                                        </p:attrNameLst>
                                      </p:cBhvr>
                                      <p:tavLst>
                                        <p:tav tm="0">
                                          <p:val>
                                            <p:strVal val="#ppt_y+.05"/>
                                          </p:val>
                                        </p:tav>
                                        <p:tav tm="100000">
                                          <p:val>
                                            <p:strVal val="#ppt_y"/>
                                          </p:val>
                                        </p:tav>
                                      </p:tavLst>
                                    </p:anim>
                                  </p:childTnLst>
                                </p:cTn>
                              </p:par>
                              <p:par>
                                <p:cTn id="81" presetID="42" presetClass="entr" presetSubtype="0" fill="hold" grpId="0" nodeType="withEffect">
                                  <p:stCondLst>
                                    <p:cond delay="520"/>
                                  </p:stCondLst>
                                  <p:childTnLst>
                                    <p:set>
                                      <p:cBhvr>
                                        <p:cTn id="82" dur="1" fill="hold">
                                          <p:stCondLst>
                                            <p:cond delay="0"/>
                                          </p:stCondLst>
                                        </p:cTn>
                                        <p:tgtEl>
                                          <p:spTgt spid="19"/>
                                        </p:tgtEl>
                                        <p:attrNameLst>
                                          <p:attrName>style.visibility</p:attrName>
                                        </p:attrNameLst>
                                      </p:cBhvr>
                                      <p:to>
                                        <p:strVal val="visible"/>
                                      </p:to>
                                    </p:set>
                                    <p:animEffect transition="in" filter="fade">
                                      <p:cBhvr>
                                        <p:cTn id="83" dur="650"/>
                                        <p:tgtEl>
                                          <p:spTgt spid="19"/>
                                        </p:tgtEl>
                                      </p:cBhvr>
                                    </p:animEffect>
                                    <p:anim calcmode="lin" valueType="num">
                                      <p:cBhvr>
                                        <p:cTn id="84" dur="650" fill="hold"/>
                                        <p:tgtEl>
                                          <p:spTgt spid="19"/>
                                        </p:tgtEl>
                                        <p:attrNameLst>
                                          <p:attrName>ppt_x</p:attrName>
                                        </p:attrNameLst>
                                      </p:cBhvr>
                                      <p:tavLst>
                                        <p:tav tm="0">
                                          <p:val>
                                            <p:strVal val="#ppt_x"/>
                                          </p:val>
                                        </p:tav>
                                        <p:tav tm="100000">
                                          <p:val>
                                            <p:strVal val="#ppt_x"/>
                                          </p:val>
                                        </p:tav>
                                      </p:tavLst>
                                    </p:anim>
                                    <p:anim calcmode="lin" valueType="num">
                                      <p:cBhvr>
                                        <p:cTn id="85" dur="650" fill="hold"/>
                                        <p:tgtEl>
                                          <p:spTgt spid="19"/>
                                        </p:tgtEl>
                                        <p:attrNameLst>
                                          <p:attrName>ppt_y</p:attrName>
                                        </p:attrNameLst>
                                      </p:cBhvr>
                                      <p:tavLst>
                                        <p:tav tm="0">
                                          <p:val>
                                            <p:strVal val="#ppt_y+.05"/>
                                          </p:val>
                                        </p:tav>
                                        <p:tav tm="100000">
                                          <p:val>
                                            <p:strVal val="#ppt_y"/>
                                          </p:val>
                                        </p:tav>
                                      </p:tavLst>
                                    </p:anim>
                                  </p:childTnLst>
                                </p:cTn>
                              </p:par>
                              <p:par>
                                <p:cTn id="86" presetID="42" presetClass="entr" presetSubtype="0" fill="hold" grpId="0" nodeType="withEffect">
                                  <p:stCondLst>
                                    <p:cond delay="630"/>
                                  </p:stCondLst>
                                  <p:childTnLst>
                                    <p:set>
                                      <p:cBhvr>
                                        <p:cTn id="87" dur="1" fill="hold">
                                          <p:stCondLst>
                                            <p:cond delay="0"/>
                                          </p:stCondLst>
                                        </p:cTn>
                                        <p:tgtEl>
                                          <p:spTgt spid="20"/>
                                        </p:tgtEl>
                                        <p:attrNameLst>
                                          <p:attrName>style.visibility</p:attrName>
                                        </p:attrNameLst>
                                      </p:cBhvr>
                                      <p:to>
                                        <p:strVal val="visible"/>
                                      </p:to>
                                    </p:set>
                                    <p:animEffect transition="in" filter="fade">
                                      <p:cBhvr>
                                        <p:cTn id="88" dur="650"/>
                                        <p:tgtEl>
                                          <p:spTgt spid="20"/>
                                        </p:tgtEl>
                                      </p:cBhvr>
                                    </p:animEffect>
                                    <p:anim calcmode="lin" valueType="num">
                                      <p:cBhvr>
                                        <p:cTn id="89" dur="650" fill="hold"/>
                                        <p:tgtEl>
                                          <p:spTgt spid="20"/>
                                        </p:tgtEl>
                                        <p:attrNameLst>
                                          <p:attrName>ppt_x</p:attrName>
                                        </p:attrNameLst>
                                      </p:cBhvr>
                                      <p:tavLst>
                                        <p:tav tm="0">
                                          <p:val>
                                            <p:strVal val="#ppt_x"/>
                                          </p:val>
                                        </p:tav>
                                        <p:tav tm="100000">
                                          <p:val>
                                            <p:strVal val="#ppt_x"/>
                                          </p:val>
                                        </p:tav>
                                      </p:tavLst>
                                    </p:anim>
                                    <p:anim calcmode="lin" valueType="num">
                                      <p:cBhvr>
                                        <p:cTn id="90" dur="650" fill="hold"/>
                                        <p:tgtEl>
                                          <p:spTgt spid="20"/>
                                        </p:tgtEl>
                                        <p:attrNameLst>
                                          <p:attrName>ppt_y</p:attrName>
                                        </p:attrNameLst>
                                      </p:cBhvr>
                                      <p:tavLst>
                                        <p:tav tm="0">
                                          <p:val>
                                            <p:strVal val="#ppt_y+.05"/>
                                          </p:val>
                                        </p:tav>
                                        <p:tav tm="100000">
                                          <p:val>
                                            <p:strVal val="#ppt_y"/>
                                          </p:val>
                                        </p:tav>
                                      </p:tavLst>
                                    </p:anim>
                                  </p:childTnLst>
                                </p:cTn>
                              </p:par>
                              <p:par>
                                <p:cTn id="91" presetID="42" presetClass="entr" presetSubtype="0" fill="hold" grpId="0" nodeType="withEffect">
                                  <p:stCondLst>
                                    <p:cond delay="630"/>
                                  </p:stCondLst>
                                  <p:childTnLst>
                                    <p:set>
                                      <p:cBhvr>
                                        <p:cTn id="92" dur="1" fill="hold">
                                          <p:stCondLst>
                                            <p:cond delay="0"/>
                                          </p:stCondLst>
                                        </p:cTn>
                                        <p:tgtEl>
                                          <p:spTgt spid="21"/>
                                        </p:tgtEl>
                                        <p:attrNameLst>
                                          <p:attrName>style.visibility</p:attrName>
                                        </p:attrNameLst>
                                      </p:cBhvr>
                                      <p:to>
                                        <p:strVal val="visible"/>
                                      </p:to>
                                    </p:set>
                                    <p:animEffect transition="in" filter="fade">
                                      <p:cBhvr>
                                        <p:cTn id="93" dur="650"/>
                                        <p:tgtEl>
                                          <p:spTgt spid="21"/>
                                        </p:tgtEl>
                                      </p:cBhvr>
                                    </p:animEffect>
                                    <p:anim calcmode="lin" valueType="num">
                                      <p:cBhvr>
                                        <p:cTn id="94" dur="650" fill="hold"/>
                                        <p:tgtEl>
                                          <p:spTgt spid="21"/>
                                        </p:tgtEl>
                                        <p:attrNameLst>
                                          <p:attrName>ppt_x</p:attrName>
                                        </p:attrNameLst>
                                      </p:cBhvr>
                                      <p:tavLst>
                                        <p:tav tm="0">
                                          <p:val>
                                            <p:strVal val="#ppt_x"/>
                                          </p:val>
                                        </p:tav>
                                        <p:tav tm="100000">
                                          <p:val>
                                            <p:strVal val="#ppt_x"/>
                                          </p:val>
                                        </p:tav>
                                      </p:tavLst>
                                    </p:anim>
                                    <p:anim calcmode="lin" valueType="num">
                                      <p:cBhvr>
                                        <p:cTn id="95" dur="650" fill="hold"/>
                                        <p:tgtEl>
                                          <p:spTgt spid="21"/>
                                        </p:tgtEl>
                                        <p:attrNameLst>
                                          <p:attrName>ppt_y</p:attrName>
                                        </p:attrNameLst>
                                      </p:cBhvr>
                                      <p:tavLst>
                                        <p:tav tm="0">
                                          <p:val>
                                            <p:strVal val="#ppt_y+.05"/>
                                          </p:val>
                                        </p:tav>
                                        <p:tav tm="100000">
                                          <p:val>
                                            <p:strVal val="#ppt_y"/>
                                          </p:val>
                                        </p:tav>
                                      </p:tavLst>
                                    </p:anim>
                                  </p:childTnLst>
                                </p:cTn>
                              </p:par>
                              <p:par>
                                <p:cTn id="96" presetID="42" presetClass="entr" presetSubtype="0" fill="hold" grpId="0" nodeType="withEffect">
                                  <p:stCondLst>
                                    <p:cond delay="630"/>
                                  </p:stCondLst>
                                  <p:childTnLst>
                                    <p:set>
                                      <p:cBhvr>
                                        <p:cTn id="97" dur="1" fill="hold">
                                          <p:stCondLst>
                                            <p:cond delay="0"/>
                                          </p:stCondLst>
                                        </p:cTn>
                                        <p:tgtEl>
                                          <p:spTgt spid="22"/>
                                        </p:tgtEl>
                                        <p:attrNameLst>
                                          <p:attrName>style.visibility</p:attrName>
                                        </p:attrNameLst>
                                      </p:cBhvr>
                                      <p:to>
                                        <p:strVal val="visible"/>
                                      </p:to>
                                    </p:set>
                                    <p:animEffect transition="in" filter="fade">
                                      <p:cBhvr>
                                        <p:cTn id="98" dur="650"/>
                                        <p:tgtEl>
                                          <p:spTgt spid="22"/>
                                        </p:tgtEl>
                                      </p:cBhvr>
                                    </p:animEffect>
                                    <p:anim calcmode="lin" valueType="num">
                                      <p:cBhvr>
                                        <p:cTn id="99" dur="650" fill="hold"/>
                                        <p:tgtEl>
                                          <p:spTgt spid="22"/>
                                        </p:tgtEl>
                                        <p:attrNameLst>
                                          <p:attrName>ppt_x</p:attrName>
                                        </p:attrNameLst>
                                      </p:cBhvr>
                                      <p:tavLst>
                                        <p:tav tm="0">
                                          <p:val>
                                            <p:strVal val="#ppt_x"/>
                                          </p:val>
                                        </p:tav>
                                        <p:tav tm="100000">
                                          <p:val>
                                            <p:strVal val="#ppt_x"/>
                                          </p:val>
                                        </p:tav>
                                      </p:tavLst>
                                    </p:anim>
                                    <p:anim calcmode="lin" valueType="num">
                                      <p:cBhvr>
                                        <p:cTn id="100" dur="650" fill="hold"/>
                                        <p:tgtEl>
                                          <p:spTgt spid="22"/>
                                        </p:tgtEl>
                                        <p:attrNameLst>
                                          <p:attrName>ppt_y</p:attrName>
                                        </p:attrNameLst>
                                      </p:cBhvr>
                                      <p:tavLst>
                                        <p:tav tm="0">
                                          <p:val>
                                            <p:strVal val="#ppt_y+.05"/>
                                          </p:val>
                                        </p:tav>
                                        <p:tav tm="100000">
                                          <p:val>
                                            <p:strVal val="#ppt_y"/>
                                          </p:val>
                                        </p:tav>
                                      </p:tavLst>
                                    </p:anim>
                                  </p:childTnLst>
                                </p:cTn>
                              </p:par>
                              <p:par>
                                <p:cTn id="101" presetID="42" presetClass="entr" presetSubtype="0" fill="hold" grpId="0" nodeType="withEffect">
                                  <p:stCondLst>
                                    <p:cond delay="630"/>
                                  </p:stCondLst>
                                  <p:childTnLst>
                                    <p:set>
                                      <p:cBhvr>
                                        <p:cTn id="102" dur="1" fill="hold">
                                          <p:stCondLst>
                                            <p:cond delay="0"/>
                                          </p:stCondLst>
                                        </p:cTn>
                                        <p:tgtEl>
                                          <p:spTgt spid="23"/>
                                        </p:tgtEl>
                                        <p:attrNameLst>
                                          <p:attrName>style.visibility</p:attrName>
                                        </p:attrNameLst>
                                      </p:cBhvr>
                                      <p:to>
                                        <p:strVal val="visible"/>
                                      </p:to>
                                    </p:set>
                                    <p:animEffect transition="in" filter="fade">
                                      <p:cBhvr>
                                        <p:cTn id="103" dur="650"/>
                                        <p:tgtEl>
                                          <p:spTgt spid="23"/>
                                        </p:tgtEl>
                                      </p:cBhvr>
                                    </p:animEffect>
                                    <p:anim calcmode="lin" valueType="num">
                                      <p:cBhvr>
                                        <p:cTn id="104" dur="650" fill="hold"/>
                                        <p:tgtEl>
                                          <p:spTgt spid="23"/>
                                        </p:tgtEl>
                                        <p:attrNameLst>
                                          <p:attrName>ppt_x</p:attrName>
                                        </p:attrNameLst>
                                      </p:cBhvr>
                                      <p:tavLst>
                                        <p:tav tm="0">
                                          <p:val>
                                            <p:strVal val="#ppt_x"/>
                                          </p:val>
                                        </p:tav>
                                        <p:tav tm="100000">
                                          <p:val>
                                            <p:strVal val="#ppt_x"/>
                                          </p:val>
                                        </p:tav>
                                      </p:tavLst>
                                    </p:anim>
                                    <p:anim calcmode="lin" valueType="num">
                                      <p:cBhvr>
                                        <p:cTn id="105" dur="650" fill="hold"/>
                                        <p:tgtEl>
                                          <p:spTgt spid="23"/>
                                        </p:tgtEl>
                                        <p:attrNameLst>
                                          <p:attrName>ppt_y</p:attrName>
                                        </p:attrNameLst>
                                      </p:cBhvr>
                                      <p:tavLst>
                                        <p:tav tm="0">
                                          <p:val>
                                            <p:strVal val="#ppt_y+.05"/>
                                          </p:val>
                                        </p:tav>
                                        <p:tav tm="100000">
                                          <p:val>
                                            <p:strVal val="#ppt_y"/>
                                          </p:val>
                                        </p:tav>
                                      </p:tavLst>
                                    </p:anim>
                                  </p:childTnLst>
                                </p:cTn>
                              </p:par>
                              <p:par>
                                <p:cTn id="106" presetID="42" presetClass="entr" presetSubtype="0" fill="hold" grpId="0" nodeType="withEffect">
                                  <p:stCondLst>
                                    <p:cond delay="630"/>
                                  </p:stCondLst>
                                  <p:childTnLst>
                                    <p:set>
                                      <p:cBhvr>
                                        <p:cTn id="107" dur="1" fill="hold">
                                          <p:stCondLst>
                                            <p:cond delay="0"/>
                                          </p:stCondLst>
                                        </p:cTn>
                                        <p:tgtEl>
                                          <p:spTgt spid="24"/>
                                        </p:tgtEl>
                                        <p:attrNameLst>
                                          <p:attrName>style.visibility</p:attrName>
                                        </p:attrNameLst>
                                      </p:cBhvr>
                                      <p:to>
                                        <p:strVal val="visible"/>
                                      </p:to>
                                    </p:set>
                                    <p:animEffect transition="in" filter="fade">
                                      <p:cBhvr>
                                        <p:cTn id="108" dur="650"/>
                                        <p:tgtEl>
                                          <p:spTgt spid="24"/>
                                        </p:tgtEl>
                                      </p:cBhvr>
                                    </p:animEffect>
                                    <p:anim calcmode="lin" valueType="num">
                                      <p:cBhvr>
                                        <p:cTn id="109" dur="650" fill="hold"/>
                                        <p:tgtEl>
                                          <p:spTgt spid="24"/>
                                        </p:tgtEl>
                                        <p:attrNameLst>
                                          <p:attrName>ppt_x</p:attrName>
                                        </p:attrNameLst>
                                      </p:cBhvr>
                                      <p:tavLst>
                                        <p:tav tm="0">
                                          <p:val>
                                            <p:strVal val="#ppt_x"/>
                                          </p:val>
                                        </p:tav>
                                        <p:tav tm="100000">
                                          <p:val>
                                            <p:strVal val="#ppt_x"/>
                                          </p:val>
                                        </p:tav>
                                      </p:tavLst>
                                    </p:anim>
                                    <p:anim calcmode="lin" valueType="num">
                                      <p:cBhvr>
                                        <p:cTn id="110" dur="650" fill="hold"/>
                                        <p:tgtEl>
                                          <p:spTgt spid="24"/>
                                        </p:tgtEl>
                                        <p:attrNameLst>
                                          <p:attrName>ppt_y</p:attrName>
                                        </p:attrNameLst>
                                      </p:cBhvr>
                                      <p:tavLst>
                                        <p:tav tm="0">
                                          <p:val>
                                            <p:strVal val="#ppt_y+.05"/>
                                          </p:val>
                                        </p:tav>
                                        <p:tav tm="100000">
                                          <p:val>
                                            <p:strVal val="#ppt_y"/>
                                          </p:val>
                                        </p:tav>
                                      </p:tavLst>
                                    </p:anim>
                                  </p:childTnLst>
                                </p:cTn>
                              </p:par>
                              <p:par>
                                <p:cTn id="111" presetID="42" presetClass="entr" presetSubtype="0" fill="hold" grpId="0" nodeType="withEffect">
                                  <p:stCondLst>
                                    <p:cond delay="740"/>
                                  </p:stCondLst>
                                  <p:childTnLst>
                                    <p:set>
                                      <p:cBhvr>
                                        <p:cTn id="112" dur="1" fill="hold">
                                          <p:stCondLst>
                                            <p:cond delay="0"/>
                                          </p:stCondLst>
                                        </p:cTn>
                                        <p:tgtEl>
                                          <p:spTgt spid="25"/>
                                        </p:tgtEl>
                                        <p:attrNameLst>
                                          <p:attrName>style.visibility</p:attrName>
                                        </p:attrNameLst>
                                      </p:cBhvr>
                                      <p:to>
                                        <p:strVal val="visible"/>
                                      </p:to>
                                    </p:set>
                                    <p:animEffect transition="in" filter="fade">
                                      <p:cBhvr>
                                        <p:cTn id="113" dur="650"/>
                                        <p:tgtEl>
                                          <p:spTgt spid="25"/>
                                        </p:tgtEl>
                                      </p:cBhvr>
                                    </p:animEffect>
                                    <p:anim calcmode="lin" valueType="num">
                                      <p:cBhvr>
                                        <p:cTn id="114" dur="650" fill="hold"/>
                                        <p:tgtEl>
                                          <p:spTgt spid="25"/>
                                        </p:tgtEl>
                                        <p:attrNameLst>
                                          <p:attrName>ppt_x</p:attrName>
                                        </p:attrNameLst>
                                      </p:cBhvr>
                                      <p:tavLst>
                                        <p:tav tm="0">
                                          <p:val>
                                            <p:strVal val="#ppt_x"/>
                                          </p:val>
                                        </p:tav>
                                        <p:tav tm="100000">
                                          <p:val>
                                            <p:strVal val="#ppt_x"/>
                                          </p:val>
                                        </p:tav>
                                      </p:tavLst>
                                    </p:anim>
                                    <p:anim calcmode="lin" valueType="num">
                                      <p:cBhvr>
                                        <p:cTn id="115" dur="650" fill="hold"/>
                                        <p:tgtEl>
                                          <p:spTgt spid="25"/>
                                        </p:tgtEl>
                                        <p:attrNameLst>
                                          <p:attrName>ppt_y</p:attrName>
                                        </p:attrNameLst>
                                      </p:cBhvr>
                                      <p:tavLst>
                                        <p:tav tm="0">
                                          <p:val>
                                            <p:strVal val="#ppt_y+.05"/>
                                          </p:val>
                                        </p:tav>
                                        <p:tav tm="100000">
                                          <p:val>
                                            <p:strVal val="#ppt_y"/>
                                          </p:val>
                                        </p:tav>
                                      </p:tavLst>
                                    </p:anim>
                                  </p:childTnLst>
                                </p:cTn>
                              </p:par>
                              <p:par>
                                <p:cTn id="116" presetID="42" presetClass="entr" presetSubtype="0" fill="hold" grpId="0" nodeType="withEffect">
                                  <p:stCondLst>
                                    <p:cond delay="740"/>
                                  </p:stCondLst>
                                  <p:childTnLst>
                                    <p:set>
                                      <p:cBhvr>
                                        <p:cTn id="117" dur="1" fill="hold">
                                          <p:stCondLst>
                                            <p:cond delay="0"/>
                                          </p:stCondLst>
                                        </p:cTn>
                                        <p:tgtEl>
                                          <p:spTgt spid="26"/>
                                        </p:tgtEl>
                                        <p:attrNameLst>
                                          <p:attrName>style.visibility</p:attrName>
                                        </p:attrNameLst>
                                      </p:cBhvr>
                                      <p:to>
                                        <p:strVal val="visible"/>
                                      </p:to>
                                    </p:set>
                                    <p:animEffect transition="in" filter="fade">
                                      <p:cBhvr>
                                        <p:cTn id="118" dur="650"/>
                                        <p:tgtEl>
                                          <p:spTgt spid="26"/>
                                        </p:tgtEl>
                                      </p:cBhvr>
                                    </p:animEffect>
                                    <p:anim calcmode="lin" valueType="num">
                                      <p:cBhvr>
                                        <p:cTn id="119" dur="650" fill="hold"/>
                                        <p:tgtEl>
                                          <p:spTgt spid="26"/>
                                        </p:tgtEl>
                                        <p:attrNameLst>
                                          <p:attrName>ppt_x</p:attrName>
                                        </p:attrNameLst>
                                      </p:cBhvr>
                                      <p:tavLst>
                                        <p:tav tm="0">
                                          <p:val>
                                            <p:strVal val="#ppt_x"/>
                                          </p:val>
                                        </p:tav>
                                        <p:tav tm="100000">
                                          <p:val>
                                            <p:strVal val="#ppt_x"/>
                                          </p:val>
                                        </p:tav>
                                      </p:tavLst>
                                    </p:anim>
                                    <p:anim calcmode="lin" valueType="num">
                                      <p:cBhvr>
                                        <p:cTn id="120" dur="650" fill="hold"/>
                                        <p:tgtEl>
                                          <p:spTgt spid="26"/>
                                        </p:tgtEl>
                                        <p:attrNameLst>
                                          <p:attrName>ppt_y</p:attrName>
                                        </p:attrNameLst>
                                      </p:cBhvr>
                                      <p:tavLst>
                                        <p:tav tm="0">
                                          <p:val>
                                            <p:strVal val="#ppt_y+.05"/>
                                          </p:val>
                                        </p:tav>
                                        <p:tav tm="100000">
                                          <p:val>
                                            <p:strVal val="#ppt_y"/>
                                          </p:val>
                                        </p:tav>
                                      </p:tavLst>
                                    </p:anim>
                                  </p:childTnLst>
                                </p:cTn>
                              </p:par>
                              <p:par>
                                <p:cTn id="121" presetID="42" presetClass="entr" presetSubtype="0" fill="hold" grpId="0" nodeType="withEffect">
                                  <p:stCondLst>
                                    <p:cond delay="740"/>
                                  </p:stCondLst>
                                  <p:childTnLst>
                                    <p:set>
                                      <p:cBhvr>
                                        <p:cTn id="122" dur="1" fill="hold">
                                          <p:stCondLst>
                                            <p:cond delay="0"/>
                                          </p:stCondLst>
                                        </p:cTn>
                                        <p:tgtEl>
                                          <p:spTgt spid="27"/>
                                        </p:tgtEl>
                                        <p:attrNameLst>
                                          <p:attrName>style.visibility</p:attrName>
                                        </p:attrNameLst>
                                      </p:cBhvr>
                                      <p:to>
                                        <p:strVal val="visible"/>
                                      </p:to>
                                    </p:set>
                                    <p:animEffect transition="in" filter="fade">
                                      <p:cBhvr>
                                        <p:cTn id="123" dur="650"/>
                                        <p:tgtEl>
                                          <p:spTgt spid="27"/>
                                        </p:tgtEl>
                                      </p:cBhvr>
                                    </p:animEffect>
                                    <p:anim calcmode="lin" valueType="num">
                                      <p:cBhvr>
                                        <p:cTn id="124" dur="650" fill="hold"/>
                                        <p:tgtEl>
                                          <p:spTgt spid="27"/>
                                        </p:tgtEl>
                                        <p:attrNameLst>
                                          <p:attrName>ppt_x</p:attrName>
                                        </p:attrNameLst>
                                      </p:cBhvr>
                                      <p:tavLst>
                                        <p:tav tm="0">
                                          <p:val>
                                            <p:strVal val="#ppt_x"/>
                                          </p:val>
                                        </p:tav>
                                        <p:tav tm="100000">
                                          <p:val>
                                            <p:strVal val="#ppt_x"/>
                                          </p:val>
                                        </p:tav>
                                      </p:tavLst>
                                    </p:anim>
                                    <p:anim calcmode="lin" valueType="num">
                                      <p:cBhvr>
                                        <p:cTn id="125" dur="650" fill="hold"/>
                                        <p:tgtEl>
                                          <p:spTgt spid="27"/>
                                        </p:tgtEl>
                                        <p:attrNameLst>
                                          <p:attrName>ppt_y</p:attrName>
                                        </p:attrNameLst>
                                      </p:cBhvr>
                                      <p:tavLst>
                                        <p:tav tm="0">
                                          <p:val>
                                            <p:strVal val="#ppt_y+.05"/>
                                          </p:val>
                                        </p:tav>
                                        <p:tav tm="100000">
                                          <p:val>
                                            <p:strVal val="#ppt_y"/>
                                          </p:val>
                                        </p:tav>
                                      </p:tavLst>
                                    </p:anim>
                                  </p:childTnLst>
                                </p:cTn>
                              </p:par>
                              <p:par>
                                <p:cTn id="126" presetID="42" presetClass="entr" presetSubtype="0" fill="hold" grpId="0" nodeType="withEffect">
                                  <p:stCondLst>
                                    <p:cond delay="740"/>
                                  </p:stCondLst>
                                  <p:childTnLst>
                                    <p:set>
                                      <p:cBhvr>
                                        <p:cTn id="127" dur="1" fill="hold">
                                          <p:stCondLst>
                                            <p:cond delay="0"/>
                                          </p:stCondLst>
                                        </p:cTn>
                                        <p:tgtEl>
                                          <p:spTgt spid="28"/>
                                        </p:tgtEl>
                                        <p:attrNameLst>
                                          <p:attrName>style.visibility</p:attrName>
                                        </p:attrNameLst>
                                      </p:cBhvr>
                                      <p:to>
                                        <p:strVal val="visible"/>
                                      </p:to>
                                    </p:set>
                                    <p:animEffect transition="in" filter="fade">
                                      <p:cBhvr>
                                        <p:cTn id="128" dur="650"/>
                                        <p:tgtEl>
                                          <p:spTgt spid="28"/>
                                        </p:tgtEl>
                                      </p:cBhvr>
                                    </p:animEffect>
                                    <p:anim calcmode="lin" valueType="num">
                                      <p:cBhvr>
                                        <p:cTn id="129" dur="650" fill="hold"/>
                                        <p:tgtEl>
                                          <p:spTgt spid="28"/>
                                        </p:tgtEl>
                                        <p:attrNameLst>
                                          <p:attrName>ppt_x</p:attrName>
                                        </p:attrNameLst>
                                      </p:cBhvr>
                                      <p:tavLst>
                                        <p:tav tm="0">
                                          <p:val>
                                            <p:strVal val="#ppt_x"/>
                                          </p:val>
                                        </p:tav>
                                        <p:tav tm="100000">
                                          <p:val>
                                            <p:strVal val="#ppt_x"/>
                                          </p:val>
                                        </p:tav>
                                      </p:tavLst>
                                    </p:anim>
                                    <p:anim calcmode="lin" valueType="num">
                                      <p:cBhvr>
                                        <p:cTn id="130" dur="650" fill="hold"/>
                                        <p:tgtEl>
                                          <p:spTgt spid="28"/>
                                        </p:tgtEl>
                                        <p:attrNameLst>
                                          <p:attrName>ppt_y</p:attrName>
                                        </p:attrNameLst>
                                      </p:cBhvr>
                                      <p:tavLst>
                                        <p:tav tm="0">
                                          <p:val>
                                            <p:strVal val="#ppt_y+.05"/>
                                          </p:val>
                                        </p:tav>
                                        <p:tav tm="100000">
                                          <p:val>
                                            <p:strVal val="#ppt_y"/>
                                          </p:val>
                                        </p:tav>
                                      </p:tavLst>
                                    </p:anim>
                                  </p:childTnLst>
                                </p:cTn>
                              </p:par>
                              <p:par>
                                <p:cTn id="131" presetID="42" presetClass="entr" presetSubtype="0" fill="hold" grpId="0" nodeType="withEffect">
                                  <p:stCondLst>
                                    <p:cond delay="740"/>
                                  </p:stCondLst>
                                  <p:childTnLst>
                                    <p:set>
                                      <p:cBhvr>
                                        <p:cTn id="132" dur="1" fill="hold">
                                          <p:stCondLst>
                                            <p:cond delay="0"/>
                                          </p:stCondLst>
                                        </p:cTn>
                                        <p:tgtEl>
                                          <p:spTgt spid="29"/>
                                        </p:tgtEl>
                                        <p:attrNameLst>
                                          <p:attrName>style.visibility</p:attrName>
                                        </p:attrNameLst>
                                      </p:cBhvr>
                                      <p:to>
                                        <p:strVal val="visible"/>
                                      </p:to>
                                    </p:set>
                                    <p:animEffect transition="in" filter="fade">
                                      <p:cBhvr>
                                        <p:cTn id="133" dur="650"/>
                                        <p:tgtEl>
                                          <p:spTgt spid="29"/>
                                        </p:tgtEl>
                                      </p:cBhvr>
                                    </p:animEffect>
                                    <p:anim calcmode="lin" valueType="num">
                                      <p:cBhvr>
                                        <p:cTn id="134" dur="650" fill="hold"/>
                                        <p:tgtEl>
                                          <p:spTgt spid="29"/>
                                        </p:tgtEl>
                                        <p:attrNameLst>
                                          <p:attrName>ppt_x</p:attrName>
                                        </p:attrNameLst>
                                      </p:cBhvr>
                                      <p:tavLst>
                                        <p:tav tm="0">
                                          <p:val>
                                            <p:strVal val="#ppt_x"/>
                                          </p:val>
                                        </p:tav>
                                        <p:tav tm="100000">
                                          <p:val>
                                            <p:strVal val="#ppt_x"/>
                                          </p:val>
                                        </p:tav>
                                      </p:tavLst>
                                    </p:anim>
                                    <p:anim calcmode="lin" valueType="num">
                                      <p:cBhvr>
                                        <p:cTn id="135" dur="650" fill="hold"/>
                                        <p:tgtEl>
                                          <p:spTgt spid="29"/>
                                        </p:tgtEl>
                                        <p:attrNameLst>
                                          <p:attrName>ppt_y</p:attrName>
                                        </p:attrNameLst>
                                      </p:cBhvr>
                                      <p:tavLst>
                                        <p:tav tm="0">
                                          <p:val>
                                            <p:strVal val="#ppt_y+.05"/>
                                          </p:val>
                                        </p:tav>
                                        <p:tav tm="100000">
                                          <p:val>
                                            <p:strVal val="#ppt_y"/>
                                          </p:val>
                                        </p:tav>
                                      </p:tavLst>
                                    </p:anim>
                                  </p:childTnLst>
                                </p:cTn>
                              </p:par>
                              <p:par>
                                <p:cTn id="136" presetID="42" presetClass="entr" presetSubtype="0" fill="hold" grpId="0" nodeType="withEffect">
                                  <p:stCondLst>
                                    <p:cond delay="850"/>
                                  </p:stCondLst>
                                  <p:childTnLst>
                                    <p:set>
                                      <p:cBhvr>
                                        <p:cTn id="137" dur="1" fill="hold">
                                          <p:stCondLst>
                                            <p:cond delay="0"/>
                                          </p:stCondLst>
                                        </p:cTn>
                                        <p:tgtEl>
                                          <p:spTgt spid="30"/>
                                        </p:tgtEl>
                                        <p:attrNameLst>
                                          <p:attrName>style.visibility</p:attrName>
                                        </p:attrNameLst>
                                      </p:cBhvr>
                                      <p:to>
                                        <p:strVal val="visible"/>
                                      </p:to>
                                    </p:set>
                                    <p:animEffect transition="in" filter="fade">
                                      <p:cBhvr>
                                        <p:cTn id="138" dur="650"/>
                                        <p:tgtEl>
                                          <p:spTgt spid="30"/>
                                        </p:tgtEl>
                                      </p:cBhvr>
                                    </p:animEffect>
                                    <p:anim calcmode="lin" valueType="num">
                                      <p:cBhvr>
                                        <p:cTn id="139" dur="650" fill="hold"/>
                                        <p:tgtEl>
                                          <p:spTgt spid="30"/>
                                        </p:tgtEl>
                                        <p:attrNameLst>
                                          <p:attrName>ppt_x</p:attrName>
                                        </p:attrNameLst>
                                      </p:cBhvr>
                                      <p:tavLst>
                                        <p:tav tm="0">
                                          <p:val>
                                            <p:strVal val="#ppt_x"/>
                                          </p:val>
                                        </p:tav>
                                        <p:tav tm="100000">
                                          <p:val>
                                            <p:strVal val="#ppt_x"/>
                                          </p:val>
                                        </p:tav>
                                      </p:tavLst>
                                    </p:anim>
                                    <p:anim calcmode="lin" valueType="num">
                                      <p:cBhvr>
                                        <p:cTn id="140" dur="650" fill="hold"/>
                                        <p:tgtEl>
                                          <p:spTgt spid="30"/>
                                        </p:tgtEl>
                                        <p:attrNameLst>
                                          <p:attrName>ppt_y</p:attrName>
                                        </p:attrNameLst>
                                      </p:cBhvr>
                                      <p:tavLst>
                                        <p:tav tm="0">
                                          <p:val>
                                            <p:strVal val="#ppt_y+.05"/>
                                          </p:val>
                                        </p:tav>
                                        <p:tav tm="100000">
                                          <p:val>
                                            <p:strVal val="#ppt_y"/>
                                          </p:val>
                                        </p:tav>
                                      </p:tavLst>
                                    </p:anim>
                                  </p:childTnLst>
                                </p:cTn>
                              </p:par>
                              <p:par>
                                <p:cTn id="141" presetID="42" presetClass="entr" presetSubtype="0" fill="hold" grpId="0" nodeType="withEffect">
                                  <p:stCondLst>
                                    <p:cond delay="850"/>
                                  </p:stCondLst>
                                  <p:childTnLst>
                                    <p:set>
                                      <p:cBhvr>
                                        <p:cTn id="142" dur="1" fill="hold">
                                          <p:stCondLst>
                                            <p:cond delay="0"/>
                                          </p:stCondLst>
                                        </p:cTn>
                                        <p:tgtEl>
                                          <p:spTgt spid="31"/>
                                        </p:tgtEl>
                                        <p:attrNameLst>
                                          <p:attrName>style.visibility</p:attrName>
                                        </p:attrNameLst>
                                      </p:cBhvr>
                                      <p:to>
                                        <p:strVal val="visible"/>
                                      </p:to>
                                    </p:set>
                                    <p:animEffect transition="in" filter="fade">
                                      <p:cBhvr>
                                        <p:cTn id="143" dur="650"/>
                                        <p:tgtEl>
                                          <p:spTgt spid="31"/>
                                        </p:tgtEl>
                                      </p:cBhvr>
                                    </p:animEffect>
                                    <p:anim calcmode="lin" valueType="num">
                                      <p:cBhvr>
                                        <p:cTn id="144" dur="650" fill="hold"/>
                                        <p:tgtEl>
                                          <p:spTgt spid="31"/>
                                        </p:tgtEl>
                                        <p:attrNameLst>
                                          <p:attrName>ppt_x</p:attrName>
                                        </p:attrNameLst>
                                      </p:cBhvr>
                                      <p:tavLst>
                                        <p:tav tm="0">
                                          <p:val>
                                            <p:strVal val="#ppt_x"/>
                                          </p:val>
                                        </p:tav>
                                        <p:tav tm="100000">
                                          <p:val>
                                            <p:strVal val="#ppt_x"/>
                                          </p:val>
                                        </p:tav>
                                      </p:tavLst>
                                    </p:anim>
                                    <p:anim calcmode="lin" valueType="num">
                                      <p:cBhvr>
                                        <p:cTn id="145" dur="650" fill="hold"/>
                                        <p:tgtEl>
                                          <p:spTgt spid="31"/>
                                        </p:tgtEl>
                                        <p:attrNameLst>
                                          <p:attrName>ppt_y</p:attrName>
                                        </p:attrNameLst>
                                      </p:cBhvr>
                                      <p:tavLst>
                                        <p:tav tm="0">
                                          <p:val>
                                            <p:strVal val="#ppt_y+.05"/>
                                          </p:val>
                                        </p:tav>
                                        <p:tav tm="100000">
                                          <p:val>
                                            <p:strVal val="#ppt_y"/>
                                          </p:val>
                                        </p:tav>
                                      </p:tavLst>
                                    </p:anim>
                                  </p:childTnLst>
                                </p:cTn>
                              </p:par>
                              <p:par>
                                <p:cTn id="146" presetID="42" presetClass="entr" presetSubtype="0" fill="hold" grpId="0" nodeType="withEffect">
                                  <p:stCondLst>
                                    <p:cond delay="850"/>
                                  </p:stCondLst>
                                  <p:childTnLst>
                                    <p:set>
                                      <p:cBhvr>
                                        <p:cTn id="147" dur="1" fill="hold">
                                          <p:stCondLst>
                                            <p:cond delay="0"/>
                                          </p:stCondLst>
                                        </p:cTn>
                                        <p:tgtEl>
                                          <p:spTgt spid="32"/>
                                        </p:tgtEl>
                                        <p:attrNameLst>
                                          <p:attrName>style.visibility</p:attrName>
                                        </p:attrNameLst>
                                      </p:cBhvr>
                                      <p:to>
                                        <p:strVal val="visible"/>
                                      </p:to>
                                    </p:set>
                                    <p:animEffect transition="in" filter="fade">
                                      <p:cBhvr>
                                        <p:cTn id="148" dur="650"/>
                                        <p:tgtEl>
                                          <p:spTgt spid="32"/>
                                        </p:tgtEl>
                                      </p:cBhvr>
                                    </p:animEffect>
                                    <p:anim calcmode="lin" valueType="num">
                                      <p:cBhvr>
                                        <p:cTn id="149" dur="650" fill="hold"/>
                                        <p:tgtEl>
                                          <p:spTgt spid="32"/>
                                        </p:tgtEl>
                                        <p:attrNameLst>
                                          <p:attrName>ppt_x</p:attrName>
                                        </p:attrNameLst>
                                      </p:cBhvr>
                                      <p:tavLst>
                                        <p:tav tm="0">
                                          <p:val>
                                            <p:strVal val="#ppt_x"/>
                                          </p:val>
                                        </p:tav>
                                        <p:tav tm="100000">
                                          <p:val>
                                            <p:strVal val="#ppt_x"/>
                                          </p:val>
                                        </p:tav>
                                      </p:tavLst>
                                    </p:anim>
                                    <p:anim calcmode="lin" valueType="num">
                                      <p:cBhvr>
                                        <p:cTn id="150" dur="650" fill="hold"/>
                                        <p:tgtEl>
                                          <p:spTgt spid="32"/>
                                        </p:tgtEl>
                                        <p:attrNameLst>
                                          <p:attrName>ppt_y</p:attrName>
                                        </p:attrNameLst>
                                      </p:cBhvr>
                                      <p:tavLst>
                                        <p:tav tm="0">
                                          <p:val>
                                            <p:strVal val="#ppt_y+.05"/>
                                          </p:val>
                                        </p:tav>
                                        <p:tav tm="100000">
                                          <p:val>
                                            <p:strVal val="#ppt_y"/>
                                          </p:val>
                                        </p:tav>
                                      </p:tavLst>
                                    </p:anim>
                                  </p:childTnLst>
                                </p:cTn>
                              </p:par>
                              <p:par>
                                <p:cTn id="151" presetID="42" presetClass="entr" presetSubtype="0" fill="hold" grpId="0" nodeType="withEffect">
                                  <p:stCondLst>
                                    <p:cond delay="850"/>
                                  </p:stCondLst>
                                  <p:childTnLst>
                                    <p:set>
                                      <p:cBhvr>
                                        <p:cTn id="152" dur="1" fill="hold">
                                          <p:stCondLst>
                                            <p:cond delay="0"/>
                                          </p:stCondLst>
                                        </p:cTn>
                                        <p:tgtEl>
                                          <p:spTgt spid="33"/>
                                        </p:tgtEl>
                                        <p:attrNameLst>
                                          <p:attrName>style.visibility</p:attrName>
                                        </p:attrNameLst>
                                      </p:cBhvr>
                                      <p:to>
                                        <p:strVal val="visible"/>
                                      </p:to>
                                    </p:set>
                                    <p:animEffect transition="in" filter="fade">
                                      <p:cBhvr>
                                        <p:cTn id="153" dur="650"/>
                                        <p:tgtEl>
                                          <p:spTgt spid="33"/>
                                        </p:tgtEl>
                                      </p:cBhvr>
                                    </p:animEffect>
                                    <p:anim calcmode="lin" valueType="num">
                                      <p:cBhvr>
                                        <p:cTn id="154" dur="650" fill="hold"/>
                                        <p:tgtEl>
                                          <p:spTgt spid="33"/>
                                        </p:tgtEl>
                                        <p:attrNameLst>
                                          <p:attrName>ppt_x</p:attrName>
                                        </p:attrNameLst>
                                      </p:cBhvr>
                                      <p:tavLst>
                                        <p:tav tm="0">
                                          <p:val>
                                            <p:strVal val="#ppt_x"/>
                                          </p:val>
                                        </p:tav>
                                        <p:tav tm="100000">
                                          <p:val>
                                            <p:strVal val="#ppt_x"/>
                                          </p:val>
                                        </p:tav>
                                      </p:tavLst>
                                    </p:anim>
                                    <p:anim calcmode="lin" valueType="num">
                                      <p:cBhvr>
                                        <p:cTn id="155" dur="650" fill="hold"/>
                                        <p:tgtEl>
                                          <p:spTgt spid="33"/>
                                        </p:tgtEl>
                                        <p:attrNameLst>
                                          <p:attrName>ppt_y</p:attrName>
                                        </p:attrNameLst>
                                      </p:cBhvr>
                                      <p:tavLst>
                                        <p:tav tm="0">
                                          <p:val>
                                            <p:strVal val="#ppt_y+.05"/>
                                          </p:val>
                                        </p:tav>
                                        <p:tav tm="100000">
                                          <p:val>
                                            <p:strVal val="#ppt_y"/>
                                          </p:val>
                                        </p:tav>
                                      </p:tavLst>
                                    </p:anim>
                                  </p:childTnLst>
                                </p:cTn>
                              </p:par>
                              <p:par>
                                <p:cTn id="156" presetID="42" presetClass="entr" presetSubtype="0" fill="hold" grpId="0" nodeType="withEffect">
                                  <p:stCondLst>
                                    <p:cond delay="850"/>
                                  </p:stCondLst>
                                  <p:childTnLst>
                                    <p:set>
                                      <p:cBhvr>
                                        <p:cTn id="157" dur="1" fill="hold">
                                          <p:stCondLst>
                                            <p:cond delay="0"/>
                                          </p:stCondLst>
                                        </p:cTn>
                                        <p:tgtEl>
                                          <p:spTgt spid="34"/>
                                        </p:tgtEl>
                                        <p:attrNameLst>
                                          <p:attrName>style.visibility</p:attrName>
                                        </p:attrNameLst>
                                      </p:cBhvr>
                                      <p:to>
                                        <p:strVal val="visible"/>
                                      </p:to>
                                    </p:set>
                                    <p:animEffect transition="in" filter="fade">
                                      <p:cBhvr>
                                        <p:cTn id="158" dur="650"/>
                                        <p:tgtEl>
                                          <p:spTgt spid="34"/>
                                        </p:tgtEl>
                                      </p:cBhvr>
                                    </p:animEffect>
                                    <p:anim calcmode="lin" valueType="num">
                                      <p:cBhvr>
                                        <p:cTn id="159" dur="650" fill="hold"/>
                                        <p:tgtEl>
                                          <p:spTgt spid="34"/>
                                        </p:tgtEl>
                                        <p:attrNameLst>
                                          <p:attrName>ppt_x</p:attrName>
                                        </p:attrNameLst>
                                      </p:cBhvr>
                                      <p:tavLst>
                                        <p:tav tm="0">
                                          <p:val>
                                            <p:strVal val="#ppt_x"/>
                                          </p:val>
                                        </p:tav>
                                        <p:tav tm="100000">
                                          <p:val>
                                            <p:strVal val="#ppt_x"/>
                                          </p:val>
                                        </p:tav>
                                      </p:tavLst>
                                    </p:anim>
                                    <p:anim calcmode="lin" valueType="num">
                                      <p:cBhvr>
                                        <p:cTn id="160" dur="650" fill="hold"/>
                                        <p:tgtEl>
                                          <p:spTgt spid="34"/>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6" grpId="0" animBg="1"/>
      <p:bldP spid="8" grpId="0" animBg="1"/>
      <p:bldP spid="9" grpId="0" animBg="1"/>
      <p:bldP spid="10" grpId="0" animBg="1"/>
      <p:bldP spid="11" grpId="0" animBg="1"/>
      <p:bldP spid="13" grpId="0" animBg="1"/>
      <p:bldP spid="14" grpId="0" animBg="1"/>
      <p:bldP spid="15" grpId="0" animBg="1"/>
      <p:bldP spid="16" grpId="0" animBg="1"/>
      <p:bldP spid="18" grpId="0" animBg="1"/>
      <p:bldP spid="19" grpId="0" animBg="1"/>
      <p:bldP spid="20" grpId="0" animBg="1"/>
      <p:bldP spid="21" grpId="0" animBg="1"/>
      <p:bldP spid="23" grpId="0" animBg="1"/>
      <p:bldP spid="24" grpId="0" animBg="1"/>
      <p:bldP spid="25" grpId="0" animBg="1"/>
      <p:bldP spid="26" grpId="0" animBg="1"/>
      <p:bldP spid="28" grpId="0" animBg="1"/>
      <p:bldP spid="29" grpId="0" animBg="1"/>
      <p:bldP spid="30" grpId="0" animBg="1"/>
      <p:bldP spid="31" grpId="0" animBg="1"/>
      <p:bldP spid="33" grpId="0" animBg="1"/>
      <p:bldP spid="3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glow" descr="">    </p:cNvPr>
          <p:cNvPicPr>
            <a:picLocks noChangeAspect="1"/>
          </p:cNvPicPr>
          <p:nvPr/>
        </p:nvPicPr>
        <p:blipFill>
          <a:blip r:embed="rId1"/>
          <a:stretch>
            <a:fillRect/>
          </a:stretch>
        </p:blipFill>
        <p:spPr>
          <a:xfrm>
            <a:off x="5760720" y="-365760"/>
            <a:ext cx="6766560" cy="6766560"/>
          </a:xfrm>
          <a:prstGeom prst="rect">
            <a:avLst/>
          </a:prstGeom>
        </p:spPr>
      </p:pic>
      <p:pic>
        <p:nvPicPr>
          <p:cNvPr id="3" name="laptop" descr="The dashboard, in dark, on a laptop">    </p:cNvPr>
          <p:cNvPicPr>
            <a:picLocks noChangeAspect="1"/>
          </p:cNvPicPr>
          <p:nvPr/>
        </p:nvPicPr>
        <p:blipFill>
          <a:blip r:embed="rId2"/>
          <a:stretch>
            <a:fillRect/>
          </a:stretch>
        </p:blipFill>
        <p:spPr>
          <a:xfrm>
            <a:off x="5989320" y="1143000"/>
            <a:ext cx="5897880" cy="4114473"/>
          </a:xfrm>
          <a:prstGeom prst="rect">
            <a:avLst/>
          </a:prstGeom>
        </p:spPr>
      </p:pic>
      <p:sp>
        <p:nvSpPr>
          <p:cNvPr id="4" name="title"/>
          <p:cNvSpPr txBox="1"/>
          <p:nvPr/>
        </p:nvSpPr>
        <p:spPr>
          <a:xfrm>
            <a:off x="777240" y="868680"/>
            <a:ext cx="5120640" cy="1554480"/>
          </a:xfrm>
          <a:prstGeom prst="rect">
            <a:avLst/>
          </a:prstGeom>
          <a:noFill/>
          <a:ln/>
        </p:spPr>
        <p:txBody>
          <a:bodyPr wrap="square" lIns="0" tIns="0" rIns="0" bIns="0" rtlCol="0" anchor="t"/>
          <a:lstStyle/>
          <a:p>
            <a:pPr indent="0" marL="0">
              <a:lnSpc>
                <a:spcPct val="95000"/>
              </a:lnSpc>
              <a:buNone/>
            </a:pPr>
            <a:r>
              <a:rPr lang="en-US" sz="4000" b="1" dirty="0">
                <a:solidFill>
                  <a:srgbClr val="FFFFFF"/>
                </a:solidFill>
                <a:latin typeface="Arial" pitchFamily="34" charset="0"/>
                <a:ea typeface="Arial" pitchFamily="34" charset="-122"/>
                <a:cs typeface="Arial" pitchFamily="34" charset="-120"/>
              </a:rPr>
              <a:t>Ready today</a:t>
            </a:r>
            <a:endParaRPr lang="en-US" sz="4000" dirty="0"/>
          </a:p>
          <a:p>
            <a:pPr indent="0" marL="0">
              <a:lnSpc>
                <a:spcPct val="95000"/>
              </a:lnSpc>
              <a:buNone/>
            </a:pPr>
            <a:r>
              <a:rPr lang="en-US" sz="4000" b="1" dirty="0">
                <a:solidFill>
                  <a:srgbClr val="8E8E93"/>
                </a:solidFill>
                <a:latin typeface="Arial" pitchFamily="34" charset="0"/>
                <a:ea typeface="Arial" pitchFamily="34" charset="-122"/>
                <a:cs typeface="Arial" pitchFamily="34" charset="-120"/>
              </a:rPr>
              <a:t>Thank you</a:t>
            </a:r>
            <a:endParaRPr lang="en-US" sz="4000" dirty="0"/>
          </a:p>
        </p:txBody>
      </p:sp>
      <p:sp>
        <p:nvSpPr>
          <p:cNvPr id="5" name="n0"/>
          <p:cNvSpPr/>
          <p:nvPr/>
        </p:nvSpPr>
        <p:spPr>
          <a:xfrm>
            <a:off x="777240" y="2880360"/>
            <a:ext cx="457200" cy="457200"/>
          </a:xfrm>
          <a:prstGeom prst="ellipse">
            <a:avLst/>
          </a:prstGeom>
          <a:solidFill>
            <a:srgbClr val="C4511A"/>
          </a:solidFill>
          <a:ln/>
        </p:spPr>
      </p:sp>
      <p:sp>
        <p:nvSpPr>
          <p:cNvPr id="6" name="n0t"/>
          <p:cNvSpPr txBox="1"/>
          <p:nvPr/>
        </p:nvSpPr>
        <p:spPr>
          <a:xfrm>
            <a:off x="777240" y="28803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0"/>
          <p:cNvSpPr txBox="1"/>
          <p:nvPr/>
        </p:nvSpPr>
        <p:spPr>
          <a:xfrm>
            <a:off x="1463040" y="2862072"/>
            <a:ext cx="4206240" cy="512064"/>
          </a:xfrm>
          <a:prstGeom prst="rect">
            <a:avLst/>
          </a:prstGeom>
          <a:noFill/>
          <a:ln/>
        </p:spPr>
        <p:txBody>
          <a:bodyPr wrap="square" lIns="0" tIns="0" rIns="0" bIns="0" rtlCol="0" anchor="ctr"/>
          <a:lstStyle/>
          <a:p>
            <a:pPr indent="0" marL="0">
              <a:buNone/>
            </a:pPr>
            <a:r>
              <a:rPr lang="en-US" sz="1500" dirty="0">
                <a:solidFill>
                  <a:srgbClr val="F5F5F7"/>
                </a:solidFill>
                <a:latin typeface="Arial" pitchFamily="34" charset="0"/>
                <a:ea typeface="Arial" pitchFamily="34" charset="-122"/>
                <a:cs typeface="Arial" pitchFamily="34" charset="-120"/>
              </a:rPr>
              <a:t>Put the HTML in the common folder, next to the MC Data folder.</a:t>
            </a:r>
            <a:endParaRPr lang="en-US" sz="1500" dirty="0"/>
          </a:p>
        </p:txBody>
      </p:sp>
      <p:sp>
        <p:nvSpPr>
          <p:cNvPr id="8" name="n1"/>
          <p:cNvSpPr/>
          <p:nvPr/>
        </p:nvSpPr>
        <p:spPr>
          <a:xfrm>
            <a:off x="777240" y="3749040"/>
            <a:ext cx="457200" cy="457200"/>
          </a:xfrm>
          <a:prstGeom prst="ellipse">
            <a:avLst/>
          </a:prstGeom>
          <a:solidFill>
            <a:srgbClr val="2C2C2E"/>
          </a:solidFill>
          <a:ln/>
        </p:spPr>
      </p:sp>
      <p:sp>
        <p:nvSpPr>
          <p:cNvPr id="9" name="n1t"/>
          <p:cNvSpPr txBox="1"/>
          <p:nvPr/>
        </p:nvSpPr>
        <p:spPr>
          <a:xfrm>
            <a:off x="777240" y="37490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0" name="t1"/>
          <p:cNvSpPr txBox="1"/>
          <p:nvPr/>
        </p:nvSpPr>
        <p:spPr>
          <a:xfrm>
            <a:off x="1463040" y="3730752"/>
            <a:ext cx="4206240" cy="512064"/>
          </a:xfrm>
          <a:prstGeom prst="rect">
            <a:avLst/>
          </a:prstGeom>
          <a:noFill/>
          <a:ln/>
        </p:spPr>
        <p:txBody>
          <a:bodyPr wrap="square" lIns="0" tIns="0" rIns="0" bIns="0" rtlCol="0" anchor="ctr"/>
          <a:lstStyle/>
          <a:p>
            <a:pPr indent="0" marL="0">
              <a:buNone/>
            </a:pPr>
            <a:r>
              <a:rPr lang="en-US" sz="1500" dirty="0">
                <a:solidFill>
                  <a:srgbClr val="F5F5F7"/>
                </a:solidFill>
                <a:latin typeface="Arial" pitchFamily="34" charset="0"/>
                <a:ea typeface="Arial" pitchFamily="34" charset="-122"/>
                <a:cs typeface="Arial" pitchFamily="34" charset="-120"/>
              </a:rPr>
              <a:t>Open it in Microsoft Edge or Google Chrome.</a:t>
            </a:r>
            <a:endParaRPr lang="en-US" sz="1500" dirty="0"/>
          </a:p>
        </p:txBody>
      </p:sp>
      <p:sp>
        <p:nvSpPr>
          <p:cNvPr id="11" name="n2"/>
          <p:cNvSpPr/>
          <p:nvPr/>
        </p:nvSpPr>
        <p:spPr>
          <a:xfrm>
            <a:off x="777240" y="4617720"/>
            <a:ext cx="457200" cy="457200"/>
          </a:xfrm>
          <a:prstGeom prst="ellipse">
            <a:avLst/>
          </a:prstGeom>
          <a:solidFill>
            <a:srgbClr val="2C2C2E"/>
          </a:solidFill>
          <a:ln/>
        </p:spPr>
      </p:sp>
      <p:sp>
        <p:nvSpPr>
          <p:cNvPr id="12" name="n2t"/>
          <p:cNvSpPr txBox="1"/>
          <p:nvPr/>
        </p:nvSpPr>
        <p:spPr>
          <a:xfrm>
            <a:off x="777240" y="46177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3" name="t2"/>
          <p:cNvSpPr txBox="1"/>
          <p:nvPr/>
        </p:nvSpPr>
        <p:spPr>
          <a:xfrm>
            <a:off x="1463040" y="4599432"/>
            <a:ext cx="4206240" cy="512064"/>
          </a:xfrm>
          <a:prstGeom prst="rect">
            <a:avLst/>
          </a:prstGeom>
          <a:noFill/>
          <a:ln/>
        </p:spPr>
        <p:txBody>
          <a:bodyPr wrap="square" lIns="0" tIns="0" rIns="0" bIns="0" rtlCol="0" anchor="ctr"/>
          <a:lstStyle/>
          <a:p>
            <a:pPr indent="0" marL="0">
              <a:buNone/>
            </a:pPr>
            <a:r>
              <a:rPr lang="en-US" sz="1500" dirty="0">
                <a:solidFill>
                  <a:srgbClr val="F5F5F7"/>
                </a:solidFill>
                <a:latin typeface="Arial" pitchFamily="34" charset="0"/>
                <a:ea typeface="Arial" pitchFamily="34" charset="-122"/>
                <a:cs typeface="Arial" pitchFamily="34" charset="-120"/>
              </a:rPr>
              <a:t>Each person makes an account; the admin gives the roles.</a:t>
            </a:r>
            <a:endParaRPr lang="en-US" sz="1500" dirty="0"/>
          </a:p>
        </p:txBody>
      </p:sp>
      <p:sp>
        <p:nvSpPr>
          <p:cNvPr id="14" name="foot"/>
          <p:cNvSpPr txBox="1"/>
          <p:nvPr/>
        </p:nvSpPr>
        <p:spPr>
          <a:xfrm>
            <a:off x="777240" y="6263640"/>
            <a:ext cx="5486400" cy="274320"/>
          </a:xfrm>
          <a:prstGeom prst="rect">
            <a:avLst/>
          </a:prstGeom>
          <a:noFill/>
          <a:ln/>
        </p:spPr>
        <p:txBody>
          <a:bodyPr wrap="square" lIns="0" tIns="0" rIns="0" bIns="0" rtlCol="0" anchor="ctr"/>
          <a:lstStyle/>
          <a:p>
            <a:pPr indent="0" marL="0">
              <a:buNone/>
            </a:pPr>
            <a:r>
              <a:rPr lang="en-US" sz="1000" dirty="0">
                <a:solidFill>
                  <a:srgbClr val="6E6E73"/>
                </a:solidFill>
                <a:latin typeface="Arial" pitchFamily="34" charset="0"/>
                <a:ea typeface="Arial" pitchFamily="34" charset="-122"/>
                <a:cs typeface="Arial" pitchFamily="34" charset="-120"/>
              </a:rPr>
              <a:t>MC Monthly Report Builder · Member Care WFM team</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42" presetClass="entr" presetSubtype="0" fill="hold" grpId="0" nodeType="withEffect">
                                  <p:stCondLst>
                                    <p:cond delay="1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650"/>
                                        <p:tgtEl>
                                          <p:spTgt spid="4"/>
                                        </p:tgtEl>
                                      </p:cBhvr>
                                    </p:animEffect>
                                    <p:anim calcmode="lin" valueType="num">
                                      <p:cBhvr>
                                        <p:cTn id="11" dur="650" fill="hold"/>
                                        <p:tgtEl>
                                          <p:spTgt spid="4"/>
                                        </p:tgtEl>
                                        <p:attrNameLst>
                                          <p:attrName>ppt_x</p:attrName>
                                        </p:attrNameLst>
                                      </p:cBhvr>
                                      <p:tavLst>
                                        <p:tav tm="0">
                                          <p:val>
                                            <p:strVal val="#ppt_x"/>
                                          </p:val>
                                        </p:tav>
                                        <p:tav tm="100000">
                                          <p:val>
                                            <p:strVal val="#ppt_x"/>
                                          </p:val>
                                        </p:tav>
                                      </p:tavLst>
                                    </p:anim>
                                    <p:anim calcmode="lin" valueType="num">
                                      <p:cBhvr>
                                        <p:cTn id="12" dur="650" fill="hold"/>
                                        <p:tgtEl>
                                          <p:spTgt spid="4"/>
                                        </p:tgtEl>
                                        <p:attrNameLst>
                                          <p:attrName>ppt_y</p:attrName>
                                        </p:attrNameLst>
                                      </p:cBhvr>
                                      <p:tavLst>
                                        <p:tav tm="0">
                                          <p:val>
                                            <p:strVal val="#ppt_y+.05"/>
                                          </p:val>
                                        </p:tav>
                                        <p:tav tm="100000">
                                          <p:val>
                                            <p:strVal val="#ppt_y"/>
                                          </p:val>
                                        </p:tav>
                                      </p:tavLst>
                                    </p:anim>
                                  </p:childTnLst>
                                </p:cTn>
                              </p:par>
                              <p:par>
                                <p:cTn id="13" presetID="42" presetClass="entr" presetSubtype="0" fill="hold" grpId="0" nodeType="withEffect">
                                  <p:stCondLst>
                                    <p:cond delay="25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650"/>
                                        <p:tgtEl>
                                          <p:spTgt spid="3"/>
                                        </p:tgtEl>
                                      </p:cBhvr>
                                    </p:animEffect>
                                    <p:anim calcmode="lin" valueType="num">
                                      <p:cBhvr>
                                        <p:cTn id="16" dur="650" fill="hold"/>
                                        <p:tgtEl>
                                          <p:spTgt spid="3"/>
                                        </p:tgtEl>
                                        <p:attrNameLst>
                                          <p:attrName>ppt_x</p:attrName>
                                        </p:attrNameLst>
                                      </p:cBhvr>
                                      <p:tavLst>
                                        <p:tav tm="0">
                                          <p:val>
                                            <p:strVal val="#ppt_x"/>
                                          </p:val>
                                        </p:tav>
                                        <p:tav tm="100000">
                                          <p:val>
                                            <p:strVal val="#ppt_x"/>
                                          </p:val>
                                        </p:tav>
                                      </p:tavLst>
                                    </p:anim>
                                    <p:anim calcmode="lin" valueType="num">
                                      <p:cBhvr>
                                        <p:cTn id="17" dur="650" fill="hold"/>
                                        <p:tgtEl>
                                          <p:spTgt spid="3"/>
                                        </p:tgtEl>
                                        <p:attrNameLst>
                                          <p:attrName>ppt_y</p:attrName>
                                        </p:attrNameLst>
                                      </p:cBhvr>
                                      <p:tavLst>
                                        <p:tav tm="0">
                                          <p:val>
                                            <p:strVal val="#ppt_y+.05"/>
                                          </p:val>
                                        </p:tav>
                                        <p:tav tm="100000">
                                          <p:val>
                                            <p:strVal val="#ppt_y"/>
                                          </p:val>
                                        </p:tav>
                                      </p:tavLst>
                                    </p:anim>
                                  </p:childTnLst>
                                </p:cTn>
                              </p:par>
                              <p:par>
                                <p:cTn id="18" presetID="42" presetClass="entr" presetSubtype="0" fill="hold" grpId="0" nodeType="withEffect">
                                  <p:stCondLst>
                                    <p:cond delay="30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650"/>
                                        <p:tgtEl>
                                          <p:spTgt spid="5"/>
                                        </p:tgtEl>
                                      </p:cBhvr>
                                    </p:animEffect>
                                    <p:anim calcmode="lin" valueType="num">
                                      <p:cBhvr>
                                        <p:cTn id="21" dur="650" fill="hold"/>
                                        <p:tgtEl>
                                          <p:spTgt spid="5"/>
                                        </p:tgtEl>
                                        <p:attrNameLst>
                                          <p:attrName>ppt_x</p:attrName>
                                        </p:attrNameLst>
                                      </p:cBhvr>
                                      <p:tavLst>
                                        <p:tav tm="0">
                                          <p:val>
                                            <p:strVal val="#ppt_x"/>
                                          </p:val>
                                        </p:tav>
                                        <p:tav tm="100000">
                                          <p:val>
                                            <p:strVal val="#ppt_x"/>
                                          </p:val>
                                        </p:tav>
                                      </p:tavLst>
                                    </p:anim>
                                    <p:anim calcmode="lin" valueType="num">
                                      <p:cBhvr>
                                        <p:cTn id="22" dur="650" fill="hold"/>
                                        <p:tgtEl>
                                          <p:spTgt spid="5"/>
                                        </p:tgtEl>
                                        <p:attrNameLst>
                                          <p:attrName>ppt_y</p:attrName>
                                        </p:attrNameLst>
                                      </p:cBhvr>
                                      <p:tavLst>
                                        <p:tav tm="0">
                                          <p:val>
                                            <p:strVal val="#ppt_y+.05"/>
                                          </p:val>
                                        </p:tav>
                                        <p:tav tm="100000">
                                          <p:val>
                                            <p:strVal val="#ppt_y"/>
                                          </p:val>
                                        </p:tav>
                                      </p:tavLst>
                                    </p:anim>
                                  </p:childTnLst>
                                </p:cTn>
                              </p:par>
                              <p:par>
                                <p:cTn id="23" presetID="42" presetClass="entr" presetSubtype="0" fill="hold" grpId="0" nodeType="withEffect">
                                  <p:stCondLst>
                                    <p:cond delay="30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650"/>
                                        <p:tgtEl>
                                          <p:spTgt spid="6"/>
                                        </p:tgtEl>
                                      </p:cBhvr>
                                    </p:animEffect>
                                    <p:anim calcmode="lin" valueType="num">
                                      <p:cBhvr>
                                        <p:cTn id="26" dur="650" fill="hold"/>
                                        <p:tgtEl>
                                          <p:spTgt spid="6"/>
                                        </p:tgtEl>
                                        <p:attrNameLst>
                                          <p:attrName>ppt_x</p:attrName>
                                        </p:attrNameLst>
                                      </p:cBhvr>
                                      <p:tavLst>
                                        <p:tav tm="0">
                                          <p:val>
                                            <p:strVal val="#ppt_x"/>
                                          </p:val>
                                        </p:tav>
                                        <p:tav tm="100000">
                                          <p:val>
                                            <p:strVal val="#ppt_x"/>
                                          </p:val>
                                        </p:tav>
                                      </p:tavLst>
                                    </p:anim>
                                    <p:anim calcmode="lin" valueType="num">
                                      <p:cBhvr>
                                        <p:cTn id="27" dur="650" fill="hold"/>
                                        <p:tgtEl>
                                          <p:spTgt spid="6"/>
                                        </p:tgtEl>
                                        <p:attrNameLst>
                                          <p:attrName>ppt_y</p:attrName>
                                        </p:attrNameLst>
                                      </p:cBhvr>
                                      <p:tavLst>
                                        <p:tav tm="0">
                                          <p:val>
                                            <p:strVal val="#ppt_y+.05"/>
                                          </p:val>
                                        </p:tav>
                                        <p:tav tm="100000">
                                          <p:val>
                                            <p:strVal val="#ppt_y"/>
                                          </p:val>
                                        </p:tav>
                                      </p:tavLst>
                                    </p:anim>
                                  </p:childTnLst>
                                </p:cTn>
                              </p:par>
                              <p:par>
                                <p:cTn id="28" presetID="42" presetClass="entr" presetSubtype="0" fill="hold" grpId="0" nodeType="withEffect">
                                  <p:stCondLst>
                                    <p:cond delay="30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650"/>
                                        <p:tgtEl>
                                          <p:spTgt spid="7"/>
                                        </p:tgtEl>
                                      </p:cBhvr>
                                    </p:animEffect>
                                    <p:anim calcmode="lin" valueType="num">
                                      <p:cBhvr>
                                        <p:cTn id="31" dur="650" fill="hold"/>
                                        <p:tgtEl>
                                          <p:spTgt spid="7"/>
                                        </p:tgtEl>
                                        <p:attrNameLst>
                                          <p:attrName>ppt_x</p:attrName>
                                        </p:attrNameLst>
                                      </p:cBhvr>
                                      <p:tavLst>
                                        <p:tav tm="0">
                                          <p:val>
                                            <p:strVal val="#ppt_x"/>
                                          </p:val>
                                        </p:tav>
                                        <p:tav tm="100000">
                                          <p:val>
                                            <p:strVal val="#ppt_x"/>
                                          </p:val>
                                        </p:tav>
                                      </p:tavLst>
                                    </p:anim>
                                    <p:anim calcmode="lin" valueType="num">
                                      <p:cBhvr>
                                        <p:cTn id="32" dur="650" fill="hold"/>
                                        <p:tgtEl>
                                          <p:spTgt spid="7"/>
                                        </p:tgtEl>
                                        <p:attrNameLst>
                                          <p:attrName>ppt_y</p:attrName>
                                        </p:attrNameLst>
                                      </p:cBhvr>
                                      <p:tavLst>
                                        <p:tav tm="0">
                                          <p:val>
                                            <p:strVal val="#ppt_y+.05"/>
                                          </p:val>
                                        </p:tav>
                                        <p:tav tm="100000">
                                          <p:val>
                                            <p:strVal val="#ppt_y"/>
                                          </p:val>
                                        </p:tav>
                                      </p:tavLst>
                                    </p:anim>
                                  </p:childTnLst>
                                </p:cTn>
                              </p:par>
                              <p:par>
                                <p:cTn id="33" presetID="42" presetClass="entr" presetSubtype="0" fill="hold" grpId="0" nodeType="withEffect">
                                  <p:stCondLst>
                                    <p:cond delay="45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650"/>
                                        <p:tgtEl>
                                          <p:spTgt spid="8"/>
                                        </p:tgtEl>
                                      </p:cBhvr>
                                    </p:animEffect>
                                    <p:anim calcmode="lin" valueType="num">
                                      <p:cBhvr>
                                        <p:cTn id="36" dur="650" fill="hold"/>
                                        <p:tgtEl>
                                          <p:spTgt spid="8"/>
                                        </p:tgtEl>
                                        <p:attrNameLst>
                                          <p:attrName>ppt_x</p:attrName>
                                        </p:attrNameLst>
                                      </p:cBhvr>
                                      <p:tavLst>
                                        <p:tav tm="0">
                                          <p:val>
                                            <p:strVal val="#ppt_x"/>
                                          </p:val>
                                        </p:tav>
                                        <p:tav tm="100000">
                                          <p:val>
                                            <p:strVal val="#ppt_x"/>
                                          </p:val>
                                        </p:tav>
                                      </p:tavLst>
                                    </p:anim>
                                    <p:anim calcmode="lin" valueType="num">
                                      <p:cBhvr>
                                        <p:cTn id="37" dur="650" fill="hold"/>
                                        <p:tgtEl>
                                          <p:spTgt spid="8"/>
                                        </p:tgtEl>
                                        <p:attrNameLst>
                                          <p:attrName>ppt_y</p:attrName>
                                        </p:attrNameLst>
                                      </p:cBhvr>
                                      <p:tavLst>
                                        <p:tav tm="0">
                                          <p:val>
                                            <p:strVal val="#ppt_y+.05"/>
                                          </p:val>
                                        </p:tav>
                                        <p:tav tm="100000">
                                          <p:val>
                                            <p:strVal val="#ppt_y"/>
                                          </p:val>
                                        </p:tav>
                                      </p:tavLst>
                                    </p:anim>
                                  </p:childTnLst>
                                </p:cTn>
                              </p:par>
                              <p:par>
                                <p:cTn id="38" presetID="42" presetClass="entr" presetSubtype="0" fill="hold" grpId="0" nodeType="withEffect">
                                  <p:stCondLst>
                                    <p:cond delay="450"/>
                                  </p:stCondLst>
                                  <p:childTnLst>
                                    <p:set>
                                      <p:cBhvr>
                                        <p:cTn id="39" dur="1" fill="hold">
                                          <p:stCondLst>
                                            <p:cond delay="0"/>
                                          </p:stCondLst>
                                        </p:cTn>
                                        <p:tgtEl>
                                          <p:spTgt spid="9"/>
                                        </p:tgtEl>
                                        <p:attrNameLst>
                                          <p:attrName>style.visibility</p:attrName>
                                        </p:attrNameLst>
                                      </p:cBhvr>
                                      <p:to>
                                        <p:strVal val="visible"/>
                                      </p:to>
                                    </p:set>
                                    <p:animEffect transition="in" filter="fade">
                                      <p:cBhvr>
                                        <p:cTn id="40" dur="650"/>
                                        <p:tgtEl>
                                          <p:spTgt spid="9"/>
                                        </p:tgtEl>
                                      </p:cBhvr>
                                    </p:animEffect>
                                    <p:anim calcmode="lin" valueType="num">
                                      <p:cBhvr>
                                        <p:cTn id="41" dur="650" fill="hold"/>
                                        <p:tgtEl>
                                          <p:spTgt spid="9"/>
                                        </p:tgtEl>
                                        <p:attrNameLst>
                                          <p:attrName>ppt_x</p:attrName>
                                        </p:attrNameLst>
                                      </p:cBhvr>
                                      <p:tavLst>
                                        <p:tav tm="0">
                                          <p:val>
                                            <p:strVal val="#ppt_x"/>
                                          </p:val>
                                        </p:tav>
                                        <p:tav tm="100000">
                                          <p:val>
                                            <p:strVal val="#ppt_x"/>
                                          </p:val>
                                        </p:tav>
                                      </p:tavLst>
                                    </p:anim>
                                    <p:anim calcmode="lin" valueType="num">
                                      <p:cBhvr>
                                        <p:cTn id="42" dur="650" fill="hold"/>
                                        <p:tgtEl>
                                          <p:spTgt spid="9"/>
                                        </p:tgtEl>
                                        <p:attrNameLst>
                                          <p:attrName>ppt_y</p:attrName>
                                        </p:attrNameLst>
                                      </p:cBhvr>
                                      <p:tavLst>
                                        <p:tav tm="0">
                                          <p:val>
                                            <p:strVal val="#ppt_y+.05"/>
                                          </p:val>
                                        </p:tav>
                                        <p:tav tm="100000">
                                          <p:val>
                                            <p:strVal val="#ppt_y"/>
                                          </p:val>
                                        </p:tav>
                                      </p:tavLst>
                                    </p:anim>
                                  </p:childTnLst>
                                </p:cTn>
                              </p:par>
                              <p:par>
                                <p:cTn id="43" presetID="42" presetClass="entr" presetSubtype="0" fill="hold" grpId="0" nodeType="withEffect">
                                  <p:stCondLst>
                                    <p:cond delay="450"/>
                                  </p:stCondLst>
                                  <p:childTnLst>
                                    <p:set>
                                      <p:cBhvr>
                                        <p:cTn id="44" dur="1" fill="hold">
                                          <p:stCondLst>
                                            <p:cond delay="0"/>
                                          </p:stCondLst>
                                        </p:cTn>
                                        <p:tgtEl>
                                          <p:spTgt spid="10"/>
                                        </p:tgtEl>
                                        <p:attrNameLst>
                                          <p:attrName>style.visibility</p:attrName>
                                        </p:attrNameLst>
                                      </p:cBhvr>
                                      <p:to>
                                        <p:strVal val="visible"/>
                                      </p:to>
                                    </p:set>
                                    <p:animEffect transition="in" filter="fade">
                                      <p:cBhvr>
                                        <p:cTn id="45" dur="650"/>
                                        <p:tgtEl>
                                          <p:spTgt spid="10"/>
                                        </p:tgtEl>
                                      </p:cBhvr>
                                    </p:animEffect>
                                    <p:anim calcmode="lin" valueType="num">
                                      <p:cBhvr>
                                        <p:cTn id="46" dur="650" fill="hold"/>
                                        <p:tgtEl>
                                          <p:spTgt spid="10"/>
                                        </p:tgtEl>
                                        <p:attrNameLst>
                                          <p:attrName>ppt_x</p:attrName>
                                        </p:attrNameLst>
                                      </p:cBhvr>
                                      <p:tavLst>
                                        <p:tav tm="0">
                                          <p:val>
                                            <p:strVal val="#ppt_x"/>
                                          </p:val>
                                        </p:tav>
                                        <p:tav tm="100000">
                                          <p:val>
                                            <p:strVal val="#ppt_x"/>
                                          </p:val>
                                        </p:tav>
                                      </p:tavLst>
                                    </p:anim>
                                    <p:anim calcmode="lin" valueType="num">
                                      <p:cBhvr>
                                        <p:cTn id="47" dur="650" fill="hold"/>
                                        <p:tgtEl>
                                          <p:spTgt spid="10"/>
                                        </p:tgtEl>
                                        <p:attrNameLst>
                                          <p:attrName>ppt_y</p:attrName>
                                        </p:attrNameLst>
                                      </p:cBhvr>
                                      <p:tavLst>
                                        <p:tav tm="0">
                                          <p:val>
                                            <p:strVal val="#ppt_y+.05"/>
                                          </p:val>
                                        </p:tav>
                                        <p:tav tm="100000">
                                          <p:val>
                                            <p:strVal val="#ppt_y"/>
                                          </p:val>
                                        </p:tav>
                                      </p:tavLst>
                                    </p:anim>
                                  </p:childTnLst>
                                </p:cTn>
                              </p:par>
                              <p:par>
                                <p:cTn id="48" presetID="42" presetClass="entr" presetSubtype="0" fill="hold" grpId="0" nodeType="withEffect">
                                  <p:stCondLst>
                                    <p:cond delay="600"/>
                                  </p:stCondLst>
                                  <p:childTnLst>
                                    <p:set>
                                      <p:cBhvr>
                                        <p:cTn id="49" dur="1" fill="hold">
                                          <p:stCondLst>
                                            <p:cond delay="0"/>
                                          </p:stCondLst>
                                        </p:cTn>
                                        <p:tgtEl>
                                          <p:spTgt spid="11"/>
                                        </p:tgtEl>
                                        <p:attrNameLst>
                                          <p:attrName>style.visibility</p:attrName>
                                        </p:attrNameLst>
                                      </p:cBhvr>
                                      <p:to>
                                        <p:strVal val="visible"/>
                                      </p:to>
                                    </p:set>
                                    <p:animEffect transition="in" filter="fade">
                                      <p:cBhvr>
                                        <p:cTn id="50" dur="650"/>
                                        <p:tgtEl>
                                          <p:spTgt spid="11"/>
                                        </p:tgtEl>
                                      </p:cBhvr>
                                    </p:animEffect>
                                    <p:anim calcmode="lin" valueType="num">
                                      <p:cBhvr>
                                        <p:cTn id="51" dur="650" fill="hold"/>
                                        <p:tgtEl>
                                          <p:spTgt spid="11"/>
                                        </p:tgtEl>
                                        <p:attrNameLst>
                                          <p:attrName>ppt_x</p:attrName>
                                        </p:attrNameLst>
                                      </p:cBhvr>
                                      <p:tavLst>
                                        <p:tav tm="0">
                                          <p:val>
                                            <p:strVal val="#ppt_x"/>
                                          </p:val>
                                        </p:tav>
                                        <p:tav tm="100000">
                                          <p:val>
                                            <p:strVal val="#ppt_x"/>
                                          </p:val>
                                        </p:tav>
                                      </p:tavLst>
                                    </p:anim>
                                    <p:anim calcmode="lin" valueType="num">
                                      <p:cBhvr>
                                        <p:cTn id="52" dur="650" fill="hold"/>
                                        <p:tgtEl>
                                          <p:spTgt spid="11"/>
                                        </p:tgtEl>
                                        <p:attrNameLst>
                                          <p:attrName>ppt_y</p:attrName>
                                        </p:attrNameLst>
                                      </p:cBhvr>
                                      <p:tavLst>
                                        <p:tav tm="0">
                                          <p:val>
                                            <p:strVal val="#ppt_y+.05"/>
                                          </p:val>
                                        </p:tav>
                                        <p:tav tm="100000">
                                          <p:val>
                                            <p:strVal val="#ppt_y"/>
                                          </p:val>
                                        </p:tav>
                                      </p:tavLst>
                                    </p:anim>
                                  </p:childTnLst>
                                </p:cTn>
                              </p:par>
                              <p:par>
                                <p:cTn id="53" presetID="42" presetClass="entr" presetSubtype="0" fill="hold" grpId="0" nodeType="withEffect">
                                  <p:stCondLst>
                                    <p:cond delay="600"/>
                                  </p:stCondLst>
                                  <p:childTnLst>
                                    <p:set>
                                      <p:cBhvr>
                                        <p:cTn id="54" dur="1" fill="hold">
                                          <p:stCondLst>
                                            <p:cond delay="0"/>
                                          </p:stCondLst>
                                        </p:cTn>
                                        <p:tgtEl>
                                          <p:spTgt spid="12"/>
                                        </p:tgtEl>
                                        <p:attrNameLst>
                                          <p:attrName>style.visibility</p:attrName>
                                        </p:attrNameLst>
                                      </p:cBhvr>
                                      <p:to>
                                        <p:strVal val="visible"/>
                                      </p:to>
                                    </p:set>
                                    <p:animEffect transition="in" filter="fade">
                                      <p:cBhvr>
                                        <p:cTn id="55" dur="650"/>
                                        <p:tgtEl>
                                          <p:spTgt spid="12"/>
                                        </p:tgtEl>
                                      </p:cBhvr>
                                    </p:animEffect>
                                    <p:anim calcmode="lin" valueType="num">
                                      <p:cBhvr>
                                        <p:cTn id="56" dur="650" fill="hold"/>
                                        <p:tgtEl>
                                          <p:spTgt spid="12"/>
                                        </p:tgtEl>
                                        <p:attrNameLst>
                                          <p:attrName>ppt_x</p:attrName>
                                        </p:attrNameLst>
                                      </p:cBhvr>
                                      <p:tavLst>
                                        <p:tav tm="0">
                                          <p:val>
                                            <p:strVal val="#ppt_x"/>
                                          </p:val>
                                        </p:tav>
                                        <p:tav tm="100000">
                                          <p:val>
                                            <p:strVal val="#ppt_x"/>
                                          </p:val>
                                        </p:tav>
                                      </p:tavLst>
                                    </p:anim>
                                    <p:anim calcmode="lin" valueType="num">
                                      <p:cBhvr>
                                        <p:cTn id="57" dur="650" fill="hold"/>
                                        <p:tgtEl>
                                          <p:spTgt spid="12"/>
                                        </p:tgtEl>
                                        <p:attrNameLst>
                                          <p:attrName>ppt_y</p:attrName>
                                        </p:attrNameLst>
                                      </p:cBhvr>
                                      <p:tavLst>
                                        <p:tav tm="0">
                                          <p:val>
                                            <p:strVal val="#ppt_y+.05"/>
                                          </p:val>
                                        </p:tav>
                                        <p:tav tm="100000">
                                          <p:val>
                                            <p:strVal val="#ppt_y"/>
                                          </p:val>
                                        </p:tav>
                                      </p:tavLst>
                                    </p:anim>
                                  </p:childTnLst>
                                </p:cTn>
                              </p:par>
                              <p:par>
                                <p:cTn id="58" presetID="42" presetClass="entr" presetSubtype="0" fill="hold" grpId="0" nodeType="withEffect">
                                  <p:stCondLst>
                                    <p:cond delay="600"/>
                                  </p:stCondLst>
                                  <p:childTnLst>
                                    <p:set>
                                      <p:cBhvr>
                                        <p:cTn id="59" dur="1" fill="hold">
                                          <p:stCondLst>
                                            <p:cond delay="0"/>
                                          </p:stCondLst>
                                        </p:cTn>
                                        <p:tgtEl>
                                          <p:spTgt spid="13"/>
                                        </p:tgtEl>
                                        <p:attrNameLst>
                                          <p:attrName>style.visibility</p:attrName>
                                        </p:attrNameLst>
                                      </p:cBhvr>
                                      <p:to>
                                        <p:strVal val="visible"/>
                                      </p:to>
                                    </p:set>
                                    <p:animEffect transition="in" filter="fade">
                                      <p:cBhvr>
                                        <p:cTn id="60" dur="650"/>
                                        <p:tgtEl>
                                          <p:spTgt spid="13"/>
                                        </p:tgtEl>
                                      </p:cBhvr>
                                    </p:animEffect>
                                    <p:anim calcmode="lin" valueType="num">
                                      <p:cBhvr>
                                        <p:cTn id="61" dur="650" fill="hold"/>
                                        <p:tgtEl>
                                          <p:spTgt spid="13"/>
                                        </p:tgtEl>
                                        <p:attrNameLst>
                                          <p:attrName>ppt_x</p:attrName>
                                        </p:attrNameLst>
                                      </p:cBhvr>
                                      <p:tavLst>
                                        <p:tav tm="0">
                                          <p:val>
                                            <p:strVal val="#ppt_x"/>
                                          </p:val>
                                        </p:tav>
                                        <p:tav tm="100000">
                                          <p:val>
                                            <p:strVal val="#ppt_x"/>
                                          </p:val>
                                        </p:tav>
                                      </p:tavLst>
                                    </p:anim>
                                    <p:anim calcmode="lin" valueType="num">
                                      <p:cBhvr>
                                        <p:cTn id="62" dur="650" fill="hold"/>
                                        <p:tgtEl>
                                          <p:spTgt spid="13"/>
                                        </p:tgtEl>
                                        <p:attrNameLst>
                                          <p:attrName>ppt_y</p:attrName>
                                        </p:attrNameLst>
                                      </p:cBhvr>
                                      <p:tavLst>
                                        <p:tav tm="0">
                                          <p:val>
                                            <p:strVal val="#ppt_y+.05"/>
                                          </p:val>
                                        </p:tav>
                                        <p:tav tm="100000">
                                          <p:val>
                                            <p:strVal val="#ppt_y"/>
                                          </p:val>
                                        </p:tav>
                                      </p:tavLst>
                                    </p:anim>
                                  </p:childTnLst>
                                </p:cTn>
                              </p:par>
                              <p:par>
                                <p:cTn id="63" presetID="10" presetClass="entr" presetSubtype="0" fill="hold" grpId="0" nodeType="withEffect">
                                  <p:stCondLst>
                                    <p:cond delay="700"/>
                                  </p:stCondLst>
                                  <p:childTnLst>
                                    <p:set>
                                      <p:cBhvr>
                                        <p:cTn id="64" dur="1" fill="hold">
                                          <p:stCondLst>
                                            <p:cond delay="0"/>
                                          </p:stCondLst>
                                        </p:cTn>
                                        <p:tgtEl>
                                          <p:spTgt spid="14"/>
                                        </p:tgtEl>
                                        <p:attrNameLst>
                                          <p:attrName>style.visibility</p:attrName>
                                        </p:attrNameLst>
                                      </p:cBhvr>
                                      <p:to>
                                        <p:strVal val="visible"/>
                                      </p:to>
                                    </p:set>
                                    <p:animEffect transition="in" filter="fade">
                                      <p:cBhvr>
                                        <p:cTn id="6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theme/theme1.xml><?xml version="1.0" encoding="utf-8"?>
<a:theme xmlns:a="http://schemas.openxmlformats.org/drawingml/2006/main" name="MC Daylight">
  <a:themeElements>
    <a:clrScheme name="MC Daylight">
      <a:dk1>
        <a:srgbClr val="1D1D1F"/>
      </a:dk1>
      <a:lt1>
        <a:srgbClr val="FFFFFF"/>
      </a:lt1>
      <a:dk2>
        <a:srgbClr val="0B0B0C"/>
      </a:dk2>
      <a:lt2>
        <a:srgbClr val="F2F2F7"/>
      </a:lt2>
      <a:accent1>
        <a:srgbClr val="F26722"/>
      </a:accent1>
      <a:accent2>
        <a:srgbClr val="C4511A"/>
      </a:accent2>
      <a:accent3>
        <a:srgbClr val="34C759"/>
      </a:accent3>
      <a:accent4>
        <a:srgbClr val="007AFF"/>
      </a:accent4>
      <a:accent5>
        <a:srgbClr val="FF9500"/>
      </a:accent5>
      <a:accent6>
        <a:srgbClr val="8E8E93"/>
      </a:accent6>
      <a:hlink>
        <a:srgbClr val="B3441A"/>
      </a:hlink>
      <a:folHlink>
        <a:srgbClr val="8E44C9"/>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Member Care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MC Monthly Report Builder</dc:title>
  <dc:subject>What the tool does and what it brings to Member Care</dc:subject>
  <dc:creator>Member Care WFM team</dc:creator>
  <cp:lastModifiedBy>Member Care WFM team</cp:lastModifiedBy>
  <cp:revision>1</cp:revision>
  <dcterms:created xsi:type="dcterms:W3CDTF">2026-10-24T21:17:14Z</dcterms:created>
  <dcterms:modified xsi:type="dcterms:W3CDTF">2026-10-24T21:17:14Z</dcterms:modified>
</cp:coreProperties>
</file>