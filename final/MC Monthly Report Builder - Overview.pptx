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c1fb7ba-549f-a4c5-0dcd-ac4ffa2a6488}">
          <p14:sldIdLst>
            <p14:sldId id="256"/>
            <p14:sldId id="257"/>
          </p14:sldIdLst>
        </p14:section>
        <p14:section name="The tool" id="{987e2809-ca45-daf4-e0c6-fa09ee8bd5bf}">
          <p14:sldIdLst>
            <p14:sldId id="258"/>
            <p14:sldId id="259"/>
          </p14:sldIdLst>
        </p14:section>
        <p14:section name="A month" id="{19ace3d6-b32f-14a2-9686-0c28940451a2}">
          <p14:sldIdLst>
            <p14:sldId id="260"/>
            <p14:sldId id="261"/>
            <p14:sldId id="262"/>
            <p14:sldId id="263"/>
            <p14:sldId id="264"/>
          </p14:sldIdLst>
        </p14:section>
        <p14:section name="Everyone" id="{fcb0c074-db1c-dcfe-16ad-53de32973298}">
          <p14:sldIdLst>
            <p14:sldId id="265"/>
            <p14:sldId id="266"/>
            <p14:sldId id="267"/>
          </p14:sldIdLst>
        </p14:section>
        <p14:section name="Trust" id="{fc766373-268d-5355-78b4-a4783eaaff63}">
          <p14:sldIdLst>
            <p14:sldId id="268"/>
            <p14:sldId id="269"/>
          </p14:sldIdLst>
        </p14:section>
        <p14:section name="Close" id="{2176534c-3c63-11f2-375e-260c93ded92c}">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MC Monthly Report Builder: one offline file that runs Member Care's month end, from the Genesys exports to the emails and the one-to-ones, with a page for every role. In the next fifteen minutes: what it replaces, how a month runs in it, why it can be trusted, and how we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tool, month end meant ten or more files from different places, joined by copy and paste, for seven roles who all wait on the same numbers and one deadline. The numbers behind a bonus or a deduction were hard to check and harder to explain, and every email was assembled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one HTML file in the common folder, opened in Edge or Chrome. Everyone signs in and sees the same month. One: shortcuts to what this role does next. Two: the month at a glance, each number against last month. Three: the month close, whose step is due. Four: the bell holds each person's deadlines and checks, so nothing takes space on the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month runs in four steps on the WFM team page. Import: every file of the month at once. Review: the checks list what needs a decision. Export: the monthly workbook and the incentive data. Emails: the deduction, absences and incentive emails, for review and then final. Each step says what it still needs, and the month stays saved between sign-ins.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 takes every file of the month in one drop. The tool reads each one on this computer and recognises it by its columns: the four Genesys exports, the attendance templates, the IDs, the KPI and the quality files each go where they belong. Every upload is kept, locked, and is back at the next sign-in.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is where problems surface before anything is built. Blocking checks stop the build until someone decides; the rest are listed to look at, such as names in the exports that are not on the roster, or people with no schedule this month. Every decision is recorded with who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Attendance no longer needs a day-by-day sheet from every supervisor. CC and SM are counted from the Schedule and the Agent Status Timeline in Genesys. The other departments get one template a month from the tool: supervisors write only the exceptions, late, absent, leave and days off, and every other day counts as worked. Each file opens on its own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bonus explains itself. For any agent, How this was counted shows each KPI with its result, the band reached, the ranking and the points, then the days and the amount. Percent KPIs are rounded to a whole percent before they count, exactly as the old workbook did. And Reconcile lines up the old Excel against the tool, with the reason and a fix for every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emails are written by the tool and sent by people, from Outlook: the tool never sends anything itself. Every month, the deduction email for review and then final, which lists what changed, plus the absences and incentive emails. Every day, the four brand emails, MC Leaders and the WFM Daily Review. The attachments never carry National 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role signs in to its own page and sees only what is theirs. The WFM analysts build the month and the daily emails; the WFM manager sends them; the senior manager keeps the rules and finalizes the month; supervisors see their team and their one-to-ones; the quality team brings the Final EVAL; agents see their own results and forms, in English or Arabic, on a phone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coaching loop is closed inside the tool. Results go to each agent's own page. The one-to-one form is filled from the month's numbers and fits on one A4 page. The agent adds comments and signs in the tool, after the supervisor. If an agent disagrees with a number, the objection goes to the supervisor and, if needed, to the senior manager, and the answer comes back on the agent's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Daily reporting is built in. Each morning a WFM analyst drops yesterday's exports; MC Leaders and the WFM Daily Review are made in the tool, and the four brand emails go straight to the WFM manager, checked and ready for Outlook. Each day is kept in the shared history, so the month to date and the monthly tables fill themselves, and the history can be exported or imported as a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the most sensitive Member Care has: names, National IDs, results and money. Opened as a file, the page tells the browser to refuse every web address, so nothing can leave by accident. The shared data is encrypted with AES-256 and only accounts made in the tool can open it. Email attachments never carry National IDs. And in October 2026 the tool had a security review: the issues found were fixed and are now covered by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 is tested like a product. The counting rules were checked on ten thousand synthetic people against the previous engine, with the same results. Twenty-four automated browser test suites run on every change. Every role is checked on desktop and phone, light and dark. By default every calculation, email and permission is the same as before unless a setting is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 view, what changes for Member Care: files are gathered in one drop instead of by hand; problems are caught before anything is built; any bonus can be explained in a click; emails arrive as ready drafts without National IDs; and the month no longer lives in one person's spreadsheets: it is shared, locked, backed up, and covered when someone is on vacation.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 is ready for the October close. Three steps: put the HTML in the common folder next to MC Data, read-only for everyone but its owner; open it in Edge or Chrome; each person makes an account and the admin gives the roles. Thank you, and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2F2F7"/>
        </a:solidFill>
      </p:bgPr>
    </p:bg>
    <p:spTree>
      <p:nvGrpSpPr>
        <p:cNvPr id="1" name=""/>
        <p:cNvGrpSpPr/>
        <p:nvPr/>
      </p:nvGrpSpPr>
      <p:grpSpPr>
        <a:xfrm>
          <a:off x="0" y="0"/>
          <a:ext cx="0" cy="0"/>
          <a:chOff x="0" y="0"/>
          <a:chExt cx="0" cy="0"/>
        </a:xfrm>
      </p:grpSpPr>
      <p:sp>
        <p:nvSpPr>
          <p:cNvPr id="2" name="Text 0"/>
          <p:cNvSpPr/>
          <p:nvPr/>
        </p:nvSpPr>
        <p:spPr>
          <a:xfrm>
            <a:off x="548640" y="6400800"/>
            <a:ext cx="4572000" cy="256032"/>
          </a:xfrm>
          <a:prstGeom prst="rect">
            <a:avLst/>
          </a:prstGeom>
          <a:noFill/>
          <a:ln/>
        </p:spPr>
        <p:txBody>
          <a:bodyPr wrap="square" lIns="0" tIns="0" rIns="0" bIns="0" rtlCol="0" anchor="ctr"/>
          <a:lstStyle/>
          <a:p>
            <a:pPr indent="0" marL="0">
              <a:buNone/>
            </a:pPr>
            <a:r>
              <a:rPr lang="en-US" sz="900" dirty="0">
                <a:solidFill>
                  <a:srgbClr val="8E8E93"/>
                </a:solidFill>
                <a:latin typeface="Arial" pitchFamily="34" charset="0"/>
                <a:ea typeface="Arial" pitchFamily="34" charset="-122"/>
                <a:cs typeface="Arial" pitchFamily="34" charset="-120"/>
              </a:rPr>
              <a:t>MC Monthly Report Builder</a:t>
            </a:r>
            <a:endParaRPr lang="en-US" sz="900" dirty="0"/>
          </a:p>
        </p:txBody>
      </p:sp>
      <p:sp>
        <p:nvSpPr>
          <p:cNvPr id="3" name="Text 1"/>
          <p:cNvSpPr/>
          <p:nvPr>
            <p:ph idx="101" type="title" hasCustomPrompt="1"/>
          </p:nvPr>
        </p:nvSpPr>
        <p:spPr>
          <a:xfrm>
            <a:off x="548640" y="841248"/>
            <a:ext cx="11094415" cy="731520"/>
          </a:xfrm>
          <a:prstGeom prst="rect">
            <a:avLst/>
          </a:prstGeom>
          <a:noFill/>
          <a:ln/>
        </p:spPr>
        <p:txBody>
          <a:bodyPr wrap="square" rtlCol="0"/>
          <a:lstStyle>
            <a:lvl1pPr algn="l" indent="0" marL="0">
              <a:buNone/>
              <a:defRPr lang="en-US" sz="3600" b="1" dirty="0">
                <a:solidFill>
                  <a:srgbClr val="1D1D1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091672" y="640080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E8E93"/>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0B0C"/>
        </a:solidFill>
      </p:bgPr>
    </p:bg>
    <p:spTree>
      <p:nvGrpSpPr>
        <p:cNvPr id="1" name=""/>
        <p:cNvGrpSpPr/>
        <p:nvPr/>
      </p:nvGrpSpPr>
      <p:grpSpPr>
        <a:xfrm>
          <a:off x="0" y="0"/>
          <a:ext cx="0" cy="0"/>
          <a:chOff x="0" y="0"/>
          <a:chExt cx="0" cy="0"/>
        </a:xfrm>
      </p:grpSpPr>
      <p:sp>
        <p:nvSpPr>
          <p:cNvPr id="2" name="Text 0"/>
          <p:cNvSpPr/>
          <p:nvPr/>
        </p:nvSpPr>
        <p:spPr>
          <a:xfrm>
            <a:off x="548640" y="6400800"/>
            <a:ext cx="4572000" cy="256032"/>
          </a:xfrm>
          <a:prstGeom prst="rect">
            <a:avLst/>
          </a:prstGeom>
          <a:noFill/>
          <a:ln/>
        </p:spPr>
        <p:txBody>
          <a:bodyPr wrap="square" lIns="0" tIns="0" rIns="0" bIns="0" rtlCol="0" anchor="ctr"/>
          <a:lstStyle/>
          <a:p>
            <a:pPr indent="0" marL="0">
              <a:buNone/>
            </a:pPr>
            <a:r>
              <a:rPr lang="en-US" sz="900" dirty="0">
                <a:solidFill>
                  <a:srgbClr val="6E6E73"/>
                </a:solidFill>
                <a:latin typeface="Arial" pitchFamily="34" charset="0"/>
                <a:ea typeface="Arial" pitchFamily="34" charset="-122"/>
                <a:cs typeface="Arial" pitchFamily="34" charset="-120"/>
              </a:rPr>
              <a:t>MC Monthly Report Builder</a:t>
            </a:r>
            <a:endParaRPr lang="en-US" sz="900" dirty="0"/>
          </a:p>
        </p:txBody>
      </p:sp>
      <p:sp>
        <p:nvSpPr>
          <p:cNvPr id="3" name="Text 1"/>
          <p:cNvSpPr/>
          <p:nvPr>
            <p:ph idx="101" type="title" hasCustomPrompt="1"/>
          </p:nvPr>
        </p:nvSpPr>
        <p:spPr>
          <a:xfrm>
            <a:off x="548640" y="841248"/>
            <a:ext cx="11094415" cy="73152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091672" y="640080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6E73"/>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PLIT">
    <p:bg>
      <p:bgPr>
        <a:solidFill>
          <a:srgbClr val="F2F2F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0" y="841248"/>
            <a:ext cx="6156655" cy="1280160"/>
          </a:xfrm>
          <a:prstGeom prst="rect">
            <a:avLst/>
          </a:prstGeom>
          <a:noFill/>
          <a:ln/>
        </p:spPr>
        <p:txBody>
          <a:bodyPr wrap="square" rtlCol="0"/>
          <a:lstStyle>
            <a:lvl1pPr algn="l" indent="0" marL="0">
              <a:buNone/>
              <a:defRPr lang="en-US" sz="3600" b="1" dirty="0">
                <a:solidFill>
                  <a:srgbClr val="1D1D1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091672" y="640080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E8E93"/>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0B0B0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E8E93"/>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5.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2.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5.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glow" descr="">    </p:cNvPr>
          <p:cNvPicPr>
            <a:picLocks noChangeAspect="1"/>
          </p:cNvPicPr>
          <p:nvPr/>
        </p:nvPicPr>
        <p:blipFill>
          <a:blip r:embed="rId1"/>
          <a:stretch>
            <a:fillRect/>
          </a:stretch>
        </p:blipFill>
        <p:spPr>
          <a:xfrm>
            <a:off x="4937760" y="-548640"/>
            <a:ext cx="7498080" cy="7498080"/>
          </a:xfrm>
          <a:prstGeom prst="rect">
            <a:avLst/>
          </a:prstGeom>
        </p:spPr>
      </p:pic>
      <p:pic>
        <p:nvPicPr>
          <p:cNvPr id="4" name="laptop" descr="The dashboard, in dark, on a laptop">    </p:cNvPr>
          <p:cNvPicPr>
            <a:picLocks noChangeAspect="1"/>
          </p:cNvPicPr>
          <p:nvPr/>
        </p:nvPicPr>
        <p:blipFill>
          <a:blip r:embed="rId2"/>
          <a:stretch>
            <a:fillRect/>
          </a:stretch>
        </p:blipFill>
        <p:spPr>
          <a:xfrm>
            <a:off x="4767682" y="378562"/>
            <a:ext cx="7655357" cy="5518587"/>
          </a:xfrm>
          <a:prstGeom prst="rect">
            <a:avLst/>
          </a:prstGeom>
        </p:spPr>
      </p:pic>
      <p:sp>
        <p:nvSpPr>
          <p:cNvPr id="5" name="mark"/>
          <p:cNvSpPr/>
          <p:nvPr/>
        </p:nvSpPr>
        <p:spPr>
          <a:xfrm>
            <a:off x="777240" y="1417320"/>
            <a:ext cx="658368" cy="658368"/>
          </a:xfrm>
          <a:prstGeom prst="roundRect">
            <a:avLst>
              <a:gd name="adj" fmla="val 22222"/>
            </a:avLst>
          </a:prstGeom>
          <a:solidFill>
            <a:srgbClr val="C4511A"/>
          </a:solidFill>
          <a:ln/>
        </p:spPr>
      </p:sp>
      <p:sp>
        <p:nvSpPr>
          <p:cNvPr id="6" name="mark-text"/>
          <p:cNvSpPr txBox="1"/>
          <p:nvPr/>
        </p:nvSpPr>
        <p:spPr>
          <a:xfrm>
            <a:off x="777240" y="1417320"/>
            <a:ext cx="658368" cy="65836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WF</a:t>
            </a:r>
            <a:endParaRPr lang="en-US" sz="2000" dirty="0"/>
          </a:p>
        </p:txBody>
      </p:sp>
      <p:sp>
        <p:nvSpPr>
          <p:cNvPr id="7" name="name"/>
          <p:cNvSpPr txBox="1"/>
          <p:nvPr/>
        </p:nvSpPr>
        <p:spPr>
          <a:xfrm>
            <a:off x="777240" y="2331720"/>
            <a:ext cx="4937760" cy="1737360"/>
          </a:xfrm>
          <a:prstGeom prst="rect">
            <a:avLst/>
          </a:prstGeom>
          <a:noFill/>
          <a:ln/>
        </p:spPr>
        <p:txBody>
          <a:bodyPr wrap="square" lIns="0" tIns="0" rIns="0" bIns="0" rtlCol="0" anchor="t"/>
          <a:lstStyle/>
          <a:p>
            <a:pPr indent="0" marL="0">
              <a:lnSpc>
                <a:spcPct val="90000"/>
              </a:lnSpc>
              <a:buNone/>
            </a:pPr>
            <a:r>
              <a:rPr lang="en-US" sz="5200" b="1" dirty="0">
                <a:solidFill>
                  <a:srgbClr val="FFFFFF"/>
                </a:solidFill>
                <a:latin typeface="Arial" pitchFamily="34" charset="0"/>
                <a:ea typeface="Arial" pitchFamily="34" charset="-122"/>
                <a:cs typeface="Arial" pitchFamily="34" charset="-120"/>
              </a:rPr>
              <a:t>MC Monthly</a:t>
            </a:r>
            <a:endParaRPr lang="en-US" sz="5200" dirty="0"/>
          </a:p>
          <a:p>
            <a:pPr indent="0" marL="0">
              <a:lnSpc>
                <a:spcPct val="90000"/>
              </a:lnSpc>
              <a:buNone/>
            </a:pPr>
            <a:r>
              <a:rPr lang="en-US" sz="5200" b="1" dirty="0">
                <a:solidFill>
                  <a:srgbClr val="FFFFFF"/>
                </a:solidFill>
                <a:latin typeface="Arial" pitchFamily="34" charset="0"/>
                <a:ea typeface="Arial" pitchFamily="34" charset="-122"/>
                <a:cs typeface="Arial" pitchFamily="34" charset="-120"/>
              </a:rPr>
              <a:t>Report Builder</a:t>
            </a:r>
            <a:endParaRPr lang="en-US" sz="5200" dirty="0"/>
          </a:p>
        </p:txBody>
      </p:sp>
      <p:sp>
        <p:nvSpPr>
          <p:cNvPr id="8" name="sub"/>
          <p:cNvSpPr txBox="1"/>
          <p:nvPr/>
        </p:nvSpPr>
        <p:spPr>
          <a:xfrm>
            <a:off x="777240" y="4206240"/>
            <a:ext cx="4480560" cy="914400"/>
          </a:xfrm>
          <a:prstGeom prst="rect">
            <a:avLst/>
          </a:prstGeom>
          <a:noFill/>
          <a:ln/>
        </p:spPr>
        <p:txBody>
          <a:bodyPr wrap="square" lIns="0" tIns="0" rIns="0" bIns="0" rtlCol="0" anchor="t"/>
          <a:lstStyle/>
          <a:p>
            <a:pPr indent="0" marL="0">
              <a:lnSpc>
                <a:spcPct val="112000"/>
              </a:lnSpc>
              <a:buNone/>
            </a:pPr>
            <a:r>
              <a:rPr lang="en-US" sz="1800" dirty="0">
                <a:solidFill>
                  <a:srgbClr val="AEAEB2"/>
                </a:solidFill>
                <a:latin typeface="Arial" pitchFamily="34" charset="0"/>
                <a:ea typeface="Arial" pitchFamily="34" charset="-122"/>
                <a:cs typeface="Arial" pitchFamily="34" charset="-120"/>
              </a:rPr>
              <a:t>Member Care's month end, from the Genesys exports to the last email, in one offline file.</a:t>
            </a:r>
            <a:endParaRPr lang="en-US" sz="1800" dirty="0"/>
          </a:p>
        </p:txBody>
      </p:sp>
      <p:sp>
        <p:nvSpPr>
          <p:cNvPr id="9" name="date"/>
          <p:cNvSpPr txBox="1"/>
          <p:nvPr/>
        </p:nvSpPr>
        <p:spPr>
          <a:xfrm>
            <a:off x="777240" y="6172200"/>
            <a:ext cx="4572000" cy="274320"/>
          </a:xfrm>
          <a:prstGeom prst="rect">
            <a:avLst/>
          </a:prstGeom>
          <a:noFill/>
          <a:ln/>
        </p:spPr>
        <p:txBody>
          <a:bodyPr wrap="square" lIns="0" tIns="0" rIns="0" bIns="0" rtlCol="0" anchor="ctr"/>
          <a:lstStyle/>
          <a:p>
            <a:pPr indent="0" marL="0">
              <a:buNone/>
            </a:pPr>
            <a:r>
              <a:rPr lang="en-US" sz="1100" dirty="0">
                <a:solidFill>
                  <a:srgbClr val="8E8E93"/>
                </a:solidFill>
                <a:latin typeface="Arial" pitchFamily="34" charset="0"/>
                <a:ea typeface="Arial" pitchFamily="34" charset="-122"/>
                <a:cs typeface="Arial" pitchFamily="34" charset="-120"/>
              </a:rPr>
              <a:t>Member Care · WFM team · October 2026</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42" presetClass="entr" presetSubtype="0" fill="hold" grpId="0" nodeType="withEffect">
                                  <p:stCondLst>
                                    <p:cond delay="12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650"/>
                                        <p:tgtEl>
                                          <p:spTgt spid="7"/>
                                        </p:tgtEl>
                                      </p:cBhvr>
                                    </p:animEffect>
                                    <p:anim calcmode="lin" valueType="num">
                                      <p:cBhvr>
                                        <p:cTn id="17" dur="650" fill="hold"/>
                                        <p:tgtEl>
                                          <p:spTgt spid="7"/>
                                        </p:tgtEl>
                                        <p:attrNameLst>
                                          <p:attrName>ppt_x</p:attrName>
                                        </p:attrNameLst>
                                      </p:cBhvr>
                                      <p:tavLst>
                                        <p:tav tm="0">
                                          <p:val>
                                            <p:strVal val="#ppt_x"/>
                                          </p:val>
                                        </p:tav>
                                        <p:tav tm="100000">
                                          <p:val>
                                            <p:strVal val="#ppt_x"/>
                                          </p:val>
                                        </p:tav>
                                      </p:tavLst>
                                    </p:anim>
                                    <p:anim calcmode="lin" valueType="num">
                                      <p:cBhvr>
                                        <p:cTn id="18" dur="650" fill="hold"/>
                                        <p:tgtEl>
                                          <p:spTgt spid="7"/>
                                        </p:tgtEl>
                                        <p:attrNameLst>
                                          <p:attrName>ppt_y</p:attrName>
                                        </p:attrNameLst>
                                      </p:cBhvr>
                                      <p:tavLst>
                                        <p:tav tm="0">
                                          <p:val>
                                            <p:strVal val="#ppt_y+.05"/>
                                          </p:val>
                                        </p:tav>
                                        <p:tav tm="100000">
                                          <p:val>
                                            <p:strVal val="#ppt_y"/>
                                          </p:val>
                                        </p:tav>
                                      </p:tavLst>
                                    </p:anim>
                                  </p:childTnLst>
                                </p:cTn>
                              </p:par>
                              <p:par>
                                <p:cTn id="19" presetID="42" presetClass="entr" presetSubtype="0" fill="hold" grpId="0" nodeType="withEffect">
                                  <p:stCondLst>
                                    <p:cond delay="25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650"/>
                                        <p:tgtEl>
                                          <p:spTgt spid="4"/>
                                        </p:tgtEl>
                                      </p:cBhvr>
                                    </p:animEffect>
                                    <p:anim calcmode="lin" valueType="num">
                                      <p:cBhvr>
                                        <p:cTn id="22" dur="650" fill="hold"/>
                                        <p:tgtEl>
                                          <p:spTgt spid="4"/>
                                        </p:tgtEl>
                                        <p:attrNameLst>
                                          <p:attrName>ppt_x</p:attrName>
                                        </p:attrNameLst>
                                      </p:cBhvr>
                                      <p:tavLst>
                                        <p:tav tm="0">
                                          <p:val>
                                            <p:strVal val="#ppt_x"/>
                                          </p:val>
                                        </p:tav>
                                        <p:tav tm="100000">
                                          <p:val>
                                            <p:strVal val="#ppt_x"/>
                                          </p:val>
                                        </p:tav>
                                      </p:tavLst>
                                    </p:anim>
                                    <p:anim calcmode="lin" valueType="num">
                                      <p:cBhvr>
                                        <p:cTn id="23" dur="650" fill="hold"/>
                                        <p:tgtEl>
                                          <p:spTgt spid="4"/>
                                        </p:tgtEl>
                                        <p:attrNameLst>
                                          <p:attrName>ppt_y</p:attrName>
                                        </p:attrNameLst>
                                      </p:cBhvr>
                                      <p:tavLst>
                                        <p:tav tm="0">
                                          <p:val>
                                            <p:strVal val="#ppt_y+.05"/>
                                          </p:val>
                                        </p:tav>
                                        <p:tav tm="100000">
                                          <p:val>
                                            <p:strVal val="#ppt_y"/>
                                          </p:val>
                                        </p:tav>
                                      </p:tavLst>
                                    </p:anim>
                                  </p:childTnLst>
                                </p:cTn>
                              </p:par>
                              <p:par>
                                <p:cTn id="24" presetID="42" presetClass="entr" presetSubtype="0" fill="hold" grpId="0" nodeType="withEffect">
                                  <p:stCondLst>
                                    <p:cond delay="26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50"/>
                                        <p:tgtEl>
                                          <p:spTgt spid="8"/>
                                        </p:tgtEl>
                                      </p:cBhvr>
                                    </p:animEffect>
                                    <p:anim calcmode="lin" valueType="num">
                                      <p:cBhvr>
                                        <p:cTn id="27" dur="650" fill="hold"/>
                                        <p:tgtEl>
                                          <p:spTgt spid="8"/>
                                        </p:tgtEl>
                                        <p:attrNameLst>
                                          <p:attrName>ppt_x</p:attrName>
                                        </p:attrNameLst>
                                      </p:cBhvr>
                                      <p:tavLst>
                                        <p:tav tm="0">
                                          <p:val>
                                            <p:strVal val="#ppt_x"/>
                                          </p:val>
                                        </p:tav>
                                        <p:tav tm="100000">
                                          <p:val>
                                            <p:strVal val="#ppt_x"/>
                                          </p:val>
                                        </p:tav>
                                      </p:tavLst>
                                    </p:anim>
                                    <p:anim calcmode="lin" valueType="num">
                                      <p:cBhvr>
                                        <p:cTn id="28" dur="650" fill="hold"/>
                                        <p:tgtEl>
                                          <p:spTgt spid="8"/>
                                        </p:tgtEl>
                                        <p:attrNameLst>
                                          <p:attrName>ppt_y</p:attrName>
                                        </p:attrNameLst>
                                      </p:cBhvr>
                                      <p:tavLst>
                                        <p:tav tm="0">
                                          <p:val>
                                            <p:strVal val="#ppt_y+.05"/>
                                          </p:val>
                                        </p:tav>
                                        <p:tav tm="100000">
                                          <p:val>
                                            <p:strVal val="#ppt_y"/>
                                          </p:val>
                                        </p:tav>
                                      </p:tavLst>
                                    </p:anim>
                                  </p:childTnLst>
                                </p:cTn>
                              </p:par>
                              <p:par>
                                <p:cTn id="29" presetID="10" presetClass="entr" presetSubtype="0" fill="hold" grpId="0" nodeType="withEffect">
                                  <p:stCondLst>
                                    <p:cond delay="60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panel"/>
          <p:cNvSpPr/>
          <p:nvPr/>
        </p:nvSpPr>
        <p:spPr>
          <a:xfrm>
            <a:off x="0" y="0"/>
            <a:ext cx="4709160" cy="6858000"/>
          </a:xfrm>
          <a:prstGeom prst="rect">
            <a:avLst/>
          </a:prstGeom>
          <a:solidFill>
            <a:srgbClr val="0B0B0C"/>
          </a:solidFill>
          <a:ln/>
        </p:spPr>
      </p:sp>
      <p:sp>
        <p:nvSpPr>
          <p:cNvPr id="4" name="n0"/>
          <p:cNvSpPr txBox="1"/>
          <p:nvPr/>
        </p:nvSpPr>
        <p:spPr>
          <a:xfrm>
            <a:off x="777240" y="960120"/>
            <a:ext cx="3657600" cy="960120"/>
          </a:xfrm>
          <a:prstGeom prst="rect">
            <a:avLst/>
          </a:prstGeom>
          <a:noFill/>
          <a:ln/>
        </p:spPr>
        <p:txBody>
          <a:bodyPr wrap="square" lIns="0" tIns="0" rIns="0" bIns="0" rtlCol="0" anchor="t"/>
          <a:lstStyle/>
          <a:p>
            <a:pPr indent="0" marL="0">
              <a:buNone/>
            </a:pPr>
            <a:r>
              <a:rPr lang="en-US" sz="6600" b="1" dirty="0">
                <a:solidFill>
                  <a:srgbClr val="FFFFFF"/>
                </a:solidFill>
                <a:latin typeface="Arial" pitchFamily="34" charset="0"/>
                <a:ea typeface="Arial" pitchFamily="34" charset="-122"/>
                <a:cs typeface="Arial" pitchFamily="34" charset="-120"/>
              </a:rPr>
              <a:t>10+</a:t>
            </a:r>
            <a:endParaRPr lang="en-US" sz="6600" dirty="0"/>
          </a:p>
        </p:txBody>
      </p:sp>
      <p:sp>
        <p:nvSpPr>
          <p:cNvPr id="5" name="l0"/>
          <p:cNvSpPr txBox="1"/>
          <p:nvPr/>
        </p:nvSpPr>
        <p:spPr>
          <a:xfrm>
            <a:off x="777240" y="1947672"/>
            <a:ext cx="3566160" cy="365760"/>
          </a:xfrm>
          <a:prstGeom prst="rect">
            <a:avLst/>
          </a:prstGeom>
          <a:noFill/>
          <a:ln/>
        </p:spPr>
        <p:txBody>
          <a:bodyPr wrap="square" lIns="0" tIns="0" rIns="0" bIns="0" rtlCol="0" anchor="ctr"/>
          <a:lstStyle/>
          <a:p>
            <a:pPr indent="0" marL="0">
              <a:buNone/>
            </a:pPr>
            <a:r>
              <a:rPr lang="en-US" sz="1600" dirty="0">
                <a:solidFill>
                  <a:srgbClr val="AEAEB2"/>
                </a:solidFill>
                <a:latin typeface="Arial" pitchFamily="34" charset="0"/>
                <a:ea typeface="Arial" pitchFamily="34" charset="-122"/>
                <a:cs typeface="Arial" pitchFamily="34" charset="-120"/>
              </a:rPr>
              <a:t>files joined by hand every month</a:t>
            </a:r>
            <a:endParaRPr lang="en-US" sz="1600" dirty="0"/>
          </a:p>
        </p:txBody>
      </p:sp>
      <p:sp>
        <p:nvSpPr>
          <p:cNvPr id="6" name="n1"/>
          <p:cNvSpPr txBox="1"/>
          <p:nvPr/>
        </p:nvSpPr>
        <p:spPr>
          <a:xfrm>
            <a:off x="777240" y="2743200"/>
            <a:ext cx="3657600" cy="960120"/>
          </a:xfrm>
          <a:prstGeom prst="rect">
            <a:avLst/>
          </a:prstGeom>
          <a:noFill/>
          <a:ln/>
        </p:spPr>
        <p:txBody>
          <a:bodyPr wrap="square" lIns="0" tIns="0" rIns="0" bIns="0" rtlCol="0" anchor="t"/>
          <a:lstStyle/>
          <a:p>
            <a:pPr indent="0" marL="0">
              <a:buNone/>
            </a:pPr>
            <a:r>
              <a:rPr lang="en-US" sz="6600" b="1" dirty="0">
                <a:solidFill>
                  <a:srgbClr val="FFFFFF"/>
                </a:solidFill>
                <a:latin typeface="Arial" pitchFamily="34" charset="0"/>
                <a:ea typeface="Arial" pitchFamily="34" charset="-122"/>
                <a:cs typeface="Arial" pitchFamily="34" charset="-120"/>
              </a:rPr>
              <a:t>7</a:t>
            </a:r>
            <a:endParaRPr lang="en-US" sz="6600" dirty="0"/>
          </a:p>
        </p:txBody>
      </p:sp>
      <p:sp>
        <p:nvSpPr>
          <p:cNvPr id="7" name="l1"/>
          <p:cNvSpPr txBox="1"/>
          <p:nvPr/>
        </p:nvSpPr>
        <p:spPr>
          <a:xfrm>
            <a:off x="777240" y="3730752"/>
            <a:ext cx="3566160" cy="365760"/>
          </a:xfrm>
          <a:prstGeom prst="rect">
            <a:avLst/>
          </a:prstGeom>
          <a:noFill/>
          <a:ln/>
        </p:spPr>
        <p:txBody>
          <a:bodyPr wrap="square" lIns="0" tIns="0" rIns="0" bIns="0" rtlCol="0" anchor="ctr"/>
          <a:lstStyle/>
          <a:p>
            <a:pPr indent="0" marL="0">
              <a:buNone/>
            </a:pPr>
            <a:r>
              <a:rPr lang="en-US" sz="1600" dirty="0">
                <a:solidFill>
                  <a:srgbClr val="AEAEB2"/>
                </a:solidFill>
                <a:latin typeface="Arial" pitchFamily="34" charset="0"/>
                <a:ea typeface="Arial" pitchFamily="34" charset="-122"/>
                <a:cs typeface="Arial" pitchFamily="34" charset="-120"/>
              </a:rPr>
              <a:t>roles waiting on the same numbers</a:t>
            </a:r>
            <a:endParaRPr lang="en-US" sz="1600" dirty="0"/>
          </a:p>
        </p:txBody>
      </p:sp>
      <p:sp>
        <p:nvSpPr>
          <p:cNvPr id="8" name="n2"/>
          <p:cNvSpPr txBox="1"/>
          <p:nvPr/>
        </p:nvSpPr>
        <p:spPr>
          <a:xfrm>
            <a:off x="777240" y="4526280"/>
            <a:ext cx="3657600" cy="960120"/>
          </a:xfrm>
          <a:prstGeom prst="rect">
            <a:avLst/>
          </a:prstGeom>
          <a:noFill/>
          <a:ln/>
        </p:spPr>
        <p:txBody>
          <a:bodyPr wrap="square" lIns="0" tIns="0" rIns="0" bIns="0" rtlCol="0" anchor="t"/>
          <a:lstStyle/>
          <a:p>
            <a:pPr indent="0" marL="0">
              <a:buNone/>
            </a:pPr>
            <a:r>
              <a:rPr lang="en-US" sz="6600" b="1" dirty="0">
                <a:solidFill>
                  <a:srgbClr val="F26722"/>
                </a:solidFill>
                <a:latin typeface="Arial" pitchFamily="34" charset="0"/>
                <a:ea typeface="Arial" pitchFamily="34" charset="-122"/>
                <a:cs typeface="Arial" pitchFamily="34" charset="-120"/>
              </a:rPr>
              <a:t>1</a:t>
            </a:r>
            <a:endParaRPr lang="en-US" sz="6600" dirty="0"/>
          </a:p>
        </p:txBody>
      </p:sp>
      <p:sp>
        <p:nvSpPr>
          <p:cNvPr id="9" name="l2"/>
          <p:cNvSpPr txBox="1"/>
          <p:nvPr/>
        </p:nvSpPr>
        <p:spPr>
          <a:xfrm>
            <a:off x="777240" y="5513832"/>
            <a:ext cx="3566160" cy="365760"/>
          </a:xfrm>
          <a:prstGeom prst="rect">
            <a:avLst/>
          </a:prstGeom>
          <a:noFill/>
          <a:ln/>
        </p:spPr>
        <p:txBody>
          <a:bodyPr wrap="square" lIns="0" tIns="0" rIns="0" bIns="0" rtlCol="0" anchor="ctr"/>
          <a:lstStyle/>
          <a:p>
            <a:pPr indent="0" marL="0">
              <a:buNone/>
            </a:pPr>
            <a:r>
              <a:rPr lang="en-US" sz="1600" dirty="0">
                <a:solidFill>
                  <a:srgbClr val="AEAEB2"/>
                </a:solidFill>
                <a:latin typeface="Arial" pitchFamily="34" charset="0"/>
                <a:ea typeface="Arial" pitchFamily="34" charset="-122"/>
                <a:cs typeface="Arial" pitchFamily="34" charset="-120"/>
              </a:rPr>
              <a:t>deadline for all of it</a:t>
            </a:r>
            <a:endParaRPr lang="en-US" sz="1600" dirty="0"/>
          </a:p>
        </p:txBody>
      </p:sp>
      <p:sp>
        <p:nvSpPr>
          <p:cNvPr id="10" name="eyebrow"/>
          <p:cNvSpPr txBox="1"/>
          <p:nvPr/>
        </p:nvSpPr>
        <p:spPr>
          <a:xfrm>
            <a:off x="5486400" y="457200"/>
            <a:ext cx="5486400" cy="274320"/>
          </a:xfrm>
          <a:prstGeom prst="rect">
            <a:avLst/>
          </a:prstGeom>
          <a:noFill/>
          <a:ln/>
        </p:spPr>
        <p:txBody>
          <a:bodyPr wrap="square" lIns="0" tIns="0" rIns="0" bIns="0" rtlCol="0" anchor="ctr"/>
          <a:lstStyle/>
          <a:p>
            <a:pPr indent="0" marL="0">
              <a:buNone/>
            </a:pPr>
            <a:r>
              <a:rPr lang="en-US" sz="1100" b="1" spc="200" kern="0" dirty="0">
                <a:solidFill>
                  <a:srgbClr val="B3441A"/>
                </a:solidFill>
                <a:latin typeface="Arial" pitchFamily="34" charset="0"/>
                <a:ea typeface="Arial" pitchFamily="34" charset="-122"/>
                <a:cs typeface="Arial" pitchFamily="34" charset="-120"/>
              </a:rPr>
              <a:t>THE CHALLENGE</a:t>
            </a:r>
            <a:endParaRPr lang="en-US" sz="1100" dirty="0"/>
          </a:p>
        </p:txBody>
      </p:sp>
      <p:sp>
        <p:nvSpPr>
          <p:cNvPr id="11" name="Text 0"/>
          <p:cNvSpPr/>
          <p:nvPr>
            <p:ph idx="100" type="title" hasCustomPrompt="1"/>
          </p:nvPr>
        </p:nvSpPr>
        <p:spPr>
          <a:xfrm>
            <a:off x="5486400" y="841248"/>
            <a:ext cx="6156655" cy="1280160"/>
          </a:xfrm>
          <a:prstGeom prst="rect">
            <a:avLst/>
          </a:prstGeom>
          <a:noFill/>
          <a:ln/>
        </p:spPr>
        <p:txBody>
          <a:bodyPr wrap="square" lIns="0" tIns="0" rIns="0" bIns="0" rtlCol="0" anchor="t"/>
          <a:lstStyle/>
          <a:p>
            <a:pPr algn="l" indent="0" marL="0">
              <a:buNone/>
            </a:pPr>
            <a:r>
              <a:rPr lang="en-US" sz="3600" b="1" dirty="0">
                <a:solidFill>
                  <a:srgbClr val="1D1D1F"/>
                </a:solidFill>
                <a:latin typeface="Arial" pitchFamily="34" charset="0"/>
                <a:ea typeface="Arial" pitchFamily="34" charset="-122"/>
                <a:cs typeface="Arial" pitchFamily="34" charset="-120"/>
              </a:rPr>
              <a:t>Month end ran on copy and paste</a:t>
            </a:r>
            <a:endParaRPr lang="en-US" sz="3600" dirty="0"/>
          </a:p>
        </p:txBody>
      </p:sp>
      <p:sp>
        <p:nvSpPr>
          <p:cNvPr id="12" name="dot-file"/>
          <p:cNvSpPr/>
          <p:nvPr/>
        </p:nvSpPr>
        <p:spPr>
          <a:xfrm>
            <a:off x="5486400" y="2514600"/>
            <a:ext cx="512064" cy="512064"/>
          </a:xfrm>
          <a:prstGeom prst="ellipse">
            <a:avLst/>
          </a:prstGeom>
          <a:solidFill>
            <a:srgbClr val="1D1D1F"/>
          </a:solidFill>
          <a:ln/>
        </p:spPr>
      </p:sp>
      <p:pic>
        <p:nvPicPr>
          <p:cNvPr id="13" name="icon-file" descr="">    </p:cNvPr>
          <p:cNvPicPr>
            <a:picLocks noChangeAspect="1"/>
          </p:cNvPicPr>
          <p:nvPr/>
        </p:nvPicPr>
        <p:blipFill>
          <a:blip r:embed="rId1"/>
          <a:stretch>
            <a:fillRect/>
          </a:stretch>
        </p:blipFill>
        <p:spPr>
          <a:xfrm>
            <a:off x="5609295" y="2637495"/>
            <a:ext cx="266273" cy="266273"/>
          </a:xfrm>
          <a:prstGeom prst="rect">
            <a:avLst/>
          </a:prstGeom>
        </p:spPr>
      </p:pic>
      <p:sp>
        <p:nvSpPr>
          <p:cNvPr id="14" name="h"/>
          <p:cNvSpPr txBox="1"/>
          <p:nvPr/>
        </p:nvSpPr>
        <p:spPr>
          <a:xfrm>
            <a:off x="6217920" y="2487168"/>
            <a:ext cx="5425135" cy="329184"/>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Files gathered by hand</a:t>
            </a:r>
            <a:endParaRPr lang="en-US" sz="1700" dirty="0"/>
          </a:p>
        </p:txBody>
      </p:sp>
      <p:sp>
        <p:nvSpPr>
          <p:cNvPr id="15" name="t"/>
          <p:cNvSpPr txBox="1"/>
          <p:nvPr/>
        </p:nvSpPr>
        <p:spPr>
          <a:xfrm>
            <a:off x="6217920" y="2843784"/>
            <a:ext cx="5425135" cy="603504"/>
          </a:xfrm>
          <a:prstGeom prst="rect">
            <a:avLst/>
          </a:prstGeom>
          <a:noFill/>
          <a:ln/>
        </p:spPr>
        <p:txBody>
          <a:bodyPr wrap="square" lIns="0" tIns="0" rIns="0" bIns="0" rtlCol="0" anchor="t"/>
          <a:lstStyle/>
          <a:p>
            <a:pPr indent="0" marL="0">
              <a:lnSpc>
                <a:spcPct val="105000"/>
              </a:lnSpc>
              <a:buNone/>
            </a:pPr>
            <a:r>
              <a:rPr lang="en-US" sz="1400" dirty="0">
                <a:solidFill>
                  <a:srgbClr val="58585D"/>
                </a:solidFill>
                <a:latin typeface="Arial" pitchFamily="34" charset="0"/>
                <a:ea typeface="Arial" pitchFamily="34" charset="-122"/>
                <a:cs typeface="Arial" pitchFamily="34" charset="-120"/>
              </a:rPr>
              <a:t>Four Genesys exports, every supervisor's attendance sheet, the KPI and quality files, joined by copy and paste.</a:t>
            </a:r>
            <a:endParaRPr lang="en-US" sz="1400" dirty="0"/>
          </a:p>
        </p:txBody>
      </p:sp>
      <p:sp>
        <p:nvSpPr>
          <p:cNvPr id="16" name="dot-chart"/>
          <p:cNvSpPr/>
          <p:nvPr/>
        </p:nvSpPr>
        <p:spPr>
          <a:xfrm>
            <a:off x="5486400" y="3721608"/>
            <a:ext cx="512064" cy="512064"/>
          </a:xfrm>
          <a:prstGeom prst="ellipse">
            <a:avLst/>
          </a:prstGeom>
          <a:solidFill>
            <a:srgbClr val="1D1D1F"/>
          </a:solidFill>
          <a:ln/>
        </p:spPr>
      </p:sp>
      <p:pic>
        <p:nvPicPr>
          <p:cNvPr id="17" name="icon-chart" descr="">    </p:cNvPr>
          <p:cNvPicPr>
            <a:picLocks noChangeAspect="1"/>
          </p:cNvPicPr>
          <p:nvPr/>
        </p:nvPicPr>
        <p:blipFill>
          <a:blip r:embed="rId2"/>
          <a:stretch>
            <a:fillRect/>
          </a:stretch>
        </p:blipFill>
        <p:spPr>
          <a:xfrm>
            <a:off x="5609295" y="3844503"/>
            <a:ext cx="266273" cy="266273"/>
          </a:xfrm>
          <a:prstGeom prst="rect">
            <a:avLst/>
          </a:prstGeom>
        </p:spPr>
      </p:pic>
      <p:sp>
        <p:nvSpPr>
          <p:cNvPr id="18" name="h"/>
          <p:cNvSpPr txBox="1"/>
          <p:nvPr/>
        </p:nvSpPr>
        <p:spPr>
          <a:xfrm>
            <a:off x="6217920" y="3694176"/>
            <a:ext cx="5425135" cy="329184"/>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Hard to check, harder to explain</a:t>
            </a:r>
            <a:endParaRPr lang="en-US" sz="1700" dirty="0"/>
          </a:p>
        </p:txBody>
      </p:sp>
      <p:sp>
        <p:nvSpPr>
          <p:cNvPr id="19" name="t"/>
          <p:cNvSpPr txBox="1"/>
          <p:nvPr/>
        </p:nvSpPr>
        <p:spPr>
          <a:xfrm>
            <a:off x="6217920" y="4050792"/>
            <a:ext cx="5425135" cy="603504"/>
          </a:xfrm>
          <a:prstGeom prst="rect">
            <a:avLst/>
          </a:prstGeom>
          <a:noFill/>
          <a:ln/>
        </p:spPr>
        <p:txBody>
          <a:bodyPr wrap="square" lIns="0" tIns="0" rIns="0" bIns="0" rtlCol="0" anchor="t"/>
          <a:lstStyle/>
          <a:p>
            <a:pPr indent="0" marL="0">
              <a:lnSpc>
                <a:spcPct val="105000"/>
              </a:lnSpc>
              <a:buNone/>
            </a:pPr>
            <a:r>
              <a:rPr lang="en-US" sz="1400" dirty="0">
                <a:solidFill>
                  <a:srgbClr val="58585D"/>
                </a:solidFill>
                <a:latin typeface="Arial" pitchFamily="34" charset="0"/>
                <a:ea typeface="Arial" pitchFamily="34" charset="-122"/>
                <a:cs typeface="Arial" pitchFamily="34" charset="-120"/>
              </a:rPr>
              <a:t>A rounding or a missed absence changed a bonus; finding why meant opening the spreadsheets again.</a:t>
            </a:r>
            <a:endParaRPr lang="en-US" sz="1400" dirty="0"/>
          </a:p>
        </p:txBody>
      </p:sp>
      <p:sp>
        <p:nvSpPr>
          <p:cNvPr id="20" name="dot-mail"/>
          <p:cNvSpPr/>
          <p:nvPr/>
        </p:nvSpPr>
        <p:spPr>
          <a:xfrm>
            <a:off x="5486400" y="4928616"/>
            <a:ext cx="512064" cy="512064"/>
          </a:xfrm>
          <a:prstGeom prst="ellipse">
            <a:avLst/>
          </a:prstGeom>
          <a:solidFill>
            <a:srgbClr val="1D1D1F"/>
          </a:solidFill>
          <a:ln/>
        </p:spPr>
      </p:sp>
      <p:pic>
        <p:nvPicPr>
          <p:cNvPr id="21" name="icon-mail" descr="">    </p:cNvPr>
          <p:cNvPicPr>
            <a:picLocks noChangeAspect="1"/>
          </p:cNvPicPr>
          <p:nvPr/>
        </p:nvPicPr>
        <p:blipFill>
          <a:blip r:embed="rId3"/>
          <a:stretch>
            <a:fillRect/>
          </a:stretch>
        </p:blipFill>
        <p:spPr>
          <a:xfrm>
            <a:off x="5609295" y="5051511"/>
            <a:ext cx="266273" cy="266273"/>
          </a:xfrm>
          <a:prstGeom prst="rect">
            <a:avLst/>
          </a:prstGeom>
        </p:spPr>
      </p:pic>
      <p:sp>
        <p:nvSpPr>
          <p:cNvPr id="22" name="h"/>
          <p:cNvSpPr txBox="1"/>
          <p:nvPr/>
        </p:nvSpPr>
        <p:spPr>
          <a:xfrm>
            <a:off x="6217920" y="4901184"/>
            <a:ext cx="5425135" cy="329184"/>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Emails built one by one</a:t>
            </a:r>
            <a:endParaRPr lang="en-US" sz="1700" dirty="0"/>
          </a:p>
        </p:txBody>
      </p:sp>
      <p:sp>
        <p:nvSpPr>
          <p:cNvPr id="23" name="t"/>
          <p:cNvSpPr txBox="1"/>
          <p:nvPr/>
        </p:nvSpPr>
        <p:spPr>
          <a:xfrm>
            <a:off x="6217920" y="5257800"/>
            <a:ext cx="5425135" cy="603504"/>
          </a:xfrm>
          <a:prstGeom prst="rect">
            <a:avLst/>
          </a:prstGeom>
          <a:noFill/>
          <a:ln/>
        </p:spPr>
        <p:txBody>
          <a:bodyPr wrap="square" lIns="0" tIns="0" rIns="0" bIns="0" rtlCol="0" anchor="t"/>
          <a:lstStyle/>
          <a:p>
            <a:pPr indent="0" marL="0">
              <a:lnSpc>
                <a:spcPct val="105000"/>
              </a:lnSpc>
              <a:buNone/>
            </a:pPr>
            <a:r>
              <a:rPr lang="en-US" sz="1400" dirty="0">
                <a:solidFill>
                  <a:srgbClr val="58585D"/>
                </a:solidFill>
                <a:latin typeface="Arial" pitchFamily="34" charset="0"/>
                <a:ea typeface="Arial" pitchFamily="34" charset="-122"/>
                <a:cs typeface="Arial" pitchFamily="34" charset="-120"/>
              </a:rPr>
              <a:t>The deduction and incentive emails, their tables and attachments, put together by hand every month.</a:t>
            </a:r>
            <a:endParaRPr lang="en-US" sz="1400" dirty="0"/>
          </a:p>
        </p:txBody>
      </p:sp>
      <p:sp>
        <p:nvSpPr>
          <p:cNvPr id="25" name="Slide Number Placeholder 0"/>
          <p:cNvSpPr>
            <a:spLocks noGrp="1"/>
          </p:cNvSpPr>
          <p:nvPr>
            <p:ph type="sldNum" sz="quarter" idx="4294967295"/>
          </p:nvPr>
        </p:nvSpPr>
        <p:spPr>
          <a:xfrm>
            <a:off x="11091672" y="640080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E8E93"/>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50"/>
                                        <p:tgtEl>
                                          <p:spTgt spid="4"/>
                                        </p:tgtEl>
                                      </p:cBhvr>
                                    </p:animEffect>
                                    <p:anim calcmode="lin" valueType="num">
                                      <p:cBhvr>
                                        <p:cTn id="14" dur="650" fill="hold"/>
                                        <p:tgtEl>
                                          <p:spTgt spid="4"/>
                                        </p:tgtEl>
                                        <p:attrNameLst>
                                          <p:attrName>ppt_x</p:attrName>
                                        </p:attrNameLst>
                                      </p:cBhvr>
                                      <p:tavLst>
                                        <p:tav tm="0">
                                          <p:val>
                                            <p:strVal val="#ppt_x"/>
                                          </p:val>
                                        </p:tav>
                                        <p:tav tm="100000">
                                          <p:val>
                                            <p:strVal val="#ppt_x"/>
                                          </p:val>
                                        </p:tav>
                                      </p:tavLst>
                                    </p:anim>
                                    <p:anim calcmode="lin" valueType="num">
                                      <p:cBhvr>
                                        <p:cTn id="15" dur="650" fill="hold"/>
                                        <p:tgtEl>
                                          <p:spTgt spid="4"/>
                                        </p:tgtEl>
                                        <p:attrNameLst>
                                          <p:attrName>ppt_y</p:attrName>
                                        </p:attrNameLst>
                                      </p:cBhvr>
                                      <p:tavLst>
                                        <p:tav tm="0">
                                          <p:val>
                                            <p:strVal val="#ppt_y+.05"/>
                                          </p:val>
                                        </p:tav>
                                        <p:tav tm="100000">
                                          <p:val>
                                            <p:strVal val="#ppt_y"/>
                                          </p:val>
                                        </p:tav>
                                      </p:tavLst>
                                    </p:anim>
                                  </p:childTnLst>
                                </p:cTn>
                              </p:par>
                              <p:par>
                                <p:cTn id="16"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50"/>
                                        <p:tgtEl>
                                          <p:spTgt spid="5"/>
                                        </p:tgtEl>
                                      </p:cBhvr>
                                    </p:animEffect>
                                    <p:anim calcmode="lin" valueType="num">
                                      <p:cBhvr>
                                        <p:cTn id="19" dur="650" fill="hold"/>
                                        <p:tgtEl>
                                          <p:spTgt spid="5"/>
                                        </p:tgtEl>
                                        <p:attrNameLst>
                                          <p:attrName>ppt_x</p:attrName>
                                        </p:attrNameLst>
                                      </p:cBhvr>
                                      <p:tavLst>
                                        <p:tav tm="0">
                                          <p:val>
                                            <p:strVal val="#ppt_x"/>
                                          </p:val>
                                        </p:tav>
                                        <p:tav tm="100000">
                                          <p:val>
                                            <p:strVal val="#ppt_x"/>
                                          </p:val>
                                        </p:tav>
                                      </p:tavLst>
                                    </p:anim>
                                    <p:anim calcmode="lin" valueType="num">
                                      <p:cBhvr>
                                        <p:cTn id="20" dur="650" fill="hold"/>
                                        <p:tgtEl>
                                          <p:spTgt spid="5"/>
                                        </p:tgtEl>
                                        <p:attrNameLst>
                                          <p:attrName>ppt_y</p:attrName>
                                        </p:attrNameLst>
                                      </p:cBhvr>
                                      <p:tavLst>
                                        <p:tav tm="0">
                                          <p:val>
                                            <p:strVal val="#ppt_y+.05"/>
                                          </p:val>
                                        </p:tav>
                                        <p:tav tm="100000">
                                          <p:val>
                                            <p:strVal val="#ppt_y"/>
                                          </p:val>
                                        </p:tav>
                                      </p:tavLst>
                                    </p:anim>
                                  </p:childTnLst>
                                </p:cTn>
                              </p:par>
                              <p:par>
                                <p:cTn id="21" presetID="42" presetClass="entr" presetSubtype="0" fill="hold" grpId="0" nodeType="withEffect">
                                  <p:stCondLst>
                                    <p:cond delay="36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50"/>
                                        <p:tgtEl>
                                          <p:spTgt spid="6"/>
                                        </p:tgtEl>
                                      </p:cBhvr>
                                    </p:animEffect>
                                    <p:anim calcmode="lin" valueType="num">
                                      <p:cBhvr>
                                        <p:cTn id="24" dur="650" fill="hold"/>
                                        <p:tgtEl>
                                          <p:spTgt spid="6"/>
                                        </p:tgtEl>
                                        <p:attrNameLst>
                                          <p:attrName>ppt_x</p:attrName>
                                        </p:attrNameLst>
                                      </p:cBhvr>
                                      <p:tavLst>
                                        <p:tav tm="0">
                                          <p:val>
                                            <p:strVal val="#ppt_x"/>
                                          </p:val>
                                        </p:tav>
                                        <p:tav tm="100000">
                                          <p:val>
                                            <p:strVal val="#ppt_x"/>
                                          </p:val>
                                        </p:tav>
                                      </p:tavLst>
                                    </p:anim>
                                    <p:anim calcmode="lin" valueType="num">
                                      <p:cBhvr>
                                        <p:cTn id="25" dur="650" fill="hold"/>
                                        <p:tgtEl>
                                          <p:spTgt spid="6"/>
                                        </p:tgtEl>
                                        <p:attrNameLst>
                                          <p:attrName>ppt_y</p:attrName>
                                        </p:attrNameLst>
                                      </p:cBhvr>
                                      <p:tavLst>
                                        <p:tav tm="0">
                                          <p:val>
                                            <p:strVal val="#ppt_y+.05"/>
                                          </p:val>
                                        </p:tav>
                                        <p:tav tm="100000">
                                          <p:val>
                                            <p:strVal val="#ppt_y"/>
                                          </p:val>
                                        </p:tav>
                                      </p:tavLst>
                                    </p:anim>
                                  </p:childTnLst>
                                </p:cTn>
                              </p:par>
                              <p:par>
                                <p:cTn id="26" presetID="42" presetClass="entr" presetSubtype="0" fill="hold" grpId="0" nodeType="withEffect">
                                  <p:stCondLst>
                                    <p:cond delay="36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50"/>
                                        <p:tgtEl>
                                          <p:spTgt spid="7"/>
                                        </p:tgtEl>
                                      </p:cBhvr>
                                    </p:animEffect>
                                    <p:anim calcmode="lin" valueType="num">
                                      <p:cBhvr>
                                        <p:cTn id="29" dur="650" fill="hold"/>
                                        <p:tgtEl>
                                          <p:spTgt spid="7"/>
                                        </p:tgtEl>
                                        <p:attrNameLst>
                                          <p:attrName>ppt_x</p:attrName>
                                        </p:attrNameLst>
                                      </p:cBhvr>
                                      <p:tavLst>
                                        <p:tav tm="0">
                                          <p:val>
                                            <p:strVal val="#ppt_x"/>
                                          </p:val>
                                        </p:tav>
                                        <p:tav tm="100000">
                                          <p:val>
                                            <p:strVal val="#ppt_x"/>
                                          </p:val>
                                        </p:tav>
                                      </p:tavLst>
                                    </p:anim>
                                    <p:anim calcmode="lin" valueType="num">
                                      <p:cBhvr>
                                        <p:cTn id="30" dur="650" fill="hold"/>
                                        <p:tgtEl>
                                          <p:spTgt spid="7"/>
                                        </p:tgtEl>
                                        <p:attrNameLst>
                                          <p:attrName>ppt_y</p:attrName>
                                        </p:attrNameLst>
                                      </p:cBhvr>
                                      <p:tavLst>
                                        <p:tav tm="0">
                                          <p:val>
                                            <p:strVal val="#ppt_y+.05"/>
                                          </p:val>
                                        </p:tav>
                                        <p:tav tm="100000">
                                          <p:val>
                                            <p:strVal val="#ppt_y"/>
                                          </p:val>
                                        </p:tav>
                                      </p:tavLst>
                                    </p:anim>
                                  </p:childTnLst>
                                </p:cTn>
                              </p:par>
                              <p:par>
                                <p:cTn id="31" presetID="42" presetClass="entr" presetSubtype="0" fill="hold" grpId="0" nodeType="withEffect">
                                  <p:stCondLst>
                                    <p:cond delay="40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50"/>
                                        <p:tgtEl>
                                          <p:spTgt spid="12"/>
                                        </p:tgtEl>
                                      </p:cBhvr>
                                    </p:animEffect>
                                    <p:anim calcmode="lin" valueType="num">
                                      <p:cBhvr>
                                        <p:cTn id="34" dur="650" fill="hold"/>
                                        <p:tgtEl>
                                          <p:spTgt spid="12"/>
                                        </p:tgtEl>
                                        <p:attrNameLst>
                                          <p:attrName>ppt_x</p:attrName>
                                        </p:attrNameLst>
                                      </p:cBhvr>
                                      <p:tavLst>
                                        <p:tav tm="0">
                                          <p:val>
                                            <p:strVal val="#ppt_x"/>
                                          </p:val>
                                        </p:tav>
                                        <p:tav tm="100000">
                                          <p:val>
                                            <p:strVal val="#ppt_x"/>
                                          </p:val>
                                        </p:tav>
                                      </p:tavLst>
                                    </p:anim>
                                    <p:anim calcmode="lin" valueType="num">
                                      <p:cBhvr>
                                        <p:cTn id="35" dur="650" fill="hold"/>
                                        <p:tgtEl>
                                          <p:spTgt spid="12"/>
                                        </p:tgtEl>
                                        <p:attrNameLst>
                                          <p:attrName>ppt_y</p:attrName>
                                        </p:attrNameLst>
                                      </p:cBhvr>
                                      <p:tavLst>
                                        <p:tav tm="0">
                                          <p:val>
                                            <p:strVal val="#ppt_y+.05"/>
                                          </p:val>
                                        </p:tav>
                                        <p:tav tm="100000">
                                          <p:val>
                                            <p:strVal val="#ppt_y"/>
                                          </p:val>
                                        </p:tav>
                                      </p:tavLst>
                                    </p:anim>
                                  </p:childTnLst>
                                </p:cTn>
                              </p:par>
                              <p:par>
                                <p:cTn id="36" presetID="42" presetClass="entr" presetSubtype="0" fill="hold" grpId="0" nodeType="withEffect">
                                  <p:stCondLst>
                                    <p:cond delay="40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50"/>
                                        <p:tgtEl>
                                          <p:spTgt spid="13"/>
                                        </p:tgtEl>
                                      </p:cBhvr>
                                    </p:animEffect>
                                    <p:anim calcmode="lin" valueType="num">
                                      <p:cBhvr>
                                        <p:cTn id="39" dur="650" fill="hold"/>
                                        <p:tgtEl>
                                          <p:spTgt spid="13"/>
                                        </p:tgtEl>
                                        <p:attrNameLst>
                                          <p:attrName>ppt_x</p:attrName>
                                        </p:attrNameLst>
                                      </p:cBhvr>
                                      <p:tavLst>
                                        <p:tav tm="0">
                                          <p:val>
                                            <p:strVal val="#ppt_x"/>
                                          </p:val>
                                        </p:tav>
                                        <p:tav tm="100000">
                                          <p:val>
                                            <p:strVal val="#ppt_x"/>
                                          </p:val>
                                        </p:tav>
                                      </p:tavLst>
                                    </p:anim>
                                    <p:anim calcmode="lin" valueType="num">
                                      <p:cBhvr>
                                        <p:cTn id="40" dur="650" fill="hold"/>
                                        <p:tgtEl>
                                          <p:spTgt spid="13"/>
                                        </p:tgtEl>
                                        <p:attrNameLst>
                                          <p:attrName>ppt_y</p:attrName>
                                        </p:attrNameLst>
                                      </p:cBhvr>
                                      <p:tavLst>
                                        <p:tav tm="0">
                                          <p:val>
                                            <p:strVal val="#ppt_y+.05"/>
                                          </p:val>
                                        </p:tav>
                                        <p:tav tm="100000">
                                          <p:val>
                                            <p:strVal val="#ppt_y"/>
                                          </p:val>
                                        </p:tav>
                                      </p:tavLst>
                                    </p:anim>
                                  </p:childTnLst>
                                </p:cTn>
                              </p:par>
                              <p:par>
                                <p:cTn id="41" presetID="42" presetClass="entr" presetSubtype="0" fill="hold" grpId="0" nodeType="withEffect">
                                  <p:stCondLst>
                                    <p:cond delay="40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650"/>
                                        <p:tgtEl>
                                          <p:spTgt spid="14"/>
                                        </p:tgtEl>
                                      </p:cBhvr>
                                    </p:animEffect>
                                    <p:anim calcmode="lin" valueType="num">
                                      <p:cBhvr>
                                        <p:cTn id="44" dur="650" fill="hold"/>
                                        <p:tgtEl>
                                          <p:spTgt spid="14"/>
                                        </p:tgtEl>
                                        <p:attrNameLst>
                                          <p:attrName>ppt_x</p:attrName>
                                        </p:attrNameLst>
                                      </p:cBhvr>
                                      <p:tavLst>
                                        <p:tav tm="0">
                                          <p:val>
                                            <p:strVal val="#ppt_x"/>
                                          </p:val>
                                        </p:tav>
                                        <p:tav tm="100000">
                                          <p:val>
                                            <p:strVal val="#ppt_x"/>
                                          </p:val>
                                        </p:tav>
                                      </p:tavLst>
                                    </p:anim>
                                    <p:anim calcmode="lin" valueType="num">
                                      <p:cBhvr>
                                        <p:cTn id="45" dur="650" fill="hold"/>
                                        <p:tgtEl>
                                          <p:spTgt spid="14"/>
                                        </p:tgtEl>
                                        <p:attrNameLst>
                                          <p:attrName>ppt_y</p:attrName>
                                        </p:attrNameLst>
                                      </p:cBhvr>
                                      <p:tavLst>
                                        <p:tav tm="0">
                                          <p:val>
                                            <p:strVal val="#ppt_y+.05"/>
                                          </p:val>
                                        </p:tav>
                                        <p:tav tm="100000">
                                          <p:val>
                                            <p:strVal val="#ppt_y"/>
                                          </p:val>
                                        </p:tav>
                                      </p:tavLst>
                                    </p:anim>
                                  </p:childTnLst>
                                </p:cTn>
                              </p:par>
                              <p:par>
                                <p:cTn id="46" presetID="42" presetClass="entr" presetSubtype="0" fill="hold" grpId="0" nodeType="withEffect">
                                  <p:stCondLst>
                                    <p:cond delay="40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650"/>
                                        <p:tgtEl>
                                          <p:spTgt spid="15"/>
                                        </p:tgtEl>
                                      </p:cBhvr>
                                    </p:animEffect>
                                    <p:anim calcmode="lin" valueType="num">
                                      <p:cBhvr>
                                        <p:cTn id="49" dur="650" fill="hold"/>
                                        <p:tgtEl>
                                          <p:spTgt spid="15"/>
                                        </p:tgtEl>
                                        <p:attrNameLst>
                                          <p:attrName>ppt_x</p:attrName>
                                        </p:attrNameLst>
                                      </p:cBhvr>
                                      <p:tavLst>
                                        <p:tav tm="0">
                                          <p:val>
                                            <p:strVal val="#ppt_x"/>
                                          </p:val>
                                        </p:tav>
                                        <p:tav tm="100000">
                                          <p:val>
                                            <p:strVal val="#ppt_x"/>
                                          </p:val>
                                        </p:tav>
                                      </p:tavLst>
                                    </p:anim>
                                    <p:anim calcmode="lin" valueType="num">
                                      <p:cBhvr>
                                        <p:cTn id="50" dur="650" fill="hold"/>
                                        <p:tgtEl>
                                          <p:spTgt spid="15"/>
                                        </p:tgtEl>
                                        <p:attrNameLst>
                                          <p:attrName>ppt_y</p:attrName>
                                        </p:attrNameLst>
                                      </p:cBhvr>
                                      <p:tavLst>
                                        <p:tav tm="0">
                                          <p:val>
                                            <p:strVal val="#ppt_y+.05"/>
                                          </p:val>
                                        </p:tav>
                                        <p:tav tm="100000">
                                          <p:val>
                                            <p:strVal val="#ppt_y"/>
                                          </p:val>
                                        </p:tav>
                                      </p:tavLst>
                                    </p:anim>
                                  </p:childTnLst>
                                </p:cTn>
                              </p:par>
                              <p:par>
                                <p:cTn id="51" presetID="42" presetClass="entr" presetSubtype="0" fill="hold" grpId="0" nodeType="withEffect">
                                  <p:stCondLst>
                                    <p:cond delay="520"/>
                                  </p:stCondLst>
                                  <p:childTnLst>
                                    <p:set>
                                      <p:cBhvr>
                                        <p:cTn id="52" dur="1" fill="hold">
                                          <p:stCondLst>
                                            <p:cond delay="0"/>
                                          </p:stCondLst>
                                        </p:cTn>
                                        <p:tgtEl>
                                          <p:spTgt spid="8"/>
                                        </p:tgtEl>
                                        <p:attrNameLst>
                                          <p:attrName>style.visibility</p:attrName>
                                        </p:attrNameLst>
                                      </p:cBhvr>
                                      <p:to>
                                        <p:strVal val="visible"/>
                                      </p:to>
                                    </p:set>
                                    <p:animEffect transition="in" filter="fade">
                                      <p:cBhvr>
                                        <p:cTn id="53" dur="650"/>
                                        <p:tgtEl>
                                          <p:spTgt spid="8"/>
                                        </p:tgtEl>
                                      </p:cBhvr>
                                    </p:animEffect>
                                    <p:anim calcmode="lin" valueType="num">
                                      <p:cBhvr>
                                        <p:cTn id="54" dur="650" fill="hold"/>
                                        <p:tgtEl>
                                          <p:spTgt spid="8"/>
                                        </p:tgtEl>
                                        <p:attrNameLst>
                                          <p:attrName>ppt_x</p:attrName>
                                        </p:attrNameLst>
                                      </p:cBhvr>
                                      <p:tavLst>
                                        <p:tav tm="0">
                                          <p:val>
                                            <p:strVal val="#ppt_x"/>
                                          </p:val>
                                        </p:tav>
                                        <p:tav tm="100000">
                                          <p:val>
                                            <p:strVal val="#ppt_x"/>
                                          </p:val>
                                        </p:tav>
                                      </p:tavLst>
                                    </p:anim>
                                    <p:anim calcmode="lin" valueType="num">
                                      <p:cBhvr>
                                        <p:cTn id="55" dur="650" fill="hold"/>
                                        <p:tgtEl>
                                          <p:spTgt spid="8"/>
                                        </p:tgtEl>
                                        <p:attrNameLst>
                                          <p:attrName>ppt_y</p:attrName>
                                        </p:attrNameLst>
                                      </p:cBhvr>
                                      <p:tavLst>
                                        <p:tav tm="0">
                                          <p:val>
                                            <p:strVal val="#ppt_y+.05"/>
                                          </p:val>
                                        </p:tav>
                                        <p:tav tm="100000">
                                          <p:val>
                                            <p:strVal val="#ppt_y"/>
                                          </p:val>
                                        </p:tav>
                                      </p:tavLst>
                                    </p:anim>
                                  </p:childTnLst>
                                </p:cTn>
                              </p:par>
                              <p:par>
                                <p:cTn id="56" presetID="42" presetClass="entr" presetSubtype="0" fill="hold" grpId="0" nodeType="withEffect">
                                  <p:stCondLst>
                                    <p:cond delay="520"/>
                                  </p:stCondLst>
                                  <p:childTnLst>
                                    <p:set>
                                      <p:cBhvr>
                                        <p:cTn id="57" dur="1" fill="hold">
                                          <p:stCondLst>
                                            <p:cond delay="0"/>
                                          </p:stCondLst>
                                        </p:cTn>
                                        <p:tgtEl>
                                          <p:spTgt spid="9"/>
                                        </p:tgtEl>
                                        <p:attrNameLst>
                                          <p:attrName>style.visibility</p:attrName>
                                        </p:attrNameLst>
                                      </p:cBhvr>
                                      <p:to>
                                        <p:strVal val="visible"/>
                                      </p:to>
                                    </p:set>
                                    <p:animEffect transition="in" filter="fade">
                                      <p:cBhvr>
                                        <p:cTn id="58" dur="650"/>
                                        <p:tgtEl>
                                          <p:spTgt spid="9"/>
                                        </p:tgtEl>
                                      </p:cBhvr>
                                    </p:animEffect>
                                    <p:anim calcmode="lin" valueType="num">
                                      <p:cBhvr>
                                        <p:cTn id="59" dur="650" fill="hold"/>
                                        <p:tgtEl>
                                          <p:spTgt spid="9"/>
                                        </p:tgtEl>
                                        <p:attrNameLst>
                                          <p:attrName>ppt_x</p:attrName>
                                        </p:attrNameLst>
                                      </p:cBhvr>
                                      <p:tavLst>
                                        <p:tav tm="0">
                                          <p:val>
                                            <p:strVal val="#ppt_x"/>
                                          </p:val>
                                        </p:tav>
                                        <p:tav tm="100000">
                                          <p:val>
                                            <p:strVal val="#ppt_x"/>
                                          </p:val>
                                        </p:tav>
                                      </p:tavLst>
                                    </p:anim>
                                    <p:anim calcmode="lin" valueType="num">
                                      <p:cBhvr>
                                        <p:cTn id="60" dur="650" fill="hold"/>
                                        <p:tgtEl>
                                          <p:spTgt spid="9"/>
                                        </p:tgtEl>
                                        <p:attrNameLst>
                                          <p:attrName>ppt_y</p:attrName>
                                        </p:attrNameLst>
                                      </p:cBhvr>
                                      <p:tavLst>
                                        <p:tav tm="0">
                                          <p:val>
                                            <p:strVal val="#ppt_y+.05"/>
                                          </p:val>
                                        </p:tav>
                                        <p:tav tm="100000">
                                          <p:val>
                                            <p:strVal val="#ppt_y"/>
                                          </p:val>
                                        </p:tav>
                                      </p:tavLst>
                                    </p:anim>
                                  </p:childTnLst>
                                </p:cTn>
                              </p:par>
                              <p:par>
                                <p:cTn id="61" presetID="42" presetClass="entr" presetSubtype="0" fill="hold" grpId="0" nodeType="withEffect">
                                  <p:stCondLst>
                                    <p:cond delay="550"/>
                                  </p:stCondLst>
                                  <p:childTnLst>
                                    <p:set>
                                      <p:cBhvr>
                                        <p:cTn id="62" dur="1" fill="hold">
                                          <p:stCondLst>
                                            <p:cond delay="0"/>
                                          </p:stCondLst>
                                        </p:cTn>
                                        <p:tgtEl>
                                          <p:spTgt spid="16"/>
                                        </p:tgtEl>
                                        <p:attrNameLst>
                                          <p:attrName>style.visibility</p:attrName>
                                        </p:attrNameLst>
                                      </p:cBhvr>
                                      <p:to>
                                        <p:strVal val="visible"/>
                                      </p:to>
                                    </p:set>
                                    <p:animEffect transition="in" filter="fade">
                                      <p:cBhvr>
                                        <p:cTn id="63" dur="650"/>
                                        <p:tgtEl>
                                          <p:spTgt spid="16"/>
                                        </p:tgtEl>
                                      </p:cBhvr>
                                    </p:animEffect>
                                    <p:anim calcmode="lin" valueType="num">
                                      <p:cBhvr>
                                        <p:cTn id="64" dur="650" fill="hold"/>
                                        <p:tgtEl>
                                          <p:spTgt spid="16"/>
                                        </p:tgtEl>
                                        <p:attrNameLst>
                                          <p:attrName>ppt_x</p:attrName>
                                        </p:attrNameLst>
                                      </p:cBhvr>
                                      <p:tavLst>
                                        <p:tav tm="0">
                                          <p:val>
                                            <p:strVal val="#ppt_x"/>
                                          </p:val>
                                        </p:tav>
                                        <p:tav tm="100000">
                                          <p:val>
                                            <p:strVal val="#ppt_x"/>
                                          </p:val>
                                        </p:tav>
                                      </p:tavLst>
                                    </p:anim>
                                    <p:anim calcmode="lin" valueType="num">
                                      <p:cBhvr>
                                        <p:cTn id="65" dur="650" fill="hold"/>
                                        <p:tgtEl>
                                          <p:spTgt spid="16"/>
                                        </p:tgtEl>
                                        <p:attrNameLst>
                                          <p:attrName>ppt_y</p:attrName>
                                        </p:attrNameLst>
                                      </p:cBhvr>
                                      <p:tavLst>
                                        <p:tav tm="0">
                                          <p:val>
                                            <p:strVal val="#ppt_y+.05"/>
                                          </p:val>
                                        </p:tav>
                                        <p:tav tm="100000">
                                          <p:val>
                                            <p:strVal val="#ppt_y"/>
                                          </p:val>
                                        </p:tav>
                                      </p:tavLst>
                                    </p:anim>
                                  </p:childTnLst>
                                </p:cTn>
                              </p:par>
                              <p:par>
                                <p:cTn id="66" presetID="42" presetClass="entr" presetSubtype="0" fill="hold" grpId="0" nodeType="withEffect">
                                  <p:stCondLst>
                                    <p:cond delay="550"/>
                                  </p:stCondLst>
                                  <p:childTnLst>
                                    <p:set>
                                      <p:cBhvr>
                                        <p:cTn id="67" dur="1" fill="hold">
                                          <p:stCondLst>
                                            <p:cond delay="0"/>
                                          </p:stCondLst>
                                        </p:cTn>
                                        <p:tgtEl>
                                          <p:spTgt spid="17"/>
                                        </p:tgtEl>
                                        <p:attrNameLst>
                                          <p:attrName>style.visibility</p:attrName>
                                        </p:attrNameLst>
                                      </p:cBhvr>
                                      <p:to>
                                        <p:strVal val="visible"/>
                                      </p:to>
                                    </p:set>
                                    <p:animEffect transition="in" filter="fade">
                                      <p:cBhvr>
                                        <p:cTn id="68" dur="650"/>
                                        <p:tgtEl>
                                          <p:spTgt spid="17"/>
                                        </p:tgtEl>
                                      </p:cBhvr>
                                    </p:animEffect>
                                    <p:anim calcmode="lin" valueType="num">
                                      <p:cBhvr>
                                        <p:cTn id="69" dur="650" fill="hold"/>
                                        <p:tgtEl>
                                          <p:spTgt spid="17"/>
                                        </p:tgtEl>
                                        <p:attrNameLst>
                                          <p:attrName>ppt_x</p:attrName>
                                        </p:attrNameLst>
                                      </p:cBhvr>
                                      <p:tavLst>
                                        <p:tav tm="0">
                                          <p:val>
                                            <p:strVal val="#ppt_x"/>
                                          </p:val>
                                        </p:tav>
                                        <p:tav tm="100000">
                                          <p:val>
                                            <p:strVal val="#ppt_x"/>
                                          </p:val>
                                        </p:tav>
                                      </p:tavLst>
                                    </p:anim>
                                    <p:anim calcmode="lin" valueType="num">
                                      <p:cBhvr>
                                        <p:cTn id="70" dur="650" fill="hold"/>
                                        <p:tgtEl>
                                          <p:spTgt spid="17"/>
                                        </p:tgtEl>
                                        <p:attrNameLst>
                                          <p:attrName>ppt_y</p:attrName>
                                        </p:attrNameLst>
                                      </p:cBhvr>
                                      <p:tavLst>
                                        <p:tav tm="0">
                                          <p:val>
                                            <p:strVal val="#ppt_y+.05"/>
                                          </p:val>
                                        </p:tav>
                                        <p:tav tm="100000">
                                          <p:val>
                                            <p:strVal val="#ppt_y"/>
                                          </p:val>
                                        </p:tav>
                                      </p:tavLst>
                                    </p:anim>
                                  </p:childTnLst>
                                </p:cTn>
                              </p:par>
                              <p:par>
                                <p:cTn id="71" presetID="42" presetClass="entr" presetSubtype="0" fill="hold" grpId="0" nodeType="withEffect">
                                  <p:stCondLst>
                                    <p:cond delay="550"/>
                                  </p:stCondLst>
                                  <p:childTnLst>
                                    <p:set>
                                      <p:cBhvr>
                                        <p:cTn id="72" dur="1" fill="hold">
                                          <p:stCondLst>
                                            <p:cond delay="0"/>
                                          </p:stCondLst>
                                        </p:cTn>
                                        <p:tgtEl>
                                          <p:spTgt spid="18"/>
                                        </p:tgtEl>
                                        <p:attrNameLst>
                                          <p:attrName>style.visibility</p:attrName>
                                        </p:attrNameLst>
                                      </p:cBhvr>
                                      <p:to>
                                        <p:strVal val="visible"/>
                                      </p:to>
                                    </p:set>
                                    <p:animEffect transition="in" filter="fade">
                                      <p:cBhvr>
                                        <p:cTn id="73" dur="650"/>
                                        <p:tgtEl>
                                          <p:spTgt spid="18"/>
                                        </p:tgtEl>
                                      </p:cBhvr>
                                    </p:animEffect>
                                    <p:anim calcmode="lin" valueType="num">
                                      <p:cBhvr>
                                        <p:cTn id="74" dur="650" fill="hold"/>
                                        <p:tgtEl>
                                          <p:spTgt spid="18"/>
                                        </p:tgtEl>
                                        <p:attrNameLst>
                                          <p:attrName>ppt_x</p:attrName>
                                        </p:attrNameLst>
                                      </p:cBhvr>
                                      <p:tavLst>
                                        <p:tav tm="0">
                                          <p:val>
                                            <p:strVal val="#ppt_x"/>
                                          </p:val>
                                        </p:tav>
                                        <p:tav tm="100000">
                                          <p:val>
                                            <p:strVal val="#ppt_x"/>
                                          </p:val>
                                        </p:tav>
                                      </p:tavLst>
                                    </p:anim>
                                    <p:anim calcmode="lin" valueType="num">
                                      <p:cBhvr>
                                        <p:cTn id="75" dur="650" fill="hold"/>
                                        <p:tgtEl>
                                          <p:spTgt spid="18"/>
                                        </p:tgtEl>
                                        <p:attrNameLst>
                                          <p:attrName>ppt_y</p:attrName>
                                        </p:attrNameLst>
                                      </p:cBhvr>
                                      <p:tavLst>
                                        <p:tav tm="0">
                                          <p:val>
                                            <p:strVal val="#ppt_y+.05"/>
                                          </p:val>
                                        </p:tav>
                                        <p:tav tm="100000">
                                          <p:val>
                                            <p:strVal val="#ppt_y"/>
                                          </p:val>
                                        </p:tav>
                                      </p:tavLst>
                                    </p:anim>
                                  </p:childTnLst>
                                </p:cTn>
                              </p:par>
                              <p:par>
                                <p:cTn id="76" presetID="42" presetClass="entr" presetSubtype="0" fill="hold" grpId="0" nodeType="withEffect">
                                  <p:stCondLst>
                                    <p:cond delay="550"/>
                                  </p:stCondLst>
                                  <p:childTnLst>
                                    <p:set>
                                      <p:cBhvr>
                                        <p:cTn id="77" dur="1" fill="hold">
                                          <p:stCondLst>
                                            <p:cond delay="0"/>
                                          </p:stCondLst>
                                        </p:cTn>
                                        <p:tgtEl>
                                          <p:spTgt spid="19"/>
                                        </p:tgtEl>
                                        <p:attrNameLst>
                                          <p:attrName>style.visibility</p:attrName>
                                        </p:attrNameLst>
                                      </p:cBhvr>
                                      <p:to>
                                        <p:strVal val="visible"/>
                                      </p:to>
                                    </p:set>
                                    <p:animEffect transition="in" filter="fade">
                                      <p:cBhvr>
                                        <p:cTn id="78" dur="650"/>
                                        <p:tgtEl>
                                          <p:spTgt spid="19"/>
                                        </p:tgtEl>
                                      </p:cBhvr>
                                    </p:animEffect>
                                    <p:anim calcmode="lin" valueType="num">
                                      <p:cBhvr>
                                        <p:cTn id="79" dur="650" fill="hold"/>
                                        <p:tgtEl>
                                          <p:spTgt spid="19"/>
                                        </p:tgtEl>
                                        <p:attrNameLst>
                                          <p:attrName>ppt_x</p:attrName>
                                        </p:attrNameLst>
                                      </p:cBhvr>
                                      <p:tavLst>
                                        <p:tav tm="0">
                                          <p:val>
                                            <p:strVal val="#ppt_x"/>
                                          </p:val>
                                        </p:tav>
                                        <p:tav tm="100000">
                                          <p:val>
                                            <p:strVal val="#ppt_x"/>
                                          </p:val>
                                        </p:tav>
                                      </p:tavLst>
                                    </p:anim>
                                    <p:anim calcmode="lin" valueType="num">
                                      <p:cBhvr>
                                        <p:cTn id="80" dur="650" fill="hold"/>
                                        <p:tgtEl>
                                          <p:spTgt spid="19"/>
                                        </p:tgtEl>
                                        <p:attrNameLst>
                                          <p:attrName>ppt_y</p:attrName>
                                        </p:attrNameLst>
                                      </p:cBhvr>
                                      <p:tavLst>
                                        <p:tav tm="0">
                                          <p:val>
                                            <p:strVal val="#ppt_y+.05"/>
                                          </p:val>
                                        </p:tav>
                                        <p:tav tm="100000">
                                          <p:val>
                                            <p:strVal val="#ppt_y"/>
                                          </p:val>
                                        </p:tav>
                                      </p:tavLst>
                                    </p:anim>
                                  </p:childTnLst>
                                </p:cTn>
                              </p:par>
                              <p:par>
                                <p:cTn id="81" presetID="42" presetClass="entr" presetSubtype="0" fill="hold" grpId="0" nodeType="withEffect">
                                  <p:stCondLst>
                                    <p:cond delay="700"/>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650"/>
                                        <p:tgtEl>
                                          <p:spTgt spid="20"/>
                                        </p:tgtEl>
                                      </p:cBhvr>
                                    </p:animEffect>
                                    <p:anim calcmode="lin" valueType="num">
                                      <p:cBhvr>
                                        <p:cTn id="84" dur="650" fill="hold"/>
                                        <p:tgtEl>
                                          <p:spTgt spid="20"/>
                                        </p:tgtEl>
                                        <p:attrNameLst>
                                          <p:attrName>ppt_x</p:attrName>
                                        </p:attrNameLst>
                                      </p:cBhvr>
                                      <p:tavLst>
                                        <p:tav tm="0">
                                          <p:val>
                                            <p:strVal val="#ppt_x"/>
                                          </p:val>
                                        </p:tav>
                                        <p:tav tm="100000">
                                          <p:val>
                                            <p:strVal val="#ppt_x"/>
                                          </p:val>
                                        </p:tav>
                                      </p:tavLst>
                                    </p:anim>
                                    <p:anim calcmode="lin" valueType="num">
                                      <p:cBhvr>
                                        <p:cTn id="85" dur="650" fill="hold"/>
                                        <p:tgtEl>
                                          <p:spTgt spid="20"/>
                                        </p:tgtEl>
                                        <p:attrNameLst>
                                          <p:attrName>ppt_y</p:attrName>
                                        </p:attrNameLst>
                                      </p:cBhvr>
                                      <p:tavLst>
                                        <p:tav tm="0">
                                          <p:val>
                                            <p:strVal val="#ppt_y+.05"/>
                                          </p:val>
                                        </p:tav>
                                        <p:tav tm="100000">
                                          <p:val>
                                            <p:strVal val="#ppt_y"/>
                                          </p:val>
                                        </p:tav>
                                      </p:tavLst>
                                    </p:anim>
                                  </p:childTnLst>
                                </p:cTn>
                              </p:par>
                              <p:par>
                                <p:cTn id="86" presetID="42" presetClass="entr" presetSubtype="0" fill="hold" grpId="0" nodeType="withEffect">
                                  <p:stCondLst>
                                    <p:cond delay="700"/>
                                  </p:stCondLst>
                                  <p:childTnLst>
                                    <p:set>
                                      <p:cBhvr>
                                        <p:cTn id="87" dur="1" fill="hold">
                                          <p:stCondLst>
                                            <p:cond delay="0"/>
                                          </p:stCondLst>
                                        </p:cTn>
                                        <p:tgtEl>
                                          <p:spTgt spid="21"/>
                                        </p:tgtEl>
                                        <p:attrNameLst>
                                          <p:attrName>style.visibility</p:attrName>
                                        </p:attrNameLst>
                                      </p:cBhvr>
                                      <p:to>
                                        <p:strVal val="visible"/>
                                      </p:to>
                                    </p:set>
                                    <p:animEffect transition="in" filter="fade">
                                      <p:cBhvr>
                                        <p:cTn id="88" dur="650"/>
                                        <p:tgtEl>
                                          <p:spTgt spid="21"/>
                                        </p:tgtEl>
                                      </p:cBhvr>
                                    </p:animEffect>
                                    <p:anim calcmode="lin" valueType="num">
                                      <p:cBhvr>
                                        <p:cTn id="89" dur="650" fill="hold"/>
                                        <p:tgtEl>
                                          <p:spTgt spid="21"/>
                                        </p:tgtEl>
                                        <p:attrNameLst>
                                          <p:attrName>ppt_x</p:attrName>
                                        </p:attrNameLst>
                                      </p:cBhvr>
                                      <p:tavLst>
                                        <p:tav tm="0">
                                          <p:val>
                                            <p:strVal val="#ppt_x"/>
                                          </p:val>
                                        </p:tav>
                                        <p:tav tm="100000">
                                          <p:val>
                                            <p:strVal val="#ppt_x"/>
                                          </p:val>
                                        </p:tav>
                                      </p:tavLst>
                                    </p:anim>
                                    <p:anim calcmode="lin" valueType="num">
                                      <p:cBhvr>
                                        <p:cTn id="90" dur="650" fill="hold"/>
                                        <p:tgtEl>
                                          <p:spTgt spid="21"/>
                                        </p:tgtEl>
                                        <p:attrNameLst>
                                          <p:attrName>ppt_y</p:attrName>
                                        </p:attrNameLst>
                                      </p:cBhvr>
                                      <p:tavLst>
                                        <p:tav tm="0">
                                          <p:val>
                                            <p:strVal val="#ppt_y+.05"/>
                                          </p:val>
                                        </p:tav>
                                        <p:tav tm="100000">
                                          <p:val>
                                            <p:strVal val="#ppt_y"/>
                                          </p:val>
                                        </p:tav>
                                      </p:tavLst>
                                    </p:anim>
                                  </p:childTnLst>
                                </p:cTn>
                              </p:par>
                              <p:par>
                                <p:cTn id="91" presetID="42" presetClass="entr" presetSubtype="0" fill="hold" grpId="0" nodeType="withEffect">
                                  <p:stCondLst>
                                    <p:cond delay="700"/>
                                  </p:stCondLst>
                                  <p:childTnLst>
                                    <p:set>
                                      <p:cBhvr>
                                        <p:cTn id="92" dur="1" fill="hold">
                                          <p:stCondLst>
                                            <p:cond delay="0"/>
                                          </p:stCondLst>
                                        </p:cTn>
                                        <p:tgtEl>
                                          <p:spTgt spid="22"/>
                                        </p:tgtEl>
                                        <p:attrNameLst>
                                          <p:attrName>style.visibility</p:attrName>
                                        </p:attrNameLst>
                                      </p:cBhvr>
                                      <p:to>
                                        <p:strVal val="visible"/>
                                      </p:to>
                                    </p:set>
                                    <p:animEffect transition="in" filter="fade">
                                      <p:cBhvr>
                                        <p:cTn id="93" dur="650"/>
                                        <p:tgtEl>
                                          <p:spTgt spid="22"/>
                                        </p:tgtEl>
                                      </p:cBhvr>
                                    </p:animEffect>
                                    <p:anim calcmode="lin" valueType="num">
                                      <p:cBhvr>
                                        <p:cTn id="94" dur="650" fill="hold"/>
                                        <p:tgtEl>
                                          <p:spTgt spid="22"/>
                                        </p:tgtEl>
                                        <p:attrNameLst>
                                          <p:attrName>ppt_x</p:attrName>
                                        </p:attrNameLst>
                                      </p:cBhvr>
                                      <p:tavLst>
                                        <p:tav tm="0">
                                          <p:val>
                                            <p:strVal val="#ppt_x"/>
                                          </p:val>
                                        </p:tav>
                                        <p:tav tm="100000">
                                          <p:val>
                                            <p:strVal val="#ppt_x"/>
                                          </p:val>
                                        </p:tav>
                                      </p:tavLst>
                                    </p:anim>
                                    <p:anim calcmode="lin" valueType="num">
                                      <p:cBhvr>
                                        <p:cTn id="95" dur="650" fill="hold"/>
                                        <p:tgtEl>
                                          <p:spTgt spid="22"/>
                                        </p:tgtEl>
                                        <p:attrNameLst>
                                          <p:attrName>ppt_y</p:attrName>
                                        </p:attrNameLst>
                                      </p:cBhvr>
                                      <p:tavLst>
                                        <p:tav tm="0">
                                          <p:val>
                                            <p:strVal val="#ppt_y+.05"/>
                                          </p:val>
                                        </p:tav>
                                        <p:tav tm="100000">
                                          <p:val>
                                            <p:strVal val="#ppt_y"/>
                                          </p:val>
                                        </p:tav>
                                      </p:tavLst>
                                    </p:anim>
                                  </p:childTnLst>
                                </p:cTn>
                              </p:par>
                              <p:par>
                                <p:cTn id="96" presetID="42" presetClass="entr" presetSubtype="0" fill="hold" grpId="0" nodeType="withEffect">
                                  <p:stCondLst>
                                    <p:cond delay="700"/>
                                  </p:stCondLst>
                                  <p:childTnLst>
                                    <p:set>
                                      <p:cBhvr>
                                        <p:cTn id="97" dur="1" fill="hold">
                                          <p:stCondLst>
                                            <p:cond delay="0"/>
                                          </p:stCondLst>
                                        </p:cTn>
                                        <p:tgtEl>
                                          <p:spTgt spid="23"/>
                                        </p:tgtEl>
                                        <p:attrNameLst>
                                          <p:attrName>style.visibility</p:attrName>
                                        </p:attrNameLst>
                                      </p:cBhvr>
                                      <p:to>
                                        <p:strVal val="visible"/>
                                      </p:to>
                                    </p:set>
                                    <p:animEffect transition="in" filter="fade">
                                      <p:cBhvr>
                                        <p:cTn id="98" dur="650"/>
                                        <p:tgtEl>
                                          <p:spTgt spid="23"/>
                                        </p:tgtEl>
                                      </p:cBhvr>
                                    </p:animEffect>
                                    <p:anim calcmode="lin" valueType="num">
                                      <p:cBhvr>
                                        <p:cTn id="99" dur="650" fill="hold"/>
                                        <p:tgtEl>
                                          <p:spTgt spid="23"/>
                                        </p:tgtEl>
                                        <p:attrNameLst>
                                          <p:attrName>ppt_x</p:attrName>
                                        </p:attrNameLst>
                                      </p:cBhvr>
                                      <p:tavLst>
                                        <p:tav tm="0">
                                          <p:val>
                                            <p:strVal val="#ppt_x"/>
                                          </p:val>
                                        </p:tav>
                                        <p:tav tm="100000">
                                          <p:val>
                                            <p:strVal val="#ppt_x"/>
                                          </p:val>
                                        </p:tav>
                                      </p:tavLst>
                                    </p:anim>
                                    <p:anim calcmode="lin" valueType="num">
                                      <p:cBhvr>
                                        <p:cTn id="100" dur="650" fill="hold"/>
                                        <p:tgtEl>
                                          <p:spTgt spid="23"/>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2" grpId="0" animBg="1"/>
      <p:bldP spid="14" grpId="0" animBg="1"/>
      <p:bldP spid="15" grpId="0" animBg="1"/>
      <p:bldP spid="16" grpId="0" animBg="1"/>
      <p:bldP spid="18" grpId="0" animBg="1"/>
      <p:bldP spid="19" grpId="0" animBg="1"/>
      <p:bldP spid="20" grpId="0" animBg="1"/>
      <p:bldP spid="22" grpId="0" animBg="1"/>
      <p:bldP spid="2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eyebrow"/>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100" b="1" spc="200" kern="0" dirty="0">
                <a:solidFill>
                  <a:srgbClr val="B3441A"/>
                </a:solidFill>
                <a:latin typeface="Arial" pitchFamily="34" charset="0"/>
                <a:ea typeface="Arial" pitchFamily="34" charset="-122"/>
                <a:cs typeface="Arial" pitchFamily="34" charset="-120"/>
              </a:rPr>
              <a:t>THE TOOL</a:t>
            </a:r>
            <a:endParaRPr lang="en-US" sz="1100" dirty="0"/>
          </a:p>
        </p:txBody>
      </p:sp>
      <p:sp>
        <p:nvSpPr>
          <p:cNvPr id="4" name="Text 1"/>
          <p:cNvSpPr/>
          <p:nvPr>
            <p:ph idx="101" type="title" hasCustomPrompt="1"/>
          </p:nvPr>
        </p:nvSpPr>
        <p:spPr>
          <a:xfrm>
            <a:off x="548640" y="841248"/>
            <a:ext cx="11094415" cy="731520"/>
          </a:xfrm>
          <a:prstGeom prst="rect">
            <a:avLst/>
          </a:prstGeom>
          <a:noFill/>
          <a:ln/>
        </p:spPr>
        <p:txBody>
          <a:bodyPr wrap="square" lIns="0" tIns="0" rIns="0" bIns="0" rtlCol="0" anchor="t"/>
          <a:lstStyle/>
          <a:p>
            <a:pPr algn="l" indent="0" marL="0">
              <a:buNone/>
            </a:pPr>
            <a:r>
              <a:rPr lang="en-US" sz="3600" b="1" dirty="0">
                <a:solidFill>
                  <a:srgbClr val="1D1D1F"/>
                </a:solidFill>
                <a:latin typeface="Arial" pitchFamily="34" charset="0"/>
                <a:ea typeface="Arial" pitchFamily="34" charset="-122"/>
                <a:cs typeface="Arial" pitchFamily="34" charset="-120"/>
              </a:rPr>
              <a:t>One file runs the whole month</a:t>
            </a:r>
            <a:endParaRPr lang="en-US" sz="3600" dirty="0"/>
          </a:p>
        </p:txBody>
      </p:sp>
      <p:pic>
        <p:nvPicPr>
          <p:cNvPr id="5" name="hero" descr="The dashboard: shortcuts, the month at a glance, the month close and the bell">    </p:cNvPr>
          <p:cNvPicPr>
            <a:picLocks noChangeAspect="1"/>
          </p:cNvPicPr>
          <p:nvPr/>
        </p:nvPicPr>
        <p:blipFill>
          <a:blip r:embed="rId1"/>
          <a:stretch>
            <a:fillRect/>
          </a:stretch>
        </p:blipFill>
        <p:spPr>
          <a:xfrm>
            <a:off x="134417" y="1368857"/>
            <a:ext cx="7732166" cy="5357287"/>
          </a:xfrm>
          <a:prstGeom prst="rect">
            <a:avLst/>
          </a:prstGeom>
        </p:spPr>
      </p:pic>
      <p:sp>
        <p:nvSpPr>
          <p:cNvPr id="6" name="frame"/>
          <p:cNvSpPr/>
          <p:nvPr/>
        </p:nvSpPr>
        <p:spPr>
          <a:xfrm>
            <a:off x="1825244" y="2673315"/>
            <a:ext cx="5501132" cy="493538"/>
          </a:xfrm>
          <a:prstGeom prst="roundRect">
            <a:avLst>
              <a:gd name="adj" fmla="val 11116"/>
            </a:avLst>
          </a:prstGeom>
          <a:ln w="25400">
            <a:solidFill>
              <a:srgbClr val="F26722"/>
            </a:solidFill>
            <a:prstDash val="solid"/>
          </a:ln>
        </p:spPr>
      </p:sp>
      <p:sp>
        <p:nvSpPr>
          <p:cNvPr id="7" name="m1"/>
          <p:cNvSpPr/>
          <p:nvPr/>
        </p:nvSpPr>
        <p:spPr>
          <a:xfrm>
            <a:off x="1669796" y="2517867"/>
            <a:ext cx="310896" cy="310896"/>
          </a:xfrm>
          <a:prstGeom prst="ellipse">
            <a:avLst/>
          </a:prstGeom>
          <a:solidFill>
            <a:srgbClr val="C4511A"/>
          </a:solidFill>
          <a:ln w="25400">
            <a:solidFill>
              <a:srgbClr val="FFFFFF"/>
            </a:solidFill>
            <a:prstDash val="solid"/>
          </a:ln>
        </p:spPr>
      </p:sp>
      <p:sp>
        <p:nvSpPr>
          <p:cNvPr id="8" name="m1t"/>
          <p:cNvSpPr txBox="1"/>
          <p:nvPr/>
        </p:nvSpPr>
        <p:spPr>
          <a:xfrm>
            <a:off x="1669796" y="2517867"/>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9" name="m1"/>
          <p:cNvSpPr/>
          <p:nvPr/>
        </p:nvSpPr>
        <p:spPr>
          <a:xfrm>
            <a:off x="7918704" y="1856232"/>
            <a:ext cx="347472" cy="347472"/>
          </a:xfrm>
          <a:prstGeom prst="ellipse">
            <a:avLst/>
          </a:prstGeom>
          <a:solidFill>
            <a:srgbClr val="C4511A"/>
          </a:solidFill>
          <a:ln w="25400">
            <a:solidFill>
              <a:srgbClr val="FFFFFF"/>
            </a:solidFill>
            <a:prstDash val="solid"/>
          </a:ln>
        </p:spPr>
      </p:sp>
      <p:sp>
        <p:nvSpPr>
          <p:cNvPr id="10" name="m1t"/>
          <p:cNvSpPr txBox="1"/>
          <p:nvPr/>
        </p:nvSpPr>
        <p:spPr>
          <a:xfrm>
            <a:off x="7918704" y="185623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1" name="h0"/>
          <p:cNvSpPr txBox="1"/>
          <p:nvPr/>
        </p:nvSpPr>
        <p:spPr>
          <a:xfrm>
            <a:off x="8458200" y="1856232"/>
            <a:ext cx="3184855" cy="329184"/>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Shortcuts for your role</a:t>
            </a:r>
            <a:endParaRPr lang="en-US" sz="1700" dirty="0"/>
          </a:p>
        </p:txBody>
      </p:sp>
      <p:sp>
        <p:nvSpPr>
          <p:cNvPr id="12" name="t0"/>
          <p:cNvSpPr txBox="1"/>
          <p:nvPr/>
        </p:nvSpPr>
        <p:spPr>
          <a:xfrm>
            <a:off x="8458200" y="2203704"/>
            <a:ext cx="3184855" cy="566928"/>
          </a:xfrm>
          <a:prstGeom prst="rect">
            <a:avLst/>
          </a:prstGeom>
          <a:noFill/>
          <a:ln/>
        </p:spPr>
        <p:txBody>
          <a:bodyPr wrap="square" lIns="0" tIns="0" rIns="0" bIns="0" rtlCol="0" anchor="t"/>
          <a:lstStyle/>
          <a:p>
            <a:pPr indent="0" marL="0">
              <a:buNone/>
            </a:pPr>
            <a:r>
              <a:rPr lang="en-US" sz="1400" dirty="0">
                <a:solidFill>
                  <a:srgbClr val="58585D"/>
                </a:solidFill>
                <a:latin typeface="Arial" pitchFamily="34" charset="0"/>
                <a:ea typeface="Arial" pitchFamily="34" charset="-122"/>
                <a:cs typeface="Arial" pitchFamily="34" charset="-120"/>
              </a:rPr>
              <a:t>What this person does next, one click away.</a:t>
            </a:r>
            <a:endParaRPr lang="en-US" sz="1400" dirty="0"/>
          </a:p>
        </p:txBody>
      </p:sp>
      <p:sp>
        <p:nvSpPr>
          <p:cNvPr id="13" name="frame"/>
          <p:cNvSpPr/>
          <p:nvPr/>
        </p:nvSpPr>
        <p:spPr>
          <a:xfrm>
            <a:off x="1825244" y="3207874"/>
            <a:ext cx="3722465" cy="3081234"/>
          </a:xfrm>
          <a:prstGeom prst="roundRect">
            <a:avLst>
              <a:gd name="adj" fmla="val 1781"/>
            </a:avLst>
          </a:prstGeom>
          <a:ln w="25400">
            <a:solidFill>
              <a:srgbClr val="F26722"/>
            </a:solidFill>
            <a:prstDash val="solid"/>
          </a:ln>
        </p:spPr>
      </p:sp>
      <p:sp>
        <p:nvSpPr>
          <p:cNvPr id="14" name="m2"/>
          <p:cNvSpPr/>
          <p:nvPr/>
        </p:nvSpPr>
        <p:spPr>
          <a:xfrm>
            <a:off x="1669796" y="3052426"/>
            <a:ext cx="310896" cy="310896"/>
          </a:xfrm>
          <a:prstGeom prst="ellipse">
            <a:avLst/>
          </a:prstGeom>
          <a:solidFill>
            <a:srgbClr val="C4511A"/>
          </a:solidFill>
          <a:ln w="25400">
            <a:solidFill>
              <a:srgbClr val="FFFFFF"/>
            </a:solidFill>
            <a:prstDash val="solid"/>
          </a:ln>
        </p:spPr>
      </p:sp>
      <p:sp>
        <p:nvSpPr>
          <p:cNvPr id="15" name="m2t"/>
          <p:cNvSpPr txBox="1"/>
          <p:nvPr/>
        </p:nvSpPr>
        <p:spPr>
          <a:xfrm>
            <a:off x="1669796" y="3052426"/>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m2"/>
          <p:cNvSpPr/>
          <p:nvPr/>
        </p:nvSpPr>
        <p:spPr>
          <a:xfrm>
            <a:off x="7918704" y="2880360"/>
            <a:ext cx="347472" cy="347472"/>
          </a:xfrm>
          <a:prstGeom prst="ellipse">
            <a:avLst/>
          </a:prstGeom>
          <a:solidFill>
            <a:srgbClr val="C4511A"/>
          </a:solidFill>
          <a:ln w="25400">
            <a:solidFill>
              <a:srgbClr val="FFFFFF"/>
            </a:solidFill>
            <a:prstDash val="solid"/>
          </a:ln>
        </p:spPr>
      </p:sp>
      <p:sp>
        <p:nvSpPr>
          <p:cNvPr id="17" name="m2t"/>
          <p:cNvSpPr txBox="1"/>
          <p:nvPr/>
        </p:nvSpPr>
        <p:spPr>
          <a:xfrm>
            <a:off x="7918704" y="288036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8" name="h1"/>
          <p:cNvSpPr txBox="1"/>
          <p:nvPr/>
        </p:nvSpPr>
        <p:spPr>
          <a:xfrm>
            <a:off x="8458200" y="2880360"/>
            <a:ext cx="3184855" cy="329184"/>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The month at a glance</a:t>
            </a:r>
            <a:endParaRPr lang="en-US" sz="1700" dirty="0"/>
          </a:p>
        </p:txBody>
      </p:sp>
      <p:sp>
        <p:nvSpPr>
          <p:cNvPr id="19" name="t1"/>
          <p:cNvSpPr txBox="1"/>
          <p:nvPr/>
        </p:nvSpPr>
        <p:spPr>
          <a:xfrm>
            <a:off x="8458200" y="3227832"/>
            <a:ext cx="3184855" cy="566928"/>
          </a:xfrm>
          <a:prstGeom prst="rect">
            <a:avLst/>
          </a:prstGeom>
          <a:noFill/>
          <a:ln/>
        </p:spPr>
        <p:txBody>
          <a:bodyPr wrap="square" lIns="0" tIns="0" rIns="0" bIns="0" rtlCol="0" anchor="t"/>
          <a:lstStyle/>
          <a:p>
            <a:pPr indent="0" marL="0">
              <a:buNone/>
            </a:pPr>
            <a:r>
              <a:rPr lang="en-US" sz="1400" dirty="0">
                <a:solidFill>
                  <a:srgbClr val="58585D"/>
                </a:solidFill>
                <a:latin typeface="Arial" pitchFamily="34" charset="0"/>
                <a:ea typeface="Arial" pitchFamily="34" charset="-122"/>
                <a:cs typeface="Arial" pitchFamily="34" charset="-120"/>
              </a:rPr>
              <a:t>Every number against last month, with its trend.</a:t>
            </a:r>
            <a:endParaRPr lang="en-US" sz="1400" dirty="0"/>
          </a:p>
        </p:txBody>
      </p:sp>
      <p:sp>
        <p:nvSpPr>
          <p:cNvPr id="20" name="frame"/>
          <p:cNvSpPr/>
          <p:nvPr/>
        </p:nvSpPr>
        <p:spPr>
          <a:xfrm>
            <a:off x="5569553" y="3207874"/>
            <a:ext cx="1756823" cy="3081234"/>
          </a:xfrm>
          <a:prstGeom prst="roundRect">
            <a:avLst>
              <a:gd name="adj" fmla="val 3123"/>
            </a:avLst>
          </a:prstGeom>
          <a:ln w="25400">
            <a:solidFill>
              <a:srgbClr val="F26722"/>
            </a:solidFill>
            <a:prstDash val="solid"/>
          </a:ln>
        </p:spPr>
      </p:sp>
      <p:sp>
        <p:nvSpPr>
          <p:cNvPr id="21" name="m3"/>
          <p:cNvSpPr/>
          <p:nvPr/>
        </p:nvSpPr>
        <p:spPr>
          <a:xfrm>
            <a:off x="5414105" y="3052426"/>
            <a:ext cx="310896" cy="310896"/>
          </a:xfrm>
          <a:prstGeom prst="ellipse">
            <a:avLst/>
          </a:prstGeom>
          <a:solidFill>
            <a:srgbClr val="C4511A"/>
          </a:solidFill>
          <a:ln w="25400">
            <a:solidFill>
              <a:srgbClr val="FFFFFF"/>
            </a:solidFill>
            <a:prstDash val="solid"/>
          </a:ln>
        </p:spPr>
      </p:sp>
      <p:sp>
        <p:nvSpPr>
          <p:cNvPr id="22" name="m3t"/>
          <p:cNvSpPr txBox="1"/>
          <p:nvPr/>
        </p:nvSpPr>
        <p:spPr>
          <a:xfrm>
            <a:off x="5414105" y="3052426"/>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3" name="m3"/>
          <p:cNvSpPr/>
          <p:nvPr/>
        </p:nvSpPr>
        <p:spPr>
          <a:xfrm>
            <a:off x="7918704" y="3904488"/>
            <a:ext cx="347472" cy="347472"/>
          </a:xfrm>
          <a:prstGeom prst="ellipse">
            <a:avLst/>
          </a:prstGeom>
          <a:solidFill>
            <a:srgbClr val="C4511A"/>
          </a:solidFill>
          <a:ln w="25400">
            <a:solidFill>
              <a:srgbClr val="FFFFFF"/>
            </a:solidFill>
            <a:prstDash val="solid"/>
          </a:ln>
        </p:spPr>
      </p:sp>
      <p:sp>
        <p:nvSpPr>
          <p:cNvPr id="24" name="m3t"/>
          <p:cNvSpPr txBox="1"/>
          <p:nvPr/>
        </p:nvSpPr>
        <p:spPr>
          <a:xfrm>
            <a:off x="7918704" y="390448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5" name="h2"/>
          <p:cNvSpPr txBox="1"/>
          <p:nvPr/>
        </p:nvSpPr>
        <p:spPr>
          <a:xfrm>
            <a:off x="8458200" y="3904488"/>
            <a:ext cx="3184855" cy="329184"/>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The month close</a:t>
            </a:r>
            <a:endParaRPr lang="en-US" sz="1700" dirty="0"/>
          </a:p>
        </p:txBody>
      </p:sp>
      <p:sp>
        <p:nvSpPr>
          <p:cNvPr id="26" name="t2"/>
          <p:cNvSpPr txBox="1"/>
          <p:nvPr/>
        </p:nvSpPr>
        <p:spPr>
          <a:xfrm>
            <a:off x="8458200" y="4251960"/>
            <a:ext cx="3184855" cy="566928"/>
          </a:xfrm>
          <a:prstGeom prst="rect">
            <a:avLst/>
          </a:prstGeom>
          <a:noFill/>
          <a:ln/>
        </p:spPr>
        <p:txBody>
          <a:bodyPr wrap="square" lIns="0" tIns="0" rIns="0" bIns="0" rtlCol="0" anchor="t"/>
          <a:lstStyle/>
          <a:p>
            <a:pPr indent="0" marL="0">
              <a:buNone/>
            </a:pPr>
            <a:r>
              <a:rPr lang="en-US" sz="1400" dirty="0">
                <a:solidFill>
                  <a:srgbClr val="58585D"/>
                </a:solidFill>
                <a:latin typeface="Arial" pitchFamily="34" charset="0"/>
                <a:ea typeface="Arial" pitchFamily="34" charset="-122"/>
                <a:cs typeface="Arial" pitchFamily="34" charset="-120"/>
              </a:rPr>
              <a:t>Each step of the close, done or due, and whose turn it is.</a:t>
            </a:r>
            <a:endParaRPr lang="en-US" sz="1400" dirty="0"/>
          </a:p>
        </p:txBody>
      </p:sp>
      <p:sp>
        <p:nvSpPr>
          <p:cNvPr id="27" name="frame"/>
          <p:cNvSpPr/>
          <p:nvPr/>
        </p:nvSpPr>
        <p:spPr>
          <a:xfrm>
            <a:off x="6744589" y="2006161"/>
            <a:ext cx="226568" cy="226568"/>
          </a:xfrm>
          <a:prstGeom prst="ellipse">
            <a:avLst/>
          </a:prstGeom>
          <a:ln w="25400">
            <a:solidFill>
              <a:srgbClr val="F26722"/>
            </a:solidFill>
            <a:prstDash val="solid"/>
          </a:ln>
        </p:spPr>
      </p:sp>
      <p:sp>
        <p:nvSpPr>
          <p:cNvPr id="28" name="m4"/>
          <p:cNvSpPr/>
          <p:nvPr/>
        </p:nvSpPr>
        <p:spPr>
          <a:xfrm>
            <a:off x="6369685" y="1963997"/>
            <a:ext cx="310896" cy="310896"/>
          </a:xfrm>
          <a:prstGeom prst="ellipse">
            <a:avLst/>
          </a:prstGeom>
          <a:solidFill>
            <a:srgbClr val="C4511A"/>
          </a:solidFill>
          <a:ln w="25400">
            <a:solidFill>
              <a:srgbClr val="FFFFFF"/>
            </a:solidFill>
            <a:prstDash val="solid"/>
          </a:ln>
        </p:spPr>
      </p:sp>
      <p:sp>
        <p:nvSpPr>
          <p:cNvPr id="29" name="m4t"/>
          <p:cNvSpPr txBox="1"/>
          <p:nvPr/>
        </p:nvSpPr>
        <p:spPr>
          <a:xfrm>
            <a:off x="6369685" y="1963997"/>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0" name="m4"/>
          <p:cNvSpPr/>
          <p:nvPr/>
        </p:nvSpPr>
        <p:spPr>
          <a:xfrm>
            <a:off x="7918704" y="4928616"/>
            <a:ext cx="347472" cy="347472"/>
          </a:xfrm>
          <a:prstGeom prst="ellipse">
            <a:avLst/>
          </a:prstGeom>
          <a:solidFill>
            <a:srgbClr val="C4511A"/>
          </a:solidFill>
          <a:ln w="25400">
            <a:solidFill>
              <a:srgbClr val="FFFFFF"/>
            </a:solidFill>
            <a:prstDash val="solid"/>
          </a:ln>
        </p:spPr>
      </p:sp>
      <p:sp>
        <p:nvSpPr>
          <p:cNvPr id="31" name="m4t"/>
          <p:cNvSpPr txBox="1"/>
          <p:nvPr/>
        </p:nvSpPr>
        <p:spPr>
          <a:xfrm>
            <a:off x="7918704" y="492861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2" name="h3"/>
          <p:cNvSpPr txBox="1"/>
          <p:nvPr/>
        </p:nvSpPr>
        <p:spPr>
          <a:xfrm>
            <a:off x="8458200" y="4928616"/>
            <a:ext cx="3184855" cy="329184"/>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The bell</a:t>
            </a:r>
            <a:endParaRPr lang="en-US" sz="1700" dirty="0"/>
          </a:p>
        </p:txBody>
      </p:sp>
      <p:sp>
        <p:nvSpPr>
          <p:cNvPr id="33" name="t3"/>
          <p:cNvSpPr txBox="1"/>
          <p:nvPr/>
        </p:nvSpPr>
        <p:spPr>
          <a:xfrm>
            <a:off x="8458200" y="5276088"/>
            <a:ext cx="3184855" cy="566928"/>
          </a:xfrm>
          <a:prstGeom prst="rect">
            <a:avLst/>
          </a:prstGeom>
          <a:noFill/>
          <a:ln/>
        </p:spPr>
        <p:txBody>
          <a:bodyPr wrap="square" lIns="0" tIns="0" rIns="0" bIns="0" rtlCol="0" anchor="t"/>
          <a:lstStyle/>
          <a:p>
            <a:pPr indent="0" marL="0">
              <a:buNone/>
            </a:pPr>
            <a:r>
              <a:rPr lang="en-US" sz="1400" dirty="0">
                <a:solidFill>
                  <a:srgbClr val="58585D"/>
                </a:solidFill>
                <a:latin typeface="Arial" pitchFamily="34" charset="0"/>
                <a:ea typeface="Arial" pitchFamily="34" charset="-122"/>
                <a:cs typeface="Arial" pitchFamily="34" charset="-120"/>
              </a:rPr>
              <a:t>Each person's deadlines and checks, in one place.</a:t>
            </a:r>
            <a:endParaRPr lang="en-US" sz="1400" dirty="0"/>
          </a:p>
        </p:txBody>
      </p:sp>
      <p:sp>
        <p:nvSpPr>
          <p:cNvPr id="34" name="chip"/>
          <p:cNvSpPr/>
          <p:nvPr/>
        </p:nvSpPr>
        <p:spPr>
          <a:xfrm>
            <a:off x="7918704" y="5943600"/>
            <a:ext cx="1377086" cy="384048"/>
          </a:xfrm>
          <a:prstGeom prst="roundRect">
            <a:avLst>
              <a:gd name="adj" fmla="val 50000"/>
            </a:avLst>
          </a:prstGeom>
          <a:solidFill>
            <a:srgbClr val="FFFFFF"/>
          </a:solidFill>
          <a:ln w="9525">
            <a:solidFill>
              <a:srgbClr val="E5E5EA"/>
            </a:solidFill>
            <a:prstDash val="solid"/>
          </a:ln>
        </p:spPr>
      </p:sp>
      <p:sp>
        <p:nvSpPr>
          <p:cNvPr id="35" name="chip-t"/>
          <p:cNvSpPr txBox="1"/>
          <p:nvPr/>
        </p:nvSpPr>
        <p:spPr>
          <a:xfrm>
            <a:off x="7918704" y="5943600"/>
            <a:ext cx="1377086" cy="384048"/>
          </a:xfrm>
          <a:prstGeom prst="rect">
            <a:avLst/>
          </a:prstGeom>
          <a:noFill/>
          <a:ln/>
        </p:spPr>
        <p:txBody>
          <a:bodyPr wrap="square" lIns="0" tIns="0" rIns="0" bIns="0" rtlCol="0" anchor="ctr"/>
          <a:lstStyle/>
          <a:p>
            <a:pPr algn="ctr" indent="0" marL="0">
              <a:buNone/>
            </a:pPr>
            <a:r>
              <a:rPr lang="en-US" sz="1300" dirty="0">
                <a:solidFill>
                  <a:srgbClr val="1D1D1F"/>
                </a:solidFill>
                <a:latin typeface="Arial" pitchFamily="34" charset="0"/>
                <a:ea typeface="Arial" pitchFamily="34" charset="-122"/>
                <a:cs typeface="Arial" pitchFamily="34" charset="-120"/>
              </a:rPr>
              <a:t>Works offline</a:t>
            </a:r>
            <a:endParaRPr lang="en-US" sz="1300" dirty="0"/>
          </a:p>
        </p:txBody>
      </p:sp>
      <p:sp>
        <p:nvSpPr>
          <p:cNvPr id="36" name="chip"/>
          <p:cNvSpPr/>
          <p:nvPr/>
        </p:nvSpPr>
        <p:spPr>
          <a:xfrm>
            <a:off x="9405518" y="5943600"/>
            <a:ext cx="1377086" cy="384048"/>
          </a:xfrm>
          <a:prstGeom prst="roundRect">
            <a:avLst>
              <a:gd name="adj" fmla="val 50000"/>
            </a:avLst>
          </a:prstGeom>
          <a:solidFill>
            <a:srgbClr val="FFFFFF"/>
          </a:solidFill>
          <a:ln w="9525">
            <a:solidFill>
              <a:srgbClr val="E5E5EA"/>
            </a:solidFill>
            <a:prstDash val="solid"/>
          </a:ln>
        </p:spPr>
      </p:sp>
      <p:sp>
        <p:nvSpPr>
          <p:cNvPr id="37" name="chip-t"/>
          <p:cNvSpPr txBox="1"/>
          <p:nvPr/>
        </p:nvSpPr>
        <p:spPr>
          <a:xfrm>
            <a:off x="9405518" y="5943600"/>
            <a:ext cx="1377086" cy="384048"/>
          </a:xfrm>
          <a:prstGeom prst="rect">
            <a:avLst/>
          </a:prstGeom>
          <a:noFill/>
          <a:ln/>
        </p:spPr>
        <p:txBody>
          <a:bodyPr wrap="square" lIns="0" tIns="0" rIns="0" bIns="0" rtlCol="0" anchor="ctr"/>
          <a:lstStyle/>
          <a:p>
            <a:pPr algn="ctr" indent="0" marL="0">
              <a:buNone/>
            </a:pPr>
            <a:r>
              <a:rPr lang="en-US" sz="1300" dirty="0">
                <a:solidFill>
                  <a:srgbClr val="1D1D1F"/>
                </a:solidFill>
                <a:latin typeface="Arial" pitchFamily="34" charset="0"/>
                <a:ea typeface="Arial" pitchFamily="34" charset="-122"/>
                <a:cs typeface="Arial" pitchFamily="34" charset="-120"/>
              </a:rPr>
              <a:t>Shared folder</a:t>
            </a:r>
            <a:endParaRPr lang="en-US" sz="1300" dirty="0"/>
          </a:p>
        </p:txBody>
      </p:sp>
      <p:sp>
        <p:nvSpPr>
          <p:cNvPr id="38" name="chip"/>
          <p:cNvSpPr/>
          <p:nvPr/>
        </p:nvSpPr>
        <p:spPr>
          <a:xfrm>
            <a:off x="10892333" y="5943600"/>
            <a:ext cx="852221" cy="384048"/>
          </a:xfrm>
          <a:prstGeom prst="roundRect">
            <a:avLst>
              <a:gd name="adj" fmla="val 50000"/>
            </a:avLst>
          </a:prstGeom>
          <a:solidFill>
            <a:srgbClr val="FFFFFF"/>
          </a:solidFill>
          <a:ln w="9525">
            <a:solidFill>
              <a:srgbClr val="E5E5EA"/>
            </a:solidFill>
            <a:prstDash val="solid"/>
          </a:ln>
        </p:spPr>
      </p:sp>
      <p:sp>
        <p:nvSpPr>
          <p:cNvPr id="39" name="chip-t"/>
          <p:cNvSpPr txBox="1"/>
          <p:nvPr/>
        </p:nvSpPr>
        <p:spPr>
          <a:xfrm>
            <a:off x="10892333" y="5943600"/>
            <a:ext cx="852221" cy="384048"/>
          </a:xfrm>
          <a:prstGeom prst="rect">
            <a:avLst/>
          </a:prstGeom>
          <a:noFill/>
          <a:ln/>
        </p:spPr>
        <p:txBody>
          <a:bodyPr wrap="square" lIns="0" tIns="0" rIns="0" bIns="0" rtlCol="0" anchor="ctr"/>
          <a:lstStyle/>
          <a:p>
            <a:pPr algn="ctr" indent="0" marL="0">
              <a:buNone/>
            </a:pPr>
            <a:r>
              <a:rPr lang="en-US" sz="1300" dirty="0">
                <a:solidFill>
                  <a:srgbClr val="1D1D1F"/>
                </a:solidFill>
                <a:latin typeface="Arial" pitchFamily="34" charset="0"/>
                <a:ea typeface="Arial" pitchFamily="34" charset="-122"/>
                <a:cs typeface="Arial" pitchFamily="34" charset="-120"/>
              </a:rPr>
              <a:t>Locked</a:t>
            </a:r>
            <a:endParaRPr lang="en-US" sz="1300" dirty="0"/>
          </a:p>
        </p:txBody>
      </p:sp>
      <p:sp>
        <p:nvSpPr>
          <p:cNvPr id="25" name="Slide Number Placeholder 0"/>
          <p:cNvSpPr>
            <a:spLocks noGrp="1"/>
          </p:cNvSpPr>
          <p:nvPr>
            <p:ph type="sldNum" sz="quarter" idx="4294967295"/>
          </p:nvPr>
        </p:nvSpPr>
        <p:spPr>
          <a:xfrm>
            <a:off x="11091672" y="640080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E8E93"/>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42" presetClass="entr" presetSubtype="0" fill="hold" grpId="0" nodeType="withEffect">
                                  <p:stCondLst>
                                    <p:cond delay="2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50"/>
                                        <p:tgtEl>
                                          <p:spTgt spid="5"/>
                                        </p:tgtEl>
                                      </p:cBhvr>
                                    </p:animEffect>
                                    <p:anim calcmode="lin" valueType="num">
                                      <p:cBhvr>
                                        <p:cTn id="11" dur="650" fill="hold"/>
                                        <p:tgtEl>
                                          <p:spTgt spid="5"/>
                                        </p:tgtEl>
                                        <p:attrNameLst>
                                          <p:attrName>ppt_x</p:attrName>
                                        </p:attrNameLst>
                                      </p:cBhvr>
                                      <p:tavLst>
                                        <p:tav tm="0">
                                          <p:val>
                                            <p:strVal val="#ppt_x"/>
                                          </p:val>
                                        </p:tav>
                                        <p:tav tm="100000">
                                          <p:val>
                                            <p:strVal val="#ppt_x"/>
                                          </p:val>
                                        </p:tav>
                                      </p:tavLst>
                                    </p:anim>
                                    <p:anim calcmode="lin" valueType="num">
                                      <p:cBhvr>
                                        <p:cTn id="12" dur="650" fill="hold"/>
                                        <p:tgtEl>
                                          <p:spTgt spid="5"/>
                                        </p:tgtEl>
                                        <p:attrNameLst>
                                          <p:attrName>ppt_y</p:attrName>
                                        </p:attrNameLst>
                                      </p:cBhvr>
                                      <p:tavLst>
                                        <p:tav tm="0">
                                          <p:val>
                                            <p:strVal val="#ppt_y+.05"/>
                                          </p:val>
                                        </p:tav>
                                        <p:tav tm="100000">
                                          <p:val>
                                            <p:strVal val="#ppt_y"/>
                                          </p:val>
                                        </p:tav>
                                      </p:tavLst>
                                    </p:anim>
                                  </p:childTnLst>
                                </p:cTn>
                              </p:par>
                              <p:par>
                                <p:cTn id="13" presetID="10" presetClass="entr" presetSubtype="0" fill="hold" grpId="0" nodeType="withEffect">
                                  <p:stCondLst>
                                    <p:cond delay="7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42" presetClass="entr" presetSubtype="0" fill="hold" grpId="0" nodeType="withEffect">
                                  <p:stCondLst>
                                    <p:cond delay="7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50"/>
                                        <p:tgtEl>
                                          <p:spTgt spid="7"/>
                                        </p:tgtEl>
                                      </p:cBhvr>
                                    </p:animEffect>
                                    <p:anim calcmode="lin" valueType="num">
                                      <p:cBhvr>
                                        <p:cTn id="19" dur="650" fill="hold"/>
                                        <p:tgtEl>
                                          <p:spTgt spid="7"/>
                                        </p:tgtEl>
                                        <p:attrNameLst>
                                          <p:attrName>ppt_x</p:attrName>
                                        </p:attrNameLst>
                                      </p:cBhvr>
                                      <p:tavLst>
                                        <p:tav tm="0">
                                          <p:val>
                                            <p:strVal val="#ppt_x"/>
                                          </p:val>
                                        </p:tav>
                                        <p:tav tm="100000">
                                          <p:val>
                                            <p:strVal val="#ppt_x"/>
                                          </p:val>
                                        </p:tav>
                                      </p:tavLst>
                                    </p:anim>
                                    <p:anim calcmode="lin" valueType="num">
                                      <p:cBhvr>
                                        <p:cTn id="20" dur="650" fill="hold"/>
                                        <p:tgtEl>
                                          <p:spTgt spid="7"/>
                                        </p:tgtEl>
                                        <p:attrNameLst>
                                          <p:attrName>ppt_y</p:attrName>
                                        </p:attrNameLst>
                                      </p:cBhvr>
                                      <p:tavLst>
                                        <p:tav tm="0">
                                          <p:val>
                                            <p:strVal val="#ppt_y+.05"/>
                                          </p:val>
                                        </p:tav>
                                        <p:tav tm="100000">
                                          <p:val>
                                            <p:strVal val="#ppt_y"/>
                                          </p:val>
                                        </p:tav>
                                      </p:tavLst>
                                    </p:anim>
                                  </p:childTnLst>
                                </p:cTn>
                              </p:par>
                              <p:par>
                                <p:cTn id="21" presetID="42" presetClass="entr" presetSubtype="0" fill="hold" grpId="0" nodeType="withEffect">
                                  <p:stCondLst>
                                    <p:cond delay="70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650"/>
                                        <p:tgtEl>
                                          <p:spTgt spid="8"/>
                                        </p:tgtEl>
                                      </p:cBhvr>
                                    </p:animEffect>
                                    <p:anim calcmode="lin" valueType="num">
                                      <p:cBhvr>
                                        <p:cTn id="24" dur="650" fill="hold"/>
                                        <p:tgtEl>
                                          <p:spTgt spid="8"/>
                                        </p:tgtEl>
                                        <p:attrNameLst>
                                          <p:attrName>ppt_x</p:attrName>
                                        </p:attrNameLst>
                                      </p:cBhvr>
                                      <p:tavLst>
                                        <p:tav tm="0">
                                          <p:val>
                                            <p:strVal val="#ppt_x"/>
                                          </p:val>
                                        </p:tav>
                                        <p:tav tm="100000">
                                          <p:val>
                                            <p:strVal val="#ppt_x"/>
                                          </p:val>
                                        </p:tav>
                                      </p:tavLst>
                                    </p:anim>
                                    <p:anim calcmode="lin" valueType="num">
                                      <p:cBhvr>
                                        <p:cTn id="25" dur="650" fill="hold"/>
                                        <p:tgtEl>
                                          <p:spTgt spid="8"/>
                                        </p:tgtEl>
                                        <p:attrNameLst>
                                          <p:attrName>ppt_y</p:attrName>
                                        </p:attrNameLst>
                                      </p:cBhvr>
                                      <p:tavLst>
                                        <p:tav tm="0">
                                          <p:val>
                                            <p:strVal val="#ppt_y+.05"/>
                                          </p:val>
                                        </p:tav>
                                        <p:tav tm="100000">
                                          <p:val>
                                            <p:strVal val="#ppt_y"/>
                                          </p:val>
                                        </p:tav>
                                      </p:tavLst>
                                    </p:anim>
                                  </p:childTnLst>
                                </p:cTn>
                              </p:par>
                              <p:par>
                                <p:cTn id="26" presetID="42" presetClass="entr" presetSubtype="0" fill="hold" grpId="0" nodeType="withEffect">
                                  <p:stCondLst>
                                    <p:cond delay="70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650"/>
                                        <p:tgtEl>
                                          <p:spTgt spid="9"/>
                                        </p:tgtEl>
                                      </p:cBhvr>
                                    </p:animEffect>
                                    <p:anim calcmode="lin" valueType="num">
                                      <p:cBhvr>
                                        <p:cTn id="29" dur="650" fill="hold"/>
                                        <p:tgtEl>
                                          <p:spTgt spid="9"/>
                                        </p:tgtEl>
                                        <p:attrNameLst>
                                          <p:attrName>ppt_x</p:attrName>
                                        </p:attrNameLst>
                                      </p:cBhvr>
                                      <p:tavLst>
                                        <p:tav tm="0">
                                          <p:val>
                                            <p:strVal val="#ppt_x"/>
                                          </p:val>
                                        </p:tav>
                                        <p:tav tm="100000">
                                          <p:val>
                                            <p:strVal val="#ppt_x"/>
                                          </p:val>
                                        </p:tav>
                                      </p:tavLst>
                                    </p:anim>
                                    <p:anim calcmode="lin" valueType="num">
                                      <p:cBhvr>
                                        <p:cTn id="30" dur="650" fill="hold"/>
                                        <p:tgtEl>
                                          <p:spTgt spid="9"/>
                                        </p:tgtEl>
                                        <p:attrNameLst>
                                          <p:attrName>ppt_y</p:attrName>
                                        </p:attrNameLst>
                                      </p:cBhvr>
                                      <p:tavLst>
                                        <p:tav tm="0">
                                          <p:val>
                                            <p:strVal val="#ppt_y+.05"/>
                                          </p:val>
                                        </p:tav>
                                        <p:tav tm="100000">
                                          <p:val>
                                            <p:strVal val="#ppt_y"/>
                                          </p:val>
                                        </p:tav>
                                      </p:tavLst>
                                    </p:anim>
                                  </p:childTnLst>
                                </p:cTn>
                              </p:par>
                              <p:par>
                                <p:cTn id="31" presetID="42" presetClass="entr" presetSubtype="0" fill="hold" grpId="0" nodeType="withEffect">
                                  <p:stCondLst>
                                    <p:cond delay="70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650"/>
                                        <p:tgtEl>
                                          <p:spTgt spid="10"/>
                                        </p:tgtEl>
                                      </p:cBhvr>
                                    </p:animEffect>
                                    <p:anim calcmode="lin" valueType="num">
                                      <p:cBhvr>
                                        <p:cTn id="34" dur="650" fill="hold"/>
                                        <p:tgtEl>
                                          <p:spTgt spid="10"/>
                                        </p:tgtEl>
                                        <p:attrNameLst>
                                          <p:attrName>ppt_x</p:attrName>
                                        </p:attrNameLst>
                                      </p:cBhvr>
                                      <p:tavLst>
                                        <p:tav tm="0">
                                          <p:val>
                                            <p:strVal val="#ppt_x"/>
                                          </p:val>
                                        </p:tav>
                                        <p:tav tm="100000">
                                          <p:val>
                                            <p:strVal val="#ppt_x"/>
                                          </p:val>
                                        </p:tav>
                                      </p:tavLst>
                                    </p:anim>
                                    <p:anim calcmode="lin" valueType="num">
                                      <p:cBhvr>
                                        <p:cTn id="35" dur="650" fill="hold"/>
                                        <p:tgtEl>
                                          <p:spTgt spid="10"/>
                                        </p:tgtEl>
                                        <p:attrNameLst>
                                          <p:attrName>ppt_y</p:attrName>
                                        </p:attrNameLst>
                                      </p:cBhvr>
                                      <p:tavLst>
                                        <p:tav tm="0">
                                          <p:val>
                                            <p:strVal val="#ppt_y+.05"/>
                                          </p:val>
                                        </p:tav>
                                        <p:tav tm="100000">
                                          <p:val>
                                            <p:strVal val="#ppt_y"/>
                                          </p:val>
                                        </p:tav>
                                      </p:tavLst>
                                    </p:anim>
                                  </p:childTnLst>
                                </p:cTn>
                              </p:par>
                              <p:par>
                                <p:cTn id="36" presetID="42" presetClass="entr" presetSubtype="0" fill="hold" grpId="0" nodeType="withEffect">
                                  <p:stCondLst>
                                    <p:cond delay="70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650"/>
                                        <p:tgtEl>
                                          <p:spTgt spid="11"/>
                                        </p:tgtEl>
                                      </p:cBhvr>
                                    </p:animEffect>
                                    <p:anim calcmode="lin" valueType="num">
                                      <p:cBhvr>
                                        <p:cTn id="39" dur="650" fill="hold"/>
                                        <p:tgtEl>
                                          <p:spTgt spid="11"/>
                                        </p:tgtEl>
                                        <p:attrNameLst>
                                          <p:attrName>ppt_x</p:attrName>
                                        </p:attrNameLst>
                                      </p:cBhvr>
                                      <p:tavLst>
                                        <p:tav tm="0">
                                          <p:val>
                                            <p:strVal val="#ppt_x"/>
                                          </p:val>
                                        </p:tav>
                                        <p:tav tm="100000">
                                          <p:val>
                                            <p:strVal val="#ppt_x"/>
                                          </p:val>
                                        </p:tav>
                                      </p:tavLst>
                                    </p:anim>
                                    <p:anim calcmode="lin" valueType="num">
                                      <p:cBhvr>
                                        <p:cTn id="40" dur="650" fill="hold"/>
                                        <p:tgtEl>
                                          <p:spTgt spid="11"/>
                                        </p:tgtEl>
                                        <p:attrNameLst>
                                          <p:attrName>ppt_y</p:attrName>
                                        </p:attrNameLst>
                                      </p:cBhvr>
                                      <p:tavLst>
                                        <p:tav tm="0">
                                          <p:val>
                                            <p:strVal val="#ppt_y+.05"/>
                                          </p:val>
                                        </p:tav>
                                        <p:tav tm="100000">
                                          <p:val>
                                            <p:strVal val="#ppt_y"/>
                                          </p:val>
                                        </p:tav>
                                      </p:tavLst>
                                    </p:anim>
                                  </p:childTnLst>
                                </p:cTn>
                              </p:par>
                              <p:par>
                                <p:cTn id="41" presetID="42" presetClass="entr" presetSubtype="0" fill="hold" grpId="0" nodeType="withEffect">
                                  <p:stCondLst>
                                    <p:cond delay="70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650"/>
                                        <p:tgtEl>
                                          <p:spTgt spid="12"/>
                                        </p:tgtEl>
                                      </p:cBhvr>
                                    </p:animEffect>
                                    <p:anim calcmode="lin" valueType="num">
                                      <p:cBhvr>
                                        <p:cTn id="44" dur="650" fill="hold"/>
                                        <p:tgtEl>
                                          <p:spTgt spid="12"/>
                                        </p:tgtEl>
                                        <p:attrNameLst>
                                          <p:attrName>ppt_x</p:attrName>
                                        </p:attrNameLst>
                                      </p:cBhvr>
                                      <p:tavLst>
                                        <p:tav tm="0">
                                          <p:val>
                                            <p:strVal val="#ppt_x"/>
                                          </p:val>
                                        </p:tav>
                                        <p:tav tm="100000">
                                          <p:val>
                                            <p:strVal val="#ppt_x"/>
                                          </p:val>
                                        </p:tav>
                                      </p:tavLst>
                                    </p:anim>
                                    <p:anim calcmode="lin" valueType="num">
                                      <p:cBhvr>
                                        <p:cTn id="45" dur="650" fill="hold"/>
                                        <p:tgtEl>
                                          <p:spTgt spid="12"/>
                                        </p:tgtEl>
                                        <p:attrNameLst>
                                          <p:attrName>ppt_y</p:attrName>
                                        </p:attrNameLst>
                                      </p:cBhvr>
                                      <p:tavLst>
                                        <p:tav tm="0">
                                          <p:val>
                                            <p:strVal val="#ppt_y+.05"/>
                                          </p:val>
                                        </p:tav>
                                        <p:tav tm="100000">
                                          <p:val>
                                            <p:strVal val="#ppt_y"/>
                                          </p:val>
                                        </p:tav>
                                      </p:tavLst>
                                    </p:anim>
                                  </p:childTnLst>
                                </p:cTn>
                              </p:par>
                              <p:par>
                                <p:cTn id="46" presetID="10" presetClass="entr" presetSubtype="0" fill="hold" grpId="0" nodeType="withEffect">
                                  <p:stCondLst>
                                    <p:cond delay="96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500"/>
                                        <p:tgtEl>
                                          <p:spTgt spid="13"/>
                                        </p:tgtEl>
                                      </p:cBhvr>
                                    </p:animEffect>
                                  </p:childTnLst>
                                </p:cTn>
                              </p:par>
                              <p:par>
                                <p:cTn id="49" presetID="42" presetClass="entr" presetSubtype="0" fill="hold" grpId="0" nodeType="withEffect">
                                  <p:stCondLst>
                                    <p:cond delay="96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650"/>
                                        <p:tgtEl>
                                          <p:spTgt spid="14"/>
                                        </p:tgtEl>
                                      </p:cBhvr>
                                    </p:animEffect>
                                    <p:anim calcmode="lin" valueType="num">
                                      <p:cBhvr>
                                        <p:cTn id="52" dur="650" fill="hold"/>
                                        <p:tgtEl>
                                          <p:spTgt spid="14"/>
                                        </p:tgtEl>
                                        <p:attrNameLst>
                                          <p:attrName>ppt_x</p:attrName>
                                        </p:attrNameLst>
                                      </p:cBhvr>
                                      <p:tavLst>
                                        <p:tav tm="0">
                                          <p:val>
                                            <p:strVal val="#ppt_x"/>
                                          </p:val>
                                        </p:tav>
                                        <p:tav tm="100000">
                                          <p:val>
                                            <p:strVal val="#ppt_x"/>
                                          </p:val>
                                        </p:tav>
                                      </p:tavLst>
                                    </p:anim>
                                    <p:anim calcmode="lin" valueType="num">
                                      <p:cBhvr>
                                        <p:cTn id="53" dur="650" fill="hold"/>
                                        <p:tgtEl>
                                          <p:spTgt spid="14"/>
                                        </p:tgtEl>
                                        <p:attrNameLst>
                                          <p:attrName>ppt_y</p:attrName>
                                        </p:attrNameLst>
                                      </p:cBhvr>
                                      <p:tavLst>
                                        <p:tav tm="0">
                                          <p:val>
                                            <p:strVal val="#ppt_y+.05"/>
                                          </p:val>
                                        </p:tav>
                                        <p:tav tm="100000">
                                          <p:val>
                                            <p:strVal val="#ppt_y"/>
                                          </p:val>
                                        </p:tav>
                                      </p:tavLst>
                                    </p:anim>
                                  </p:childTnLst>
                                </p:cTn>
                              </p:par>
                              <p:par>
                                <p:cTn id="54" presetID="42" presetClass="entr" presetSubtype="0" fill="hold" grpId="0" nodeType="withEffect">
                                  <p:stCondLst>
                                    <p:cond delay="96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650"/>
                                        <p:tgtEl>
                                          <p:spTgt spid="15"/>
                                        </p:tgtEl>
                                      </p:cBhvr>
                                    </p:animEffect>
                                    <p:anim calcmode="lin" valueType="num">
                                      <p:cBhvr>
                                        <p:cTn id="57" dur="650" fill="hold"/>
                                        <p:tgtEl>
                                          <p:spTgt spid="15"/>
                                        </p:tgtEl>
                                        <p:attrNameLst>
                                          <p:attrName>ppt_x</p:attrName>
                                        </p:attrNameLst>
                                      </p:cBhvr>
                                      <p:tavLst>
                                        <p:tav tm="0">
                                          <p:val>
                                            <p:strVal val="#ppt_x"/>
                                          </p:val>
                                        </p:tav>
                                        <p:tav tm="100000">
                                          <p:val>
                                            <p:strVal val="#ppt_x"/>
                                          </p:val>
                                        </p:tav>
                                      </p:tavLst>
                                    </p:anim>
                                    <p:anim calcmode="lin" valueType="num">
                                      <p:cBhvr>
                                        <p:cTn id="58" dur="650" fill="hold"/>
                                        <p:tgtEl>
                                          <p:spTgt spid="15"/>
                                        </p:tgtEl>
                                        <p:attrNameLst>
                                          <p:attrName>ppt_y</p:attrName>
                                        </p:attrNameLst>
                                      </p:cBhvr>
                                      <p:tavLst>
                                        <p:tav tm="0">
                                          <p:val>
                                            <p:strVal val="#ppt_y+.05"/>
                                          </p:val>
                                        </p:tav>
                                        <p:tav tm="100000">
                                          <p:val>
                                            <p:strVal val="#ppt_y"/>
                                          </p:val>
                                        </p:tav>
                                      </p:tavLst>
                                    </p:anim>
                                  </p:childTnLst>
                                </p:cTn>
                              </p:par>
                              <p:par>
                                <p:cTn id="59" presetID="42" presetClass="entr" presetSubtype="0" fill="hold" grpId="0" nodeType="withEffect">
                                  <p:stCondLst>
                                    <p:cond delay="96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650"/>
                                        <p:tgtEl>
                                          <p:spTgt spid="16"/>
                                        </p:tgtEl>
                                      </p:cBhvr>
                                    </p:animEffect>
                                    <p:anim calcmode="lin" valueType="num">
                                      <p:cBhvr>
                                        <p:cTn id="62" dur="650" fill="hold"/>
                                        <p:tgtEl>
                                          <p:spTgt spid="16"/>
                                        </p:tgtEl>
                                        <p:attrNameLst>
                                          <p:attrName>ppt_x</p:attrName>
                                        </p:attrNameLst>
                                      </p:cBhvr>
                                      <p:tavLst>
                                        <p:tav tm="0">
                                          <p:val>
                                            <p:strVal val="#ppt_x"/>
                                          </p:val>
                                        </p:tav>
                                        <p:tav tm="100000">
                                          <p:val>
                                            <p:strVal val="#ppt_x"/>
                                          </p:val>
                                        </p:tav>
                                      </p:tavLst>
                                    </p:anim>
                                    <p:anim calcmode="lin" valueType="num">
                                      <p:cBhvr>
                                        <p:cTn id="63" dur="650" fill="hold"/>
                                        <p:tgtEl>
                                          <p:spTgt spid="16"/>
                                        </p:tgtEl>
                                        <p:attrNameLst>
                                          <p:attrName>ppt_y</p:attrName>
                                        </p:attrNameLst>
                                      </p:cBhvr>
                                      <p:tavLst>
                                        <p:tav tm="0">
                                          <p:val>
                                            <p:strVal val="#ppt_y+.05"/>
                                          </p:val>
                                        </p:tav>
                                        <p:tav tm="100000">
                                          <p:val>
                                            <p:strVal val="#ppt_y"/>
                                          </p:val>
                                        </p:tav>
                                      </p:tavLst>
                                    </p:anim>
                                  </p:childTnLst>
                                </p:cTn>
                              </p:par>
                              <p:par>
                                <p:cTn id="64" presetID="42" presetClass="entr" presetSubtype="0" fill="hold" grpId="0" nodeType="withEffect">
                                  <p:stCondLst>
                                    <p:cond delay="960"/>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650"/>
                                        <p:tgtEl>
                                          <p:spTgt spid="17"/>
                                        </p:tgtEl>
                                      </p:cBhvr>
                                    </p:animEffect>
                                    <p:anim calcmode="lin" valueType="num">
                                      <p:cBhvr>
                                        <p:cTn id="67" dur="650" fill="hold"/>
                                        <p:tgtEl>
                                          <p:spTgt spid="17"/>
                                        </p:tgtEl>
                                        <p:attrNameLst>
                                          <p:attrName>ppt_x</p:attrName>
                                        </p:attrNameLst>
                                      </p:cBhvr>
                                      <p:tavLst>
                                        <p:tav tm="0">
                                          <p:val>
                                            <p:strVal val="#ppt_x"/>
                                          </p:val>
                                        </p:tav>
                                        <p:tav tm="100000">
                                          <p:val>
                                            <p:strVal val="#ppt_x"/>
                                          </p:val>
                                        </p:tav>
                                      </p:tavLst>
                                    </p:anim>
                                    <p:anim calcmode="lin" valueType="num">
                                      <p:cBhvr>
                                        <p:cTn id="68" dur="650" fill="hold"/>
                                        <p:tgtEl>
                                          <p:spTgt spid="17"/>
                                        </p:tgtEl>
                                        <p:attrNameLst>
                                          <p:attrName>ppt_y</p:attrName>
                                        </p:attrNameLst>
                                      </p:cBhvr>
                                      <p:tavLst>
                                        <p:tav tm="0">
                                          <p:val>
                                            <p:strVal val="#ppt_y+.05"/>
                                          </p:val>
                                        </p:tav>
                                        <p:tav tm="100000">
                                          <p:val>
                                            <p:strVal val="#ppt_y"/>
                                          </p:val>
                                        </p:tav>
                                      </p:tavLst>
                                    </p:anim>
                                  </p:childTnLst>
                                </p:cTn>
                              </p:par>
                              <p:par>
                                <p:cTn id="69" presetID="42" presetClass="entr" presetSubtype="0" fill="hold" grpId="0" nodeType="withEffect">
                                  <p:stCondLst>
                                    <p:cond delay="96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650"/>
                                        <p:tgtEl>
                                          <p:spTgt spid="18"/>
                                        </p:tgtEl>
                                      </p:cBhvr>
                                    </p:animEffect>
                                    <p:anim calcmode="lin" valueType="num">
                                      <p:cBhvr>
                                        <p:cTn id="72" dur="650" fill="hold"/>
                                        <p:tgtEl>
                                          <p:spTgt spid="18"/>
                                        </p:tgtEl>
                                        <p:attrNameLst>
                                          <p:attrName>ppt_x</p:attrName>
                                        </p:attrNameLst>
                                      </p:cBhvr>
                                      <p:tavLst>
                                        <p:tav tm="0">
                                          <p:val>
                                            <p:strVal val="#ppt_x"/>
                                          </p:val>
                                        </p:tav>
                                        <p:tav tm="100000">
                                          <p:val>
                                            <p:strVal val="#ppt_x"/>
                                          </p:val>
                                        </p:tav>
                                      </p:tavLst>
                                    </p:anim>
                                    <p:anim calcmode="lin" valueType="num">
                                      <p:cBhvr>
                                        <p:cTn id="73" dur="650" fill="hold"/>
                                        <p:tgtEl>
                                          <p:spTgt spid="18"/>
                                        </p:tgtEl>
                                        <p:attrNameLst>
                                          <p:attrName>ppt_y</p:attrName>
                                        </p:attrNameLst>
                                      </p:cBhvr>
                                      <p:tavLst>
                                        <p:tav tm="0">
                                          <p:val>
                                            <p:strVal val="#ppt_y+.05"/>
                                          </p:val>
                                        </p:tav>
                                        <p:tav tm="100000">
                                          <p:val>
                                            <p:strVal val="#ppt_y"/>
                                          </p:val>
                                        </p:tav>
                                      </p:tavLst>
                                    </p:anim>
                                  </p:childTnLst>
                                </p:cTn>
                              </p:par>
                              <p:par>
                                <p:cTn id="74" presetID="42" presetClass="entr" presetSubtype="0" fill="hold" grpId="0" nodeType="withEffect">
                                  <p:stCondLst>
                                    <p:cond delay="960"/>
                                  </p:stCondLst>
                                  <p:childTnLst>
                                    <p:set>
                                      <p:cBhvr>
                                        <p:cTn id="75" dur="1" fill="hold">
                                          <p:stCondLst>
                                            <p:cond delay="0"/>
                                          </p:stCondLst>
                                        </p:cTn>
                                        <p:tgtEl>
                                          <p:spTgt spid="19"/>
                                        </p:tgtEl>
                                        <p:attrNameLst>
                                          <p:attrName>style.visibility</p:attrName>
                                        </p:attrNameLst>
                                      </p:cBhvr>
                                      <p:to>
                                        <p:strVal val="visible"/>
                                      </p:to>
                                    </p:set>
                                    <p:animEffect transition="in" filter="fade">
                                      <p:cBhvr>
                                        <p:cTn id="76" dur="650"/>
                                        <p:tgtEl>
                                          <p:spTgt spid="19"/>
                                        </p:tgtEl>
                                      </p:cBhvr>
                                    </p:animEffect>
                                    <p:anim calcmode="lin" valueType="num">
                                      <p:cBhvr>
                                        <p:cTn id="77" dur="650" fill="hold"/>
                                        <p:tgtEl>
                                          <p:spTgt spid="19"/>
                                        </p:tgtEl>
                                        <p:attrNameLst>
                                          <p:attrName>ppt_x</p:attrName>
                                        </p:attrNameLst>
                                      </p:cBhvr>
                                      <p:tavLst>
                                        <p:tav tm="0">
                                          <p:val>
                                            <p:strVal val="#ppt_x"/>
                                          </p:val>
                                        </p:tav>
                                        <p:tav tm="100000">
                                          <p:val>
                                            <p:strVal val="#ppt_x"/>
                                          </p:val>
                                        </p:tav>
                                      </p:tavLst>
                                    </p:anim>
                                    <p:anim calcmode="lin" valueType="num">
                                      <p:cBhvr>
                                        <p:cTn id="78" dur="650" fill="hold"/>
                                        <p:tgtEl>
                                          <p:spTgt spid="19"/>
                                        </p:tgtEl>
                                        <p:attrNameLst>
                                          <p:attrName>ppt_y</p:attrName>
                                        </p:attrNameLst>
                                      </p:cBhvr>
                                      <p:tavLst>
                                        <p:tav tm="0">
                                          <p:val>
                                            <p:strVal val="#ppt_y+.05"/>
                                          </p:val>
                                        </p:tav>
                                        <p:tav tm="100000">
                                          <p:val>
                                            <p:strVal val="#ppt_y"/>
                                          </p:val>
                                        </p:tav>
                                      </p:tavLst>
                                    </p:anim>
                                  </p:childTnLst>
                                </p:cTn>
                              </p:par>
                              <p:par>
                                <p:cTn id="79" presetID="10" presetClass="entr" presetSubtype="0" fill="hold" grpId="0" nodeType="withEffect">
                                  <p:stCondLst>
                                    <p:cond delay="122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00"/>
                                        <p:tgtEl>
                                          <p:spTgt spid="20"/>
                                        </p:tgtEl>
                                      </p:cBhvr>
                                    </p:animEffect>
                                  </p:childTnLst>
                                </p:cTn>
                              </p:par>
                              <p:par>
                                <p:cTn id="82" presetID="42" presetClass="entr" presetSubtype="0" fill="hold" grpId="0" nodeType="withEffect">
                                  <p:stCondLst>
                                    <p:cond delay="1220"/>
                                  </p:stCondLst>
                                  <p:childTnLst>
                                    <p:set>
                                      <p:cBhvr>
                                        <p:cTn id="83" dur="1" fill="hold">
                                          <p:stCondLst>
                                            <p:cond delay="0"/>
                                          </p:stCondLst>
                                        </p:cTn>
                                        <p:tgtEl>
                                          <p:spTgt spid="21"/>
                                        </p:tgtEl>
                                        <p:attrNameLst>
                                          <p:attrName>style.visibility</p:attrName>
                                        </p:attrNameLst>
                                      </p:cBhvr>
                                      <p:to>
                                        <p:strVal val="visible"/>
                                      </p:to>
                                    </p:set>
                                    <p:animEffect transition="in" filter="fade">
                                      <p:cBhvr>
                                        <p:cTn id="84" dur="650"/>
                                        <p:tgtEl>
                                          <p:spTgt spid="21"/>
                                        </p:tgtEl>
                                      </p:cBhvr>
                                    </p:animEffect>
                                    <p:anim calcmode="lin" valueType="num">
                                      <p:cBhvr>
                                        <p:cTn id="85" dur="650" fill="hold"/>
                                        <p:tgtEl>
                                          <p:spTgt spid="21"/>
                                        </p:tgtEl>
                                        <p:attrNameLst>
                                          <p:attrName>ppt_x</p:attrName>
                                        </p:attrNameLst>
                                      </p:cBhvr>
                                      <p:tavLst>
                                        <p:tav tm="0">
                                          <p:val>
                                            <p:strVal val="#ppt_x"/>
                                          </p:val>
                                        </p:tav>
                                        <p:tav tm="100000">
                                          <p:val>
                                            <p:strVal val="#ppt_x"/>
                                          </p:val>
                                        </p:tav>
                                      </p:tavLst>
                                    </p:anim>
                                    <p:anim calcmode="lin" valueType="num">
                                      <p:cBhvr>
                                        <p:cTn id="86" dur="650" fill="hold"/>
                                        <p:tgtEl>
                                          <p:spTgt spid="21"/>
                                        </p:tgtEl>
                                        <p:attrNameLst>
                                          <p:attrName>ppt_y</p:attrName>
                                        </p:attrNameLst>
                                      </p:cBhvr>
                                      <p:tavLst>
                                        <p:tav tm="0">
                                          <p:val>
                                            <p:strVal val="#ppt_y+.05"/>
                                          </p:val>
                                        </p:tav>
                                        <p:tav tm="100000">
                                          <p:val>
                                            <p:strVal val="#ppt_y"/>
                                          </p:val>
                                        </p:tav>
                                      </p:tavLst>
                                    </p:anim>
                                  </p:childTnLst>
                                </p:cTn>
                              </p:par>
                              <p:par>
                                <p:cTn id="87" presetID="42" presetClass="entr" presetSubtype="0" fill="hold" grpId="0" nodeType="withEffect">
                                  <p:stCondLst>
                                    <p:cond delay="1220"/>
                                  </p:stCondLst>
                                  <p:childTnLst>
                                    <p:set>
                                      <p:cBhvr>
                                        <p:cTn id="88" dur="1" fill="hold">
                                          <p:stCondLst>
                                            <p:cond delay="0"/>
                                          </p:stCondLst>
                                        </p:cTn>
                                        <p:tgtEl>
                                          <p:spTgt spid="22"/>
                                        </p:tgtEl>
                                        <p:attrNameLst>
                                          <p:attrName>style.visibility</p:attrName>
                                        </p:attrNameLst>
                                      </p:cBhvr>
                                      <p:to>
                                        <p:strVal val="visible"/>
                                      </p:to>
                                    </p:set>
                                    <p:animEffect transition="in" filter="fade">
                                      <p:cBhvr>
                                        <p:cTn id="89" dur="650"/>
                                        <p:tgtEl>
                                          <p:spTgt spid="22"/>
                                        </p:tgtEl>
                                      </p:cBhvr>
                                    </p:animEffect>
                                    <p:anim calcmode="lin" valueType="num">
                                      <p:cBhvr>
                                        <p:cTn id="90" dur="650" fill="hold"/>
                                        <p:tgtEl>
                                          <p:spTgt spid="22"/>
                                        </p:tgtEl>
                                        <p:attrNameLst>
                                          <p:attrName>ppt_x</p:attrName>
                                        </p:attrNameLst>
                                      </p:cBhvr>
                                      <p:tavLst>
                                        <p:tav tm="0">
                                          <p:val>
                                            <p:strVal val="#ppt_x"/>
                                          </p:val>
                                        </p:tav>
                                        <p:tav tm="100000">
                                          <p:val>
                                            <p:strVal val="#ppt_x"/>
                                          </p:val>
                                        </p:tav>
                                      </p:tavLst>
                                    </p:anim>
                                    <p:anim calcmode="lin" valueType="num">
                                      <p:cBhvr>
                                        <p:cTn id="91" dur="650" fill="hold"/>
                                        <p:tgtEl>
                                          <p:spTgt spid="22"/>
                                        </p:tgtEl>
                                        <p:attrNameLst>
                                          <p:attrName>ppt_y</p:attrName>
                                        </p:attrNameLst>
                                      </p:cBhvr>
                                      <p:tavLst>
                                        <p:tav tm="0">
                                          <p:val>
                                            <p:strVal val="#ppt_y+.05"/>
                                          </p:val>
                                        </p:tav>
                                        <p:tav tm="100000">
                                          <p:val>
                                            <p:strVal val="#ppt_y"/>
                                          </p:val>
                                        </p:tav>
                                      </p:tavLst>
                                    </p:anim>
                                  </p:childTnLst>
                                </p:cTn>
                              </p:par>
                              <p:par>
                                <p:cTn id="92" presetID="42" presetClass="entr" presetSubtype="0" fill="hold" grpId="0" nodeType="withEffect">
                                  <p:stCondLst>
                                    <p:cond delay="122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650"/>
                                        <p:tgtEl>
                                          <p:spTgt spid="23"/>
                                        </p:tgtEl>
                                      </p:cBhvr>
                                    </p:animEffect>
                                    <p:anim calcmode="lin" valueType="num">
                                      <p:cBhvr>
                                        <p:cTn id="95" dur="650" fill="hold"/>
                                        <p:tgtEl>
                                          <p:spTgt spid="23"/>
                                        </p:tgtEl>
                                        <p:attrNameLst>
                                          <p:attrName>ppt_x</p:attrName>
                                        </p:attrNameLst>
                                      </p:cBhvr>
                                      <p:tavLst>
                                        <p:tav tm="0">
                                          <p:val>
                                            <p:strVal val="#ppt_x"/>
                                          </p:val>
                                        </p:tav>
                                        <p:tav tm="100000">
                                          <p:val>
                                            <p:strVal val="#ppt_x"/>
                                          </p:val>
                                        </p:tav>
                                      </p:tavLst>
                                    </p:anim>
                                    <p:anim calcmode="lin" valueType="num">
                                      <p:cBhvr>
                                        <p:cTn id="96" dur="650" fill="hold"/>
                                        <p:tgtEl>
                                          <p:spTgt spid="23"/>
                                        </p:tgtEl>
                                        <p:attrNameLst>
                                          <p:attrName>ppt_y</p:attrName>
                                        </p:attrNameLst>
                                      </p:cBhvr>
                                      <p:tavLst>
                                        <p:tav tm="0">
                                          <p:val>
                                            <p:strVal val="#ppt_y+.05"/>
                                          </p:val>
                                        </p:tav>
                                        <p:tav tm="100000">
                                          <p:val>
                                            <p:strVal val="#ppt_y"/>
                                          </p:val>
                                        </p:tav>
                                      </p:tavLst>
                                    </p:anim>
                                  </p:childTnLst>
                                </p:cTn>
                              </p:par>
                              <p:par>
                                <p:cTn id="97" presetID="42" presetClass="entr" presetSubtype="0" fill="hold" grpId="0" nodeType="withEffect">
                                  <p:stCondLst>
                                    <p:cond delay="1220"/>
                                  </p:stCondLst>
                                  <p:childTnLst>
                                    <p:set>
                                      <p:cBhvr>
                                        <p:cTn id="98" dur="1" fill="hold">
                                          <p:stCondLst>
                                            <p:cond delay="0"/>
                                          </p:stCondLst>
                                        </p:cTn>
                                        <p:tgtEl>
                                          <p:spTgt spid="24"/>
                                        </p:tgtEl>
                                        <p:attrNameLst>
                                          <p:attrName>style.visibility</p:attrName>
                                        </p:attrNameLst>
                                      </p:cBhvr>
                                      <p:to>
                                        <p:strVal val="visible"/>
                                      </p:to>
                                    </p:set>
                                    <p:animEffect transition="in" filter="fade">
                                      <p:cBhvr>
                                        <p:cTn id="99" dur="650"/>
                                        <p:tgtEl>
                                          <p:spTgt spid="24"/>
                                        </p:tgtEl>
                                      </p:cBhvr>
                                    </p:animEffect>
                                    <p:anim calcmode="lin" valueType="num">
                                      <p:cBhvr>
                                        <p:cTn id="100" dur="650" fill="hold"/>
                                        <p:tgtEl>
                                          <p:spTgt spid="24"/>
                                        </p:tgtEl>
                                        <p:attrNameLst>
                                          <p:attrName>ppt_x</p:attrName>
                                        </p:attrNameLst>
                                      </p:cBhvr>
                                      <p:tavLst>
                                        <p:tav tm="0">
                                          <p:val>
                                            <p:strVal val="#ppt_x"/>
                                          </p:val>
                                        </p:tav>
                                        <p:tav tm="100000">
                                          <p:val>
                                            <p:strVal val="#ppt_x"/>
                                          </p:val>
                                        </p:tav>
                                      </p:tavLst>
                                    </p:anim>
                                    <p:anim calcmode="lin" valueType="num">
                                      <p:cBhvr>
                                        <p:cTn id="101" dur="650" fill="hold"/>
                                        <p:tgtEl>
                                          <p:spTgt spid="24"/>
                                        </p:tgtEl>
                                        <p:attrNameLst>
                                          <p:attrName>ppt_y</p:attrName>
                                        </p:attrNameLst>
                                      </p:cBhvr>
                                      <p:tavLst>
                                        <p:tav tm="0">
                                          <p:val>
                                            <p:strVal val="#ppt_y+.05"/>
                                          </p:val>
                                        </p:tav>
                                        <p:tav tm="100000">
                                          <p:val>
                                            <p:strVal val="#ppt_y"/>
                                          </p:val>
                                        </p:tav>
                                      </p:tavLst>
                                    </p:anim>
                                  </p:childTnLst>
                                </p:cTn>
                              </p:par>
                              <p:par>
                                <p:cTn id="102" presetID="42" presetClass="entr" presetSubtype="0" fill="hold" grpId="0" nodeType="withEffect">
                                  <p:stCondLst>
                                    <p:cond delay="1220"/>
                                  </p:stCondLst>
                                  <p:childTnLst>
                                    <p:set>
                                      <p:cBhvr>
                                        <p:cTn id="103" dur="1" fill="hold">
                                          <p:stCondLst>
                                            <p:cond delay="0"/>
                                          </p:stCondLst>
                                        </p:cTn>
                                        <p:tgtEl>
                                          <p:spTgt spid="25"/>
                                        </p:tgtEl>
                                        <p:attrNameLst>
                                          <p:attrName>style.visibility</p:attrName>
                                        </p:attrNameLst>
                                      </p:cBhvr>
                                      <p:to>
                                        <p:strVal val="visible"/>
                                      </p:to>
                                    </p:set>
                                    <p:animEffect transition="in" filter="fade">
                                      <p:cBhvr>
                                        <p:cTn id="104" dur="650"/>
                                        <p:tgtEl>
                                          <p:spTgt spid="25"/>
                                        </p:tgtEl>
                                      </p:cBhvr>
                                    </p:animEffect>
                                    <p:anim calcmode="lin" valueType="num">
                                      <p:cBhvr>
                                        <p:cTn id="105" dur="650" fill="hold"/>
                                        <p:tgtEl>
                                          <p:spTgt spid="25"/>
                                        </p:tgtEl>
                                        <p:attrNameLst>
                                          <p:attrName>ppt_x</p:attrName>
                                        </p:attrNameLst>
                                      </p:cBhvr>
                                      <p:tavLst>
                                        <p:tav tm="0">
                                          <p:val>
                                            <p:strVal val="#ppt_x"/>
                                          </p:val>
                                        </p:tav>
                                        <p:tav tm="100000">
                                          <p:val>
                                            <p:strVal val="#ppt_x"/>
                                          </p:val>
                                        </p:tav>
                                      </p:tavLst>
                                    </p:anim>
                                    <p:anim calcmode="lin" valueType="num">
                                      <p:cBhvr>
                                        <p:cTn id="106" dur="650" fill="hold"/>
                                        <p:tgtEl>
                                          <p:spTgt spid="25"/>
                                        </p:tgtEl>
                                        <p:attrNameLst>
                                          <p:attrName>ppt_y</p:attrName>
                                        </p:attrNameLst>
                                      </p:cBhvr>
                                      <p:tavLst>
                                        <p:tav tm="0">
                                          <p:val>
                                            <p:strVal val="#ppt_y+.05"/>
                                          </p:val>
                                        </p:tav>
                                        <p:tav tm="100000">
                                          <p:val>
                                            <p:strVal val="#ppt_y"/>
                                          </p:val>
                                        </p:tav>
                                      </p:tavLst>
                                    </p:anim>
                                  </p:childTnLst>
                                </p:cTn>
                              </p:par>
                              <p:par>
                                <p:cTn id="107" presetID="42" presetClass="entr" presetSubtype="0" fill="hold" grpId="0" nodeType="withEffect">
                                  <p:stCondLst>
                                    <p:cond delay="1220"/>
                                  </p:stCondLst>
                                  <p:childTnLst>
                                    <p:set>
                                      <p:cBhvr>
                                        <p:cTn id="108" dur="1" fill="hold">
                                          <p:stCondLst>
                                            <p:cond delay="0"/>
                                          </p:stCondLst>
                                        </p:cTn>
                                        <p:tgtEl>
                                          <p:spTgt spid="26"/>
                                        </p:tgtEl>
                                        <p:attrNameLst>
                                          <p:attrName>style.visibility</p:attrName>
                                        </p:attrNameLst>
                                      </p:cBhvr>
                                      <p:to>
                                        <p:strVal val="visible"/>
                                      </p:to>
                                    </p:set>
                                    <p:animEffect transition="in" filter="fade">
                                      <p:cBhvr>
                                        <p:cTn id="109" dur="650"/>
                                        <p:tgtEl>
                                          <p:spTgt spid="26"/>
                                        </p:tgtEl>
                                      </p:cBhvr>
                                    </p:animEffect>
                                    <p:anim calcmode="lin" valueType="num">
                                      <p:cBhvr>
                                        <p:cTn id="110" dur="650" fill="hold"/>
                                        <p:tgtEl>
                                          <p:spTgt spid="26"/>
                                        </p:tgtEl>
                                        <p:attrNameLst>
                                          <p:attrName>ppt_x</p:attrName>
                                        </p:attrNameLst>
                                      </p:cBhvr>
                                      <p:tavLst>
                                        <p:tav tm="0">
                                          <p:val>
                                            <p:strVal val="#ppt_x"/>
                                          </p:val>
                                        </p:tav>
                                        <p:tav tm="100000">
                                          <p:val>
                                            <p:strVal val="#ppt_x"/>
                                          </p:val>
                                        </p:tav>
                                      </p:tavLst>
                                    </p:anim>
                                    <p:anim calcmode="lin" valueType="num">
                                      <p:cBhvr>
                                        <p:cTn id="111" dur="650" fill="hold"/>
                                        <p:tgtEl>
                                          <p:spTgt spid="26"/>
                                        </p:tgtEl>
                                        <p:attrNameLst>
                                          <p:attrName>ppt_y</p:attrName>
                                        </p:attrNameLst>
                                      </p:cBhvr>
                                      <p:tavLst>
                                        <p:tav tm="0">
                                          <p:val>
                                            <p:strVal val="#ppt_y+.05"/>
                                          </p:val>
                                        </p:tav>
                                        <p:tav tm="100000">
                                          <p:val>
                                            <p:strVal val="#ppt_y"/>
                                          </p:val>
                                        </p:tav>
                                      </p:tavLst>
                                    </p:anim>
                                  </p:childTnLst>
                                </p:cTn>
                              </p:par>
                              <p:par>
                                <p:cTn id="112" presetID="10" presetClass="entr" presetSubtype="0" fill="hold" grpId="0" nodeType="withEffect">
                                  <p:stCondLst>
                                    <p:cond delay="1480"/>
                                  </p:stCondLst>
                                  <p:childTnLst>
                                    <p:set>
                                      <p:cBhvr>
                                        <p:cTn id="113" dur="1" fill="hold">
                                          <p:stCondLst>
                                            <p:cond delay="0"/>
                                          </p:stCondLst>
                                        </p:cTn>
                                        <p:tgtEl>
                                          <p:spTgt spid="27"/>
                                        </p:tgtEl>
                                        <p:attrNameLst>
                                          <p:attrName>style.visibility</p:attrName>
                                        </p:attrNameLst>
                                      </p:cBhvr>
                                      <p:to>
                                        <p:strVal val="visible"/>
                                      </p:to>
                                    </p:set>
                                    <p:animEffect transition="in" filter="fade">
                                      <p:cBhvr>
                                        <p:cTn id="114" dur="500"/>
                                        <p:tgtEl>
                                          <p:spTgt spid="27"/>
                                        </p:tgtEl>
                                      </p:cBhvr>
                                    </p:animEffect>
                                  </p:childTnLst>
                                </p:cTn>
                              </p:par>
                              <p:par>
                                <p:cTn id="115" presetID="42" presetClass="entr" presetSubtype="0" fill="hold" grpId="0" nodeType="withEffect">
                                  <p:stCondLst>
                                    <p:cond delay="1480"/>
                                  </p:stCondLst>
                                  <p:childTnLst>
                                    <p:set>
                                      <p:cBhvr>
                                        <p:cTn id="116" dur="1" fill="hold">
                                          <p:stCondLst>
                                            <p:cond delay="0"/>
                                          </p:stCondLst>
                                        </p:cTn>
                                        <p:tgtEl>
                                          <p:spTgt spid="28"/>
                                        </p:tgtEl>
                                        <p:attrNameLst>
                                          <p:attrName>style.visibility</p:attrName>
                                        </p:attrNameLst>
                                      </p:cBhvr>
                                      <p:to>
                                        <p:strVal val="visible"/>
                                      </p:to>
                                    </p:set>
                                    <p:animEffect transition="in" filter="fade">
                                      <p:cBhvr>
                                        <p:cTn id="117" dur="650"/>
                                        <p:tgtEl>
                                          <p:spTgt spid="28"/>
                                        </p:tgtEl>
                                      </p:cBhvr>
                                    </p:animEffect>
                                    <p:anim calcmode="lin" valueType="num">
                                      <p:cBhvr>
                                        <p:cTn id="118" dur="650" fill="hold"/>
                                        <p:tgtEl>
                                          <p:spTgt spid="28"/>
                                        </p:tgtEl>
                                        <p:attrNameLst>
                                          <p:attrName>ppt_x</p:attrName>
                                        </p:attrNameLst>
                                      </p:cBhvr>
                                      <p:tavLst>
                                        <p:tav tm="0">
                                          <p:val>
                                            <p:strVal val="#ppt_x"/>
                                          </p:val>
                                        </p:tav>
                                        <p:tav tm="100000">
                                          <p:val>
                                            <p:strVal val="#ppt_x"/>
                                          </p:val>
                                        </p:tav>
                                      </p:tavLst>
                                    </p:anim>
                                    <p:anim calcmode="lin" valueType="num">
                                      <p:cBhvr>
                                        <p:cTn id="119" dur="650" fill="hold"/>
                                        <p:tgtEl>
                                          <p:spTgt spid="28"/>
                                        </p:tgtEl>
                                        <p:attrNameLst>
                                          <p:attrName>ppt_y</p:attrName>
                                        </p:attrNameLst>
                                      </p:cBhvr>
                                      <p:tavLst>
                                        <p:tav tm="0">
                                          <p:val>
                                            <p:strVal val="#ppt_y+.05"/>
                                          </p:val>
                                        </p:tav>
                                        <p:tav tm="100000">
                                          <p:val>
                                            <p:strVal val="#ppt_y"/>
                                          </p:val>
                                        </p:tav>
                                      </p:tavLst>
                                    </p:anim>
                                  </p:childTnLst>
                                </p:cTn>
                              </p:par>
                              <p:par>
                                <p:cTn id="120" presetID="42" presetClass="entr" presetSubtype="0" fill="hold" grpId="0" nodeType="withEffect">
                                  <p:stCondLst>
                                    <p:cond delay="1480"/>
                                  </p:stCondLst>
                                  <p:childTnLst>
                                    <p:set>
                                      <p:cBhvr>
                                        <p:cTn id="121" dur="1" fill="hold">
                                          <p:stCondLst>
                                            <p:cond delay="0"/>
                                          </p:stCondLst>
                                        </p:cTn>
                                        <p:tgtEl>
                                          <p:spTgt spid="29"/>
                                        </p:tgtEl>
                                        <p:attrNameLst>
                                          <p:attrName>style.visibility</p:attrName>
                                        </p:attrNameLst>
                                      </p:cBhvr>
                                      <p:to>
                                        <p:strVal val="visible"/>
                                      </p:to>
                                    </p:set>
                                    <p:animEffect transition="in" filter="fade">
                                      <p:cBhvr>
                                        <p:cTn id="122" dur="650"/>
                                        <p:tgtEl>
                                          <p:spTgt spid="29"/>
                                        </p:tgtEl>
                                      </p:cBhvr>
                                    </p:animEffect>
                                    <p:anim calcmode="lin" valueType="num">
                                      <p:cBhvr>
                                        <p:cTn id="123" dur="650" fill="hold"/>
                                        <p:tgtEl>
                                          <p:spTgt spid="29"/>
                                        </p:tgtEl>
                                        <p:attrNameLst>
                                          <p:attrName>ppt_x</p:attrName>
                                        </p:attrNameLst>
                                      </p:cBhvr>
                                      <p:tavLst>
                                        <p:tav tm="0">
                                          <p:val>
                                            <p:strVal val="#ppt_x"/>
                                          </p:val>
                                        </p:tav>
                                        <p:tav tm="100000">
                                          <p:val>
                                            <p:strVal val="#ppt_x"/>
                                          </p:val>
                                        </p:tav>
                                      </p:tavLst>
                                    </p:anim>
                                    <p:anim calcmode="lin" valueType="num">
                                      <p:cBhvr>
                                        <p:cTn id="124" dur="650" fill="hold"/>
                                        <p:tgtEl>
                                          <p:spTgt spid="29"/>
                                        </p:tgtEl>
                                        <p:attrNameLst>
                                          <p:attrName>ppt_y</p:attrName>
                                        </p:attrNameLst>
                                      </p:cBhvr>
                                      <p:tavLst>
                                        <p:tav tm="0">
                                          <p:val>
                                            <p:strVal val="#ppt_y+.05"/>
                                          </p:val>
                                        </p:tav>
                                        <p:tav tm="100000">
                                          <p:val>
                                            <p:strVal val="#ppt_y"/>
                                          </p:val>
                                        </p:tav>
                                      </p:tavLst>
                                    </p:anim>
                                  </p:childTnLst>
                                </p:cTn>
                              </p:par>
                              <p:par>
                                <p:cTn id="125" presetID="42" presetClass="entr" presetSubtype="0" fill="hold" grpId="0" nodeType="withEffect">
                                  <p:stCondLst>
                                    <p:cond delay="1480"/>
                                  </p:stCondLst>
                                  <p:childTnLst>
                                    <p:set>
                                      <p:cBhvr>
                                        <p:cTn id="126" dur="1" fill="hold">
                                          <p:stCondLst>
                                            <p:cond delay="0"/>
                                          </p:stCondLst>
                                        </p:cTn>
                                        <p:tgtEl>
                                          <p:spTgt spid="30"/>
                                        </p:tgtEl>
                                        <p:attrNameLst>
                                          <p:attrName>style.visibility</p:attrName>
                                        </p:attrNameLst>
                                      </p:cBhvr>
                                      <p:to>
                                        <p:strVal val="visible"/>
                                      </p:to>
                                    </p:set>
                                    <p:animEffect transition="in" filter="fade">
                                      <p:cBhvr>
                                        <p:cTn id="127" dur="650"/>
                                        <p:tgtEl>
                                          <p:spTgt spid="30"/>
                                        </p:tgtEl>
                                      </p:cBhvr>
                                    </p:animEffect>
                                    <p:anim calcmode="lin" valueType="num">
                                      <p:cBhvr>
                                        <p:cTn id="128" dur="650" fill="hold"/>
                                        <p:tgtEl>
                                          <p:spTgt spid="30"/>
                                        </p:tgtEl>
                                        <p:attrNameLst>
                                          <p:attrName>ppt_x</p:attrName>
                                        </p:attrNameLst>
                                      </p:cBhvr>
                                      <p:tavLst>
                                        <p:tav tm="0">
                                          <p:val>
                                            <p:strVal val="#ppt_x"/>
                                          </p:val>
                                        </p:tav>
                                        <p:tav tm="100000">
                                          <p:val>
                                            <p:strVal val="#ppt_x"/>
                                          </p:val>
                                        </p:tav>
                                      </p:tavLst>
                                    </p:anim>
                                    <p:anim calcmode="lin" valueType="num">
                                      <p:cBhvr>
                                        <p:cTn id="129" dur="650" fill="hold"/>
                                        <p:tgtEl>
                                          <p:spTgt spid="30"/>
                                        </p:tgtEl>
                                        <p:attrNameLst>
                                          <p:attrName>ppt_y</p:attrName>
                                        </p:attrNameLst>
                                      </p:cBhvr>
                                      <p:tavLst>
                                        <p:tav tm="0">
                                          <p:val>
                                            <p:strVal val="#ppt_y+.05"/>
                                          </p:val>
                                        </p:tav>
                                        <p:tav tm="100000">
                                          <p:val>
                                            <p:strVal val="#ppt_y"/>
                                          </p:val>
                                        </p:tav>
                                      </p:tavLst>
                                    </p:anim>
                                  </p:childTnLst>
                                </p:cTn>
                              </p:par>
                              <p:par>
                                <p:cTn id="130" presetID="42" presetClass="entr" presetSubtype="0" fill="hold" grpId="0" nodeType="withEffect">
                                  <p:stCondLst>
                                    <p:cond delay="1480"/>
                                  </p:stCondLst>
                                  <p:childTnLst>
                                    <p:set>
                                      <p:cBhvr>
                                        <p:cTn id="131" dur="1" fill="hold">
                                          <p:stCondLst>
                                            <p:cond delay="0"/>
                                          </p:stCondLst>
                                        </p:cTn>
                                        <p:tgtEl>
                                          <p:spTgt spid="31"/>
                                        </p:tgtEl>
                                        <p:attrNameLst>
                                          <p:attrName>style.visibility</p:attrName>
                                        </p:attrNameLst>
                                      </p:cBhvr>
                                      <p:to>
                                        <p:strVal val="visible"/>
                                      </p:to>
                                    </p:set>
                                    <p:animEffect transition="in" filter="fade">
                                      <p:cBhvr>
                                        <p:cTn id="132" dur="650"/>
                                        <p:tgtEl>
                                          <p:spTgt spid="31"/>
                                        </p:tgtEl>
                                      </p:cBhvr>
                                    </p:animEffect>
                                    <p:anim calcmode="lin" valueType="num">
                                      <p:cBhvr>
                                        <p:cTn id="133" dur="650" fill="hold"/>
                                        <p:tgtEl>
                                          <p:spTgt spid="31"/>
                                        </p:tgtEl>
                                        <p:attrNameLst>
                                          <p:attrName>ppt_x</p:attrName>
                                        </p:attrNameLst>
                                      </p:cBhvr>
                                      <p:tavLst>
                                        <p:tav tm="0">
                                          <p:val>
                                            <p:strVal val="#ppt_x"/>
                                          </p:val>
                                        </p:tav>
                                        <p:tav tm="100000">
                                          <p:val>
                                            <p:strVal val="#ppt_x"/>
                                          </p:val>
                                        </p:tav>
                                      </p:tavLst>
                                    </p:anim>
                                    <p:anim calcmode="lin" valueType="num">
                                      <p:cBhvr>
                                        <p:cTn id="134" dur="650" fill="hold"/>
                                        <p:tgtEl>
                                          <p:spTgt spid="31"/>
                                        </p:tgtEl>
                                        <p:attrNameLst>
                                          <p:attrName>ppt_y</p:attrName>
                                        </p:attrNameLst>
                                      </p:cBhvr>
                                      <p:tavLst>
                                        <p:tav tm="0">
                                          <p:val>
                                            <p:strVal val="#ppt_y+.05"/>
                                          </p:val>
                                        </p:tav>
                                        <p:tav tm="100000">
                                          <p:val>
                                            <p:strVal val="#ppt_y"/>
                                          </p:val>
                                        </p:tav>
                                      </p:tavLst>
                                    </p:anim>
                                  </p:childTnLst>
                                </p:cTn>
                              </p:par>
                              <p:par>
                                <p:cTn id="135" presetID="42" presetClass="entr" presetSubtype="0" fill="hold" grpId="0" nodeType="withEffect">
                                  <p:stCondLst>
                                    <p:cond delay="1480"/>
                                  </p:stCondLst>
                                  <p:childTnLst>
                                    <p:set>
                                      <p:cBhvr>
                                        <p:cTn id="136" dur="1" fill="hold">
                                          <p:stCondLst>
                                            <p:cond delay="0"/>
                                          </p:stCondLst>
                                        </p:cTn>
                                        <p:tgtEl>
                                          <p:spTgt spid="32"/>
                                        </p:tgtEl>
                                        <p:attrNameLst>
                                          <p:attrName>style.visibility</p:attrName>
                                        </p:attrNameLst>
                                      </p:cBhvr>
                                      <p:to>
                                        <p:strVal val="visible"/>
                                      </p:to>
                                    </p:set>
                                    <p:animEffect transition="in" filter="fade">
                                      <p:cBhvr>
                                        <p:cTn id="137" dur="650"/>
                                        <p:tgtEl>
                                          <p:spTgt spid="32"/>
                                        </p:tgtEl>
                                      </p:cBhvr>
                                    </p:animEffect>
                                    <p:anim calcmode="lin" valueType="num">
                                      <p:cBhvr>
                                        <p:cTn id="138" dur="650" fill="hold"/>
                                        <p:tgtEl>
                                          <p:spTgt spid="32"/>
                                        </p:tgtEl>
                                        <p:attrNameLst>
                                          <p:attrName>ppt_x</p:attrName>
                                        </p:attrNameLst>
                                      </p:cBhvr>
                                      <p:tavLst>
                                        <p:tav tm="0">
                                          <p:val>
                                            <p:strVal val="#ppt_x"/>
                                          </p:val>
                                        </p:tav>
                                        <p:tav tm="100000">
                                          <p:val>
                                            <p:strVal val="#ppt_x"/>
                                          </p:val>
                                        </p:tav>
                                      </p:tavLst>
                                    </p:anim>
                                    <p:anim calcmode="lin" valueType="num">
                                      <p:cBhvr>
                                        <p:cTn id="139" dur="650" fill="hold"/>
                                        <p:tgtEl>
                                          <p:spTgt spid="32"/>
                                        </p:tgtEl>
                                        <p:attrNameLst>
                                          <p:attrName>ppt_y</p:attrName>
                                        </p:attrNameLst>
                                      </p:cBhvr>
                                      <p:tavLst>
                                        <p:tav tm="0">
                                          <p:val>
                                            <p:strVal val="#ppt_y+.05"/>
                                          </p:val>
                                        </p:tav>
                                        <p:tav tm="100000">
                                          <p:val>
                                            <p:strVal val="#ppt_y"/>
                                          </p:val>
                                        </p:tav>
                                      </p:tavLst>
                                    </p:anim>
                                  </p:childTnLst>
                                </p:cTn>
                              </p:par>
                              <p:par>
                                <p:cTn id="140" presetID="42" presetClass="entr" presetSubtype="0" fill="hold" grpId="0" nodeType="withEffect">
                                  <p:stCondLst>
                                    <p:cond delay="1480"/>
                                  </p:stCondLst>
                                  <p:childTnLst>
                                    <p:set>
                                      <p:cBhvr>
                                        <p:cTn id="141" dur="1" fill="hold">
                                          <p:stCondLst>
                                            <p:cond delay="0"/>
                                          </p:stCondLst>
                                        </p:cTn>
                                        <p:tgtEl>
                                          <p:spTgt spid="33"/>
                                        </p:tgtEl>
                                        <p:attrNameLst>
                                          <p:attrName>style.visibility</p:attrName>
                                        </p:attrNameLst>
                                      </p:cBhvr>
                                      <p:to>
                                        <p:strVal val="visible"/>
                                      </p:to>
                                    </p:set>
                                    <p:animEffect transition="in" filter="fade">
                                      <p:cBhvr>
                                        <p:cTn id="142" dur="650"/>
                                        <p:tgtEl>
                                          <p:spTgt spid="33"/>
                                        </p:tgtEl>
                                      </p:cBhvr>
                                    </p:animEffect>
                                    <p:anim calcmode="lin" valueType="num">
                                      <p:cBhvr>
                                        <p:cTn id="143" dur="650" fill="hold"/>
                                        <p:tgtEl>
                                          <p:spTgt spid="33"/>
                                        </p:tgtEl>
                                        <p:attrNameLst>
                                          <p:attrName>ppt_x</p:attrName>
                                        </p:attrNameLst>
                                      </p:cBhvr>
                                      <p:tavLst>
                                        <p:tav tm="0">
                                          <p:val>
                                            <p:strVal val="#ppt_x"/>
                                          </p:val>
                                        </p:tav>
                                        <p:tav tm="100000">
                                          <p:val>
                                            <p:strVal val="#ppt_x"/>
                                          </p:val>
                                        </p:tav>
                                      </p:tavLst>
                                    </p:anim>
                                    <p:anim calcmode="lin" valueType="num">
                                      <p:cBhvr>
                                        <p:cTn id="144" dur="650" fill="hold"/>
                                        <p:tgtEl>
                                          <p:spTgt spid="33"/>
                                        </p:tgtEl>
                                        <p:attrNameLst>
                                          <p:attrName>ppt_y</p:attrName>
                                        </p:attrNameLst>
                                      </p:cBhvr>
                                      <p:tavLst>
                                        <p:tav tm="0">
                                          <p:val>
                                            <p:strVal val="#ppt_y+.05"/>
                                          </p:val>
                                        </p:tav>
                                        <p:tav tm="100000">
                                          <p:val>
                                            <p:strVal val="#ppt_y"/>
                                          </p:val>
                                        </p:tav>
                                      </p:tavLst>
                                    </p:anim>
                                  </p:childTnLst>
                                </p:cTn>
                              </p:par>
                              <p:par>
                                <p:cTn id="145" presetID="42" presetClass="entr" presetSubtype="0" fill="hold" grpId="0" nodeType="withEffect">
                                  <p:stCondLst>
                                    <p:cond delay="1900"/>
                                  </p:stCondLst>
                                  <p:childTnLst>
                                    <p:set>
                                      <p:cBhvr>
                                        <p:cTn id="146" dur="1" fill="hold">
                                          <p:stCondLst>
                                            <p:cond delay="0"/>
                                          </p:stCondLst>
                                        </p:cTn>
                                        <p:tgtEl>
                                          <p:spTgt spid="34"/>
                                        </p:tgtEl>
                                        <p:attrNameLst>
                                          <p:attrName>style.visibility</p:attrName>
                                        </p:attrNameLst>
                                      </p:cBhvr>
                                      <p:to>
                                        <p:strVal val="visible"/>
                                      </p:to>
                                    </p:set>
                                    <p:animEffect transition="in" filter="fade">
                                      <p:cBhvr>
                                        <p:cTn id="147" dur="650"/>
                                        <p:tgtEl>
                                          <p:spTgt spid="34"/>
                                        </p:tgtEl>
                                      </p:cBhvr>
                                    </p:animEffect>
                                    <p:anim calcmode="lin" valueType="num">
                                      <p:cBhvr>
                                        <p:cTn id="148" dur="650" fill="hold"/>
                                        <p:tgtEl>
                                          <p:spTgt spid="34"/>
                                        </p:tgtEl>
                                        <p:attrNameLst>
                                          <p:attrName>ppt_x</p:attrName>
                                        </p:attrNameLst>
                                      </p:cBhvr>
                                      <p:tavLst>
                                        <p:tav tm="0">
                                          <p:val>
                                            <p:strVal val="#ppt_x"/>
                                          </p:val>
                                        </p:tav>
                                        <p:tav tm="100000">
                                          <p:val>
                                            <p:strVal val="#ppt_x"/>
                                          </p:val>
                                        </p:tav>
                                      </p:tavLst>
                                    </p:anim>
                                    <p:anim calcmode="lin" valueType="num">
                                      <p:cBhvr>
                                        <p:cTn id="149" dur="650" fill="hold"/>
                                        <p:tgtEl>
                                          <p:spTgt spid="34"/>
                                        </p:tgtEl>
                                        <p:attrNameLst>
                                          <p:attrName>ppt_y</p:attrName>
                                        </p:attrNameLst>
                                      </p:cBhvr>
                                      <p:tavLst>
                                        <p:tav tm="0">
                                          <p:val>
                                            <p:strVal val="#ppt_y+.05"/>
                                          </p:val>
                                        </p:tav>
                                        <p:tav tm="100000">
                                          <p:val>
                                            <p:strVal val="#ppt_y"/>
                                          </p:val>
                                        </p:tav>
                                      </p:tavLst>
                                    </p:anim>
                                  </p:childTnLst>
                                </p:cTn>
                              </p:par>
                              <p:par>
                                <p:cTn id="150" presetID="42" presetClass="entr" presetSubtype="0" fill="hold" grpId="0" nodeType="withEffect">
                                  <p:stCondLst>
                                    <p:cond delay="1900"/>
                                  </p:stCondLst>
                                  <p:childTnLst>
                                    <p:set>
                                      <p:cBhvr>
                                        <p:cTn id="151" dur="1" fill="hold">
                                          <p:stCondLst>
                                            <p:cond delay="0"/>
                                          </p:stCondLst>
                                        </p:cTn>
                                        <p:tgtEl>
                                          <p:spTgt spid="35"/>
                                        </p:tgtEl>
                                        <p:attrNameLst>
                                          <p:attrName>style.visibility</p:attrName>
                                        </p:attrNameLst>
                                      </p:cBhvr>
                                      <p:to>
                                        <p:strVal val="visible"/>
                                      </p:to>
                                    </p:set>
                                    <p:animEffect transition="in" filter="fade">
                                      <p:cBhvr>
                                        <p:cTn id="152" dur="650"/>
                                        <p:tgtEl>
                                          <p:spTgt spid="35"/>
                                        </p:tgtEl>
                                      </p:cBhvr>
                                    </p:animEffect>
                                    <p:anim calcmode="lin" valueType="num">
                                      <p:cBhvr>
                                        <p:cTn id="153" dur="650" fill="hold"/>
                                        <p:tgtEl>
                                          <p:spTgt spid="35"/>
                                        </p:tgtEl>
                                        <p:attrNameLst>
                                          <p:attrName>ppt_x</p:attrName>
                                        </p:attrNameLst>
                                      </p:cBhvr>
                                      <p:tavLst>
                                        <p:tav tm="0">
                                          <p:val>
                                            <p:strVal val="#ppt_x"/>
                                          </p:val>
                                        </p:tav>
                                        <p:tav tm="100000">
                                          <p:val>
                                            <p:strVal val="#ppt_x"/>
                                          </p:val>
                                        </p:tav>
                                      </p:tavLst>
                                    </p:anim>
                                    <p:anim calcmode="lin" valueType="num">
                                      <p:cBhvr>
                                        <p:cTn id="154" dur="650" fill="hold"/>
                                        <p:tgtEl>
                                          <p:spTgt spid="35"/>
                                        </p:tgtEl>
                                        <p:attrNameLst>
                                          <p:attrName>ppt_y</p:attrName>
                                        </p:attrNameLst>
                                      </p:cBhvr>
                                      <p:tavLst>
                                        <p:tav tm="0">
                                          <p:val>
                                            <p:strVal val="#ppt_y+.05"/>
                                          </p:val>
                                        </p:tav>
                                        <p:tav tm="100000">
                                          <p:val>
                                            <p:strVal val="#ppt_y"/>
                                          </p:val>
                                        </p:tav>
                                      </p:tavLst>
                                    </p:anim>
                                  </p:childTnLst>
                                </p:cTn>
                              </p:par>
                              <p:par>
                                <p:cTn id="155" presetID="42" presetClass="entr" presetSubtype="0" fill="hold" grpId="0" nodeType="withEffect">
                                  <p:stCondLst>
                                    <p:cond delay="2000"/>
                                  </p:stCondLst>
                                  <p:childTnLst>
                                    <p:set>
                                      <p:cBhvr>
                                        <p:cTn id="156" dur="1" fill="hold">
                                          <p:stCondLst>
                                            <p:cond delay="0"/>
                                          </p:stCondLst>
                                        </p:cTn>
                                        <p:tgtEl>
                                          <p:spTgt spid="36"/>
                                        </p:tgtEl>
                                        <p:attrNameLst>
                                          <p:attrName>style.visibility</p:attrName>
                                        </p:attrNameLst>
                                      </p:cBhvr>
                                      <p:to>
                                        <p:strVal val="visible"/>
                                      </p:to>
                                    </p:set>
                                    <p:animEffect transition="in" filter="fade">
                                      <p:cBhvr>
                                        <p:cTn id="157" dur="650"/>
                                        <p:tgtEl>
                                          <p:spTgt spid="36"/>
                                        </p:tgtEl>
                                      </p:cBhvr>
                                    </p:animEffect>
                                    <p:anim calcmode="lin" valueType="num">
                                      <p:cBhvr>
                                        <p:cTn id="158" dur="650" fill="hold"/>
                                        <p:tgtEl>
                                          <p:spTgt spid="36"/>
                                        </p:tgtEl>
                                        <p:attrNameLst>
                                          <p:attrName>ppt_x</p:attrName>
                                        </p:attrNameLst>
                                      </p:cBhvr>
                                      <p:tavLst>
                                        <p:tav tm="0">
                                          <p:val>
                                            <p:strVal val="#ppt_x"/>
                                          </p:val>
                                        </p:tav>
                                        <p:tav tm="100000">
                                          <p:val>
                                            <p:strVal val="#ppt_x"/>
                                          </p:val>
                                        </p:tav>
                                      </p:tavLst>
                                    </p:anim>
                                    <p:anim calcmode="lin" valueType="num">
                                      <p:cBhvr>
                                        <p:cTn id="159" dur="650" fill="hold"/>
                                        <p:tgtEl>
                                          <p:spTgt spid="36"/>
                                        </p:tgtEl>
                                        <p:attrNameLst>
                                          <p:attrName>ppt_y</p:attrName>
                                        </p:attrNameLst>
                                      </p:cBhvr>
                                      <p:tavLst>
                                        <p:tav tm="0">
                                          <p:val>
                                            <p:strVal val="#ppt_y+.05"/>
                                          </p:val>
                                        </p:tav>
                                        <p:tav tm="100000">
                                          <p:val>
                                            <p:strVal val="#ppt_y"/>
                                          </p:val>
                                        </p:tav>
                                      </p:tavLst>
                                    </p:anim>
                                  </p:childTnLst>
                                </p:cTn>
                              </p:par>
                              <p:par>
                                <p:cTn id="160" presetID="42" presetClass="entr" presetSubtype="0" fill="hold" grpId="0" nodeType="withEffect">
                                  <p:stCondLst>
                                    <p:cond delay="2000"/>
                                  </p:stCondLst>
                                  <p:childTnLst>
                                    <p:set>
                                      <p:cBhvr>
                                        <p:cTn id="161" dur="1" fill="hold">
                                          <p:stCondLst>
                                            <p:cond delay="0"/>
                                          </p:stCondLst>
                                        </p:cTn>
                                        <p:tgtEl>
                                          <p:spTgt spid="37"/>
                                        </p:tgtEl>
                                        <p:attrNameLst>
                                          <p:attrName>style.visibility</p:attrName>
                                        </p:attrNameLst>
                                      </p:cBhvr>
                                      <p:to>
                                        <p:strVal val="visible"/>
                                      </p:to>
                                    </p:set>
                                    <p:animEffect transition="in" filter="fade">
                                      <p:cBhvr>
                                        <p:cTn id="162" dur="650"/>
                                        <p:tgtEl>
                                          <p:spTgt spid="37"/>
                                        </p:tgtEl>
                                      </p:cBhvr>
                                    </p:animEffect>
                                    <p:anim calcmode="lin" valueType="num">
                                      <p:cBhvr>
                                        <p:cTn id="163" dur="650" fill="hold"/>
                                        <p:tgtEl>
                                          <p:spTgt spid="37"/>
                                        </p:tgtEl>
                                        <p:attrNameLst>
                                          <p:attrName>ppt_x</p:attrName>
                                        </p:attrNameLst>
                                      </p:cBhvr>
                                      <p:tavLst>
                                        <p:tav tm="0">
                                          <p:val>
                                            <p:strVal val="#ppt_x"/>
                                          </p:val>
                                        </p:tav>
                                        <p:tav tm="100000">
                                          <p:val>
                                            <p:strVal val="#ppt_x"/>
                                          </p:val>
                                        </p:tav>
                                      </p:tavLst>
                                    </p:anim>
                                    <p:anim calcmode="lin" valueType="num">
                                      <p:cBhvr>
                                        <p:cTn id="164" dur="650" fill="hold"/>
                                        <p:tgtEl>
                                          <p:spTgt spid="37"/>
                                        </p:tgtEl>
                                        <p:attrNameLst>
                                          <p:attrName>ppt_y</p:attrName>
                                        </p:attrNameLst>
                                      </p:cBhvr>
                                      <p:tavLst>
                                        <p:tav tm="0">
                                          <p:val>
                                            <p:strVal val="#ppt_y+.05"/>
                                          </p:val>
                                        </p:tav>
                                        <p:tav tm="100000">
                                          <p:val>
                                            <p:strVal val="#ppt_y"/>
                                          </p:val>
                                        </p:tav>
                                      </p:tavLst>
                                    </p:anim>
                                  </p:childTnLst>
                                </p:cTn>
                              </p:par>
                              <p:par>
                                <p:cTn id="165" presetID="42" presetClass="entr" presetSubtype="0" fill="hold" grpId="0" nodeType="withEffect">
                                  <p:stCondLst>
                                    <p:cond delay="2100"/>
                                  </p:stCondLst>
                                  <p:childTnLst>
                                    <p:set>
                                      <p:cBhvr>
                                        <p:cTn id="166" dur="1" fill="hold">
                                          <p:stCondLst>
                                            <p:cond delay="0"/>
                                          </p:stCondLst>
                                        </p:cTn>
                                        <p:tgtEl>
                                          <p:spTgt spid="38"/>
                                        </p:tgtEl>
                                        <p:attrNameLst>
                                          <p:attrName>style.visibility</p:attrName>
                                        </p:attrNameLst>
                                      </p:cBhvr>
                                      <p:to>
                                        <p:strVal val="visible"/>
                                      </p:to>
                                    </p:set>
                                    <p:animEffect transition="in" filter="fade">
                                      <p:cBhvr>
                                        <p:cTn id="167" dur="650"/>
                                        <p:tgtEl>
                                          <p:spTgt spid="38"/>
                                        </p:tgtEl>
                                      </p:cBhvr>
                                    </p:animEffect>
                                    <p:anim calcmode="lin" valueType="num">
                                      <p:cBhvr>
                                        <p:cTn id="168" dur="650" fill="hold"/>
                                        <p:tgtEl>
                                          <p:spTgt spid="38"/>
                                        </p:tgtEl>
                                        <p:attrNameLst>
                                          <p:attrName>ppt_x</p:attrName>
                                        </p:attrNameLst>
                                      </p:cBhvr>
                                      <p:tavLst>
                                        <p:tav tm="0">
                                          <p:val>
                                            <p:strVal val="#ppt_x"/>
                                          </p:val>
                                        </p:tav>
                                        <p:tav tm="100000">
                                          <p:val>
                                            <p:strVal val="#ppt_x"/>
                                          </p:val>
                                        </p:tav>
                                      </p:tavLst>
                                    </p:anim>
                                    <p:anim calcmode="lin" valueType="num">
                                      <p:cBhvr>
                                        <p:cTn id="169" dur="650" fill="hold"/>
                                        <p:tgtEl>
                                          <p:spTgt spid="38"/>
                                        </p:tgtEl>
                                        <p:attrNameLst>
                                          <p:attrName>ppt_y</p:attrName>
                                        </p:attrNameLst>
                                      </p:cBhvr>
                                      <p:tavLst>
                                        <p:tav tm="0">
                                          <p:val>
                                            <p:strVal val="#ppt_y+.05"/>
                                          </p:val>
                                        </p:tav>
                                        <p:tav tm="100000">
                                          <p:val>
                                            <p:strVal val="#ppt_y"/>
                                          </p:val>
                                        </p:tav>
                                      </p:tavLst>
                                    </p:anim>
                                  </p:childTnLst>
                                </p:cTn>
                              </p:par>
                              <p:par>
                                <p:cTn id="170" presetID="42" presetClass="entr" presetSubtype="0" fill="hold" grpId="0" nodeType="withEffect">
                                  <p:stCondLst>
                                    <p:cond delay="2100"/>
                                  </p:stCondLst>
                                  <p:childTnLst>
                                    <p:set>
                                      <p:cBhvr>
                                        <p:cTn id="171" dur="1" fill="hold">
                                          <p:stCondLst>
                                            <p:cond delay="0"/>
                                          </p:stCondLst>
                                        </p:cTn>
                                        <p:tgtEl>
                                          <p:spTgt spid="39"/>
                                        </p:tgtEl>
                                        <p:attrNameLst>
                                          <p:attrName>style.visibility</p:attrName>
                                        </p:attrNameLst>
                                      </p:cBhvr>
                                      <p:to>
                                        <p:strVal val="visible"/>
                                      </p:to>
                                    </p:set>
                                    <p:animEffect transition="in" filter="fade">
                                      <p:cBhvr>
                                        <p:cTn id="172" dur="650"/>
                                        <p:tgtEl>
                                          <p:spTgt spid="39"/>
                                        </p:tgtEl>
                                      </p:cBhvr>
                                    </p:animEffect>
                                    <p:anim calcmode="lin" valueType="num">
                                      <p:cBhvr>
                                        <p:cTn id="173" dur="650" fill="hold"/>
                                        <p:tgtEl>
                                          <p:spTgt spid="39"/>
                                        </p:tgtEl>
                                        <p:attrNameLst>
                                          <p:attrName>ppt_x</p:attrName>
                                        </p:attrNameLst>
                                      </p:cBhvr>
                                      <p:tavLst>
                                        <p:tav tm="0">
                                          <p:val>
                                            <p:strVal val="#ppt_x"/>
                                          </p:val>
                                        </p:tav>
                                        <p:tav tm="100000">
                                          <p:val>
                                            <p:strVal val="#ppt_x"/>
                                          </p:val>
                                        </p:tav>
                                      </p:tavLst>
                                    </p:anim>
                                    <p:anim calcmode="lin" valueType="num">
                                      <p:cBhvr>
                                        <p:cTn id="174" dur="650" fill="hold"/>
                                        <p:tgtEl>
                                          <p:spTgt spid="39"/>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eyebrow"/>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100" b="1" spc="200" kern="0" dirty="0">
                <a:solidFill>
                  <a:srgbClr val="B3441A"/>
                </a:solidFill>
                <a:latin typeface="Arial" pitchFamily="34" charset="0"/>
                <a:ea typeface="Arial" pitchFamily="34" charset="-122"/>
                <a:cs typeface="Arial" pitchFamily="34" charset="-120"/>
              </a:rPr>
              <a:t>HOW A MONTH RUNS</a:t>
            </a:r>
            <a:endParaRPr lang="en-US" sz="1100" dirty="0"/>
          </a:p>
        </p:txBody>
      </p:sp>
      <p:sp>
        <p:nvSpPr>
          <p:cNvPr id="4" name="Text 1"/>
          <p:cNvSpPr/>
          <p:nvPr>
            <p:ph idx="101" type="title" hasCustomPrompt="1"/>
          </p:nvPr>
        </p:nvSpPr>
        <p:spPr>
          <a:xfrm>
            <a:off x="548640" y="841248"/>
            <a:ext cx="11094415" cy="731520"/>
          </a:xfrm>
          <a:prstGeom prst="rect">
            <a:avLst/>
          </a:prstGeom>
          <a:noFill/>
          <a:ln/>
        </p:spPr>
        <p:txBody>
          <a:bodyPr wrap="square" lIns="0" tIns="0" rIns="0" bIns="0" rtlCol="0" anchor="t"/>
          <a:lstStyle/>
          <a:p>
            <a:pPr algn="l" indent="0" marL="0">
              <a:buNone/>
            </a:pPr>
            <a:r>
              <a:rPr lang="en-US" sz="3600" b="1" dirty="0">
                <a:solidFill>
                  <a:srgbClr val="1D1D1F"/>
                </a:solidFill>
                <a:latin typeface="Arial" pitchFamily="34" charset="0"/>
                <a:ea typeface="Arial" pitchFamily="34" charset="-122"/>
                <a:cs typeface="Arial" pitchFamily="34" charset="-120"/>
              </a:rPr>
              <a:t>A month in four steps</a:t>
            </a:r>
            <a:endParaRPr lang="en-US" sz="3600" dirty="0"/>
          </a:p>
        </p:txBody>
      </p:sp>
      <p:sp>
        <p:nvSpPr>
          <p:cNvPr id="5" name="lead"/>
          <p:cNvSpPr txBox="1"/>
          <p:nvPr/>
        </p:nvSpPr>
        <p:spPr>
          <a:xfrm>
            <a:off x="548640" y="1627632"/>
            <a:ext cx="9601200" cy="566928"/>
          </a:xfrm>
          <a:prstGeom prst="rect">
            <a:avLst/>
          </a:prstGeom>
          <a:noFill/>
          <a:ln/>
        </p:spPr>
        <p:txBody>
          <a:bodyPr wrap="square" lIns="0" tIns="0" rIns="0" bIns="0" rtlCol="0" anchor="t"/>
          <a:lstStyle/>
          <a:p>
            <a:pPr indent="0" marL="0">
              <a:lnSpc>
                <a:spcPct val="108000"/>
              </a:lnSpc>
              <a:buNone/>
            </a:pPr>
            <a:r>
              <a:rPr lang="en-US" sz="1600" dirty="0">
                <a:solidFill>
                  <a:srgbClr val="58585D"/>
                </a:solidFill>
                <a:latin typeface="Arial" pitchFamily="34" charset="0"/>
                <a:ea typeface="Arial" pitchFamily="34" charset="-122"/>
                <a:cs typeface="Arial" pitchFamily="34" charset="-120"/>
              </a:rPr>
              <a:t>The WFM team page walks the month from the exports to the emails. Each step says what it still needs, and nothing is lost between sign-ins.</a:t>
            </a:r>
            <a:endParaRPr lang="en-US" sz="1600" dirty="0"/>
          </a:p>
        </p:txBody>
      </p:sp>
      <p:sp>
        <p:nvSpPr>
          <p:cNvPr id="6" name="card"/>
          <p:cNvSpPr/>
          <p:nvPr/>
        </p:nvSpPr>
        <p:spPr>
          <a:xfrm>
            <a:off x="548640" y="2606040"/>
            <a:ext cx="2542032" cy="3429000"/>
          </a:xfrm>
          <a:prstGeom prst="roundRect">
            <a:avLst>
              <a:gd name="adj" fmla="val 5036"/>
            </a:avLst>
          </a:prstGeom>
          <a:solidFill>
            <a:srgbClr val="FFFFFF"/>
          </a:solidFill>
          <a:ln w="9525">
            <a:solidFill>
              <a:srgbClr val="E5E5EA"/>
            </a:solidFill>
            <a:prstDash val="solid"/>
          </a:ln>
          <a:effectLst>
            <a:outerShdw sx="100000" sy="100000" kx="0" ky="0" algn="bl" rotWithShape="0" blurRad="203200" dist="38100" dir="5400000">
              <a:srgbClr val="000000">
                <a:alpha val="8000"/>
              </a:srgbClr>
            </a:outerShdw>
          </a:effectLst>
        </p:spPr>
      </p:sp>
      <p:sp>
        <p:nvSpPr>
          <p:cNvPr id="7" name="n"/>
          <p:cNvSpPr txBox="1"/>
          <p:nvPr/>
        </p:nvSpPr>
        <p:spPr>
          <a:xfrm>
            <a:off x="822960" y="2788920"/>
            <a:ext cx="914400" cy="822960"/>
          </a:xfrm>
          <a:prstGeom prst="rect">
            <a:avLst/>
          </a:prstGeom>
          <a:noFill/>
          <a:ln/>
        </p:spPr>
        <p:txBody>
          <a:bodyPr wrap="square" lIns="0" tIns="0" rIns="0" bIns="0" rtlCol="0" anchor="ctr"/>
          <a:lstStyle/>
          <a:p>
            <a:pPr indent="0" marL="0">
              <a:buNone/>
            </a:pPr>
            <a:r>
              <a:rPr lang="en-US" sz="4800" b="1" dirty="0">
                <a:solidFill>
                  <a:srgbClr val="F26722"/>
                </a:solidFill>
                <a:latin typeface="Arial" pitchFamily="34" charset="0"/>
                <a:ea typeface="Arial" pitchFamily="34" charset="-122"/>
                <a:cs typeface="Arial" pitchFamily="34" charset="-120"/>
              </a:rPr>
              <a:t>1</a:t>
            </a:r>
            <a:endParaRPr lang="en-US" sz="4800" dirty="0"/>
          </a:p>
        </p:txBody>
      </p:sp>
      <p:sp>
        <p:nvSpPr>
          <p:cNvPr id="8" name="dot-up"/>
          <p:cNvSpPr/>
          <p:nvPr/>
        </p:nvSpPr>
        <p:spPr>
          <a:xfrm>
            <a:off x="2304288" y="2907792"/>
            <a:ext cx="512064" cy="512064"/>
          </a:xfrm>
          <a:prstGeom prst="ellipse">
            <a:avLst/>
          </a:prstGeom>
          <a:solidFill>
            <a:srgbClr val="1D1D1F"/>
          </a:solidFill>
          <a:ln/>
        </p:spPr>
      </p:sp>
      <p:pic>
        <p:nvPicPr>
          <p:cNvPr id="9" name="icon-up" descr="">    </p:cNvPr>
          <p:cNvPicPr>
            <a:picLocks noChangeAspect="1"/>
          </p:cNvPicPr>
          <p:nvPr/>
        </p:nvPicPr>
        <p:blipFill>
          <a:blip r:embed="rId1"/>
          <a:stretch>
            <a:fillRect/>
          </a:stretch>
        </p:blipFill>
        <p:spPr>
          <a:xfrm>
            <a:off x="2427183" y="3030687"/>
            <a:ext cx="266273" cy="266273"/>
          </a:xfrm>
          <a:prstGeom prst="rect">
            <a:avLst/>
          </a:prstGeom>
        </p:spPr>
      </p:pic>
      <p:sp>
        <p:nvSpPr>
          <p:cNvPr id="10" name="h"/>
          <p:cNvSpPr txBox="1"/>
          <p:nvPr/>
        </p:nvSpPr>
        <p:spPr>
          <a:xfrm>
            <a:off x="822960" y="3749040"/>
            <a:ext cx="1993392" cy="411480"/>
          </a:xfrm>
          <a:prstGeom prst="rect">
            <a:avLst/>
          </a:prstGeom>
          <a:noFill/>
          <a:ln/>
        </p:spPr>
        <p:txBody>
          <a:bodyPr wrap="square" lIns="0" tIns="0" rIns="0" bIns="0" rtlCol="0" anchor="ctr"/>
          <a:lstStyle/>
          <a:p>
            <a:pPr indent="0" marL="0">
              <a:buNone/>
            </a:pPr>
            <a:r>
              <a:rPr lang="en-US" sz="2200" b="1" dirty="0">
                <a:solidFill>
                  <a:srgbClr val="1D1D1F"/>
                </a:solidFill>
                <a:latin typeface="Arial" pitchFamily="34" charset="0"/>
                <a:ea typeface="Arial" pitchFamily="34" charset="-122"/>
                <a:cs typeface="Arial" pitchFamily="34" charset="-120"/>
              </a:rPr>
              <a:t>Import</a:t>
            </a:r>
            <a:endParaRPr lang="en-US" sz="2200" dirty="0"/>
          </a:p>
        </p:txBody>
      </p:sp>
      <p:sp>
        <p:nvSpPr>
          <p:cNvPr id="11" name="t"/>
          <p:cNvSpPr txBox="1"/>
          <p:nvPr/>
        </p:nvSpPr>
        <p:spPr>
          <a:xfrm>
            <a:off x="822960" y="4224528"/>
            <a:ext cx="1993392" cy="1645920"/>
          </a:xfrm>
          <a:prstGeom prst="rect">
            <a:avLst/>
          </a:prstGeom>
          <a:noFill/>
          <a:ln/>
        </p:spPr>
        <p:txBody>
          <a:bodyPr wrap="square" lIns="0" tIns="0" rIns="0" bIns="0" rtlCol="0" anchor="t"/>
          <a:lstStyle/>
          <a:p>
            <a:pPr indent="0" marL="0">
              <a:lnSpc>
                <a:spcPct val="106000"/>
              </a:lnSpc>
              <a:buNone/>
            </a:pPr>
            <a:r>
              <a:rPr lang="en-US" sz="1400" dirty="0">
                <a:solidFill>
                  <a:srgbClr val="58585D"/>
                </a:solidFill>
                <a:latin typeface="Arial" pitchFamily="34" charset="0"/>
                <a:ea typeface="Arial" pitchFamily="34" charset="-122"/>
                <a:cs typeface="Arial" pitchFamily="34" charset="-120"/>
              </a:rPr>
              <a:t>Drop every file of the month at once. Each is recognised by what is inside it, not by its name.</a:t>
            </a:r>
            <a:endParaRPr lang="en-US" sz="1400" dirty="0"/>
          </a:p>
        </p:txBody>
      </p:sp>
      <p:sp>
        <p:nvSpPr>
          <p:cNvPr id="12" name="arrow"/>
          <p:cNvSpPr/>
          <p:nvPr/>
        </p:nvSpPr>
        <p:spPr>
          <a:xfrm>
            <a:off x="3162757" y="4206240"/>
            <a:ext cx="164592" cy="237744"/>
          </a:xfrm>
          <a:prstGeom prst="chevron">
            <a:avLst/>
          </a:prstGeom>
          <a:solidFill>
            <a:srgbClr val="F26722"/>
          </a:solidFill>
          <a:ln/>
        </p:spPr>
      </p:sp>
      <p:sp>
        <p:nvSpPr>
          <p:cNvPr id="13" name="card"/>
          <p:cNvSpPr/>
          <p:nvPr/>
        </p:nvSpPr>
        <p:spPr>
          <a:xfrm>
            <a:off x="3399434" y="2606040"/>
            <a:ext cx="2542032" cy="3429000"/>
          </a:xfrm>
          <a:prstGeom prst="roundRect">
            <a:avLst>
              <a:gd name="adj" fmla="val 5036"/>
            </a:avLst>
          </a:prstGeom>
          <a:solidFill>
            <a:srgbClr val="FFFFFF"/>
          </a:solidFill>
          <a:ln w="9525">
            <a:solidFill>
              <a:srgbClr val="E5E5EA"/>
            </a:solidFill>
            <a:prstDash val="solid"/>
          </a:ln>
          <a:effectLst>
            <a:outerShdw sx="100000" sy="100000" kx="0" ky="0" algn="bl" rotWithShape="0" blurRad="203200" dist="38100" dir="5400000">
              <a:srgbClr val="000000">
                <a:alpha val="8000"/>
              </a:srgbClr>
            </a:outerShdw>
          </a:effectLst>
        </p:spPr>
      </p:sp>
      <p:sp>
        <p:nvSpPr>
          <p:cNvPr id="14" name="n"/>
          <p:cNvSpPr txBox="1"/>
          <p:nvPr/>
        </p:nvSpPr>
        <p:spPr>
          <a:xfrm>
            <a:off x="3673754" y="2788920"/>
            <a:ext cx="914400" cy="822960"/>
          </a:xfrm>
          <a:prstGeom prst="rect">
            <a:avLst/>
          </a:prstGeom>
          <a:noFill/>
          <a:ln/>
        </p:spPr>
        <p:txBody>
          <a:bodyPr wrap="square" lIns="0" tIns="0" rIns="0" bIns="0" rtlCol="0" anchor="ctr"/>
          <a:lstStyle/>
          <a:p>
            <a:pPr indent="0" marL="0">
              <a:buNone/>
            </a:pPr>
            <a:r>
              <a:rPr lang="en-US" sz="4800" b="1" dirty="0">
                <a:solidFill>
                  <a:srgbClr val="F26722"/>
                </a:solidFill>
                <a:latin typeface="Arial" pitchFamily="34" charset="0"/>
                <a:ea typeface="Arial" pitchFamily="34" charset="-122"/>
                <a:cs typeface="Arial" pitchFamily="34" charset="-120"/>
              </a:rPr>
              <a:t>2</a:t>
            </a:r>
            <a:endParaRPr lang="en-US" sz="4800" dirty="0"/>
          </a:p>
        </p:txBody>
      </p:sp>
      <p:sp>
        <p:nvSpPr>
          <p:cNvPr id="15" name="dot-check"/>
          <p:cNvSpPr/>
          <p:nvPr/>
        </p:nvSpPr>
        <p:spPr>
          <a:xfrm>
            <a:off x="5155082" y="2907792"/>
            <a:ext cx="512064" cy="512064"/>
          </a:xfrm>
          <a:prstGeom prst="ellipse">
            <a:avLst/>
          </a:prstGeom>
          <a:solidFill>
            <a:srgbClr val="1D1D1F"/>
          </a:solidFill>
          <a:ln/>
        </p:spPr>
      </p:sp>
      <p:pic>
        <p:nvPicPr>
          <p:cNvPr id="16" name="icon-check" descr="">    </p:cNvPr>
          <p:cNvPicPr>
            <a:picLocks noChangeAspect="1"/>
          </p:cNvPicPr>
          <p:nvPr/>
        </p:nvPicPr>
        <p:blipFill>
          <a:blip r:embed="rId2"/>
          <a:stretch>
            <a:fillRect/>
          </a:stretch>
        </p:blipFill>
        <p:spPr>
          <a:xfrm>
            <a:off x="5277978" y="3030687"/>
            <a:ext cx="266273" cy="266273"/>
          </a:xfrm>
          <a:prstGeom prst="rect">
            <a:avLst/>
          </a:prstGeom>
        </p:spPr>
      </p:pic>
      <p:sp>
        <p:nvSpPr>
          <p:cNvPr id="17" name="h"/>
          <p:cNvSpPr txBox="1"/>
          <p:nvPr/>
        </p:nvSpPr>
        <p:spPr>
          <a:xfrm>
            <a:off x="3673754" y="3749040"/>
            <a:ext cx="1993392" cy="411480"/>
          </a:xfrm>
          <a:prstGeom prst="rect">
            <a:avLst/>
          </a:prstGeom>
          <a:noFill/>
          <a:ln/>
        </p:spPr>
        <p:txBody>
          <a:bodyPr wrap="square" lIns="0" tIns="0" rIns="0" bIns="0" rtlCol="0" anchor="ctr"/>
          <a:lstStyle/>
          <a:p>
            <a:pPr indent="0" marL="0">
              <a:buNone/>
            </a:pPr>
            <a:r>
              <a:rPr lang="en-US" sz="2200" b="1" dirty="0">
                <a:solidFill>
                  <a:srgbClr val="1D1D1F"/>
                </a:solidFill>
                <a:latin typeface="Arial" pitchFamily="34" charset="0"/>
                <a:ea typeface="Arial" pitchFamily="34" charset="-122"/>
                <a:cs typeface="Arial" pitchFamily="34" charset="-120"/>
              </a:rPr>
              <a:t>Review</a:t>
            </a:r>
            <a:endParaRPr lang="en-US" sz="2200" dirty="0"/>
          </a:p>
        </p:txBody>
      </p:sp>
      <p:sp>
        <p:nvSpPr>
          <p:cNvPr id="18" name="t"/>
          <p:cNvSpPr txBox="1"/>
          <p:nvPr/>
        </p:nvSpPr>
        <p:spPr>
          <a:xfrm>
            <a:off x="3673754" y="4224528"/>
            <a:ext cx="1993392" cy="1645920"/>
          </a:xfrm>
          <a:prstGeom prst="rect">
            <a:avLst/>
          </a:prstGeom>
          <a:noFill/>
          <a:ln/>
        </p:spPr>
        <p:txBody>
          <a:bodyPr wrap="square" lIns="0" tIns="0" rIns="0" bIns="0" rtlCol="0" anchor="t"/>
          <a:lstStyle/>
          <a:p>
            <a:pPr indent="0" marL="0">
              <a:lnSpc>
                <a:spcPct val="106000"/>
              </a:lnSpc>
              <a:buNone/>
            </a:pPr>
            <a:r>
              <a:rPr lang="en-US" sz="1400" dirty="0">
                <a:solidFill>
                  <a:srgbClr val="58585D"/>
                </a:solidFill>
                <a:latin typeface="Arial" pitchFamily="34" charset="0"/>
                <a:ea typeface="Arial" pitchFamily="34" charset="-122"/>
                <a:cs typeface="Arial" pitchFamily="34" charset="-120"/>
              </a:rPr>
              <a:t>The checks list what needs a decision: names not on the roster, duplicates, people with no schedule.</a:t>
            </a:r>
            <a:endParaRPr lang="en-US" sz="1400" dirty="0"/>
          </a:p>
        </p:txBody>
      </p:sp>
      <p:sp>
        <p:nvSpPr>
          <p:cNvPr id="19" name="arrow"/>
          <p:cNvSpPr/>
          <p:nvPr/>
        </p:nvSpPr>
        <p:spPr>
          <a:xfrm>
            <a:off x="6013552" y="4206240"/>
            <a:ext cx="164592" cy="237744"/>
          </a:xfrm>
          <a:prstGeom prst="chevron">
            <a:avLst/>
          </a:prstGeom>
          <a:solidFill>
            <a:srgbClr val="F26722"/>
          </a:solidFill>
          <a:ln/>
        </p:spPr>
      </p:sp>
      <p:sp>
        <p:nvSpPr>
          <p:cNvPr id="20" name="card"/>
          <p:cNvSpPr/>
          <p:nvPr/>
        </p:nvSpPr>
        <p:spPr>
          <a:xfrm>
            <a:off x="6250229" y="2606040"/>
            <a:ext cx="2542032" cy="3429000"/>
          </a:xfrm>
          <a:prstGeom prst="roundRect">
            <a:avLst>
              <a:gd name="adj" fmla="val 5036"/>
            </a:avLst>
          </a:prstGeom>
          <a:solidFill>
            <a:srgbClr val="FFFFFF"/>
          </a:solidFill>
          <a:ln w="9525">
            <a:solidFill>
              <a:srgbClr val="E5E5EA"/>
            </a:solidFill>
            <a:prstDash val="solid"/>
          </a:ln>
          <a:effectLst>
            <a:outerShdw sx="100000" sy="100000" kx="0" ky="0" algn="bl" rotWithShape="0" blurRad="203200" dist="38100" dir="5400000">
              <a:srgbClr val="000000">
                <a:alpha val="8000"/>
              </a:srgbClr>
            </a:outerShdw>
          </a:effectLst>
        </p:spPr>
      </p:sp>
      <p:sp>
        <p:nvSpPr>
          <p:cNvPr id="21" name="n"/>
          <p:cNvSpPr txBox="1"/>
          <p:nvPr/>
        </p:nvSpPr>
        <p:spPr>
          <a:xfrm>
            <a:off x="6524549" y="2788920"/>
            <a:ext cx="914400" cy="822960"/>
          </a:xfrm>
          <a:prstGeom prst="rect">
            <a:avLst/>
          </a:prstGeom>
          <a:noFill/>
          <a:ln/>
        </p:spPr>
        <p:txBody>
          <a:bodyPr wrap="square" lIns="0" tIns="0" rIns="0" bIns="0" rtlCol="0" anchor="ctr"/>
          <a:lstStyle/>
          <a:p>
            <a:pPr indent="0" marL="0">
              <a:buNone/>
            </a:pPr>
            <a:r>
              <a:rPr lang="en-US" sz="4800" b="1" dirty="0">
                <a:solidFill>
                  <a:srgbClr val="F26722"/>
                </a:solidFill>
                <a:latin typeface="Arial" pitchFamily="34" charset="0"/>
                <a:ea typeface="Arial" pitchFamily="34" charset="-122"/>
                <a:cs typeface="Arial" pitchFamily="34" charset="-120"/>
              </a:rPr>
              <a:t>3</a:t>
            </a:r>
            <a:endParaRPr lang="en-US" sz="4800" dirty="0"/>
          </a:p>
        </p:txBody>
      </p:sp>
      <p:sp>
        <p:nvSpPr>
          <p:cNvPr id="22" name="dot-table"/>
          <p:cNvSpPr/>
          <p:nvPr/>
        </p:nvSpPr>
        <p:spPr>
          <a:xfrm>
            <a:off x="8005877" y="2907792"/>
            <a:ext cx="512064" cy="512064"/>
          </a:xfrm>
          <a:prstGeom prst="ellipse">
            <a:avLst/>
          </a:prstGeom>
          <a:solidFill>
            <a:srgbClr val="1D1D1F"/>
          </a:solidFill>
          <a:ln/>
        </p:spPr>
      </p:sp>
      <p:pic>
        <p:nvPicPr>
          <p:cNvPr id="23" name="icon-table" descr="">    </p:cNvPr>
          <p:cNvPicPr>
            <a:picLocks noChangeAspect="1"/>
          </p:cNvPicPr>
          <p:nvPr/>
        </p:nvPicPr>
        <p:blipFill>
          <a:blip r:embed="rId3"/>
          <a:stretch>
            <a:fillRect/>
          </a:stretch>
        </p:blipFill>
        <p:spPr>
          <a:xfrm>
            <a:off x="8128772" y="3030687"/>
            <a:ext cx="266273" cy="266273"/>
          </a:xfrm>
          <a:prstGeom prst="rect">
            <a:avLst/>
          </a:prstGeom>
        </p:spPr>
      </p:pic>
      <p:sp>
        <p:nvSpPr>
          <p:cNvPr id="24" name="h"/>
          <p:cNvSpPr txBox="1"/>
          <p:nvPr/>
        </p:nvSpPr>
        <p:spPr>
          <a:xfrm>
            <a:off x="6524549" y="3749040"/>
            <a:ext cx="1993392" cy="411480"/>
          </a:xfrm>
          <a:prstGeom prst="rect">
            <a:avLst/>
          </a:prstGeom>
          <a:noFill/>
          <a:ln/>
        </p:spPr>
        <p:txBody>
          <a:bodyPr wrap="square" lIns="0" tIns="0" rIns="0" bIns="0" rtlCol="0" anchor="ctr"/>
          <a:lstStyle/>
          <a:p>
            <a:pPr indent="0" marL="0">
              <a:buNone/>
            </a:pPr>
            <a:r>
              <a:rPr lang="en-US" sz="2200" b="1" dirty="0">
                <a:solidFill>
                  <a:srgbClr val="1D1D1F"/>
                </a:solidFill>
                <a:latin typeface="Arial" pitchFamily="34" charset="0"/>
                <a:ea typeface="Arial" pitchFamily="34" charset="-122"/>
                <a:cs typeface="Arial" pitchFamily="34" charset="-120"/>
              </a:rPr>
              <a:t>Export</a:t>
            </a:r>
            <a:endParaRPr lang="en-US" sz="2200" dirty="0"/>
          </a:p>
        </p:txBody>
      </p:sp>
      <p:sp>
        <p:nvSpPr>
          <p:cNvPr id="25" name="t"/>
          <p:cNvSpPr txBox="1"/>
          <p:nvPr/>
        </p:nvSpPr>
        <p:spPr>
          <a:xfrm>
            <a:off x="6524549" y="4224528"/>
            <a:ext cx="1993392" cy="1645920"/>
          </a:xfrm>
          <a:prstGeom prst="rect">
            <a:avLst/>
          </a:prstGeom>
          <a:noFill/>
          <a:ln/>
        </p:spPr>
        <p:txBody>
          <a:bodyPr wrap="square" lIns="0" tIns="0" rIns="0" bIns="0" rtlCol="0" anchor="t"/>
          <a:lstStyle/>
          <a:p>
            <a:pPr indent="0" marL="0">
              <a:lnSpc>
                <a:spcPct val="106000"/>
              </a:lnSpc>
              <a:buNone/>
            </a:pPr>
            <a:r>
              <a:rPr lang="en-US" sz="1400" dirty="0">
                <a:solidFill>
                  <a:srgbClr val="58585D"/>
                </a:solidFill>
                <a:latin typeface="Arial" pitchFamily="34" charset="0"/>
                <a:ea typeface="Arial" pitchFamily="34" charset="-122"/>
                <a:cs typeface="Arial" pitchFamily="34" charset="-120"/>
              </a:rPr>
              <a:t>The monthly workbook and the incentive data, built in one click and kept locked with the shared data.</a:t>
            </a:r>
            <a:endParaRPr lang="en-US" sz="1400" dirty="0"/>
          </a:p>
        </p:txBody>
      </p:sp>
      <p:sp>
        <p:nvSpPr>
          <p:cNvPr id="26" name="arrow"/>
          <p:cNvSpPr/>
          <p:nvPr/>
        </p:nvSpPr>
        <p:spPr>
          <a:xfrm>
            <a:off x="8864346" y="4206240"/>
            <a:ext cx="164592" cy="237744"/>
          </a:xfrm>
          <a:prstGeom prst="chevron">
            <a:avLst/>
          </a:prstGeom>
          <a:solidFill>
            <a:srgbClr val="F26722"/>
          </a:solidFill>
          <a:ln/>
        </p:spPr>
      </p:sp>
      <p:sp>
        <p:nvSpPr>
          <p:cNvPr id="27" name="card"/>
          <p:cNvSpPr/>
          <p:nvPr/>
        </p:nvSpPr>
        <p:spPr>
          <a:xfrm>
            <a:off x="9101023" y="2606040"/>
            <a:ext cx="2542032" cy="3429000"/>
          </a:xfrm>
          <a:prstGeom prst="roundRect">
            <a:avLst>
              <a:gd name="adj" fmla="val 5036"/>
            </a:avLst>
          </a:prstGeom>
          <a:solidFill>
            <a:srgbClr val="FFFFFF"/>
          </a:solidFill>
          <a:ln w="9525">
            <a:solidFill>
              <a:srgbClr val="E5E5EA"/>
            </a:solidFill>
            <a:prstDash val="solid"/>
          </a:ln>
          <a:effectLst>
            <a:outerShdw sx="100000" sy="100000" kx="0" ky="0" algn="bl" rotWithShape="0" blurRad="203200" dist="38100" dir="5400000">
              <a:srgbClr val="000000">
                <a:alpha val="8000"/>
              </a:srgbClr>
            </a:outerShdw>
          </a:effectLst>
        </p:spPr>
      </p:sp>
      <p:sp>
        <p:nvSpPr>
          <p:cNvPr id="28" name="n"/>
          <p:cNvSpPr txBox="1"/>
          <p:nvPr/>
        </p:nvSpPr>
        <p:spPr>
          <a:xfrm>
            <a:off x="9375343" y="2788920"/>
            <a:ext cx="914400" cy="822960"/>
          </a:xfrm>
          <a:prstGeom prst="rect">
            <a:avLst/>
          </a:prstGeom>
          <a:noFill/>
          <a:ln/>
        </p:spPr>
        <p:txBody>
          <a:bodyPr wrap="square" lIns="0" tIns="0" rIns="0" bIns="0" rtlCol="0" anchor="ctr"/>
          <a:lstStyle/>
          <a:p>
            <a:pPr indent="0" marL="0">
              <a:buNone/>
            </a:pPr>
            <a:r>
              <a:rPr lang="en-US" sz="4800" b="1" dirty="0">
                <a:solidFill>
                  <a:srgbClr val="F26722"/>
                </a:solidFill>
                <a:latin typeface="Arial" pitchFamily="34" charset="0"/>
                <a:ea typeface="Arial" pitchFamily="34" charset="-122"/>
                <a:cs typeface="Arial" pitchFamily="34" charset="-120"/>
              </a:rPr>
              <a:t>4</a:t>
            </a:r>
            <a:endParaRPr lang="en-US" sz="4800" dirty="0"/>
          </a:p>
        </p:txBody>
      </p:sp>
      <p:sp>
        <p:nvSpPr>
          <p:cNvPr id="29" name="dot-mail"/>
          <p:cNvSpPr/>
          <p:nvPr/>
        </p:nvSpPr>
        <p:spPr>
          <a:xfrm>
            <a:off x="10856671" y="2907792"/>
            <a:ext cx="512064" cy="512064"/>
          </a:xfrm>
          <a:prstGeom prst="ellipse">
            <a:avLst/>
          </a:prstGeom>
          <a:solidFill>
            <a:srgbClr val="1D1D1F"/>
          </a:solidFill>
          <a:ln/>
        </p:spPr>
      </p:sp>
      <p:pic>
        <p:nvPicPr>
          <p:cNvPr id="30" name="icon-mail" descr="">    </p:cNvPr>
          <p:cNvPicPr>
            <a:picLocks noChangeAspect="1"/>
          </p:cNvPicPr>
          <p:nvPr/>
        </p:nvPicPr>
        <p:blipFill>
          <a:blip r:embed="rId4"/>
          <a:stretch>
            <a:fillRect/>
          </a:stretch>
        </p:blipFill>
        <p:spPr>
          <a:xfrm>
            <a:off x="10979567" y="3030687"/>
            <a:ext cx="266273" cy="266273"/>
          </a:xfrm>
          <a:prstGeom prst="rect">
            <a:avLst/>
          </a:prstGeom>
        </p:spPr>
      </p:pic>
      <p:sp>
        <p:nvSpPr>
          <p:cNvPr id="31" name="h"/>
          <p:cNvSpPr txBox="1"/>
          <p:nvPr/>
        </p:nvSpPr>
        <p:spPr>
          <a:xfrm>
            <a:off x="9375343" y="3749040"/>
            <a:ext cx="1993392" cy="411480"/>
          </a:xfrm>
          <a:prstGeom prst="rect">
            <a:avLst/>
          </a:prstGeom>
          <a:noFill/>
          <a:ln/>
        </p:spPr>
        <p:txBody>
          <a:bodyPr wrap="square" lIns="0" tIns="0" rIns="0" bIns="0" rtlCol="0" anchor="ctr"/>
          <a:lstStyle/>
          <a:p>
            <a:pPr indent="0" marL="0">
              <a:buNone/>
            </a:pPr>
            <a:r>
              <a:rPr lang="en-US" sz="2200" b="1" dirty="0">
                <a:solidFill>
                  <a:srgbClr val="1D1D1F"/>
                </a:solidFill>
                <a:latin typeface="Arial" pitchFamily="34" charset="0"/>
                <a:ea typeface="Arial" pitchFamily="34" charset="-122"/>
                <a:cs typeface="Arial" pitchFamily="34" charset="-120"/>
              </a:rPr>
              <a:t>Emails</a:t>
            </a:r>
            <a:endParaRPr lang="en-US" sz="2200" dirty="0"/>
          </a:p>
        </p:txBody>
      </p:sp>
      <p:sp>
        <p:nvSpPr>
          <p:cNvPr id="32" name="t"/>
          <p:cNvSpPr txBox="1"/>
          <p:nvPr/>
        </p:nvSpPr>
        <p:spPr>
          <a:xfrm>
            <a:off x="9375343" y="4224528"/>
            <a:ext cx="1993392" cy="1645920"/>
          </a:xfrm>
          <a:prstGeom prst="rect">
            <a:avLst/>
          </a:prstGeom>
          <a:noFill/>
          <a:ln/>
        </p:spPr>
        <p:txBody>
          <a:bodyPr wrap="square" lIns="0" tIns="0" rIns="0" bIns="0" rtlCol="0" anchor="t"/>
          <a:lstStyle/>
          <a:p>
            <a:pPr indent="0" marL="0">
              <a:lnSpc>
                <a:spcPct val="106000"/>
              </a:lnSpc>
              <a:buNone/>
            </a:pPr>
            <a:r>
              <a:rPr lang="en-US" sz="1400" dirty="0">
                <a:solidFill>
                  <a:srgbClr val="58585D"/>
                </a:solidFill>
                <a:latin typeface="Arial" pitchFamily="34" charset="0"/>
                <a:ea typeface="Arial" pitchFamily="34" charset="-122"/>
                <a:cs typeface="Arial" pitchFamily="34" charset="-120"/>
              </a:rPr>
              <a:t>Deduction, absences and incentive emails, for review and then final, ready to send from Outlook.</a:t>
            </a:r>
            <a:endParaRPr lang="en-US" sz="1400" dirty="0"/>
          </a:p>
        </p:txBody>
      </p:sp>
      <p:sp>
        <p:nvSpPr>
          <p:cNvPr id="25" name="Slide Number Placeholder 0"/>
          <p:cNvSpPr>
            <a:spLocks noGrp="1"/>
          </p:cNvSpPr>
          <p:nvPr>
            <p:ph type="sldNum" sz="quarter" idx="4294967295"/>
          </p:nvPr>
        </p:nvSpPr>
        <p:spPr>
          <a:xfrm>
            <a:off x="11091672" y="640080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E8E93"/>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42" presetClass="entr" presetSubtype="0" fill="hold" grpId="0" nodeType="withEffect">
                                  <p:stCondLst>
                                    <p:cond delay="18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50"/>
                                        <p:tgtEl>
                                          <p:spTgt spid="5"/>
                                        </p:tgtEl>
                                      </p:cBhvr>
                                    </p:animEffect>
                                    <p:anim calcmode="lin" valueType="num">
                                      <p:cBhvr>
                                        <p:cTn id="11" dur="650" fill="hold"/>
                                        <p:tgtEl>
                                          <p:spTgt spid="5"/>
                                        </p:tgtEl>
                                        <p:attrNameLst>
                                          <p:attrName>ppt_x</p:attrName>
                                        </p:attrNameLst>
                                      </p:cBhvr>
                                      <p:tavLst>
                                        <p:tav tm="0">
                                          <p:val>
                                            <p:strVal val="#ppt_x"/>
                                          </p:val>
                                        </p:tav>
                                        <p:tav tm="100000">
                                          <p:val>
                                            <p:strVal val="#ppt_x"/>
                                          </p:val>
                                        </p:tav>
                                      </p:tavLst>
                                    </p:anim>
                                    <p:anim calcmode="lin" valueType="num">
                                      <p:cBhvr>
                                        <p:cTn id="12" dur="650" fill="hold"/>
                                        <p:tgtEl>
                                          <p:spTgt spid="5"/>
                                        </p:tgtEl>
                                        <p:attrNameLst>
                                          <p:attrName>ppt_y</p:attrName>
                                        </p:attrNameLst>
                                      </p:cBhvr>
                                      <p:tavLst>
                                        <p:tav tm="0">
                                          <p:val>
                                            <p:strVal val="#ppt_y+.05"/>
                                          </p:val>
                                        </p:tav>
                                        <p:tav tm="100000">
                                          <p:val>
                                            <p:strVal val="#ppt_y"/>
                                          </p:val>
                                        </p:tav>
                                      </p:tavLst>
                                    </p:anim>
                                  </p:childTnLst>
                                </p:cTn>
                              </p:par>
                              <p:par>
                                <p:cTn id="13" presetID="42" presetClass="entr" presetSubtype="0" fill="hold" grpId="0" nodeType="withEffect">
                                  <p:stCondLst>
                                    <p:cond delay="35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50"/>
                                        <p:tgtEl>
                                          <p:spTgt spid="6"/>
                                        </p:tgtEl>
                                      </p:cBhvr>
                                    </p:animEffect>
                                    <p:anim calcmode="lin" valueType="num">
                                      <p:cBhvr>
                                        <p:cTn id="16" dur="650" fill="hold"/>
                                        <p:tgtEl>
                                          <p:spTgt spid="6"/>
                                        </p:tgtEl>
                                        <p:attrNameLst>
                                          <p:attrName>ppt_x</p:attrName>
                                        </p:attrNameLst>
                                      </p:cBhvr>
                                      <p:tavLst>
                                        <p:tav tm="0">
                                          <p:val>
                                            <p:strVal val="#ppt_x"/>
                                          </p:val>
                                        </p:tav>
                                        <p:tav tm="100000">
                                          <p:val>
                                            <p:strVal val="#ppt_x"/>
                                          </p:val>
                                        </p:tav>
                                      </p:tavLst>
                                    </p:anim>
                                    <p:anim calcmode="lin" valueType="num">
                                      <p:cBhvr>
                                        <p:cTn id="17" dur="650" fill="hold"/>
                                        <p:tgtEl>
                                          <p:spTgt spid="6"/>
                                        </p:tgtEl>
                                        <p:attrNameLst>
                                          <p:attrName>ppt_y</p:attrName>
                                        </p:attrNameLst>
                                      </p:cBhvr>
                                      <p:tavLst>
                                        <p:tav tm="0">
                                          <p:val>
                                            <p:strVal val="#ppt_y+.05"/>
                                          </p:val>
                                        </p:tav>
                                        <p:tav tm="100000">
                                          <p:val>
                                            <p:strVal val="#ppt_y"/>
                                          </p:val>
                                        </p:tav>
                                      </p:tavLst>
                                    </p:anim>
                                  </p:childTnLst>
                                </p:cTn>
                              </p:par>
                              <p:par>
                                <p:cTn id="18" presetID="42" presetClass="entr" presetSubtype="0" fill="hold" grpId="0" nodeType="withEffect">
                                  <p:stCondLst>
                                    <p:cond delay="35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50"/>
                                        <p:tgtEl>
                                          <p:spTgt spid="7"/>
                                        </p:tgtEl>
                                      </p:cBhvr>
                                    </p:animEffect>
                                    <p:anim calcmode="lin" valueType="num">
                                      <p:cBhvr>
                                        <p:cTn id="21" dur="650" fill="hold"/>
                                        <p:tgtEl>
                                          <p:spTgt spid="7"/>
                                        </p:tgtEl>
                                        <p:attrNameLst>
                                          <p:attrName>ppt_x</p:attrName>
                                        </p:attrNameLst>
                                      </p:cBhvr>
                                      <p:tavLst>
                                        <p:tav tm="0">
                                          <p:val>
                                            <p:strVal val="#ppt_x"/>
                                          </p:val>
                                        </p:tav>
                                        <p:tav tm="100000">
                                          <p:val>
                                            <p:strVal val="#ppt_x"/>
                                          </p:val>
                                        </p:tav>
                                      </p:tavLst>
                                    </p:anim>
                                    <p:anim calcmode="lin" valueType="num">
                                      <p:cBhvr>
                                        <p:cTn id="22" dur="650" fill="hold"/>
                                        <p:tgtEl>
                                          <p:spTgt spid="7"/>
                                        </p:tgtEl>
                                        <p:attrNameLst>
                                          <p:attrName>ppt_y</p:attrName>
                                        </p:attrNameLst>
                                      </p:cBhvr>
                                      <p:tavLst>
                                        <p:tav tm="0">
                                          <p:val>
                                            <p:strVal val="#ppt_y+.05"/>
                                          </p:val>
                                        </p:tav>
                                        <p:tav tm="100000">
                                          <p:val>
                                            <p:strVal val="#ppt_y"/>
                                          </p:val>
                                        </p:tav>
                                      </p:tavLst>
                                    </p:anim>
                                  </p:childTnLst>
                                </p:cTn>
                              </p:par>
                              <p:par>
                                <p:cTn id="23" presetID="42" presetClass="entr" presetSubtype="0" fill="hold" grpId="0" nodeType="withEffect">
                                  <p:stCondLst>
                                    <p:cond delay="3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50"/>
                                        <p:tgtEl>
                                          <p:spTgt spid="8"/>
                                        </p:tgtEl>
                                      </p:cBhvr>
                                    </p:animEffect>
                                    <p:anim calcmode="lin" valueType="num">
                                      <p:cBhvr>
                                        <p:cTn id="26" dur="650" fill="hold"/>
                                        <p:tgtEl>
                                          <p:spTgt spid="8"/>
                                        </p:tgtEl>
                                        <p:attrNameLst>
                                          <p:attrName>ppt_x</p:attrName>
                                        </p:attrNameLst>
                                      </p:cBhvr>
                                      <p:tavLst>
                                        <p:tav tm="0">
                                          <p:val>
                                            <p:strVal val="#ppt_x"/>
                                          </p:val>
                                        </p:tav>
                                        <p:tav tm="100000">
                                          <p:val>
                                            <p:strVal val="#ppt_x"/>
                                          </p:val>
                                        </p:tav>
                                      </p:tavLst>
                                    </p:anim>
                                    <p:anim calcmode="lin" valueType="num">
                                      <p:cBhvr>
                                        <p:cTn id="27" dur="650" fill="hold"/>
                                        <p:tgtEl>
                                          <p:spTgt spid="8"/>
                                        </p:tgtEl>
                                        <p:attrNameLst>
                                          <p:attrName>ppt_y</p:attrName>
                                        </p:attrNameLst>
                                      </p:cBhvr>
                                      <p:tavLst>
                                        <p:tav tm="0">
                                          <p:val>
                                            <p:strVal val="#ppt_y+.05"/>
                                          </p:val>
                                        </p:tav>
                                        <p:tav tm="100000">
                                          <p:val>
                                            <p:strVal val="#ppt_y"/>
                                          </p:val>
                                        </p:tav>
                                      </p:tavLst>
                                    </p:anim>
                                  </p:childTnLst>
                                </p:cTn>
                              </p:par>
                              <p:par>
                                <p:cTn id="28" presetID="42" presetClass="entr" presetSubtype="0" fill="hold" grpId="0" nodeType="withEffect">
                                  <p:stCondLst>
                                    <p:cond delay="35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650"/>
                                        <p:tgtEl>
                                          <p:spTgt spid="9"/>
                                        </p:tgtEl>
                                      </p:cBhvr>
                                    </p:animEffect>
                                    <p:anim calcmode="lin" valueType="num">
                                      <p:cBhvr>
                                        <p:cTn id="31" dur="650" fill="hold"/>
                                        <p:tgtEl>
                                          <p:spTgt spid="9"/>
                                        </p:tgtEl>
                                        <p:attrNameLst>
                                          <p:attrName>ppt_x</p:attrName>
                                        </p:attrNameLst>
                                      </p:cBhvr>
                                      <p:tavLst>
                                        <p:tav tm="0">
                                          <p:val>
                                            <p:strVal val="#ppt_x"/>
                                          </p:val>
                                        </p:tav>
                                        <p:tav tm="100000">
                                          <p:val>
                                            <p:strVal val="#ppt_x"/>
                                          </p:val>
                                        </p:tav>
                                      </p:tavLst>
                                    </p:anim>
                                    <p:anim calcmode="lin" valueType="num">
                                      <p:cBhvr>
                                        <p:cTn id="32" dur="650" fill="hold"/>
                                        <p:tgtEl>
                                          <p:spTgt spid="9"/>
                                        </p:tgtEl>
                                        <p:attrNameLst>
                                          <p:attrName>ppt_y</p:attrName>
                                        </p:attrNameLst>
                                      </p:cBhvr>
                                      <p:tavLst>
                                        <p:tav tm="0">
                                          <p:val>
                                            <p:strVal val="#ppt_y+.05"/>
                                          </p:val>
                                        </p:tav>
                                        <p:tav tm="100000">
                                          <p:val>
                                            <p:strVal val="#ppt_y"/>
                                          </p:val>
                                        </p:tav>
                                      </p:tavLst>
                                    </p:anim>
                                  </p:childTnLst>
                                </p:cTn>
                              </p:par>
                              <p:par>
                                <p:cTn id="33" presetID="42" presetClass="entr" presetSubtype="0" fill="hold" grpId="0" nodeType="withEffect">
                                  <p:stCondLst>
                                    <p:cond delay="35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650"/>
                                        <p:tgtEl>
                                          <p:spTgt spid="10"/>
                                        </p:tgtEl>
                                      </p:cBhvr>
                                    </p:animEffect>
                                    <p:anim calcmode="lin" valueType="num">
                                      <p:cBhvr>
                                        <p:cTn id="36" dur="650" fill="hold"/>
                                        <p:tgtEl>
                                          <p:spTgt spid="10"/>
                                        </p:tgtEl>
                                        <p:attrNameLst>
                                          <p:attrName>ppt_x</p:attrName>
                                        </p:attrNameLst>
                                      </p:cBhvr>
                                      <p:tavLst>
                                        <p:tav tm="0">
                                          <p:val>
                                            <p:strVal val="#ppt_x"/>
                                          </p:val>
                                        </p:tav>
                                        <p:tav tm="100000">
                                          <p:val>
                                            <p:strVal val="#ppt_x"/>
                                          </p:val>
                                        </p:tav>
                                      </p:tavLst>
                                    </p:anim>
                                    <p:anim calcmode="lin" valueType="num">
                                      <p:cBhvr>
                                        <p:cTn id="37" dur="650" fill="hold"/>
                                        <p:tgtEl>
                                          <p:spTgt spid="10"/>
                                        </p:tgtEl>
                                        <p:attrNameLst>
                                          <p:attrName>ppt_y</p:attrName>
                                        </p:attrNameLst>
                                      </p:cBhvr>
                                      <p:tavLst>
                                        <p:tav tm="0">
                                          <p:val>
                                            <p:strVal val="#ppt_y+.05"/>
                                          </p:val>
                                        </p:tav>
                                        <p:tav tm="100000">
                                          <p:val>
                                            <p:strVal val="#ppt_y"/>
                                          </p:val>
                                        </p:tav>
                                      </p:tavLst>
                                    </p:anim>
                                  </p:childTnLst>
                                </p:cTn>
                              </p:par>
                              <p:par>
                                <p:cTn id="38" presetID="42" presetClass="entr" presetSubtype="0" fill="hold" grpId="0" nodeType="withEffect">
                                  <p:stCondLst>
                                    <p:cond delay="35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650"/>
                                        <p:tgtEl>
                                          <p:spTgt spid="11"/>
                                        </p:tgtEl>
                                      </p:cBhvr>
                                    </p:animEffect>
                                    <p:anim calcmode="lin" valueType="num">
                                      <p:cBhvr>
                                        <p:cTn id="41" dur="650" fill="hold"/>
                                        <p:tgtEl>
                                          <p:spTgt spid="11"/>
                                        </p:tgtEl>
                                        <p:attrNameLst>
                                          <p:attrName>ppt_x</p:attrName>
                                        </p:attrNameLst>
                                      </p:cBhvr>
                                      <p:tavLst>
                                        <p:tav tm="0">
                                          <p:val>
                                            <p:strVal val="#ppt_x"/>
                                          </p:val>
                                        </p:tav>
                                        <p:tav tm="100000">
                                          <p:val>
                                            <p:strVal val="#ppt_x"/>
                                          </p:val>
                                        </p:tav>
                                      </p:tavLst>
                                    </p:anim>
                                    <p:anim calcmode="lin" valueType="num">
                                      <p:cBhvr>
                                        <p:cTn id="42" dur="650" fill="hold"/>
                                        <p:tgtEl>
                                          <p:spTgt spid="11"/>
                                        </p:tgtEl>
                                        <p:attrNameLst>
                                          <p:attrName>ppt_y</p:attrName>
                                        </p:attrNameLst>
                                      </p:cBhvr>
                                      <p:tavLst>
                                        <p:tav tm="0">
                                          <p:val>
                                            <p:strVal val="#ppt_y+.05"/>
                                          </p:val>
                                        </p:tav>
                                        <p:tav tm="100000">
                                          <p:val>
                                            <p:strVal val="#ppt_y"/>
                                          </p:val>
                                        </p:tav>
                                      </p:tavLst>
                                    </p:anim>
                                  </p:childTnLst>
                                </p:cTn>
                              </p:par>
                              <p:par>
                                <p:cTn id="43" presetID="10" presetClass="entr" presetSubtype="0" fill="hold" grpId="0" nodeType="withEffect">
                                  <p:stCondLst>
                                    <p:cond delay="51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childTnLst>
                                </p:cTn>
                              </p:par>
                              <p:par>
                                <p:cTn id="46" presetID="42" presetClass="entr" presetSubtype="0" fill="hold" grpId="0" nodeType="withEffect">
                                  <p:stCondLst>
                                    <p:cond delay="57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650"/>
                                        <p:tgtEl>
                                          <p:spTgt spid="13"/>
                                        </p:tgtEl>
                                      </p:cBhvr>
                                    </p:animEffect>
                                    <p:anim calcmode="lin" valueType="num">
                                      <p:cBhvr>
                                        <p:cTn id="49" dur="650" fill="hold"/>
                                        <p:tgtEl>
                                          <p:spTgt spid="13"/>
                                        </p:tgtEl>
                                        <p:attrNameLst>
                                          <p:attrName>ppt_x</p:attrName>
                                        </p:attrNameLst>
                                      </p:cBhvr>
                                      <p:tavLst>
                                        <p:tav tm="0">
                                          <p:val>
                                            <p:strVal val="#ppt_x"/>
                                          </p:val>
                                        </p:tav>
                                        <p:tav tm="100000">
                                          <p:val>
                                            <p:strVal val="#ppt_x"/>
                                          </p:val>
                                        </p:tav>
                                      </p:tavLst>
                                    </p:anim>
                                    <p:anim calcmode="lin" valueType="num">
                                      <p:cBhvr>
                                        <p:cTn id="50" dur="650" fill="hold"/>
                                        <p:tgtEl>
                                          <p:spTgt spid="13"/>
                                        </p:tgtEl>
                                        <p:attrNameLst>
                                          <p:attrName>ppt_y</p:attrName>
                                        </p:attrNameLst>
                                      </p:cBhvr>
                                      <p:tavLst>
                                        <p:tav tm="0">
                                          <p:val>
                                            <p:strVal val="#ppt_y+.05"/>
                                          </p:val>
                                        </p:tav>
                                        <p:tav tm="100000">
                                          <p:val>
                                            <p:strVal val="#ppt_y"/>
                                          </p:val>
                                        </p:tav>
                                      </p:tavLst>
                                    </p:anim>
                                  </p:childTnLst>
                                </p:cTn>
                              </p:par>
                              <p:par>
                                <p:cTn id="51" presetID="42" presetClass="entr" presetSubtype="0" fill="hold" grpId="0" nodeType="withEffect">
                                  <p:stCondLst>
                                    <p:cond delay="57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650"/>
                                        <p:tgtEl>
                                          <p:spTgt spid="14"/>
                                        </p:tgtEl>
                                      </p:cBhvr>
                                    </p:animEffect>
                                    <p:anim calcmode="lin" valueType="num">
                                      <p:cBhvr>
                                        <p:cTn id="54" dur="650" fill="hold"/>
                                        <p:tgtEl>
                                          <p:spTgt spid="14"/>
                                        </p:tgtEl>
                                        <p:attrNameLst>
                                          <p:attrName>ppt_x</p:attrName>
                                        </p:attrNameLst>
                                      </p:cBhvr>
                                      <p:tavLst>
                                        <p:tav tm="0">
                                          <p:val>
                                            <p:strVal val="#ppt_x"/>
                                          </p:val>
                                        </p:tav>
                                        <p:tav tm="100000">
                                          <p:val>
                                            <p:strVal val="#ppt_x"/>
                                          </p:val>
                                        </p:tav>
                                      </p:tavLst>
                                    </p:anim>
                                    <p:anim calcmode="lin" valueType="num">
                                      <p:cBhvr>
                                        <p:cTn id="55" dur="650" fill="hold"/>
                                        <p:tgtEl>
                                          <p:spTgt spid="14"/>
                                        </p:tgtEl>
                                        <p:attrNameLst>
                                          <p:attrName>ppt_y</p:attrName>
                                        </p:attrNameLst>
                                      </p:cBhvr>
                                      <p:tavLst>
                                        <p:tav tm="0">
                                          <p:val>
                                            <p:strVal val="#ppt_y+.05"/>
                                          </p:val>
                                        </p:tav>
                                        <p:tav tm="100000">
                                          <p:val>
                                            <p:strVal val="#ppt_y"/>
                                          </p:val>
                                        </p:tav>
                                      </p:tavLst>
                                    </p:anim>
                                  </p:childTnLst>
                                </p:cTn>
                              </p:par>
                              <p:par>
                                <p:cTn id="56" presetID="42" presetClass="entr" presetSubtype="0" fill="hold" grpId="0" nodeType="withEffect">
                                  <p:stCondLst>
                                    <p:cond delay="570"/>
                                  </p:stCondLst>
                                  <p:childTnLst>
                                    <p:set>
                                      <p:cBhvr>
                                        <p:cTn id="57" dur="1" fill="hold">
                                          <p:stCondLst>
                                            <p:cond delay="0"/>
                                          </p:stCondLst>
                                        </p:cTn>
                                        <p:tgtEl>
                                          <p:spTgt spid="15"/>
                                        </p:tgtEl>
                                        <p:attrNameLst>
                                          <p:attrName>style.visibility</p:attrName>
                                        </p:attrNameLst>
                                      </p:cBhvr>
                                      <p:to>
                                        <p:strVal val="visible"/>
                                      </p:to>
                                    </p:set>
                                    <p:animEffect transition="in" filter="fade">
                                      <p:cBhvr>
                                        <p:cTn id="58" dur="650"/>
                                        <p:tgtEl>
                                          <p:spTgt spid="15"/>
                                        </p:tgtEl>
                                      </p:cBhvr>
                                    </p:animEffect>
                                    <p:anim calcmode="lin" valueType="num">
                                      <p:cBhvr>
                                        <p:cTn id="59" dur="650" fill="hold"/>
                                        <p:tgtEl>
                                          <p:spTgt spid="15"/>
                                        </p:tgtEl>
                                        <p:attrNameLst>
                                          <p:attrName>ppt_x</p:attrName>
                                        </p:attrNameLst>
                                      </p:cBhvr>
                                      <p:tavLst>
                                        <p:tav tm="0">
                                          <p:val>
                                            <p:strVal val="#ppt_x"/>
                                          </p:val>
                                        </p:tav>
                                        <p:tav tm="100000">
                                          <p:val>
                                            <p:strVal val="#ppt_x"/>
                                          </p:val>
                                        </p:tav>
                                      </p:tavLst>
                                    </p:anim>
                                    <p:anim calcmode="lin" valueType="num">
                                      <p:cBhvr>
                                        <p:cTn id="60" dur="650" fill="hold"/>
                                        <p:tgtEl>
                                          <p:spTgt spid="15"/>
                                        </p:tgtEl>
                                        <p:attrNameLst>
                                          <p:attrName>ppt_y</p:attrName>
                                        </p:attrNameLst>
                                      </p:cBhvr>
                                      <p:tavLst>
                                        <p:tav tm="0">
                                          <p:val>
                                            <p:strVal val="#ppt_y+.05"/>
                                          </p:val>
                                        </p:tav>
                                        <p:tav tm="100000">
                                          <p:val>
                                            <p:strVal val="#ppt_y"/>
                                          </p:val>
                                        </p:tav>
                                      </p:tavLst>
                                    </p:anim>
                                  </p:childTnLst>
                                </p:cTn>
                              </p:par>
                              <p:par>
                                <p:cTn id="61" presetID="42" presetClass="entr" presetSubtype="0" fill="hold" grpId="0" nodeType="withEffect">
                                  <p:stCondLst>
                                    <p:cond delay="570"/>
                                  </p:stCondLst>
                                  <p:childTnLst>
                                    <p:set>
                                      <p:cBhvr>
                                        <p:cTn id="62" dur="1" fill="hold">
                                          <p:stCondLst>
                                            <p:cond delay="0"/>
                                          </p:stCondLst>
                                        </p:cTn>
                                        <p:tgtEl>
                                          <p:spTgt spid="16"/>
                                        </p:tgtEl>
                                        <p:attrNameLst>
                                          <p:attrName>style.visibility</p:attrName>
                                        </p:attrNameLst>
                                      </p:cBhvr>
                                      <p:to>
                                        <p:strVal val="visible"/>
                                      </p:to>
                                    </p:set>
                                    <p:animEffect transition="in" filter="fade">
                                      <p:cBhvr>
                                        <p:cTn id="63" dur="650"/>
                                        <p:tgtEl>
                                          <p:spTgt spid="16"/>
                                        </p:tgtEl>
                                      </p:cBhvr>
                                    </p:animEffect>
                                    <p:anim calcmode="lin" valueType="num">
                                      <p:cBhvr>
                                        <p:cTn id="64" dur="650" fill="hold"/>
                                        <p:tgtEl>
                                          <p:spTgt spid="16"/>
                                        </p:tgtEl>
                                        <p:attrNameLst>
                                          <p:attrName>ppt_x</p:attrName>
                                        </p:attrNameLst>
                                      </p:cBhvr>
                                      <p:tavLst>
                                        <p:tav tm="0">
                                          <p:val>
                                            <p:strVal val="#ppt_x"/>
                                          </p:val>
                                        </p:tav>
                                        <p:tav tm="100000">
                                          <p:val>
                                            <p:strVal val="#ppt_x"/>
                                          </p:val>
                                        </p:tav>
                                      </p:tavLst>
                                    </p:anim>
                                    <p:anim calcmode="lin" valueType="num">
                                      <p:cBhvr>
                                        <p:cTn id="65" dur="650" fill="hold"/>
                                        <p:tgtEl>
                                          <p:spTgt spid="16"/>
                                        </p:tgtEl>
                                        <p:attrNameLst>
                                          <p:attrName>ppt_y</p:attrName>
                                        </p:attrNameLst>
                                      </p:cBhvr>
                                      <p:tavLst>
                                        <p:tav tm="0">
                                          <p:val>
                                            <p:strVal val="#ppt_y+.05"/>
                                          </p:val>
                                        </p:tav>
                                        <p:tav tm="100000">
                                          <p:val>
                                            <p:strVal val="#ppt_y"/>
                                          </p:val>
                                        </p:tav>
                                      </p:tavLst>
                                    </p:anim>
                                  </p:childTnLst>
                                </p:cTn>
                              </p:par>
                              <p:par>
                                <p:cTn id="66" presetID="42" presetClass="entr" presetSubtype="0" fill="hold" grpId="0" nodeType="withEffect">
                                  <p:stCondLst>
                                    <p:cond delay="570"/>
                                  </p:stCondLst>
                                  <p:childTnLst>
                                    <p:set>
                                      <p:cBhvr>
                                        <p:cTn id="67" dur="1" fill="hold">
                                          <p:stCondLst>
                                            <p:cond delay="0"/>
                                          </p:stCondLst>
                                        </p:cTn>
                                        <p:tgtEl>
                                          <p:spTgt spid="17"/>
                                        </p:tgtEl>
                                        <p:attrNameLst>
                                          <p:attrName>style.visibility</p:attrName>
                                        </p:attrNameLst>
                                      </p:cBhvr>
                                      <p:to>
                                        <p:strVal val="visible"/>
                                      </p:to>
                                    </p:set>
                                    <p:animEffect transition="in" filter="fade">
                                      <p:cBhvr>
                                        <p:cTn id="68" dur="650"/>
                                        <p:tgtEl>
                                          <p:spTgt spid="17"/>
                                        </p:tgtEl>
                                      </p:cBhvr>
                                    </p:animEffect>
                                    <p:anim calcmode="lin" valueType="num">
                                      <p:cBhvr>
                                        <p:cTn id="69" dur="650" fill="hold"/>
                                        <p:tgtEl>
                                          <p:spTgt spid="17"/>
                                        </p:tgtEl>
                                        <p:attrNameLst>
                                          <p:attrName>ppt_x</p:attrName>
                                        </p:attrNameLst>
                                      </p:cBhvr>
                                      <p:tavLst>
                                        <p:tav tm="0">
                                          <p:val>
                                            <p:strVal val="#ppt_x"/>
                                          </p:val>
                                        </p:tav>
                                        <p:tav tm="100000">
                                          <p:val>
                                            <p:strVal val="#ppt_x"/>
                                          </p:val>
                                        </p:tav>
                                      </p:tavLst>
                                    </p:anim>
                                    <p:anim calcmode="lin" valueType="num">
                                      <p:cBhvr>
                                        <p:cTn id="70" dur="650" fill="hold"/>
                                        <p:tgtEl>
                                          <p:spTgt spid="17"/>
                                        </p:tgtEl>
                                        <p:attrNameLst>
                                          <p:attrName>ppt_y</p:attrName>
                                        </p:attrNameLst>
                                      </p:cBhvr>
                                      <p:tavLst>
                                        <p:tav tm="0">
                                          <p:val>
                                            <p:strVal val="#ppt_y+.05"/>
                                          </p:val>
                                        </p:tav>
                                        <p:tav tm="100000">
                                          <p:val>
                                            <p:strVal val="#ppt_y"/>
                                          </p:val>
                                        </p:tav>
                                      </p:tavLst>
                                    </p:anim>
                                  </p:childTnLst>
                                </p:cTn>
                              </p:par>
                              <p:par>
                                <p:cTn id="71" presetID="42" presetClass="entr" presetSubtype="0" fill="hold" grpId="0" nodeType="withEffect">
                                  <p:stCondLst>
                                    <p:cond delay="570"/>
                                  </p:stCondLst>
                                  <p:childTnLst>
                                    <p:set>
                                      <p:cBhvr>
                                        <p:cTn id="72" dur="1" fill="hold">
                                          <p:stCondLst>
                                            <p:cond delay="0"/>
                                          </p:stCondLst>
                                        </p:cTn>
                                        <p:tgtEl>
                                          <p:spTgt spid="18"/>
                                        </p:tgtEl>
                                        <p:attrNameLst>
                                          <p:attrName>style.visibility</p:attrName>
                                        </p:attrNameLst>
                                      </p:cBhvr>
                                      <p:to>
                                        <p:strVal val="visible"/>
                                      </p:to>
                                    </p:set>
                                    <p:animEffect transition="in" filter="fade">
                                      <p:cBhvr>
                                        <p:cTn id="73" dur="650"/>
                                        <p:tgtEl>
                                          <p:spTgt spid="18"/>
                                        </p:tgtEl>
                                      </p:cBhvr>
                                    </p:animEffect>
                                    <p:anim calcmode="lin" valueType="num">
                                      <p:cBhvr>
                                        <p:cTn id="74" dur="650" fill="hold"/>
                                        <p:tgtEl>
                                          <p:spTgt spid="18"/>
                                        </p:tgtEl>
                                        <p:attrNameLst>
                                          <p:attrName>ppt_x</p:attrName>
                                        </p:attrNameLst>
                                      </p:cBhvr>
                                      <p:tavLst>
                                        <p:tav tm="0">
                                          <p:val>
                                            <p:strVal val="#ppt_x"/>
                                          </p:val>
                                        </p:tav>
                                        <p:tav tm="100000">
                                          <p:val>
                                            <p:strVal val="#ppt_x"/>
                                          </p:val>
                                        </p:tav>
                                      </p:tavLst>
                                    </p:anim>
                                    <p:anim calcmode="lin" valueType="num">
                                      <p:cBhvr>
                                        <p:cTn id="75" dur="650" fill="hold"/>
                                        <p:tgtEl>
                                          <p:spTgt spid="18"/>
                                        </p:tgtEl>
                                        <p:attrNameLst>
                                          <p:attrName>ppt_y</p:attrName>
                                        </p:attrNameLst>
                                      </p:cBhvr>
                                      <p:tavLst>
                                        <p:tav tm="0">
                                          <p:val>
                                            <p:strVal val="#ppt_y+.05"/>
                                          </p:val>
                                        </p:tav>
                                        <p:tav tm="100000">
                                          <p:val>
                                            <p:strVal val="#ppt_y"/>
                                          </p:val>
                                        </p:tav>
                                      </p:tavLst>
                                    </p:anim>
                                  </p:childTnLst>
                                </p:cTn>
                              </p:par>
                              <p:par>
                                <p:cTn id="76" presetID="10" presetClass="entr" presetSubtype="0" fill="hold" grpId="0" nodeType="withEffect">
                                  <p:stCondLst>
                                    <p:cond delay="730"/>
                                  </p:stCondLst>
                                  <p:childTnLst>
                                    <p:set>
                                      <p:cBhvr>
                                        <p:cTn id="77" dur="1" fill="hold">
                                          <p:stCondLst>
                                            <p:cond delay="0"/>
                                          </p:stCondLst>
                                        </p:cTn>
                                        <p:tgtEl>
                                          <p:spTgt spid="19"/>
                                        </p:tgtEl>
                                        <p:attrNameLst>
                                          <p:attrName>style.visibility</p:attrName>
                                        </p:attrNameLst>
                                      </p:cBhvr>
                                      <p:to>
                                        <p:strVal val="visible"/>
                                      </p:to>
                                    </p:set>
                                    <p:animEffect transition="in" filter="fade">
                                      <p:cBhvr>
                                        <p:cTn id="78" dur="500"/>
                                        <p:tgtEl>
                                          <p:spTgt spid="19"/>
                                        </p:tgtEl>
                                      </p:cBhvr>
                                    </p:animEffect>
                                  </p:childTnLst>
                                </p:cTn>
                              </p:par>
                              <p:par>
                                <p:cTn id="79" presetID="42" presetClass="entr" presetSubtype="0" fill="hold" grpId="0" nodeType="withEffect">
                                  <p:stCondLst>
                                    <p:cond delay="79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650"/>
                                        <p:tgtEl>
                                          <p:spTgt spid="20"/>
                                        </p:tgtEl>
                                      </p:cBhvr>
                                    </p:animEffect>
                                    <p:anim calcmode="lin" valueType="num">
                                      <p:cBhvr>
                                        <p:cTn id="82" dur="650" fill="hold"/>
                                        <p:tgtEl>
                                          <p:spTgt spid="20"/>
                                        </p:tgtEl>
                                        <p:attrNameLst>
                                          <p:attrName>ppt_x</p:attrName>
                                        </p:attrNameLst>
                                      </p:cBhvr>
                                      <p:tavLst>
                                        <p:tav tm="0">
                                          <p:val>
                                            <p:strVal val="#ppt_x"/>
                                          </p:val>
                                        </p:tav>
                                        <p:tav tm="100000">
                                          <p:val>
                                            <p:strVal val="#ppt_x"/>
                                          </p:val>
                                        </p:tav>
                                      </p:tavLst>
                                    </p:anim>
                                    <p:anim calcmode="lin" valueType="num">
                                      <p:cBhvr>
                                        <p:cTn id="83" dur="650" fill="hold"/>
                                        <p:tgtEl>
                                          <p:spTgt spid="20"/>
                                        </p:tgtEl>
                                        <p:attrNameLst>
                                          <p:attrName>ppt_y</p:attrName>
                                        </p:attrNameLst>
                                      </p:cBhvr>
                                      <p:tavLst>
                                        <p:tav tm="0">
                                          <p:val>
                                            <p:strVal val="#ppt_y+.05"/>
                                          </p:val>
                                        </p:tav>
                                        <p:tav tm="100000">
                                          <p:val>
                                            <p:strVal val="#ppt_y"/>
                                          </p:val>
                                        </p:tav>
                                      </p:tavLst>
                                    </p:anim>
                                  </p:childTnLst>
                                </p:cTn>
                              </p:par>
                              <p:par>
                                <p:cTn id="84" presetID="42" presetClass="entr" presetSubtype="0" fill="hold" grpId="0" nodeType="withEffect">
                                  <p:stCondLst>
                                    <p:cond delay="790"/>
                                  </p:stCondLst>
                                  <p:childTnLst>
                                    <p:set>
                                      <p:cBhvr>
                                        <p:cTn id="85" dur="1" fill="hold">
                                          <p:stCondLst>
                                            <p:cond delay="0"/>
                                          </p:stCondLst>
                                        </p:cTn>
                                        <p:tgtEl>
                                          <p:spTgt spid="21"/>
                                        </p:tgtEl>
                                        <p:attrNameLst>
                                          <p:attrName>style.visibility</p:attrName>
                                        </p:attrNameLst>
                                      </p:cBhvr>
                                      <p:to>
                                        <p:strVal val="visible"/>
                                      </p:to>
                                    </p:set>
                                    <p:animEffect transition="in" filter="fade">
                                      <p:cBhvr>
                                        <p:cTn id="86" dur="650"/>
                                        <p:tgtEl>
                                          <p:spTgt spid="21"/>
                                        </p:tgtEl>
                                      </p:cBhvr>
                                    </p:animEffect>
                                    <p:anim calcmode="lin" valueType="num">
                                      <p:cBhvr>
                                        <p:cTn id="87" dur="650" fill="hold"/>
                                        <p:tgtEl>
                                          <p:spTgt spid="21"/>
                                        </p:tgtEl>
                                        <p:attrNameLst>
                                          <p:attrName>ppt_x</p:attrName>
                                        </p:attrNameLst>
                                      </p:cBhvr>
                                      <p:tavLst>
                                        <p:tav tm="0">
                                          <p:val>
                                            <p:strVal val="#ppt_x"/>
                                          </p:val>
                                        </p:tav>
                                        <p:tav tm="100000">
                                          <p:val>
                                            <p:strVal val="#ppt_x"/>
                                          </p:val>
                                        </p:tav>
                                      </p:tavLst>
                                    </p:anim>
                                    <p:anim calcmode="lin" valueType="num">
                                      <p:cBhvr>
                                        <p:cTn id="88" dur="650" fill="hold"/>
                                        <p:tgtEl>
                                          <p:spTgt spid="21"/>
                                        </p:tgtEl>
                                        <p:attrNameLst>
                                          <p:attrName>ppt_y</p:attrName>
                                        </p:attrNameLst>
                                      </p:cBhvr>
                                      <p:tavLst>
                                        <p:tav tm="0">
                                          <p:val>
                                            <p:strVal val="#ppt_y+.05"/>
                                          </p:val>
                                        </p:tav>
                                        <p:tav tm="100000">
                                          <p:val>
                                            <p:strVal val="#ppt_y"/>
                                          </p:val>
                                        </p:tav>
                                      </p:tavLst>
                                    </p:anim>
                                  </p:childTnLst>
                                </p:cTn>
                              </p:par>
                              <p:par>
                                <p:cTn id="89" presetID="42" presetClass="entr" presetSubtype="0" fill="hold" grpId="0" nodeType="withEffect">
                                  <p:stCondLst>
                                    <p:cond delay="790"/>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650"/>
                                        <p:tgtEl>
                                          <p:spTgt spid="22"/>
                                        </p:tgtEl>
                                      </p:cBhvr>
                                    </p:animEffect>
                                    <p:anim calcmode="lin" valueType="num">
                                      <p:cBhvr>
                                        <p:cTn id="92" dur="650" fill="hold"/>
                                        <p:tgtEl>
                                          <p:spTgt spid="22"/>
                                        </p:tgtEl>
                                        <p:attrNameLst>
                                          <p:attrName>ppt_x</p:attrName>
                                        </p:attrNameLst>
                                      </p:cBhvr>
                                      <p:tavLst>
                                        <p:tav tm="0">
                                          <p:val>
                                            <p:strVal val="#ppt_x"/>
                                          </p:val>
                                        </p:tav>
                                        <p:tav tm="100000">
                                          <p:val>
                                            <p:strVal val="#ppt_x"/>
                                          </p:val>
                                        </p:tav>
                                      </p:tavLst>
                                    </p:anim>
                                    <p:anim calcmode="lin" valueType="num">
                                      <p:cBhvr>
                                        <p:cTn id="93" dur="650" fill="hold"/>
                                        <p:tgtEl>
                                          <p:spTgt spid="22"/>
                                        </p:tgtEl>
                                        <p:attrNameLst>
                                          <p:attrName>ppt_y</p:attrName>
                                        </p:attrNameLst>
                                      </p:cBhvr>
                                      <p:tavLst>
                                        <p:tav tm="0">
                                          <p:val>
                                            <p:strVal val="#ppt_y+.05"/>
                                          </p:val>
                                        </p:tav>
                                        <p:tav tm="100000">
                                          <p:val>
                                            <p:strVal val="#ppt_y"/>
                                          </p:val>
                                        </p:tav>
                                      </p:tavLst>
                                    </p:anim>
                                  </p:childTnLst>
                                </p:cTn>
                              </p:par>
                              <p:par>
                                <p:cTn id="94" presetID="42" presetClass="entr" presetSubtype="0" fill="hold" grpId="0" nodeType="withEffect">
                                  <p:stCondLst>
                                    <p:cond delay="79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650"/>
                                        <p:tgtEl>
                                          <p:spTgt spid="23"/>
                                        </p:tgtEl>
                                      </p:cBhvr>
                                    </p:animEffect>
                                    <p:anim calcmode="lin" valueType="num">
                                      <p:cBhvr>
                                        <p:cTn id="97" dur="650" fill="hold"/>
                                        <p:tgtEl>
                                          <p:spTgt spid="23"/>
                                        </p:tgtEl>
                                        <p:attrNameLst>
                                          <p:attrName>ppt_x</p:attrName>
                                        </p:attrNameLst>
                                      </p:cBhvr>
                                      <p:tavLst>
                                        <p:tav tm="0">
                                          <p:val>
                                            <p:strVal val="#ppt_x"/>
                                          </p:val>
                                        </p:tav>
                                        <p:tav tm="100000">
                                          <p:val>
                                            <p:strVal val="#ppt_x"/>
                                          </p:val>
                                        </p:tav>
                                      </p:tavLst>
                                    </p:anim>
                                    <p:anim calcmode="lin" valueType="num">
                                      <p:cBhvr>
                                        <p:cTn id="98" dur="650" fill="hold"/>
                                        <p:tgtEl>
                                          <p:spTgt spid="23"/>
                                        </p:tgtEl>
                                        <p:attrNameLst>
                                          <p:attrName>ppt_y</p:attrName>
                                        </p:attrNameLst>
                                      </p:cBhvr>
                                      <p:tavLst>
                                        <p:tav tm="0">
                                          <p:val>
                                            <p:strVal val="#ppt_y+.05"/>
                                          </p:val>
                                        </p:tav>
                                        <p:tav tm="100000">
                                          <p:val>
                                            <p:strVal val="#ppt_y"/>
                                          </p:val>
                                        </p:tav>
                                      </p:tavLst>
                                    </p:anim>
                                  </p:childTnLst>
                                </p:cTn>
                              </p:par>
                              <p:par>
                                <p:cTn id="99" presetID="42" presetClass="entr" presetSubtype="0" fill="hold" grpId="0" nodeType="withEffect">
                                  <p:stCondLst>
                                    <p:cond delay="790"/>
                                  </p:stCondLst>
                                  <p:childTnLst>
                                    <p:set>
                                      <p:cBhvr>
                                        <p:cTn id="100" dur="1" fill="hold">
                                          <p:stCondLst>
                                            <p:cond delay="0"/>
                                          </p:stCondLst>
                                        </p:cTn>
                                        <p:tgtEl>
                                          <p:spTgt spid="24"/>
                                        </p:tgtEl>
                                        <p:attrNameLst>
                                          <p:attrName>style.visibility</p:attrName>
                                        </p:attrNameLst>
                                      </p:cBhvr>
                                      <p:to>
                                        <p:strVal val="visible"/>
                                      </p:to>
                                    </p:set>
                                    <p:animEffect transition="in" filter="fade">
                                      <p:cBhvr>
                                        <p:cTn id="101" dur="650"/>
                                        <p:tgtEl>
                                          <p:spTgt spid="24"/>
                                        </p:tgtEl>
                                      </p:cBhvr>
                                    </p:animEffect>
                                    <p:anim calcmode="lin" valueType="num">
                                      <p:cBhvr>
                                        <p:cTn id="102" dur="650" fill="hold"/>
                                        <p:tgtEl>
                                          <p:spTgt spid="24"/>
                                        </p:tgtEl>
                                        <p:attrNameLst>
                                          <p:attrName>ppt_x</p:attrName>
                                        </p:attrNameLst>
                                      </p:cBhvr>
                                      <p:tavLst>
                                        <p:tav tm="0">
                                          <p:val>
                                            <p:strVal val="#ppt_x"/>
                                          </p:val>
                                        </p:tav>
                                        <p:tav tm="100000">
                                          <p:val>
                                            <p:strVal val="#ppt_x"/>
                                          </p:val>
                                        </p:tav>
                                      </p:tavLst>
                                    </p:anim>
                                    <p:anim calcmode="lin" valueType="num">
                                      <p:cBhvr>
                                        <p:cTn id="103" dur="650" fill="hold"/>
                                        <p:tgtEl>
                                          <p:spTgt spid="24"/>
                                        </p:tgtEl>
                                        <p:attrNameLst>
                                          <p:attrName>ppt_y</p:attrName>
                                        </p:attrNameLst>
                                      </p:cBhvr>
                                      <p:tavLst>
                                        <p:tav tm="0">
                                          <p:val>
                                            <p:strVal val="#ppt_y+.05"/>
                                          </p:val>
                                        </p:tav>
                                        <p:tav tm="100000">
                                          <p:val>
                                            <p:strVal val="#ppt_y"/>
                                          </p:val>
                                        </p:tav>
                                      </p:tavLst>
                                    </p:anim>
                                  </p:childTnLst>
                                </p:cTn>
                              </p:par>
                              <p:par>
                                <p:cTn id="104" presetID="42" presetClass="entr" presetSubtype="0" fill="hold" grpId="0" nodeType="withEffect">
                                  <p:stCondLst>
                                    <p:cond delay="79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650"/>
                                        <p:tgtEl>
                                          <p:spTgt spid="25"/>
                                        </p:tgtEl>
                                      </p:cBhvr>
                                    </p:animEffect>
                                    <p:anim calcmode="lin" valueType="num">
                                      <p:cBhvr>
                                        <p:cTn id="107" dur="650" fill="hold"/>
                                        <p:tgtEl>
                                          <p:spTgt spid="25"/>
                                        </p:tgtEl>
                                        <p:attrNameLst>
                                          <p:attrName>ppt_x</p:attrName>
                                        </p:attrNameLst>
                                      </p:cBhvr>
                                      <p:tavLst>
                                        <p:tav tm="0">
                                          <p:val>
                                            <p:strVal val="#ppt_x"/>
                                          </p:val>
                                        </p:tav>
                                        <p:tav tm="100000">
                                          <p:val>
                                            <p:strVal val="#ppt_x"/>
                                          </p:val>
                                        </p:tav>
                                      </p:tavLst>
                                    </p:anim>
                                    <p:anim calcmode="lin" valueType="num">
                                      <p:cBhvr>
                                        <p:cTn id="108" dur="650" fill="hold"/>
                                        <p:tgtEl>
                                          <p:spTgt spid="25"/>
                                        </p:tgtEl>
                                        <p:attrNameLst>
                                          <p:attrName>ppt_y</p:attrName>
                                        </p:attrNameLst>
                                      </p:cBhvr>
                                      <p:tavLst>
                                        <p:tav tm="0">
                                          <p:val>
                                            <p:strVal val="#ppt_y+.05"/>
                                          </p:val>
                                        </p:tav>
                                        <p:tav tm="100000">
                                          <p:val>
                                            <p:strVal val="#ppt_y"/>
                                          </p:val>
                                        </p:tav>
                                      </p:tavLst>
                                    </p:anim>
                                  </p:childTnLst>
                                </p:cTn>
                              </p:par>
                              <p:par>
                                <p:cTn id="109" presetID="10" presetClass="entr" presetSubtype="0" fill="hold" grpId="0" nodeType="withEffect">
                                  <p:stCondLst>
                                    <p:cond delay="950"/>
                                  </p:stCondLst>
                                  <p:childTnLst>
                                    <p:set>
                                      <p:cBhvr>
                                        <p:cTn id="110" dur="1" fill="hold">
                                          <p:stCondLst>
                                            <p:cond delay="0"/>
                                          </p:stCondLst>
                                        </p:cTn>
                                        <p:tgtEl>
                                          <p:spTgt spid="26"/>
                                        </p:tgtEl>
                                        <p:attrNameLst>
                                          <p:attrName>style.visibility</p:attrName>
                                        </p:attrNameLst>
                                      </p:cBhvr>
                                      <p:to>
                                        <p:strVal val="visible"/>
                                      </p:to>
                                    </p:set>
                                    <p:animEffect transition="in" filter="fade">
                                      <p:cBhvr>
                                        <p:cTn id="111" dur="500"/>
                                        <p:tgtEl>
                                          <p:spTgt spid="26"/>
                                        </p:tgtEl>
                                      </p:cBhvr>
                                    </p:animEffect>
                                  </p:childTnLst>
                                </p:cTn>
                              </p:par>
                              <p:par>
                                <p:cTn id="112" presetID="42" presetClass="entr" presetSubtype="0" fill="hold" grpId="0" nodeType="withEffect">
                                  <p:stCondLst>
                                    <p:cond delay="1010"/>
                                  </p:stCondLst>
                                  <p:childTnLst>
                                    <p:set>
                                      <p:cBhvr>
                                        <p:cTn id="113" dur="1" fill="hold">
                                          <p:stCondLst>
                                            <p:cond delay="0"/>
                                          </p:stCondLst>
                                        </p:cTn>
                                        <p:tgtEl>
                                          <p:spTgt spid="27"/>
                                        </p:tgtEl>
                                        <p:attrNameLst>
                                          <p:attrName>style.visibility</p:attrName>
                                        </p:attrNameLst>
                                      </p:cBhvr>
                                      <p:to>
                                        <p:strVal val="visible"/>
                                      </p:to>
                                    </p:set>
                                    <p:animEffect transition="in" filter="fade">
                                      <p:cBhvr>
                                        <p:cTn id="114" dur="650"/>
                                        <p:tgtEl>
                                          <p:spTgt spid="27"/>
                                        </p:tgtEl>
                                      </p:cBhvr>
                                    </p:animEffect>
                                    <p:anim calcmode="lin" valueType="num">
                                      <p:cBhvr>
                                        <p:cTn id="115" dur="650" fill="hold"/>
                                        <p:tgtEl>
                                          <p:spTgt spid="27"/>
                                        </p:tgtEl>
                                        <p:attrNameLst>
                                          <p:attrName>ppt_x</p:attrName>
                                        </p:attrNameLst>
                                      </p:cBhvr>
                                      <p:tavLst>
                                        <p:tav tm="0">
                                          <p:val>
                                            <p:strVal val="#ppt_x"/>
                                          </p:val>
                                        </p:tav>
                                        <p:tav tm="100000">
                                          <p:val>
                                            <p:strVal val="#ppt_x"/>
                                          </p:val>
                                        </p:tav>
                                      </p:tavLst>
                                    </p:anim>
                                    <p:anim calcmode="lin" valueType="num">
                                      <p:cBhvr>
                                        <p:cTn id="116" dur="650" fill="hold"/>
                                        <p:tgtEl>
                                          <p:spTgt spid="27"/>
                                        </p:tgtEl>
                                        <p:attrNameLst>
                                          <p:attrName>ppt_y</p:attrName>
                                        </p:attrNameLst>
                                      </p:cBhvr>
                                      <p:tavLst>
                                        <p:tav tm="0">
                                          <p:val>
                                            <p:strVal val="#ppt_y+.05"/>
                                          </p:val>
                                        </p:tav>
                                        <p:tav tm="100000">
                                          <p:val>
                                            <p:strVal val="#ppt_y"/>
                                          </p:val>
                                        </p:tav>
                                      </p:tavLst>
                                    </p:anim>
                                  </p:childTnLst>
                                </p:cTn>
                              </p:par>
                              <p:par>
                                <p:cTn id="117" presetID="42" presetClass="entr" presetSubtype="0" fill="hold" grpId="0" nodeType="withEffect">
                                  <p:stCondLst>
                                    <p:cond delay="1010"/>
                                  </p:stCondLst>
                                  <p:childTnLst>
                                    <p:set>
                                      <p:cBhvr>
                                        <p:cTn id="118" dur="1" fill="hold">
                                          <p:stCondLst>
                                            <p:cond delay="0"/>
                                          </p:stCondLst>
                                        </p:cTn>
                                        <p:tgtEl>
                                          <p:spTgt spid="28"/>
                                        </p:tgtEl>
                                        <p:attrNameLst>
                                          <p:attrName>style.visibility</p:attrName>
                                        </p:attrNameLst>
                                      </p:cBhvr>
                                      <p:to>
                                        <p:strVal val="visible"/>
                                      </p:to>
                                    </p:set>
                                    <p:animEffect transition="in" filter="fade">
                                      <p:cBhvr>
                                        <p:cTn id="119" dur="650"/>
                                        <p:tgtEl>
                                          <p:spTgt spid="28"/>
                                        </p:tgtEl>
                                      </p:cBhvr>
                                    </p:animEffect>
                                    <p:anim calcmode="lin" valueType="num">
                                      <p:cBhvr>
                                        <p:cTn id="120" dur="650" fill="hold"/>
                                        <p:tgtEl>
                                          <p:spTgt spid="28"/>
                                        </p:tgtEl>
                                        <p:attrNameLst>
                                          <p:attrName>ppt_x</p:attrName>
                                        </p:attrNameLst>
                                      </p:cBhvr>
                                      <p:tavLst>
                                        <p:tav tm="0">
                                          <p:val>
                                            <p:strVal val="#ppt_x"/>
                                          </p:val>
                                        </p:tav>
                                        <p:tav tm="100000">
                                          <p:val>
                                            <p:strVal val="#ppt_x"/>
                                          </p:val>
                                        </p:tav>
                                      </p:tavLst>
                                    </p:anim>
                                    <p:anim calcmode="lin" valueType="num">
                                      <p:cBhvr>
                                        <p:cTn id="121" dur="650" fill="hold"/>
                                        <p:tgtEl>
                                          <p:spTgt spid="28"/>
                                        </p:tgtEl>
                                        <p:attrNameLst>
                                          <p:attrName>ppt_y</p:attrName>
                                        </p:attrNameLst>
                                      </p:cBhvr>
                                      <p:tavLst>
                                        <p:tav tm="0">
                                          <p:val>
                                            <p:strVal val="#ppt_y+.05"/>
                                          </p:val>
                                        </p:tav>
                                        <p:tav tm="100000">
                                          <p:val>
                                            <p:strVal val="#ppt_y"/>
                                          </p:val>
                                        </p:tav>
                                      </p:tavLst>
                                    </p:anim>
                                  </p:childTnLst>
                                </p:cTn>
                              </p:par>
                              <p:par>
                                <p:cTn id="122" presetID="42" presetClass="entr" presetSubtype="0" fill="hold" grpId="0" nodeType="withEffect">
                                  <p:stCondLst>
                                    <p:cond delay="101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650"/>
                                        <p:tgtEl>
                                          <p:spTgt spid="29"/>
                                        </p:tgtEl>
                                      </p:cBhvr>
                                    </p:animEffect>
                                    <p:anim calcmode="lin" valueType="num">
                                      <p:cBhvr>
                                        <p:cTn id="125" dur="650" fill="hold"/>
                                        <p:tgtEl>
                                          <p:spTgt spid="29"/>
                                        </p:tgtEl>
                                        <p:attrNameLst>
                                          <p:attrName>ppt_x</p:attrName>
                                        </p:attrNameLst>
                                      </p:cBhvr>
                                      <p:tavLst>
                                        <p:tav tm="0">
                                          <p:val>
                                            <p:strVal val="#ppt_x"/>
                                          </p:val>
                                        </p:tav>
                                        <p:tav tm="100000">
                                          <p:val>
                                            <p:strVal val="#ppt_x"/>
                                          </p:val>
                                        </p:tav>
                                      </p:tavLst>
                                    </p:anim>
                                    <p:anim calcmode="lin" valueType="num">
                                      <p:cBhvr>
                                        <p:cTn id="126" dur="650" fill="hold"/>
                                        <p:tgtEl>
                                          <p:spTgt spid="29"/>
                                        </p:tgtEl>
                                        <p:attrNameLst>
                                          <p:attrName>ppt_y</p:attrName>
                                        </p:attrNameLst>
                                      </p:cBhvr>
                                      <p:tavLst>
                                        <p:tav tm="0">
                                          <p:val>
                                            <p:strVal val="#ppt_y+.05"/>
                                          </p:val>
                                        </p:tav>
                                        <p:tav tm="100000">
                                          <p:val>
                                            <p:strVal val="#ppt_y"/>
                                          </p:val>
                                        </p:tav>
                                      </p:tavLst>
                                    </p:anim>
                                  </p:childTnLst>
                                </p:cTn>
                              </p:par>
                              <p:par>
                                <p:cTn id="127" presetID="42" presetClass="entr" presetSubtype="0" fill="hold" grpId="0" nodeType="withEffect">
                                  <p:stCondLst>
                                    <p:cond delay="1010"/>
                                  </p:stCondLst>
                                  <p:childTnLst>
                                    <p:set>
                                      <p:cBhvr>
                                        <p:cTn id="128" dur="1" fill="hold">
                                          <p:stCondLst>
                                            <p:cond delay="0"/>
                                          </p:stCondLst>
                                        </p:cTn>
                                        <p:tgtEl>
                                          <p:spTgt spid="30"/>
                                        </p:tgtEl>
                                        <p:attrNameLst>
                                          <p:attrName>style.visibility</p:attrName>
                                        </p:attrNameLst>
                                      </p:cBhvr>
                                      <p:to>
                                        <p:strVal val="visible"/>
                                      </p:to>
                                    </p:set>
                                    <p:animEffect transition="in" filter="fade">
                                      <p:cBhvr>
                                        <p:cTn id="129" dur="650"/>
                                        <p:tgtEl>
                                          <p:spTgt spid="30"/>
                                        </p:tgtEl>
                                      </p:cBhvr>
                                    </p:animEffect>
                                    <p:anim calcmode="lin" valueType="num">
                                      <p:cBhvr>
                                        <p:cTn id="130" dur="650" fill="hold"/>
                                        <p:tgtEl>
                                          <p:spTgt spid="30"/>
                                        </p:tgtEl>
                                        <p:attrNameLst>
                                          <p:attrName>ppt_x</p:attrName>
                                        </p:attrNameLst>
                                      </p:cBhvr>
                                      <p:tavLst>
                                        <p:tav tm="0">
                                          <p:val>
                                            <p:strVal val="#ppt_x"/>
                                          </p:val>
                                        </p:tav>
                                        <p:tav tm="100000">
                                          <p:val>
                                            <p:strVal val="#ppt_x"/>
                                          </p:val>
                                        </p:tav>
                                      </p:tavLst>
                                    </p:anim>
                                    <p:anim calcmode="lin" valueType="num">
                                      <p:cBhvr>
                                        <p:cTn id="131" dur="650" fill="hold"/>
                                        <p:tgtEl>
                                          <p:spTgt spid="30"/>
                                        </p:tgtEl>
                                        <p:attrNameLst>
                                          <p:attrName>ppt_y</p:attrName>
                                        </p:attrNameLst>
                                      </p:cBhvr>
                                      <p:tavLst>
                                        <p:tav tm="0">
                                          <p:val>
                                            <p:strVal val="#ppt_y+.05"/>
                                          </p:val>
                                        </p:tav>
                                        <p:tav tm="100000">
                                          <p:val>
                                            <p:strVal val="#ppt_y"/>
                                          </p:val>
                                        </p:tav>
                                      </p:tavLst>
                                    </p:anim>
                                  </p:childTnLst>
                                </p:cTn>
                              </p:par>
                              <p:par>
                                <p:cTn id="132" presetID="42" presetClass="entr" presetSubtype="0" fill="hold" grpId="0" nodeType="withEffect">
                                  <p:stCondLst>
                                    <p:cond delay="1010"/>
                                  </p:stCondLst>
                                  <p:childTnLst>
                                    <p:set>
                                      <p:cBhvr>
                                        <p:cTn id="133" dur="1" fill="hold">
                                          <p:stCondLst>
                                            <p:cond delay="0"/>
                                          </p:stCondLst>
                                        </p:cTn>
                                        <p:tgtEl>
                                          <p:spTgt spid="31"/>
                                        </p:tgtEl>
                                        <p:attrNameLst>
                                          <p:attrName>style.visibility</p:attrName>
                                        </p:attrNameLst>
                                      </p:cBhvr>
                                      <p:to>
                                        <p:strVal val="visible"/>
                                      </p:to>
                                    </p:set>
                                    <p:animEffect transition="in" filter="fade">
                                      <p:cBhvr>
                                        <p:cTn id="134" dur="650"/>
                                        <p:tgtEl>
                                          <p:spTgt spid="31"/>
                                        </p:tgtEl>
                                      </p:cBhvr>
                                    </p:animEffect>
                                    <p:anim calcmode="lin" valueType="num">
                                      <p:cBhvr>
                                        <p:cTn id="135" dur="650" fill="hold"/>
                                        <p:tgtEl>
                                          <p:spTgt spid="31"/>
                                        </p:tgtEl>
                                        <p:attrNameLst>
                                          <p:attrName>ppt_x</p:attrName>
                                        </p:attrNameLst>
                                      </p:cBhvr>
                                      <p:tavLst>
                                        <p:tav tm="0">
                                          <p:val>
                                            <p:strVal val="#ppt_x"/>
                                          </p:val>
                                        </p:tav>
                                        <p:tav tm="100000">
                                          <p:val>
                                            <p:strVal val="#ppt_x"/>
                                          </p:val>
                                        </p:tav>
                                      </p:tavLst>
                                    </p:anim>
                                    <p:anim calcmode="lin" valueType="num">
                                      <p:cBhvr>
                                        <p:cTn id="136" dur="650" fill="hold"/>
                                        <p:tgtEl>
                                          <p:spTgt spid="31"/>
                                        </p:tgtEl>
                                        <p:attrNameLst>
                                          <p:attrName>ppt_y</p:attrName>
                                        </p:attrNameLst>
                                      </p:cBhvr>
                                      <p:tavLst>
                                        <p:tav tm="0">
                                          <p:val>
                                            <p:strVal val="#ppt_y+.05"/>
                                          </p:val>
                                        </p:tav>
                                        <p:tav tm="100000">
                                          <p:val>
                                            <p:strVal val="#ppt_y"/>
                                          </p:val>
                                        </p:tav>
                                      </p:tavLst>
                                    </p:anim>
                                  </p:childTnLst>
                                </p:cTn>
                              </p:par>
                              <p:par>
                                <p:cTn id="137" presetID="42" presetClass="entr" presetSubtype="0" fill="hold" grpId="0" nodeType="withEffect">
                                  <p:stCondLst>
                                    <p:cond delay="1010"/>
                                  </p:stCondLst>
                                  <p:childTnLst>
                                    <p:set>
                                      <p:cBhvr>
                                        <p:cTn id="138" dur="1" fill="hold">
                                          <p:stCondLst>
                                            <p:cond delay="0"/>
                                          </p:stCondLst>
                                        </p:cTn>
                                        <p:tgtEl>
                                          <p:spTgt spid="32"/>
                                        </p:tgtEl>
                                        <p:attrNameLst>
                                          <p:attrName>style.visibility</p:attrName>
                                        </p:attrNameLst>
                                      </p:cBhvr>
                                      <p:to>
                                        <p:strVal val="visible"/>
                                      </p:to>
                                    </p:set>
                                    <p:animEffect transition="in" filter="fade">
                                      <p:cBhvr>
                                        <p:cTn id="139" dur="650"/>
                                        <p:tgtEl>
                                          <p:spTgt spid="32"/>
                                        </p:tgtEl>
                                      </p:cBhvr>
                                    </p:animEffect>
                                    <p:anim calcmode="lin" valueType="num">
                                      <p:cBhvr>
                                        <p:cTn id="140" dur="650" fill="hold"/>
                                        <p:tgtEl>
                                          <p:spTgt spid="32"/>
                                        </p:tgtEl>
                                        <p:attrNameLst>
                                          <p:attrName>ppt_x</p:attrName>
                                        </p:attrNameLst>
                                      </p:cBhvr>
                                      <p:tavLst>
                                        <p:tav tm="0">
                                          <p:val>
                                            <p:strVal val="#ppt_x"/>
                                          </p:val>
                                        </p:tav>
                                        <p:tav tm="100000">
                                          <p:val>
                                            <p:strVal val="#ppt_x"/>
                                          </p:val>
                                        </p:tav>
                                      </p:tavLst>
                                    </p:anim>
                                    <p:anim calcmode="lin" valueType="num">
                                      <p:cBhvr>
                                        <p:cTn id="141" dur="650" fill="hold"/>
                                        <p:tgtEl>
                                          <p:spTgt spid="32"/>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P spid="10"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2" grpId="0" animBg="1"/>
      <p:bldP spid="24" grpId="0" animBg="1"/>
      <p:bldP spid="25" grpId="0" animBg="1"/>
      <p:bldP spid="26" grpId="0" animBg="1"/>
      <p:bldP spid="27" grpId="0" animBg="1"/>
      <p:bldP spid="28" grpId="0" animBg="1"/>
      <p:bldP spid="29" grpId="0" animBg="1"/>
      <p:bldP spid="31" grpId="0" animBg="1"/>
      <p:bldP spid="3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eyebrow"/>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100" b="1" spc="200" kern="0" dirty="0">
                <a:solidFill>
                  <a:srgbClr val="B3441A"/>
                </a:solidFill>
                <a:latin typeface="Arial" pitchFamily="34" charset="0"/>
                <a:ea typeface="Arial" pitchFamily="34" charset="-122"/>
                <a:cs typeface="Arial" pitchFamily="34" charset="-120"/>
              </a:rPr>
              <a:t>STEP 1 · IMPORT</a:t>
            </a:r>
            <a:endParaRPr lang="en-US" sz="1100" dirty="0"/>
          </a:p>
        </p:txBody>
      </p:sp>
      <p:sp>
        <p:nvSpPr>
          <p:cNvPr id="4" name="Text 1"/>
          <p:cNvSpPr/>
          <p:nvPr>
            <p:ph idx="101" type="title" hasCustomPrompt="1"/>
          </p:nvPr>
        </p:nvSpPr>
        <p:spPr>
          <a:xfrm>
            <a:off x="548640" y="841248"/>
            <a:ext cx="11094415" cy="731520"/>
          </a:xfrm>
          <a:prstGeom prst="rect">
            <a:avLst/>
          </a:prstGeom>
          <a:noFill/>
          <a:ln/>
        </p:spPr>
        <p:txBody>
          <a:bodyPr wrap="square" lIns="0" tIns="0" rIns="0" bIns="0" rtlCol="0" anchor="t"/>
          <a:lstStyle/>
          <a:p>
            <a:pPr algn="l" indent="0" marL="0">
              <a:buNone/>
            </a:pPr>
            <a:r>
              <a:rPr lang="en-US" sz="3600" b="1" dirty="0">
                <a:solidFill>
                  <a:srgbClr val="1D1D1F"/>
                </a:solidFill>
                <a:latin typeface="Arial" pitchFamily="34" charset="0"/>
                <a:ea typeface="Arial" pitchFamily="34" charset="-122"/>
                <a:cs typeface="Arial" pitchFamily="34" charset="-120"/>
              </a:rPr>
              <a:t>Drop everything at once</a:t>
            </a:r>
            <a:endParaRPr lang="en-US" sz="3600" dirty="0"/>
          </a:p>
        </p:txBody>
      </p:sp>
      <p:sp>
        <p:nvSpPr>
          <p:cNvPr id="5" name="dot-sparkle"/>
          <p:cNvSpPr/>
          <p:nvPr/>
        </p:nvSpPr>
        <p:spPr>
          <a:xfrm>
            <a:off x="548640" y="2011680"/>
            <a:ext cx="512064" cy="512064"/>
          </a:xfrm>
          <a:prstGeom prst="ellipse">
            <a:avLst/>
          </a:prstGeom>
          <a:solidFill>
            <a:srgbClr val="1D1D1F"/>
          </a:solidFill>
          <a:ln/>
        </p:spPr>
      </p:sp>
      <p:pic>
        <p:nvPicPr>
          <p:cNvPr id="6" name="icon-sparkle" descr="">    </p:cNvPr>
          <p:cNvPicPr>
            <a:picLocks noChangeAspect="1"/>
          </p:cNvPicPr>
          <p:nvPr/>
        </p:nvPicPr>
        <p:blipFill>
          <a:blip r:embed="rId1"/>
          <a:stretch>
            <a:fillRect/>
          </a:stretch>
        </p:blipFill>
        <p:spPr>
          <a:xfrm>
            <a:off x="671535" y="2134575"/>
            <a:ext cx="266273" cy="266273"/>
          </a:xfrm>
          <a:prstGeom prst="rect">
            <a:avLst/>
          </a:prstGeom>
        </p:spPr>
      </p:pic>
      <p:sp>
        <p:nvSpPr>
          <p:cNvPr id="7" name="h"/>
          <p:cNvSpPr txBox="1"/>
          <p:nvPr/>
        </p:nvSpPr>
        <p:spPr>
          <a:xfrm>
            <a:off x="1280160" y="1984248"/>
            <a:ext cx="3474720" cy="329184"/>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Recognised by what is inside</a:t>
            </a:r>
            <a:endParaRPr lang="en-US" sz="1700" dirty="0"/>
          </a:p>
        </p:txBody>
      </p:sp>
      <p:sp>
        <p:nvSpPr>
          <p:cNvPr id="8" name="t"/>
          <p:cNvSpPr txBox="1"/>
          <p:nvPr/>
        </p:nvSpPr>
        <p:spPr>
          <a:xfrm>
            <a:off x="1280160" y="2340864"/>
            <a:ext cx="3474720" cy="640080"/>
          </a:xfrm>
          <a:prstGeom prst="rect">
            <a:avLst/>
          </a:prstGeom>
          <a:noFill/>
          <a:ln/>
        </p:spPr>
        <p:txBody>
          <a:bodyPr wrap="square" lIns="0" tIns="0" rIns="0" bIns="0" rtlCol="0" anchor="t"/>
          <a:lstStyle/>
          <a:p>
            <a:pPr indent="0" marL="0">
              <a:lnSpc>
                <a:spcPct val="105000"/>
              </a:lnSpc>
              <a:buNone/>
            </a:pPr>
            <a:r>
              <a:rPr lang="en-US" sz="1400" dirty="0">
                <a:solidFill>
                  <a:srgbClr val="58585D"/>
                </a:solidFill>
                <a:latin typeface="Arial" pitchFamily="34" charset="0"/>
                <a:ea typeface="Arial" pitchFamily="34" charset="-122"/>
                <a:cs typeface="Arial" pitchFamily="34" charset="-120"/>
              </a:rPr>
              <a:t>Each file goes where it belongs by its columns, whatever its name.</a:t>
            </a:r>
            <a:endParaRPr lang="en-US" sz="1400" dirty="0"/>
          </a:p>
        </p:txBody>
      </p:sp>
      <p:sp>
        <p:nvSpPr>
          <p:cNvPr id="9" name="dot-layers"/>
          <p:cNvSpPr/>
          <p:nvPr/>
        </p:nvSpPr>
        <p:spPr>
          <a:xfrm>
            <a:off x="548640" y="3310128"/>
            <a:ext cx="512064" cy="512064"/>
          </a:xfrm>
          <a:prstGeom prst="ellipse">
            <a:avLst/>
          </a:prstGeom>
          <a:solidFill>
            <a:srgbClr val="1D1D1F"/>
          </a:solidFill>
          <a:ln/>
        </p:spPr>
      </p:sp>
      <p:pic>
        <p:nvPicPr>
          <p:cNvPr id="10" name="icon-layers" descr="">    </p:cNvPr>
          <p:cNvPicPr>
            <a:picLocks noChangeAspect="1"/>
          </p:cNvPicPr>
          <p:nvPr/>
        </p:nvPicPr>
        <p:blipFill>
          <a:blip r:embed="rId2"/>
          <a:stretch>
            <a:fillRect/>
          </a:stretch>
        </p:blipFill>
        <p:spPr>
          <a:xfrm>
            <a:off x="671535" y="3433023"/>
            <a:ext cx="266273" cy="266273"/>
          </a:xfrm>
          <a:prstGeom prst="rect">
            <a:avLst/>
          </a:prstGeom>
        </p:spPr>
      </p:pic>
      <p:sp>
        <p:nvSpPr>
          <p:cNvPr id="11" name="h"/>
          <p:cNvSpPr txBox="1"/>
          <p:nvPr/>
        </p:nvSpPr>
        <p:spPr>
          <a:xfrm>
            <a:off x="1280160" y="3282696"/>
            <a:ext cx="3474720" cy="329184"/>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One drop for the whole month</a:t>
            </a:r>
            <a:endParaRPr lang="en-US" sz="1700" dirty="0"/>
          </a:p>
        </p:txBody>
      </p:sp>
      <p:sp>
        <p:nvSpPr>
          <p:cNvPr id="12" name="t"/>
          <p:cNvSpPr txBox="1"/>
          <p:nvPr/>
        </p:nvSpPr>
        <p:spPr>
          <a:xfrm>
            <a:off x="1280160" y="3639312"/>
            <a:ext cx="3474720" cy="640080"/>
          </a:xfrm>
          <a:prstGeom prst="rect">
            <a:avLst/>
          </a:prstGeom>
          <a:noFill/>
          <a:ln/>
        </p:spPr>
        <p:txBody>
          <a:bodyPr wrap="square" lIns="0" tIns="0" rIns="0" bIns="0" rtlCol="0" anchor="t"/>
          <a:lstStyle/>
          <a:p>
            <a:pPr indent="0" marL="0">
              <a:lnSpc>
                <a:spcPct val="105000"/>
              </a:lnSpc>
              <a:buNone/>
            </a:pPr>
            <a:r>
              <a:rPr lang="en-US" sz="1400" dirty="0">
                <a:solidFill>
                  <a:srgbClr val="58585D"/>
                </a:solidFill>
                <a:latin typeface="Arial" pitchFamily="34" charset="0"/>
                <a:ea typeface="Arial" pitchFamily="34" charset="-122"/>
                <a:cs typeface="Arial" pitchFamily="34" charset="-120"/>
              </a:rPr>
              <a:t>The four Genesys exports, attendance templates, IDs, KPI and quality files together.</a:t>
            </a:r>
            <a:endParaRPr lang="en-US" sz="1400" dirty="0"/>
          </a:p>
        </p:txBody>
      </p:sp>
      <p:sp>
        <p:nvSpPr>
          <p:cNvPr id="13" name="dot-folder"/>
          <p:cNvSpPr/>
          <p:nvPr/>
        </p:nvSpPr>
        <p:spPr>
          <a:xfrm>
            <a:off x="548640" y="4608576"/>
            <a:ext cx="512064" cy="512064"/>
          </a:xfrm>
          <a:prstGeom prst="ellipse">
            <a:avLst/>
          </a:prstGeom>
          <a:solidFill>
            <a:srgbClr val="1D1D1F"/>
          </a:solidFill>
          <a:ln/>
        </p:spPr>
      </p:sp>
      <p:pic>
        <p:nvPicPr>
          <p:cNvPr id="14" name="icon-folder" descr="">    </p:cNvPr>
          <p:cNvPicPr>
            <a:picLocks noChangeAspect="1"/>
          </p:cNvPicPr>
          <p:nvPr/>
        </p:nvPicPr>
        <p:blipFill>
          <a:blip r:embed="rId3"/>
          <a:stretch>
            <a:fillRect/>
          </a:stretch>
        </p:blipFill>
        <p:spPr>
          <a:xfrm>
            <a:off x="671535" y="4731471"/>
            <a:ext cx="266273" cy="266273"/>
          </a:xfrm>
          <a:prstGeom prst="rect">
            <a:avLst/>
          </a:prstGeom>
        </p:spPr>
      </p:pic>
      <p:sp>
        <p:nvSpPr>
          <p:cNvPr id="15" name="h"/>
          <p:cNvSpPr txBox="1"/>
          <p:nvPr/>
        </p:nvSpPr>
        <p:spPr>
          <a:xfrm>
            <a:off x="1280160" y="4581144"/>
            <a:ext cx="3474720" cy="329184"/>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Kept for the next sign-in</a:t>
            </a:r>
            <a:endParaRPr lang="en-US" sz="1700" dirty="0"/>
          </a:p>
        </p:txBody>
      </p:sp>
      <p:sp>
        <p:nvSpPr>
          <p:cNvPr id="16" name="t"/>
          <p:cNvSpPr txBox="1"/>
          <p:nvPr/>
        </p:nvSpPr>
        <p:spPr>
          <a:xfrm>
            <a:off x="1280160" y="4937760"/>
            <a:ext cx="3474720" cy="640080"/>
          </a:xfrm>
          <a:prstGeom prst="rect">
            <a:avLst/>
          </a:prstGeom>
          <a:noFill/>
          <a:ln/>
        </p:spPr>
        <p:txBody>
          <a:bodyPr wrap="square" lIns="0" tIns="0" rIns="0" bIns="0" rtlCol="0" anchor="t"/>
          <a:lstStyle/>
          <a:p>
            <a:pPr indent="0" marL="0">
              <a:lnSpc>
                <a:spcPct val="105000"/>
              </a:lnSpc>
              <a:buNone/>
            </a:pPr>
            <a:r>
              <a:rPr lang="en-US" sz="1400" dirty="0">
                <a:solidFill>
                  <a:srgbClr val="58585D"/>
                </a:solidFill>
                <a:latin typeface="Arial" pitchFamily="34" charset="0"/>
                <a:ea typeface="Arial" pitchFamily="34" charset="-122"/>
                <a:cs typeface="Arial" pitchFamily="34" charset="-120"/>
              </a:rPr>
              <a:t>Every upload is kept, locked with the shared data, and comes back by itself.</a:t>
            </a:r>
            <a:endParaRPr lang="en-US" sz="1400" dirty="0"/>
          </a:p>
        </p:txBody>
      </p:sp>
      <p:pic>
        <p:nvPicPr>
          <p:cNvPr id="17" name="shot" descr="Import: the four Genesys exports recognised and ready">    </p:cNvPr>
          <p:cNvPicPr>
            <a:picLocks noChangeAspect="1"/>
          </p:cNvPicPr>
          <p:nvPr/>
        </p:nvPicPr>
        <p:blipFill>
          <a:blip r:embed="rId4"/>
          <a:stretch>
            <a:fillRect/>
          </a:stretch>
        </p:blipFill>
        <p:spPr>
          <a:xfrm>
            <a:off x="4708278" y="1462158"/>
            <a:ext cx="7301420" cy="4603980"/>
          </a:xfrm>
          <a:prstGeom prst="rect">
            <a:avLst/>
          </a:prstGeom>
        </p:spPr>
      </p:pic>
      <p:sp>
        <p:nvSpPr>
          <p:cNvPr id="25" name="Slide Number Placeholder 0"/>
          <p:cNvSpPr>
            <a:spLocks noGrp="1"/>
          </p:cNvSpPr>
          <p:nvPr>
            <p:ph type="sldNum" sz="quarter" idx="4294967295"/>
          </p:nvPr>
        </p:nvSpPr>
        <p:spPr>
          <a:xfrm>
            <a:off x="11091672" y="640080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E8E93"/>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42" presetClass="entr" presetSubtype="0" fill="hold" grpId="0" nodeType="withEffect">
                                  <p:stCondLst>
                                    <p:cond delay="25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650"/>
                                        <p:tgtEl>
                                          <p:spTgt spid="17"/>
                                        </p:tgtEl>
                                      </p:cBhvr>
                                    </p:animEffect>
                                    <p:anim calcmode="lin" valueType="num">
                                      <p:cBhvr>
                                        <p:cTn id="11" dur="650" fill="hold"/>
                                        <p:tgtEl>
                                          <p:spTgt spid="17"/>
                                        </p:tgtEl>
                                        <p:attrNameLst>
                                          <p:attrName>ppt_x</p:attrName>
                                        </p:attrNameLst>
                                      </p:cBhvr>
                                      <p:tavLst>
                                        <p:tav tm="0">
                                          <p:val>
                                            <p:strVal val="#ppt_x"/>
                                          </p:val>
                                        </p:tav>
                                        <p:tav tm="100000">
                                          <p:val>
                                            <p:strVal val="#ppt_x"/>
                                          </p:val>
                                        </p:tav>
                                      </p:tavLst>
                                    </p:anim>
                                    <p:anim calcmode="lin" valueType="num">
                                      <p:cBhvr>
                                        <p:cTn id="12" dur="650" fill="hold"/>
                                        <p:tgtEl>
                                          <p:spTgt spid="17"/>
                                        </p:tgtEl>
                                        <p:attrNameLst>
                                          <p:attrName>ppt_y</p:attrName>
                                        </p:attrNameLst>
                                      </p:cBhvr>
                                      <p:tavLst>
                                        <p:tav tm="0">
                                          <p:val>
                                            <p:strVal val="#ppt_y+.05"/>
                                          </p:val>
                                        </p:tav>
                                        <p:tav tm="100000">
                                          <p:val>
                                            <p:strVal val="#ppt_y"/>
                                          </p:val>
                                        </p:tav>
                                      </p:tavLst>
                                    </p:anim>
                                  </p:childTnLst>
                                </p:cTn>
                              </p:par>
                              <p:par>
                                <p:cTn id="13" presetID="42" presetClass="entr" presetSubtype="0" fill="hold" grpId="0" nodeType="withEffect">
                                  <p:stCondLst>
                                    <p:cond delay="3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650"/>
                                        <p:tgtEl>
                                          <p:spTgt spid="5"/>
                                        </p:tgtEl>
                                      </p:cBhvr>
                                    </p:animEffect>
                                    <p:anim calcmode="lin" valueType="num">
                                      <p:cBhvr>
                                        <p:cTn id="16" dur="650" fill="hold"/>
                                        <p:tgtEl>
                                          <p:spTgt spid="5"/>
                                        </p:tgtEl>
                                        <p:attrNameLst>
                                          <p:attrName>ppt_x</p:attrName>
                                        </p:attrNameLst>
                                      </p:cBhvr>
                                      <p:tavLst>
                                        <p:tav tm="0">
                                          <p:val>
                                            <p:strVal val="#ppt_x"/>
                                          </p:val>
                                        </p:tav>
                                        <p:tav tm="100000">
                                          <p:val>
                                            <p:strVal val="#ppt_x"/>
                                          </p:val>
                                        </p:tav>
                                      </p:tavLst>
                                    </p:anim>
                                    <p:anim calcmode="lin" valueType="num">
                                      <p:cBhvr>
                                        <p:cTn id="17" dur="650" fill="hold"/>
                                        <p:tgtEl>
                                          <p:spTgt spid="5"/>
                                        </p:tgtEl>
                                        <p:attrNameLst>
                                          <p:attrName>ppt_y</p:attrName>
                                        </p:attrNameLst>
                                      </p:cBhvr>
                                      <p:tavLst>
                                        <p:tav tm="0">
                                          <p:val>
                                            <p:strVal val="#ppt_y+.05"/>
                                          </p:val>
                                        </p:tav>
                                        <p:tav tm="100000">
                                          <p:val>
                                            <p:strVal val="#ppt_y"/>
                                          </p:val>
                                        </p:tav>
                                      </p:tavLst>
                                    </p:anim>
                                  </p:childTnLst>
                                </p:cTn>
                              </p:par>
                              <p:par>
                                <p:cTn id="18" presetID="42" presetClass="entr" presetSubtype="0" fill="hold" grpId="0" nodeType="withEffect">
                                  <p:stCondLst>
                                    <p:cond delay="30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650"/>
                                        <p:tgtEl>
                                          <p:spTgt spid="6"/>
                                        </p:tgtEl>
                                      </p:cBhvr>
                                    </p:animEffect>
                                    <p:anim calcmode="lin" valueType="num">
                                      <p:cBhvr>
                                        <p:cTn id="21" dur="650" fill="hold"/>
                                        <p:tgtEl>
                                          <p:spTgt spid="6"/>
                                        </p:tgtEl>
                                        <p:attrNameLst>
                                          <p:attrName>ppt_x</p:attrName>
                                        </p:attrNameLst>
                                      </p:cBhvr>
                                      <p:tavLst>
                                        <p:tav tm="0">
                                          <p:val>
                                            <p:strVal val="#ppt_x"/>
                                          </p:val>
                                        </p:tav>
                                        <p:tav tm="100000">
                                          <p:val>
                                            <p:strVal val="#ppt_x"/>
                                          </p:val>
                                        </p:tav>
                                      </p:tavLst>
                                    </p:anim>
                                    <p:anim calcmode="lin" valueType="num">
                                      <p:cBhvr>
                                        <p:cTn id="22" dur="650" fill="hold"/>
                                        <p:tgtEl>
                                          <p:spTgt spid="6"/>
                                        </p:tgtEl>
                                        <p:attrNameLst>
                                          <p:attrName>ppt_y</p:attrName>
                                        </p:attrNameLst>
                                      </p:cBhvr>
                                      <p:tavLst>
                                        <p:tav tm="0">
                                          <p:val>
                                            <p:strVal val="#ppt_y+.05"/>
                                          </p:val>
                                        </p:tav>
                                        <p:tav tm="100000">
                                          <p:val>
                                            <p:strVal val="#ppt_y"/>
                                          </p:val>
                                        </p:tav>
                                      </p:tavLst>
                                    </p:anim>
                                  </p:childTnLst>
                                </p:cTn>
                              </p:par>
                              <p:par>
                                <p:cTn id="23" presetID="42" presetClass="entr" presetSubtype="0" fill="hold" grpId="0" nodeType="withEffect">
                                  <p:stCondLst>
                                    <p:cond delay="30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650"/>
                                        <p:tgtEl>
                                          <p:spTgt spid="7"/>
                                        </p:tgtEl>
                                      </p:cBhvr>
                                    </p:animEffect>
                                    <p:anim calcmode="lin" valueType="num">
                                      <p:cBhvr>
                                        <p:cTn id="26" dur="650" fill="hold"/>
                                        <p:tgtEl>
                                          <p:spTgt spid="7"/>
                                        </p:tgtEl>
                                        <p:attrNameLst>
                                          <p:attrName>ppt_x</p:attrName>
                                        </p:attrNameLst>
                                      </p:cBhvr>
                                      <p:tavLst>
                                        <p:tav tm="0">
                                          <p:val>
                                            <p:strVal val="#ppt_x"/>
                                          </p:val>
                                        </p:tav>
                                        <p:tav tm="100000">
                                          <p:val>
                                            <p:strVal val="#ppt_x"/>
                                          </p:val>
                                        </p:tav>
                                      </p:tavLst>
                                    </p:anim>
                                    <p:anim calcmode="lin" valueType="num">
                                      <p:cBhvr>
                                        <p:cTn id="27" dur="650" fill="hold"/>
                                        <p:tgtEl>
                                          <p:spTgt spid="7"/>
                                        </p:tgtEl>
                                        <p:attrNameLst>
                                          <p:attrName>ppt_y</p:attrName>
                                        </p:attrNameLst>
                                      </p:cBhvr>
                                      <p:tavLst>
                                        <p:tav tm="0">
                                          <p:val>
                                            <p:strVal val="#ppt_y+.05"/>
                                          </p:val>
                                        </p:tav>
                                        <p:tav tm="100000">
                                          <p:val>
                                            <p:strVal val="#ppt_y"/>
                                          </p:val>
                                        </p:tav>
                                      </p:tavLst>
                                    </p:anim>
                                  </p:childTnLst>
                                </p:cTn>
                              </p:par>
                              <p:par>
                                <p:cTn id="28" presetID="42" presetClass="entr" presetSubtype="0" fill="hold" grpId="0" nodeType="withEffect">
                                  <p:stCondLst>
                                    <p:cond delay="3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650"/>
                                        <p:tgtEl>
                                          <p:spTgt spid="8"/>
                                        </p:tgtEl>
                                      </p:cBhvr>
                                    </p:animEffect>
                                    <p:anim calcmode="lin" valueType="num">
                                      <p:cBhvr>
                                        <p:cTn id="31" dur="650" fill="hold"/>
                                        <p:tgtEl>
                                          <p:spTgt spid="8"/>
                                        </p:tgtEl>
                                        <p:attrNameLst>
                                          <p:attrName>ppt_x</p:attrName>
                                        </p:attrNameLst>
                                      </p:cBhvr>
                                      <p:tavLst>
                                        <p:tav tm="0">
                                          <p:val>
                                            <p:strVal val="#ppt_x"/>
                                          </p:val>
                                        </p:tav>
                                        <p:tav tm="100000">
                                          <p:val>
                                            <p:strVal val="#ppt_x"/>
                                          </p:val>
                                        </p:tav>
                                      </p:tavLst>
                                    </p:anim>
                                    <p:anim calcmode="lin" valueType="num">
                                      <p:cBhvr>
                                        <p:cTn id="32" dur="650" fill="hold"/>
                                        <p:tgtEl>
                                          <p:spTgt spid="8"/>
                                        </p:tgtEl>
                                        <p:attrNameLst>
                                          <p:attrName>ppt_y</p:attrName>
                                        </p:attrNameLst>
                                      </p:cBhvr>
                                      <p:tavLst>
                                        <p:tav tm="0">
                                          <p:val>
                                            <p:strVal val="#ppt_y+.05"/>
                                          </p:val>
                                        </p:tav>
                                        <p:tav tm="100000">
                                          <p:val>
                                            <p:strVal val="#ppt_y"/>
                                          </p:val>
                                        </p:tav>
                                      </p:tavLst>
                                    </p:anim>
                                  </p:childTnLst>
                                </p:cTn>
                              </p:par>
                              <p:par>
                                <p:cTn id="33" presetID="42" presetClass="entr" presetSubtype="0" fill="hold" grpId="0" nodeType="withEffect">
                                  <p:stCondLst>
                                    <p:cond delay="45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650"/>
                                        <p:tgtEl>
                                          <p:spTgt spid="9"/>
                                        </p:tgtEl>
                                      </p:cBhvr>
                                    </p:animEffect>
                                    <p:anim calcmode="lin" valueType="num">
                                      <p:cBhvr>
                                        <p:cTn id="36" dur="650" fill="hold"/>
                                        <p:tgtEl>
                                          <p:spTgt spid="9"/>
                                        </p:tgtEl>
                                        <p:attrNameLst>
                                          <p:attrName>ppt_x</p:attrName>
                                        </p:attrNameLst>
                                      </p:cBhvr>
                                      <p:tavLst>
                                        <p:tav tm="0">
                                          <p:val>
                                            <p:strVal val="#ppt_x"/>
                                          </p:val>
                                        </p:tav>
                                        <p:tav tm="100000">
                                          <p:val>
                                            <p:strVal val="#ppt_x"/>
                                          </p:val>
                                        </p:tav>
                                      </p:tavLst>
                                    </p:anim>
                                    <p:anim calcmode="lin" valueType="num">
                                      <p:cBhvr>
                                        <p:cTn id="37" dur="650" fill="hold"/>
                                        <p:tgtEl>
                                          <p:spTgt spid="9"/>
                                        </p:tgtEl>
                                        <p:attrNameLst>
                                          <p:attrName>ppt_y</p:attrName>
                                        </p:attrNameLst>
                                      </p:cBhvr>
                                      <p:tavLst>
                                        <p:tav tm="0">
                                          <p:val>
                                            <p:strVal val="#ppt_y+.05"/>
                                          </p:val>
                                        </p:tav>
                                        <p:tav tm="100000">
                                          <p:val>
                                            <p:strVal val="#ppt_y"/>
                                          </p:val>
                                        </p:tav>
                                      </p:tavLst>
                                    </p:anim>
                                  </p:childTnLst>
                                </p:cTn>
                              </p:par>
                              <p:par>
                                <p:cTn id="38" presetID="42" presetClass="entr" presetSubtype="0" fill="hold" grpId="0" nodeType="withEffect">
                                  <p:stCondLst>
                                    <p:cond delay="45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650"/>
                                        <p:tgtEl>
                                          <p:spTgt spid="10"/>
                                        </p:tgtEl>
                                      </p:cBhvr>
                                    </p:animEffect>
                                    <p:anim calcmode="lin" valueType="num">
                                      <p:cBhvr>
                                        <p:cTn id="41" dur="650" fill="hold"/>
                                        <p:tgtEl>
                                          <p:spTgt spid="10"/>
                                        </p:tgtEl>
                                        <p:attrNameLst>
                                          <p:attrName>ppt_x</p:attrName>
                                        </p:attrNameLst>
                                      </p:cBhvr>
                                      <p:tavLst>
                                        <p:tav tm="0">
                                          <p:val>
                                            <p:strVal val="#ppt_x"/>
                                          </p:val>
                                        </p:tav>
                                        <p:tav tm="100000">
                                          <p:val>
                                            <p:strVal val="#ppt_x"/>
                                          </p:val>
                                        </p:tav>
                                      </p:tavLst>
                                    </p:anim>
                                    <p:anim calcmode="lin" valueType="num">
                                      <p:cBhvr>
                                        <p:cTn id="42" dur="650" fill="hold"/>
                                        <p:tgtEl>
                                          <p:spTgt spid="10"/>
                                        </p:tgtEl>
                                        <p:attrNameLst>
                                          <p:attrName>ppt_y</p:attrName>
                                        </p:attrNameLst>
                                      </p:cBhvr>
                                      <p:tavLst>
                                        <p:tav tm="0">
                                          <p:val>
                                            <p:strVal val="#ppt_y+.05"/>
                                          </p:val>
                                        </p:tav>
                                        <p:tav tm="100000">
                                          <p:val>
                                            <p:strVal val="#ppt_y"/>
                                          </p:val>
                                        </p:tav>
                                      </p:tavLst>
                                    </p:anim>
                                  </p:childTnLst>
                                </p:cTn>
                              </p:par>
                              <p:par>
                                <p:cTn id="43" presetID="42" presetClass="entr" presetSubtype="0" fill="hold" grpId="0" nodeType="withEffect">
                                  <p:stCondLst>
                                    <p:cond delay="45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650"/>
                                        <p:tgtEl>
                                          <p:spTgt spid="11"/>
                                        </p:tgtEl>
                                      </p:cBhvr>
                                    </p:animEffect>
                                    <p:anim calcmode="lin" valueType="num">
                                      <p:cBhvr>
                                        <p:cTn id="46" dur="650" fill="hold"/>
                                        <p:tgtEl>
                                          <p:spTgt spid="11"/>
                                        </p:tgtEl>
                                        <p:attrNameLst>
                                          <p:attrName>ppt_x</p:attrName>
                                        </p:attrNameLst>
                                      </p:cBhvr>
                                      <p:tavLst>
                                        <p:tav tm="0">
                                          <p:val>
                                            <p:strVal val="#ppt_x"/>
                                          </p:val>
                                        </p:tav>
                                        <p:tav tm="100000">
                                          <p:val>
                                            <p:strVal val="#ppt_x"/>
                                          </p:val>
                                        </p:tav>
                                      </p:tavLst>
                                    </p:anim>
                                    <p:anim calcmode="lin" valueType="num">
                                      <p:cBhvr>
                                        <p:cTn id="47" dur="650" fill="hold"/>
                                        <p:tgtEl>
                                          <p:spTgt spid="11"/>
                                        </p:tgtEl>
                                        <p:attrNameLst>
                                          <p:attrName>ppt_y</p:attrName>
                                        </p:attrNameLst>
                                      </p:cBhvr>
                                      <p:tavLst>
                                        <p:tav tm="0">
                                          <p:val>
                                            <p:strVal val="#ppt_y+.05"/>
                                          </p:val>
                                        </p:tav>
                                        <p:tav tm="100000">
                                          <p:val>
                                            <p:strVal val="#ppt_y"/>
                                          </p:val>
                                        </p:tav>
                                      </p:tavLst>
                                    </p:anim>
                                  </p:childTnLst>
                                </p:cTn>
                              </p:par>
                              <p:par>
                                <p:cTn id="48" presetID="42" presetClass="entr" presetSubtype="0" fill="hold" grpId="0" nodeType="withEffect">
                                  <p:stCondLst>
                                    <p:cond delay="45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650"/>
                                        <p:tgtEl>
                                          <p:spTgt spid="12"/>
                                        </p:tgtEl>
                                      </p:cBhvr>
                                    </p:animEffect>
                                    <p:anim calcmode="lin" valueType="num">
                                      <p:cBhvr>
                                        <p:cTn id="51" dur="650" fill="hold"/>
                                        <p:tgtEl>
                                          <p:spTgt spid="12"/>
                                        </p:tgtEl>
                                        <p:attrNameLst>
                                          <p:attrName>ppt_x</p:attrName>
                                        </p:attrNameLst>
                                      </p:cBhvr>
                                      <p:tavLst>
                                        <p:tav tm="0">
                                          <p:val>
                                            <p:strVal val="#ppt_x"/>
                                          </p:val>
                                        </p:tav>
                                        <p:tav tm="100000">
                                          <p:val>
                                            <p:strVal val="#ppt_x"/>
                                          </p:val>
                                        </p:tav>
                                      </p:tavLst>
                                    </p:anim>
                                    <p:anim calcmode="lin" valueType="num">
                                      <p:cBhvr>
                                        <p:cTn id="52" dur="650" fill="hold"/>
                                        <p:tgtEl>
                                          <p:spTgt spid="12"/>
                                        </p:tgtEl>
                                        <p:attrNameLst>
                                          <p:attrName>ppt_y</p:attrName>
                                        </p:attrNameLst>
                                      </p:cBhvr>
                                      <p:tavLst>
                                        <p:tav tm="0">
                                          <p:val>
                                            <p:strVal val="#ppt_y+.05"/>
                                          </p:val>
                                        </p:tav>
                                        <p:tav tm="100000">
                                          <p:val>
                                            <p:strVal val="#ppt_y"/>
                                          </p:val>
                                        </p:tav>
                                      </p:tavLst>
                                    </p:anim>
                                  </p:childTnLst>
                                </p:cTn>
                              </p:par>
                              <p:par>
                                <p:cTn id="53" presetID="42" presetClass="entr" presetSubtype="0" fill="hold" grpId="0" nodeType="withEffect">
                                  <p:stCondLst>
                                    <p:cond delay="60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650"/>
                                        <p:tgtEl>
                                          <p:spTgt spid="13"/>
                                        </p:tgtEl>
                                      </p:cBhvr>
                                    </p:animEffect>
                                    <p:anim calcmode="lin" valueType="num">
                                      <p:cBhvr>
                                        <p:cTn id="56" dur="650" fill="hold"/>
                                        <p:tgtEl>
                                          <p:spTgt spid="13"/>
                                        </p:tgtEl>
                                        <p:attrNameLst>
                                          <p:attrName>ppt_x</p:attrName>
                                        </p:attrNameLst>
                                      </p:cBhvr>
                                      <p:tavLst>
                                        <p:tav tm="0">
                                          <p:val>
                                            <p:strVal val="#ppt_x"/>
                                          </p:val>
                                        </p:tav>
                                        <p:tav tm="100000">
                                          <p:val>
                                            <p:strVal val="#ppt_x"/>
                                          </p:val>
                                        </p:tav>
                                      </p:tavLst>
                                    </p:anim>
                                    <p:anim calcmode="lin" valueType="num">
                                      <p:cBhvr>
                                        <p:cTn id="57" dur="650" fill="hold"/>
                                        <p:tgtEl>
                                          <p:spTgt spid="13"/>
                                        </p:tgtEl>
                                        <p:attrNameLst>
                                          <p:attrName>ppt_y</p:attrName>
                                        </p:attrNameLst>
                                      </p:cBhvr>
                                      <p:tavLst>
                                        <p:tav tm="0">
                                          <p:val>
                                            <p:strVal val="#ppt_y+.05"/>
                                          </p:val>
                                        </p:tav>
                                        <p:tav tm="100000">
                                          <p:val>
                                            <p:strVal val="#ppt_y"/>
                                          </p:val>
                                        </p:tav>
                                      </p:tavLst>
                                    </p:anim>
                                  </p:childTnLst>
                                </p:cTn>
                              </p:par>
                              <p:par>
                                <p:cTn id="58" presetID="42" presetClass="entr" presetSubtype="0" fill="hold" grpId="0" nodeType="withEffect">
                                  <p:stCondLst>
                                    <p:cond delay="60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650"/>
                                        <p:tgtEl>
                                          <p:spTgt spid="14"/>
                                        </p:tgtEl>
                                      </p:cBhvr>
                                    </p:animEffect>
                                    <p:anim calcmode="lin" valueType="num">
                                      <p:cBhvr>
                                        <p:cTn id="61" dur="650" fill="hold"/>
                                        <p:tgtEl>
                                          <p:spTgt spid="14"/>
                                        </p:tgtEl>
                                        <p:attrNameLst>
                                          <p:attrName>ppt_x</p:attrName>
                                        </p:attrNameLst>
                                      </p:cBhvr>
                                      <p:tavLst>
                                        <p:tav tm="0">
                                          <p:val>
                                            <p:strVal val="#ppt_x"/>
                                          </p:val>
                                        </p:tav>
                                        <p:tav tm="100000">
                                          <p:val>
                                            <p:strVal val="#ppt_x"/>
                                          </p:val>
                                        </p:tav>
                                      </p:tavLst>
                                    </p:anim>
                                    <p:anim calcmode="lin" valueType="num">
                                      <p:cBhvr>
                                        <p:cTn id="62" dur="650" fill="hold"/>
                                        <p:tgtEl>
                                          <p:spTgt spid="14"/>
                                        </p:tgtEl>
                                        <p:attrNameLst>
                                          <p:attrName>ppt_y</p:attrName>
                                        </p:attrNameLst>
                                      </p:cBhvr>
                                      <p:tavLst>
                                        <p:tav tm="0">
                                          <p:val>
                                            <p:strVal val="#ppt_y+.05"/>
                                          </p:val>
                                        </p:tav>
                                        <p:tav tm="100000">
                                          <p:val>
                                            <p:strVal val="#ppt_y"/>
                                          </p:val>
                                        </p:tav>
                                      </p:tavLst>
                                    </p:anim>
                                  </p:childTnLst>
                                </p:cTn>
                              </p:par>
                              <p:par>
                                <p:cTn id="63" presetID="42" presetClass="entr" presetSubtype="0" fill="hold" grpId="0" nodeType="withEffect">
                                  <p:stCondLst>
                                    <p:cond delay="60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650"/>
                                        <p:tgtEl>
                                          <p:spTgt spid="15"/>
                                        </p:tgtEl>
                                      </p:cBhvr>
                                    </p:animEffect>
                                    <p:anim calcmode="lin" valueType="num">
                                      <p:cBhvr>
                                        <p:cTn id="66" dur="650" fill="hold"/>
                                        <p:tgtEl>
                                          <p:spTgt spid="15"/>
                                        </p:tgtEl>
                                        <p:attrNameLst>
                                          <p:attrName>ppt_x</p:attrName>
                                        </p:attrNameLst>
                                      </p:cBhvr>
                                      <p:tavLst>
                                        <p:tav tm="0">
                                          <p:val>
                                            <p:strVal val="#ppt_x"/>
                                          </p:val>
                                        </p:tav>
                                        <p:tav tm="100000">
                                          <p:val>
                                            <p:strVal val="#ppt_x"/>
                                          </p:val>
                                        </p:tav>
                                      </p:tavLst>
                                    </p:anim>
                                    <p:anim calcmode="lin" valueType="num">
                                      <p:cBhvr>
                                        <p:cTn id="67" dur="650" fill="hold"/>
                                        <p:tgtEl>
                                          <p:spTgt spid="15"/>
                                        </p:tgtEl>
                                        <p:attrNameLst>
                                          <p:attrName>ppt_y</p:attrName>
                                        </p:attrNameLst>
                                      </p:cBhvr>
                                      <p:tavLst>
                                        <p:tav tm="0">
                                          <p:val>
                                            <p:strVal val="#ppt_y+.05"/>
                                          </p:val>
                                        </p:tav>
                                        <p:tav tm="100000">
                                          <p:val>
                                            <p:strVal val="#ppt_y"/>
                                          </p:val>
                                        </p:tav>
                                      </p:tavLst>
                                    </p:anim>
                                  </p:childTnLst>
                                </p:cTn>
                              </p:par>
                              <p:par>
                                <p:cTn id="68" presetID="42" presetClass="entr" presetSubtype="0" fill="hold" grpId="0" nodeType="withEffect">
                                  <p:stCondLst>
                                    <p:cond delay="60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650"/>
                                        <p:tgtEl>
                                          <p:spTgt spid="16"/>
                                        </p:tgtEl>
                                      </p:cBhvr>
                                    </p:animEffect>
                                    <p:anim calcmode="lin" valueType="num">
                                      <p:cBhvr>
                                        <p:cTn id="71" dur="650" fill="hold"/>
                                        <p:tgtEl>
                                          <p:spTgt spid="16"/>
                                        </p:tgtEl>
                                        <p:attrNameLst>
                                          <p:attrName>ppt_x</p:attrName>
                                        </p:attrNameLst>
                                      </p:cBhvr>
                                      <p:tavLst>
                                        <p:tav tm="0">
                                          <p:val>
                                            <p:strVal val="#ppt_x"/>
                                          </p:val>
                                        </p:tav>
                                        <p:tav tm="100000">
                                          <p:val>
                                            <p:strVal val="#ppt_x"/>
                                          </p:val>
                                        </p:tav>
                                      </p:tavLst>
                                    </p:anim>
                                    <p:anim calcmode="lin" valueType="num">
                                      <p:cBhvr>
                                        <p:cTn id="72" dur="650" fill="hold"/>
                                        <p:tgtEl>
                                          <p:spTgt spid="16"/>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P spid="9" grpId="0" animBg="1"/>
      <p:bldP spid="11" grpId="0" animBg="1"/>
      <p:bldP spid="12" grpId="0" animBg="1"/>
      <p:bldP spid="13" grpId="0" animBg="1"/>
      <p:bldP spid="15" grpId="0" animBg="1"/>
      <p:bldP spid="1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eyebrow"/>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100" b="1" spc="200" kern="0" dirty="0">
                <a:solidFill>
                  <a:srgbClr val="B3441A"/>
                </a:solidFill>
                <a:latin typeface="Arial" pitchFamily="34" charset="0"/>
                <a:ea typeface="Arial" pitchFamily="34" charset="-122"/>
                <a:cs typeface="Arial" pitchFamily="34" charset="-120"/>
              </a:rPr>
              <a:t>STEP 2 · REVIEW</a:t>
            </a:r>
            <a:endParaRPr lang="en-US" sz="1100" dirty="0"/>
          </a:p>
        </p:txBody>
      </p:sp>
      <p:sp>
        <p:nvSpPr>
          <p:cNvPr id="4" name="Text 1"/>
          <p:cNvSpPr/>
          <p:nvPr>
            <p:ph idx="101" type="title" hasCustomPrompt="1"/>
          </p:nvPr>
        </p:nvSpPr>
        <p:spPr>
          <a:xfrm>
            <a:off x="548640" y="841248"/>
            <a:ext cx="11094415" cy="731520"/>
          </a:xfrm>
          <a:prstGeom prst="rect">
            <a:avLst/>
          </a:prstGeom>
          <a:noFill/>
          <a:ln/>
        </p:spPr>
        <p:txBody>
          <a:bodyPr wrap="square" lIns="0" tIns="0" rIns="0" bIns="0" rtlCol="0" anchor="t"/>
          <a:lstStyle/>
          <a:p>
            <a:pPr algn="l" indent="0" marL="0">
              <a:buNone/>
            </a:pPr>
            <a:r>
              <a:rPr lang="en-US" sz="3600" b="1" dirty="0">
                <a:solidFill>
                  <a:srgbClr val="1D1D1F"/>
                </a:solidFill>
                <a:latin typeface="Arial" pitchFamily="34" charset="0"/>
                <a:ea typeface="Arial" pitchFamily="34" charset="-122"/>
                <a:cs typeface="Arial" pitchFamily="34" charset="-120"/>
              </a:rPr>
              <a:t>Problems surface before anything is built</a:t>
            </a:r>
            <a:endParaRPr lang="en-US" sz="3600" dirty="0"/>
          </a:p>
        </p:txBody>
      </p:sp>
      <p:pic>
        <p:nvPicPr>
          <p:cNvPr id="5" name="shot" descr="Review, Checks: what needs a decision before the build">    </p:cNvPr>
          <p:cNvPicPr>
            <a:picLocks noChangeAspect="1"/>
          </p:cNvPicPr>
          <p:nvPr/>
        </p:nvPicPr>
        <p:blipFill>
          <a:blip r:embed="rId1"/>
          <a:stretch>
            <a:fillRect/>
          </a:stretch>
        </p:blipFill>
        <p:spPr>
          <a:xfrm>
            <a:off x="283090" y="1563250"/>
            <a:ext cx="7571981" cy="3808752"/>
          </a:xfrm>
          <a:prstGeom prst="rect">
            <a:avLst/>
          </a:prstGeom>
        </p:spPr>
      </p:pic>
      <p:sp>
        <p:nvSpPr>
          <p:cNvPr id="6" name="claim"/>
          <p:cNvSpPr txBox="1"/>
          <p:nvPr/>
        </p:nvSpPr>
        <p:spPr>
          <a:xfrm>
            <a:off x="8001000" y="1965960"/>
            <a:ext cx="3642055" cy="1554480"/>
          </a:xfrm>
          <a:prstGeom prst="rect">
            <a:avLst/>
          </a:prstGeom>
          <a:noFill/>
          <a:ln/>
        </p:spPr>
        <p:txBody>
          <a:bodyPr wrap="square" lIns="0" tIns="0" rIns="0" bIns="0" rtlCol="0" anchor="t"/>
          <a:lstStyle/>
          <a:p>
            <a:pPr indent="0" marL="0">
              <a:lnSpc>
                <a:spcPct val="105000"/>
              </a:lnSpc>
              <a:buNone/>
            </a:pPr>
            <a:r>
              <a:rPr lang="en-US" sz="2400" b="1" dirty="0">
                <a:solidFill>
                  <a:srgbClr val="1D1D1F"/>
                </a:solidFill>
                <a:latin typeface="Arial" pitchFamily="34" charset="0"/>
                <a:ea typeface="Arial" pitchFamily="34" charset="-122"/>
                <a:cs typeface="Arial" pitchFamily="34" charset="-120"/>
              </a:rPr>
              <a:t>Nothing is built until every blocking check is decided.</a:t>
            </a:r>
            <a:endParaRPr lang="en-US" sz="2400" dirty="0"/>
          </a:p>
        </p:txBody>
      </p:sp>
      <p:sp>
        <p:nvSpPr>
          <p:cNvPr id="7" name="claim-t"/>
          <p:cNvSpPr txBox="1"/>
          <p:nvPr/>
        </p:nvSpPr>
        <p:spPr>
          <a:xfrm>
            <a:off x="8001000" y="3520440"/>
            <a:ext cx="3642055" cy="914400"/>
          </a:xfrm>
          <a:prstGeom prst="rect">
            <a:avLst/>
          </a:prstGeom>
          <a:noFill/>
          <a:ln/>
        </p:spPr>
        <p:txBody>
          <a:bodyPr wrap="square" lIns="0" tIns="0" rIns="0" bIns="0" rtlCol="0" anchor="t"/>
          <a:lstStyle/>
          <a:p>
            <a:pPr indent="0" marL="0">
              <a:buNone/>
            </a:pPr>
            <a:r>
              <a:rPr lang="en-US" sz="1400" dirty="0">
                <a:solidFill>
                  <a:srgbClr val="58585D"/>
                </a:solidFill>
                <a:latin typeface="Arial" pitchFamily="34" charset="0"/>
                <a:ea typeface="Arial" pitchFamily="34" charset="-122"/>
                <a:cs typeface="Arial" pitchFamily="34" charset="-120"/>
              </a:rPr>
              <a:t>The workbook, the incentive data and the emails all come from the month that passed its checks.</a:t>
            </a:r>
            <a:endParaRPr lang="en-US" sz="1400" dirty="0"/>
          </a:p>
        </p:txBody>
      </p:sp>
      <p:sp>
        <p:nvSpPr>
          <p:cNvPr id="8" name="card"/>
          <p:cNvSpPr/>
          <p:nvPr/>
        </p:nvSpPr>
        <p:spPr>
          <a:xfrm>
            <a:off x="548640" y="5440680"/>
            <a:ext cx="2286000" cy="777240"/>
          </a:xfrm>
          <a:prstGeom prst="roundRect">
            <a:avLst>
              <a:gd name="adj" fmla="val 16471"/>
            </a:avLst>
          </a:prstGeom>
          <a:solidFill>
            <a:srgbClr val="FFFFFF"/>
          </a:solidFill>
          <a:ln w="9525">
            <a:solidFill>
              <a:srgbClr val="E5E5EA"/>
            </a:solidFill>
            <a:prstDash val="solid"/>
          </a:ln>
        </p:spPr>
      </p:sp>
      <p:sp>
        <p:nvSpPr>
          <p:cNvPr id="9" name="dot-bell"/>
          <p:cNvSpPr/>
          <p:nvPr/>
        </p:nvSpPr>
        <p:spPr>
          <a:xfrm>
            <a:off x="694944" y="5614416"/>
            <a:ext cx="420624" cy="420624"/>
          </a:xfrm>
          <a:prstGeom prst="ellipse">
            <a:avLst/>
          </a:prstGeom>
          <a:solidFill>
            <a:srgbClr val="FDEEE6"/>
          </a:solidFill>
          <a:ln/>
        </p:spPr>
      </p:sp>
      <p:pic>
        <p:nvPicPr>
          <p:cNvPr id="10" name="icon-bell" descr="">    </p:cNvPr>
          <p:cNvPicPr>
            <a:picLocks noChangeAspect="1"/>
          </p:cNvPicPr>
          <p:nvPr/>
        </p:nvPicPr>
        <p:blipFill>
          <a:blip r:embed="rId2"/>
          <a:stretch>
            <a:fillRect/>
          </a:stretch>
        </p:blipFill>
        <p:spPr>
          <a:xfrm>
            <a:off x="795894" y="5715366"/>
            <a:ext cx="218724" cy="218724"/>
          </a:xfrm>
          <a:prstGeom prst="rect">
            <a:avLst/>
          </a:prstGeom>
        </p:spPr>
      </p:pic>
      <p:sp>
        <p:nvSpPr>
          <p:cNvPr id="11" name="h"/>
          <p:cNvSpPr txBox="1"/>
          <p:nvPr/>
        </p:nvSpPr>
        <p:spPr>
          <a:xfrm>
            <a:off x="1243584" y="5532120"/>
            <a:ext cx="1536192" cy="27432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Blocking</a:t>
            </a:r>
            <a:endParaRPr lang="en-US" sz="1400" dirty="0"/>
          </a:p>
        </p:txBody>
      </p:sp>
      <p:sp>
        <p:nvSpPr>
          <p:cNvPr id="12" name="t"/>
          <p:cNvSpPr txBox="1"/>
          <p:nvPr/>
        </p:nvSpPr>
        <p:spPr>
          <a:xfrm>
            <a:off x="1243584" y="5815584"/>
            <a:ext cx="1536192" cy="274320"/>
          </a:xfrm>
          <a:prstGeom prst="rect">
            <a:avLst/>
          </a:prstGeom>
          <a:noFill/>
          <a:ln/>
        </p:spPr>
        <p:txBody>
          <a:bodyPr wrap="square" lIns="0" tIns="0" rIns="0" bIns="0" rtlCol="0" anchor="ctr"/>
          <a:lstStyle/>
          <a:p>
            <a:pPr indent="0" marL="0">
              <a:buNone/>
            </a:pPr>
            <a:r>
              <a:rPr lang="en-US" sz="1300" dirty="0">
                <a:solidFill>
                  <a:srgbClr val="58585D"/>
                </a:solidFill>
                <a:latin typeface="Arial" pitchFamily="34" charset="0"/>
                <a:ea typeface="Arial" pitchFamily="34" charset="-122"/>
                <a:cs typeface="Arial" pitchFamily="34" charset="-120"/>
              </a:rPr>
              <a:t>stops the build</a:t>
            </a:r>
            <a:endParaRPr lang="en-US" sz="1300" dirty="0"/>
          </a:p>
        </p:txBody>
      </p:sp>
      <p:sp>
        <p:nvSpPr>
          <p:cNvPr id="13" name="card"/>
          <p:cNvSpPr/>
          <p:nvPr/>
        </p:nvSpPr>
        <p:spPr>
          <a:xfrm>
            <a:off x="2926080" y="5440680"/>
            <a:ext cx="2286000" cy="777240"/>
          </a:xfrm>
          <a:prstGeom prst="roundRect">
            <a:avLst>
              <a:gd name="adj" fmla="val 16471"/>
            </a:avLst>
          </a:prstGeom>
          <a:solidFill>
            <a:srgbClr val="FFFFFF"/>
          </a:solidFill>
          <a:ln w="9525">
            <a:solidFill>
              <a:srgbClr val="E5E5EA"/>
            </a:solidFill>
            <a:prstDash val="solid"/>
          </a:ln>
        </p:spPr>
      </p:sp>
      <p:sp>
        <p:nvSpPr>
          <p:cNvPr id="14" name="dot-help"/>
          <p:cNvSpPr/>
          <p:nvPr/>
        </p:nvSpPr>
        <p:spPr>
          <a:xfrm>
            <a:off x="3072384" y="5614416"/>
            <a:ext cx="420624" cy="420624"/>
          </a:xfrm>
          <a:prstGeom prst="ellipse">
            <a:avLst/>
          </a:prstGeom>
          <a:solidFill>
            <a:srgbClr val="FDEEE6"/>
          </a:solidFill>
          <a:ln/>
        </p:spPr>
      </p:sp>
      <p:pic>
        <p:nvPicPr>
          <p:cNvPr id="15" name="icon-help" descr="">    </p:cNvPr>
          <p:cNvPicPr>
            <a:picLocks noChangeAspect="1"/>
          </p:cNvPicPr>
          <p:nvPr/>
        </p:nvPicPr>
        <p:blipFill>
          <a:blip r:embed="rId3"/>
          <a:stretch>
            <a:fillRect/>
          </a:stretch>
        </p:blipFill>
        <p:spPr>
          <a:xfrm>
            <a:off x="3173334" y="5715366"/>
            <a:ext cx="218724" cy="218724"/>
          </a:xfrm>
          <a:prstGeom prst="rect">
            <a:avLst/>
          </a:prstGeom>
        </p:spPr>
      </p:pic>
      <p:sp>
        <p:nvSpPr>
          <p:cNvPr id="16" name="h"/>
          <p:cNvSpPr txBox="1"/>
          <p:nvPr/>
        </p:nvSpPr>
        <p:spPr>
          <a:xfrm>
            <a:off x="3621024" y="5532120"/>
            <a:ext cx="1536192" cy="27432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Please check</a:t>
            </a:r>
            <a:endParaRPr lang="en-US" sz="1400" dirty="0"/>
          </a:p>
        </p:txBody>
      </p:sp>
      <p:sp>
        <p:nvSpPr>
          <p:cNvPr id="17" name="t"/>
          <p:cNvSpPr txBox="1"/>
          <p:nvPr/>
        </p:nvSpPr>
        <p:spPr>
          <a:xfrm>
            <a:off x="3621024" y="5815584"/>
            <a:ext cx="1536192" cy="274320"/>
          </a:xfrm>
          <a:prstGeom prst="rect">
            <a:avLst/>
          </a:prstGeom>
          <a:noFill/>
          <a:ln/>
        </p:spPr>
        <p:txBody>
          <a:bodyPr wrap="square" lIns="0" tIns="0" rIns="0" bIns="0" rtlCol="0" anchor="ctr"/>
          <a:lstStyle/>
          <a:p>
            <a:pPr indent="0" marL="0">
              <a:buNone/>
            </a:pPr>
            <a:r>
              <a:rPr lang="en-US" sz="1300" dirty="0">
                <a:solidFill>
                  <a:srgbClr val="58585D"/>
                </a:solidFill>
                <a:latin typeface="Arial" pitchFamily="34" charset="0"/>
                <a:ea typeface="Arial" pitchFamily="34" charset="-122"/>
                <a:cs typeface="Arial" pitchFamily="34" charset="-120"/>
              </a:rPr>
              <a:t>names, schedules</a:t>
            </a:r>
            <a:endParaRPr lang="en-US" sz="1300" dirty="0"/>
          </a:p>
        </p:txBody>
      </p:sp>
      <p:sp>
        <p:nvSpPr>
          <p:cNvPr id="18" name="card"/>
          <p:cNvSpPr/>
          <p:nvPr/>
        </p:nvSpPr>
        <p:spPr>
          <a:xfrm>
            <a:off x="5303520" y="5440680"/>
            <a:ext cx="2286000" cy="777240"/>
          </a:xfrm>
          <a:prstGeom prst="roundRect">
            <a:avLst>
              <a:gd name="adj" fmla="val 16471"/>
            </a:avLst>
          </a:prstGeom>
          <a:solidFill>
            <a:srgbClr val="FFFFFF"/>
          </a:solidFill>
          <a:ln w="9525">
            <a:solidFill>
              <a:srgbClr val="E5E5EA"/>
            </a:solidFill>
            <a:prstDash val="solid"/>
          </a:ln>
        </p:spPr>
      </p:sp>
      <p:sp>
        <p:nvSpPr>
          <p:cNvPr id="19" name="dot-user"/>
          <p:cNvSpPr/>
          <p:nvPr/>
        </p:nvSpPr>
        <p:spPr>
          <a:xfrm>
            <a:off x="5449824" y="5614416"/>
            <a:ext cx="420624" cy="420624"/>
          </a:xfrm>
          <a:prstGeom prst="ellipse">
            <a:avLst/>
          </a:prstGeom>
          <a:solidFill>
            <a:srgbClr val="FDEEE6"/>
          </a:solidFill>
          <a:ln/>
        </p:spPr>
      </p:sp>
      <p:pic>
        <p:nvPicPr>
          <p:cNvPr id="20" name="icon-user" descr="">    </p:cNvPr>
          <p:cNvPicPr>
            <a:picLocks noChangeAspect="1"/>
          </p:cNvPicPr>
          <p:nvPr/>
        </p:nvPicPr>
        <p:blipFill>
          <a:blip r:embed="rId4"/>
          <a:stretch>
            <a:fillRect/>
          </a:stretch>
        </p:blipFill>
        <p:spPr>
          <a:xfrm>
            <a:off x="5550774" y="5715366"/>
            <a:ext cx="218724" cy="218724"/>
          </a:xfrm>
          <a:prstGeom prst="rect">
            <a:avLst/>
          </a:prstGeom>
        </p:spPr>
      </p:pic>
      <p:sp>
        <p:nvSpPr>
          <p:cNvPr id="21" name="h"/>
          <p:cNvSpPr txBox="1"/>
          <p:nvPr/>
        </p:nvSpPr>
        <p:spPr>
          <a:xfrm>
            <a:off x="5998464" y="5532120"/>
            <a:ext cx="1536192" cy="27432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Decided by you</a:t>
            </a:r>
            <a:endParaRPr lang="en-US" sz="1400" dirty="0"/>
          </a:p>
        </p:txBody>
      </p:sp>
      <p:sp>
        <p:nvSpPr>
          <p:cNvPr id="22" name="t"/>
          <p:cNvSpPr txBox="1"/>
          <p:nvPr/>
        </p:nvSpPr>
        <p:spPr>
          <a:xfrm>
            <a:off x="5998464" y="5815584"/>
            <a:ext cx="1536192" cy="274320"/>
          </a:xfrm>
          <a:prstGeom prst="rect">
            <a:avLst/>
          </a:prstGeom>
          <a:noFill/>
          <a:ln/>
        </p:spPr>
        <p:txBody>
          <a:bodyPr wrap="square" lIns="0" tIns="0" rIns="0" bIns="0" rtlCol="0" anchor="ctr"/>
          <a:lstStyle/>
          <a:p>
            <a:pPr indent="0" marL="0">
              <a:buNone/>
            </a:pPr>
            <a:r>
              <a:rPr lang="en-US" sz="1300" dirty="0">
                <a:solidFill>
                  <a:srgbClr val="58585D"/>
                </a:solidFill>
                <a:latin typeface="Arial" pitchFamily="34" charset="0"/>
                <a:ea typeface="Arial" pitchFamily="34" charset="-122"/>
                <a:cs typeface="Arial" pitchFamily="34" charset="-120"/>
              </a:rPr>
              <a:t>every choice kept</a:t>
            </a:r>
            <a:endParaRPr lang="en-US" sz="1300" dirty="0"/>
          </a:p>
        </p:txBody>
      </p:sp>
      <p:sp>
        <p:nvSpPr>
          <p:cNvPr id="25" name="Slide Number Placeholder 0"/>
          <p:cNvSpPr>
            <a:spLocks noGrp="1"/>
          </p:cNvSpPr>
          <p:nvPr>
            <p:ph type="sldNum" sz="quarter" idx="4294967295"/>
          </p:nvPr>
        </p:nvSpPr>
        <p:spPr>
          <a:xfrm>
            <a:off x="11091672" y="640080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E8E93"/>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42" presetClass="entr" presetSubtype="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50"/>
                                        <p:tgtEl>
                                          <p:spTgt spid="5"/>
                                        </p:tgtEl>
                                      </p:cBhvr>
                                    </p:animEffect>
                                    <p:anim calcmode="lin" valueType="num">
                                      <p:cBhvr>
                                        <p:cTn id="11" dur="650" fill="hold"/>
                                        <p:tgtEl>
                                          <p:spTgt spid="5"/>
                                        </p:tgtEl>
                                        <p:attrNameLst>
                                          <p:attrName>ppt_x</p:attrName>
                                        </p:attrNameLst>
                                      </p:cBhvr>
                                      <p:tavLst>
                                        <p:tav tm="0">
                                          <p:val>
                                            <p:strVal val="#ppt_x"/>
                                          </p:val>
                                        </p:tav>
                                        <p:tav tm="100000">
                                          <p:val>
                                            <p:strVal val="#ppt_x"/>
                                          </p:val>
                                        </p:tav>
                                      </p:tavLst>
                                    </p:anim>
                                    <p:anim calcmode="lin" valueType="num">
                                      <p:cBhvr>
                                        <p:cTn id="12" dur="650" fill="hold"/>
                                        <p:tgtEl>
                                          <p:spTgt spid="5"/>
                                        </p:tgtEl>
                                        <p:attrNameLst>
                                          <p:attrName>ppt_y</p:attrName>
                                        </p:attrNameLst>
                                      </p:cBhvr>
                                      <p:tavLst>
                                        <p:tav tm="0">
                                          <p:val>
                                            <p:strVal val="#ppt_y+.05"/>
                                          </p:val>
                                        </p:tav>
                                        <p:tav tm="100000">
                                          <p:val>
                                            <p:strVal val="#ppt_y"/>
                                          </p:val>
                                        </p:tav>
                                      </p:tavLst>
                                    </p:anim>
                                  </p:childTnLst>
                                </p:cTn>
                              </p:par>
                              <p:par>
                                <p:cTn id="13" presetID="42" presetClass="entr" presetSubtype="0" fill="hold" grpId="0" nodeType="withEffect">
                                  <p:stCondLst>
                                    <p:cond delay="45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50"/>
                                        <p:tgtEl>
                                          <p:spTgt spid="6"/>
                                        </p:tgtEl>
                                      </p:cBhvr>
                                    </p:animEffect>
                                    <p:anim calcmode="lin" valueType="num">
                                      <p:cBhvr>
                                        <p:cTn id="16" dur="650" fill="hold"/>
                                        <p:tgtEl>
                                          <p:spTgt spid="6"/>
                                        </p:tgtEl>
                                        <p:attrNameLst>
                                          <p:attrName>ppt_x</p:attrName>
                                        </p:attrNameLst>
                                      </p:cBhvr>
                                      <p:tavLst>
                                        <p:tav tm="0">
                                          <p:val>
                                            <p:strVal val="#ppt_x"/>
                                          </p:val>
                                        </p:tav>
                                        <p:tav tm="100000">
                                          <p:val>
                                            <p:strVal val="#ppt_x"/>
                                          </p:val>
                                        </p:tav>
                                      </p:tavLst>
                                    </p:anim>
                                    <p:anim calcmode="lin" valueType="num">
                                      <p:cBhvr>
                                        <p:cTn id="17" dur="650" fill="hold"/>
                                        <p:tgtEl>
                                          <p:spTgt spid="6"/>
                                        </p:tgtEl>
                                        <p:attrNameLst>
                                          <p:attrName>ppt_y</p:attrName>
                                        </p:attrNameLst>
                                      </p:cBhvr>
                                      <p:tavLst>
                                        <p:tav tm="0">
                                          <p:val>
                                            <p:strVal val="#ppt_y+.05"/>
                                          </p:val>
                                        </p:tav>
                                        <p:tav tm="100000">
                                          <p:val>
                                            <p:strVal val="#ppt_y"/>
                                          </p:val>
                                        </p:tav>
                                      </p:tavLst>
                                    </p:anim>
                                  </p:childTnLst>
                                </p:cTn>
                              </p:par>
                              <p:par>
                                <p:cTn id="18" presetID="42" presetClass="entr" presetSubtype="0" fill="hold" grpId="0" nodeType="withEffect">
                                  <p:stCondLst>
                                    <p:cond delay="55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50"/>
                                        <p:tgtEl>
                                          <p:spTgt spid="7"/>
                                        </p:tgtEl>
                                      </p:cBhvr>
                                    </p:animEffect>
                                    <p:anim calcmode="lin" valueType="num">
                                      <p:cBhvr>
                                        <p:cTn id="21" dur="650" fill="hold"/>
                                        <p:tgtEl>
                                          <p:spTgt spid="7"/>
                                        </p:tgtEl>
                                        <p:attrNameLst>
                                          <p:attrName>ppt_x</p:attrName>
                                        </p:attrNameLst>
                                      </p:cBhvr>
                                      <p:tavLst>
                                        <p:tav tm="0">
                                          <p:val>
                                            <p:strVal val="#ppt_x"/>
                                          </p:val>
                                        </p:tav>
                                        <p:tav tm="100000">
                                          <p:val>
                                            <p:strVal val="#ppt_x"/>
                                          </p:val>
                                        </p:tav>
                                      </p:tavLst>
                                    </p:anim>
                                    <p:anim calcmode="lin" valueType="num">
                                      <p:cBhvr>
                                        <p:cTn id="22" dur="650" fill="hold"/>
                                        <p:tgtEl>
                                          <p:spTgt spid="7"/>
                                        </p:tgtEl>
                                        <p:attrNameLst>
                                          <p:attrName>ppt_y</p:attrName>
                                        </p:attrNameLst>
                                      </p:cBhvr>
                                      <p:tavLst>
                                        <p:tav tm="0">
                                          <p:val>
                                            <p:strVal val="#ppt_y+.05"/>
                                          </p:val>
                                        </p:tav>
                                        <p:tav tm="100000">
                                          <p:val>
                                            <p:strVal val="#ppt_y"/>
                                          </p:val>
                                        </p:tav>
                                      </p:tavLst>
                                    </p:anim>
                                  </p:childTnLst>
                                </p:cTn>
                              </p:par>
                              <p:par>
                                <p:cTn id="23" presetID="42" presetClass="entr" presetSubtype="0" fill="hold" grpId="0" nodeType="withEffect">
                                  <p:stCondLst>
                                    <p:cond delay="70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50"/>
                                        <p:tgtEl>
                                          <p:spTgt spid="8"/>
                                        </p:tgtEl>
                                      </p:cBhvr>
                                    </p:animEffect>
                                    <p:anim calcmode="lin" valueType="num">
                                      <p:cBhvr>
                                        <p:cTn id="26" dur="650" fill="hold"/>
                                        <p:tgtEl>
                                          <p:spTgt spid="8"/>
                                        </p:tgtEl>
                                        <p:attrNameLst>
                                          <p:attrName>ppt_x</p:attrName>
                                        </p:attrNameLst>
                                      </p:cBhvr>
                                      <p:tavLst>
                                        <p:tav tm="0">
                                          <p:val>
                                            <p:strVal val="#ppt_x"/>
                                          </p:val>
                                        </p:tav>
                                        <p:tav tm="100000">
                                          <p:val>
                                            <p:strVal val="#ppt_x"/>
                                          </p:val>
                                        </p:tav>
                                      </p:tavLst>
                                    </p:anim>
                                    <p:anim calcmode="lin" valueType="num">
                                      <p:cBhvr>
                                        <p:cTn id="27" dur="650" fill="hold"/>
                                        <p:tgtEl>
                                          <p:spTgt spid="8"/>
                                        </p:tgtEl>
                                        <p:attrNameLst>
                                          <p:attrName>ppt_y</p:attrName>
                                        </p:attrNameLst>
                                      </p:cBhvr>
                                      <p:tavLst>
                                        <p:tav tm="0">
                                          <p:val>
                                            <p:strVal val="#ppt_y+.05"/>
                                          </p:val>
                                        </p:tav>
                                        <p:tav tm="100000">
                                          <p:val>
                                            <p:strVal val="#ppt_y"/>
                                          </p:val>
                                        </p:tav>
                                      </p:tavLst>
                                    </p:anim>
                                  </p:childTnLst>
                                </p:cTn>
                              </p:par>
                              <p:par>
                                <p:cTn id="28" presetID="42" presetClass="entr" presetSubtype="0" fill="hold" grpId="0" nodeType="withEffect">
                                  <p:stCondLst>
                                    <p:cond delay="70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650"/>
                                        <p:tgtEl>
                                          <p:spTgt spid="9"/>
                                        </p:tgtEl>
                                      </p:cBhvr>
                                    </p:animEffect>
                                    <p:anim calcmode="lin" valueType="num">
                                      <p:cBhvr>
                                        <p:cTn id="31" dur="650" fill="hold"/>
                                        <p:tgtEl>
                                          <p:spTgt spid="9"/>
                                        </p:tgtEl>
                                        <p:attrNameLst>
                                          <p:attrName>ppt_x</p:attrName>
                                        </p:attrNameLst>
                                      </p:cBhvr>
                                      <p:tavLst>
                                        <p:tav tm="0">
                                          <p:val>
                                            <p:strVal val="#ppt_x"/>
                                          </p:val>
                                        </p:tav>
                                        <p:tav tm="100000">
                                          <p:val>
                                            <p:strVal val="#ppt_x"/>
                                          </p:val>
                                        </p:tav>
                                      </p:tavLst>
                                    </p:anim>
                                    <p:anim calcmode="lin" valueType="num">
                                      <p:cBhvr>
                                        <p:cTn id="32" dur="650" fill="hold"/>
                                        <p:tgtEl>
                                          <p:spTgt spid="9"/>
                                        </p:tgtEl>
                                        <p:attrNameLst>
                                          <p:attrName>ppt_y</p:attrName>
                                        </p:attrNameLst>
                                      </p:cBhvr>
                                      <p:tavLst>
                                        <p:tav tm="0">
                                          <p:val>
                                            <p:strVal val="#ppt_y+.05"/>
                                          </p:val>
                                        </p:tav>
                                        <p:tav tm="100000">
                                          <p:val>
                                            <p:strVal val="#ppt_y"/>
                                          </p:val>
                                        </p:tav>
                                      </p:tavLst>
                                    </p:anim>
                                  </p:childTnLst>
                                </p:cTn>
                              </p:par>
                              <p:par>
                                <p:cTn id="33" presetID="42" presetClass="entr" presetSubtype="0" fill="hold" grpId="0" nodeType="withEffect">
                                  <p:stCondLst>
                                    <p:cond delay="70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650"/>
                                        <p:tgtEl>
                                          <p:spTgt spid="10"/>
                                        </p:tgtEl>
                                      </p:cBhvr>
                                    </p:animEffect>
                                    <p:anim calcmode="lin" valueType="num">
                                      <p:cBhvr>
                                        <p:cTn id="36" dur="650" fill="hold"/>
                                        <p:tgtEl>
                                          <p:spTgt spid="10"/>
                                        </p:tgtEl>
                                        <p:attrNameLst>
                                          <p:attrName>ppt_x</p:attrName>
                                        </p:attrNameLst>
                                      </p:cBhvr>
                                      <p:tavLst>
                                        <p:tav tm="0">
                                          <p:val>
                                            <p:strVal val="#ppt_x"/>
                                          </p:val>
                                        </p:tav>
                                        <p:tav tm="100000">
                                          <p:val>
                                            <p:strVal val="#ppt_x"/>
                                          </p:val>
                                        </p:tav>
                                      </p:tavLst>
                                    </p:anim>
                                    <p:anim calcmode="lin" valueType="num">
                                      <p:cBhvr>
                                        <p:cTn id="37" dur="650" fill="hold"/>
                                        <p:tgtEl>
                                          <p:spTgt spid="10"/>
                                        </p:tgtEl>
                                        <p:attrNameLst>
                                          <p:attrName>ppt_y</p:attrName>
                                        </p:attrNameLst>
                                      </p:cBhvr>
                                      <p:tavLst>
                                        <p:tav tm="0">
                                          <p:val>
                                            <p:strVal val="#ppt_y+.05"/>
                                          </p:val>
                                        </p:tav>
                                        <p:tav tm="100000">
                                          <p:val>
                                            <p:strVal val="#ppt_y"/>
                                          </p:val>
                                        </p:tav>
                                      </p:tavLst>
                                    </p:anim>
                                  </p:childTnLst>
                                </p:cTn>
                              </p:par>
                              <p:par>
                                <p:cTn id="38" presetID="42" presetClass="entr" presetSubtype="0" fill="hold" grpId="0" nodeType="withEffect">
                                  <p:stCondLst>
                                    <p:cond delay="70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650"/>
                                        <p:tgtEl>
                                          <p:spTgt spid="11"/>
                                        </p:tgtEl>
                                      </p:cBhvr>
                                    </p:animEffect>
                                    <p:anim calcmode="lin" valueType="num">
                                      <p:cBhvr>
                                        <p:cTn id="41" dur="650" fill="hold"/>
                                        <p:tgtEl>
                                          <p:spTgt spid="11"/>
                                        </p:tgtEl>
                                        <p:attrNameLst>
                                          <p:attrName>ppt_x</p:attrName>
                                        </p:attrNameLst>
                                      </p:cBhvr>
                                      <p:tavLst>
                                        <p:tav tm="0">
                                          <p:val>
                                            <p:strVal val="#ppt_x"/>
                                          </p:val>
                                        </p:tav>
                                        <p:tav tm="100000">
                                          <p:val>
                                            <p:strVal val="#ppt_x"/>
                                          </p:val>
                                        </p:tav>
                                      </p:tavLst>
                                    </p:anim>
                                    <p:anim calcmode="lin" valueType="num">
                                      <p:cBhvr>
                                        <p:cTn id="42" dur="650" fill="hold"/>
                                        <p:tgtEl>
                                          <p:spTgt spid="11"/>
                                        </p:tgtEl>
                                        <p:attrNameLst>
                                          <p:attrName>ppt_y</p:attrName>
                                        </p:attrNameLst>
                                      </p:cBhvr>
                                      <p:tavLst>
                                        <p:tav tm="0">
                                          <p:val>
                                            <p:strVal val="#ppt_y+.05"/>
                                          </p:val>
                                        </p:tav>
                                        <p:tav tm="100000">
                                          <p:val>
                                            <p:strVal val="#ppt_y"/>
                                          </p:val>
                                        </p:tav>
                                      </p:tavLst>
                                    </p:anim>
                                  </p:childTnLst>
                                </p:cTn>
                              </p:par>
                              <p:par>
                                <p:cTn id="43" presetID="42" presetClass="entr" presetSubtype="0" fill="hold" grpId="0" nodeType="withEffect">
                                  <p:stCondLst>
                                    <p:cond delay="70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650"/>
                                        <p:tgtEl>
                                          <p:spTgt spid="12"/>
                                        </p:tgtEl>
                                      </p:cBhvr>
                                    </p:animEffect>
                                    <p:anim calcmode="lin" valueType="num">
                                      <p:cBhvr>
                                        <p:cTn id="46" dur="650" fill="hold"/>
                                        <p:tgtEl>
                                          <p:spTgt spid="12"/>
                                        </p:tgtEl>
                                        <p:attrNameLst>
                                          <p:attrName>ppt_x</p:attrName>
                                        </p:attrNameLst>
                                      </p:cBhvr>
                                      <p:tavLst>
                                        <p:tav tm="0">
                                          <p:val>
                                            <p:strVal val="#ppt_x"/>
                                          </p:val>
                                        </p:tav>
                                        <p:tav tm="100000">
                                          <p:val>
                                            <p:strVal val="#ppt_x"/>
                                          </p:val>
                                        </p:tav>
                                      </p:tavLst>
                                    </p:anim>
                                    <p:anim calcmode="lin" valueType="num">
                                      <p:cBhvr>
                                        <p:cTn id="47" dur="650" fill="hold"/>
                                        <p:tgtEl>
                                          <p:spTgt spid="12"/>
                                        </p:tgtEl>
                                        <p:attrNameLst>
                                          <p:attrName>ppt_y</p:attrName>
                                        </p:attrNameLst>
                                      </p:cBhvr>
                                      <p:tavLst>
                                        <p:tav tm="0">
                                          <p:val>
                                            <p:strVal val="#ppt_y+.05"/>
                                          </p:val>
                                        </p:tav>
                                        <p:tav tm="100000">
                                          <p:val>
                                            <p:strVal val="#ppt_y"/>
                                          </p:val>
                                        </p:tav>
                                      </p:tavLst>
                                    </p:anim>
                                  </p:childTnLst>
                                </p:cTn>
                              </p:par>
                              <p:par>
                                <p:cTn id="48" presetID="42" presetClass="entr" presetSubtype="0" fill="hold" grpId="0" nodeType="withEffect">
                                  <p:stCondLst>
                                    <p:cond delay="84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650"/>
                                        <p:tgtEl>
                                          <p:spTgt spid="13"/>
                                        </p:tgtEl>
                                      </p:cBhvr>
                                    </p:animEffect>
                                    <p:anim calcmode="lin" valueType="num">
                                      <p:cBhvr>
                                        <p:cTn id="51" dur="650" fill="hold"/>
                                        <p:tgtEl>
                                          <p:spTgt spid="13"/>
                                        </p:tgtEl>
                                        <p:attrNameLst>
                                          <p:attrName>ppt_x</p:attrName>
                                        </p:attrNameLst>
                                      </p:cBhvr>
                                      <p:tavLst>
                                        <p:tav tm="0">
                                          <p:val>
                                            <p:strVal val="#ppt_x"/>
                                          </p:val>
                                        </p:tav>
                                        <p:tav tm="100000">
                                          <p:val>
                                            <p:strVal val="#ppt_x"/>
                                          </p:val>
                                        </p:tav>
                                      </p:tavLst>
                                    </p:anim>
                                    <p:anim calcmode="lin" valueType="num">
                                      <p:cBhvr>
                                        <p:cTn id="52" dur="650" fill="hold"/>
                                        <p:tgtEl>
                                          <p:spTgt spid="13"/>
                                        </p:tgtEl>
                                        <p:attrNameLst>
                                          <p:attrName>ppt_y</p:attrName>
                                        </p:attrNameLst>
                                      </p:cBhvr>
                                      <p:tavLst>
                                        <p:tav tm="0">
                                          <p:val>
                                            <p:strVal val="#ppt_y+.05"/>
                                          </p:val>
                                        </p:tav>
                                        <p:tav tm="100000">
                                          <p:val>
                                            <p:strVal val="#ppt_y"/>
                                          </p:val>
                                        </p:tav>
                                      </p:tavLst>
                                    </p:anim>
                                  </p:childTnLst>
                                </p:cTn>
                              </p:par>
                              <p:par>
                                <p:cTn id="53" presetID="42" presetClass="entr" presetSubtype="0" fill="hold" grpId="0" nodeType="withEffect">
                                  <p:stCondLst>
                                    <p:cond delay="84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650"/>
                                        <p:tgtEl>
                                          <p:spTgt spid="14"/>
                                        </p:tgtEl>
                                      </p:cBhvr>
                                    </p:animEffect>
                                    <p:anim calcmode="lin" valueType="num">
                                      <p:cBhvr>
                                        <p:cTn id="56" dur="650" fill="hold"/>
                                        <p:tgtEl>
                                          <p:spTgt spid="14"/>
                                        </p:tgtEl>
                                        <p:attrNameLst>
                                          <p:attrName>ppt_x</p:attrName>
                                        </p:attrNameLst>
                                      </p:cBhvr>
                                      <p:tavLst>
                                        <p:tav tm="0">
                                          <p:val>
                                            <p:strVal val="#ppt_x"/>
                                          </p:val>
                                        </p:tav>
                                        <p:tav tm="100000">
                                          <p:val>
                                            <p:strVal val="#ppt_x"/>
                                          </p:val>
                                        </p:tav>
                                      </p:tavLst>
                                    </p:anim>
                                    <p:anim calcmode="lin" valueType="num">
                                      <p:cBhvr>
                                        <p:cTn id="57" dur="650" fill="hold"/>
                                        <p:tgtEl>
                                          <p:spTgt spid="14"/>
                                        </p:tgtEl>
                                        <p:attrNameLst>
                                          <p:attrName>ppt_y</p:attrName>
                                        </p:attrNameLst>
                                      </p:cBhvr>
                                      <p:tavLst>
                                        <p:tav tm="0">
                                          <p:val>
                                            <p:strVal val="#ppt_y+.05"/>
                                          </p:val>
                                        </p:tav>
                                        <p:tav tm="100000">
                                          <p:val>
                                            <p:strVal val="#ppt_y"/>
                                          </p:val>
                                        </p:tav>
                                      </p:tavLst>
                                    </p:anim>
                                  </p:childTnLst>
                                </p:cTn>
                              </p:par>
                              <p:par>
                                <p:cTn id="58" presetID="42" presetClass="entr" presetSubtype="0" fill="hold" grpId="0" nodeType="withEffect">
                                  <p:stCondLst>
                                    <p:cond delay="84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650"/>
                                        <p:tgtEl>
                                          <p:spTgt spid="15"/>
                                        </p:tgtEl>
                                      </p:cBhvr>
                                    </p:animEffect>
                                    <p:anim calcmode="lin" valueType="num">
                                      <p:cBhvr>
                                        <p:cTn id="61" dur="650" fill="hold"/>
                                        <p:tgtEl>
                                          <p:spTgt spid="15"/>
                                        </p:tgtEl>
                                        <p:attrNameLst>
                                          <p:attrName>ppt_x</p:attrName>
                                        </p:attrNameLst>
                                      </p:cBhvr>
                                      <p:tavLst>
                                        <p:tav tm="0">
                                          <p:val>
                                            <p:strVal val="#ppt_x"/>
                                          </p:val>
                                        </p:tav>
                                        <p:tav tm="100000">
                                          <p:val>
                                            <p:strVal val="#ppt_x"/>
                                          </p:val>
                                        </p:tav>
                                      </p:tavLst>
                                    </p:anim>
                                    <p:anim calcmode="lin" valueType="num">
                                      <p:cBhvr>
                                        <p:cTn id="62" dur="650" fill="hold"/>
                                        <p:tgtEl>
                                          <p:spTgt spid="15"/>
                                        </p:tgtEl>
                                        <p:attrNameLst>
                                          <p:attrName>ppt_y</p:attrName>
                                        </p:attrNameLst>
                                      </p:cBhvr>
                                      <p:tavLst>
                                        <p:tav tm="0">
                                          <p:val>
                                            <p:strVal val="#ppt_y+.05"/>
                                          </p:val>
                                        </p:tav>
                                        <p:tav tm="100000">
                                          <p:val>
                                            <p:strVal val="#ppt_y"/>
                                          </p:val>
                                        </p:tav>
                                      </p:tavLst>
                                    </p:anim>
                                  </p:childTnLst>
                                </p:cTn>
                              </p:par>
                              <p:par>
                                <p:cTn id="63" presetID="42" presetClass="entr" presetSubtype="0" fill="hold" grpId="0" nodeType="withEffect">
                                  <p:stCondLst>
                                    <p:cond delay="840"/>
                                  </p:stCondLst>
                                  <p:childTnLst>
                                    <p:set>
                                      <p:cBhvr>
                                        <p:cTn id="64" dur="1" fill="hold">
                                          <p:stCondLst>
                                            <p:cond delay="0"/>
                                          </p:stCondLst>
                                        </p:cTn>
                                        <p:tgtEl>
                                          <p:spTgt spid="16"/>
                                        </p:tgtEl>
                                        <p:attrNameLst>
                                          <p:attrName>style.visibility</p:attrName>
                                        </p:attrNameLst>
                                      </p:cBhvr>
                                      <p:to>
                                        <p:strVal val="visible"/>
                                      </p:to>
                                    </p:set>
                                    <p:animEffect transition="in" filter="fade">
                                      <p:cBhvr>
                                        <p:cTn id="65" dur="650"/>
                                        <p:tgtEl>
                                          <p:spTgt spid="16"/>
                                        </p:tgtEl>
                                      </p:cBhvr>
                                    </p:animEffect>
                                    <p:anim calcmode="lin" valueType="num">
                                      <p:cBhvr>
                                        <p:cTn id="66" dur="650" fill="hold"/>
                                        <p:tgtEl>
                                          <p:spTgt spid="16"/>
                                        </p:tgtEl>
                                        <p:attrNameLst>
                                          <p:attrName>ppt_x</p:attrName>
                                        </p:attrNameLst>
                                      </p:cBhvr>
                                      <p:tavLst>
                                        <p:tav tm="0">
                                          <p:val>
                                            <p:strVal val="#ppt_x"/>
                                          </p:val>
                                        </p:tav>
                                        <p:tav tm="100000">
                                          <p:val>
                                            <p:strVal val="#ppt_x"/>
                                          </p:val>
                                        </p:tav>
                                      </p:tavLst>
                                    </p:anim>
                                    <p:anim calcmode="lin" valueType="num">
                                      <p:cBhvr>
                                        <p:cTn id="67" dur="650" fill="hold"/>
                                        <p:tgtEl>
                                          <p:spTgt spid="16"/>
                                        </p:tgtEl>
                                        <p:attrNameLst>
                                          <p:attrName>ppt_y</p:attrName>
                                        </p:attrNameLst>
                                      </p:cBhvr>
                                      <p:tavLst>
                                        <p:tav tm="0">
                                          <p:val>
                                            <p:strVal val="#ppt_y+.05"/>
                                          </p:val>
                                        </p:tav>
                                        <p:tav tm="100000">
                                          <p:val>
                                            <p:strVal val="#ppt_y"/>
                                          </p:val>
                                        </p:tav>
                                      </p:tavLst>
                                    </p:anim>
                                  </p:childTnLst>
                                </p:cTn>
                              </p:par>
                              <p:par>
                                <p:cTn id="68" presetID="42" presetClass="entr" presetSubtype="0" fill="hold" grpId="0" nodeType="withEffect">
                                  <p:stCondLst>
                                    <p:cond delay="840"/>
                                  </p:stCondLst>
                                  <p:childTnLst>
                                    <p:set>
                                      <p:cBhvr>
                                        <p:cTn id="69" dur="1" fill="hold">
                                          <p:stCondLst>
                                            <p:cond delay="0"/>
                                          </p:stCondLst>
                                        </p:cTn>
                                        <p:tgtEl>
                                          <p:spTgt spid="17"/>
                                        </p:tgtEl>
                                        <p:attrNameLst>
                                          <p:attrName>style.visibility</p:attrName>
                                        </p:attrNameLst>
                                      </p:cBhvr>
                                      <p:to>
                                        <p:strVal val="visible"/>
                                      </p:to>
                                    </p:set>
                                    <p:animEffect transition="in" filter="fade">
                                      <p:cBhvr>
                                        <p:cTn id="70" dur="650"/>
                                        <p:tgtEl>
                                          <p:spTgt spid="17"/>
                                        </p:tgtEl>
                                      </p:cBhvr>
                                    </p:animEffect>
                                    <p:anim calcmode="lin" valueType="num">
                                      <p:cBhvr>
                                        <p:cTn id="71" dur="650" fill="hold"/>
                                        <p:tgtEl>
                                          <p:spTgt spid="17"/>
                                        </p:tgtEl>
                                        <p:attrNameLst>
                                          <p:attrName>ppt_x</p:attrName>
                                        </p:attrNameLst>
                                      </p:cBhvr>
                                      <p:tavLst>
                                        <p:tav tm="0">
                                          <p:val>
                                            <p:strVal val="#ppt_x"/>
                                          </p:val>
                                        </p:tav>
                                        <p:tav tm="100000">
                                          <p:val>
                                            <p:strVal val="#ppt_x"/>
                                          </p:val>
                                        </p:tav>
                                      </p:tavLst>
                                    </p:anim>
                                    <p:anim calcmode="lin" valueType="num">
                                      <p:cBhvr>
                                        <p:cTn id="72" dur="650" fill="hold"/>
                                        <p:tgtEl>
                                          <p:spTgt spid="17"/>
                                        </p:tgtEl>
                                        <p:attrNameLst>
                                          <p:attrName>ppt_y</p:attrName>
                                        </p:attrNameLst>
                                      </p:cBhvr>
                                      <p:tavLst>
                                        <p:tav tm="0">
                                          <p:val>
                                            <p:strVal val="#ppt_y+.05"/>
                                          </p:val>
                                        </p:tav>
                                        <p:tav tm="100000">
                                          <p:val>
                                            <p:strVal val="#ppt_y"/>
                                          </p:val>
                                        </p:tav>
                                      </p:tavLst>
                                    </p:anim>
                                  </p:childTnLst>
                                </p:cTn>
                              </p:par>
                              <p:par>
                                <p:cTn id="73" presetID="42" presetClass="entr" presetSubtype="0" fill="hold" grpId="0" nodeType="withEffect">
                                  <p:stCondLst>
                                    <p:cond delay="980"/>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650"/>
                                        <p:tgtEl>
                                          <p:spTgt spid="18"/>
                                        </p:tgtEl>
                                      </p:cBhvr>
                                    </p:animEffect>
                                    <p:anim calcmode="lin" valueType="num">
                                      <p:cBhvr>
                                        <p:cTn id="76" dur="650" fill="hold"/>
                                        <p:tgtEl>
                                          <p:spTgt spid="18"/>
                                        </p:tgtEl>
                                        <p:attrNameLst>
                                          <p:attrName>ppt_x</p:attrName>
                                        </p:attrNameLst>
                                      </p:cBhvr>
                                      <p:tavLst>
                                        <p:tav tm="0">
                                          <p:val>
                                            <p:strVal val="#ppt_x"/>
                                          </p:val>
                                        </p:tav>
                                        <p:tav tm="100000">
                                          <p:val>
                                            <p:strVal val="#ppt_x"/>
                                          </p:val>
                                        </p:tav>
                                      </p:tavLst>
                                    </p:anim>
                                    <p:anim calcmode="lin" valueType="num">
                                      <p:cBhvr>
                                        <p:cTn id="77" dur="650" fill="hold"/>
                                        <p:tgtEl>
                                          <p:spTgt spid="18"/>
                                        </p:tgtEl>
                                        <p:attrNameLst>
                                          <p:attrName>ppt_y</p:attrName>
                                        </p:attrNameLst>
                                      </p:cBhvr>
                                      <p:tavLst>
                                        <p:tav tm="0">
                                          <p:val>
                                            <p:strVal val="#ppt_y+.05"/>
                                          </p:val>
                                        </p:tav>
                                        <p:tav tm="100000">
                                          <p:val>
                                            <p:strVal val="#ppt_y"/>
                                          </p:val>
                                        </p:tav>
                                      </p:tavLst>
                                    </p:anim>
                                  </p:childTnLst>
                                </p:cTn>
                              </p:par>
                              <p:par>
                                <p:cTn id="78" presetID="42" presetClass="entr" presetSubtype="0" fill="hold" grpId="0" nodeType="withEffect">
                                  <p:stCondLst>
                                    <p:cond delay="98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650"/>
                                        <p:tgtEl>
                                          <p:spTgt spid="19"/>
                                        </p:tgtEl>
                                      </p:cBhvr>
                                    </p:animEffect>
                                    <p:anim calcmode="lin" valueType="num">
                                      <p:cBhvr>
                                        <p:cTn id="81" dur="650" fill="hold"/>
                                        <p:tgtEl>
                                          <p:spTgt spid="19"/>
                                        </p:tgtEl>
                                        <p:attrNameLst>
                                          <p:attrName>ppt_x</p:attrName>
                                        </p:attrNameLst>
                                      </p:cBhvr>
                                      <p:tavLst>
                                        <p:tav tm="0">
                                          <p:val>
                                            <p:strVal val="#ppt_x"/>
                                          </p:val>
                                        </p:tav>
                                        <p:tav tm="100000">
                                          <p:val>
                                            <p:strVal val="#ppt_x"/>
                                          </p:val>
                                        </p:tav>
                                      </p:tavLst>
                                    </p:anim>
                                    <p:anim calcmode="lin" valueType="num">
                                      <p:cBhvr>
                                        <p:cTn id="82" dur="650" fill="hold"/>
                                        <p:tgtEl>
                                          <p:spTgt spid="19"/>
                                        </p:tgtEl>
                                        <p:attrNameLst>
                                          <p:attrName>ppt_y</p:attrName>
                                        </p:attrNameLst>
                                      </p:cBhvr>
                                      <p:tavLst>
                                        <p:tav tm="0">
                                          <p:val>
                                            <p:strVal val="#ppt_y+.05"/>
                                          </p:val>
                                        </p:tav>
                                        <p:tav tm="100000">
                                          <p:val>
                                            <p:strVal val="#ppt_y"/>
                                          </p:val>
                                        </p:tav>
                                      </p:tavLst>
                                    </p:anim>
                                  </p:childTnLst>
                                </p:cTn>
                              </p:par>
                              <p:par>
                                <p:cTn id="83" presetID="42" presetClass="entr" presetSubtype="0" fill="hold" grpId="0" nodeType="withEffect">
                                  <p:stCondLst>
                                    <p:cond delay="980"/>
                                  </p:stCondLst>
                                  <p:childTnLst>
                                    <p:set>
                                      <p:cBhvr>
                                        <p:cTn id="84" dur="1" fill="hold">
                                          <p:stCondLst>
                                            <p:cond delay="0"/>
                                          </p:stCondLst>
                                        </p:cTn>
                                        <p:tgtEl>
                                          <p:spTgt spid="20"/>
                                        </p:tgtEl>
                                        <p:attrNameLst>
                                          <p:attrName>style.visibility</p:attrName>
                                        </p:attrNameLst>
                                      </p:cBhvr>
                                      <p:to>
                                        <p:strVal val="visible"/>
                                      </p:to>
                                    </p:set>
                                    <p:animEffect transition="in" filter="fade">
                                      <p:cBhvr>
                                        <p:cTn id="85" dur="650"/>
                                        <p:tgtEl>
                                          <p:spTgt spid="20"/>
                                        </p:tgtEl>
                                      </p:cBhvr>
                                    </p:animEffect>
                                    <p:anim calcmode="lin" valueType="num">
                                      <p:cBhvr>
                                        <p:cTn id="86" dur="650" fill="hold"/>
                                        <p:tgtEl>
                                          <p:spTgt spid="20"/>
                                        </p:tgtEl>
                                        <p:attrNameLst>
                                          <p:attrName>ppt_x</p:attrName>
                                        </p:attrNameLst>
                                      </p:cBhvr>
                                      <p:tavLst>
                                        <p:tav tm="0">
                                          <p:val>
                                            <p:strVal val="#ppt_x"/>
                                          </p:val>
                                        </p:tav>
                                        <p:tav tm="100000">
                                          <p:val>
                                            <p:strVal val="#ppt_x"/>
                                          </p:val>
                                        </p:tav>
                                      </p:tavLst>
                                    </p:anim>
                                    <p:anim calcmode="lin" valueType="num">
                                      <p:cBhvr>
                                        <p:cTn id="87" dur="650" fill="hold"/>
                                        <p:tgtEl>
                                          <p:spTgt spid="20"/>
                                        </p:tgtEl>
                                        <p:attrNameLst>
                                          <p:attrName>ppt_y</p:attrName>
                                        </p:attrNameLst>
                                      </p:cBhvr>
                                      <p:tavLst>
                                        <p:tav tm="0">
                                          <p:val>
                                            <p:strVal val="#ppt_y+.05"/>
                                          </p:val>
                                        </p:tav>
                                        <p:tav tm="100000">
                                          <p:val>
                                            <p:strVal val="#ppt_y"/>
                                          </p:val>
                                        </p:tav>
                                      </p:tavLst>
                                    </p:anim>
                                  </p:childTnLst>
                                </p:cTn>
                              </p:par>
                              <p:par>
                                <p:cTn id="88" presetID="42" presetClass="entr" presetSubtype="0" fill="hold" grpId="0" nodeType="withEffect">
                                  <p:stCondLst>
                                    <p:cond delay="980"/>
                                  </p:stCondLst>
                                  <p:childTnLst>
                                    <p:set>
                                      <p:cBhvr>
                                        <p:cTn id="89" dur="1" fill="hold">
                                          <p:stCondLst>
                                            <p:cond delay="0"/>
                                          </p:stCondLst>
                                        </p:cTn>
                                        <p:tgtEl>
                                          <p:spTgt spid="21"/>
                                        </p:tgtEl>
                                        <p:attrNameLst>
                                          <p:attrName>style.visibility</p:attrName>
                                        </p:attrNameLst>
                                      </p:cBhvr>
                                      <p:to>
                                        <p:strVal val="visible"/>
                                      </p:to>
                                    </p:set>
                                    <p:animEffect transition="in" filter="fade">
                                      <p:cBhvr>
                                        <p:cTn id="90" dur="650"/>
                                        <p:tgtEl>
                                          <p:spTgt spid="21"/>
                                        </p:tgtEl>
                                      </p:cBhvr>
                                    </p:animEffect>
                                    <p:anim calcmode="lin" valueType="num">
                                      <p:cBhvr>
                                        <p:cTn id="91" dur="650" fill="hold"/>
                                        <p:tgtEl>
                                          <p:spTgt spid="21"/>
                                        </p:tgtEl>
                                        <p:attrNameLst>
                                          <p:attrName>ppt_x</p:attrName>
                                        </p:attrNameLst>
                                      </p:cBhvr>
                                      <p:tavLst>
                                        <p:tav tm="0">
                                          <p:val>
                                            <p:strVal val="#ppt_x"/>
                                          </p:val>
                                        </p:tav>
                                        <p:tav tm="100000">
                                          <p:val>
                                            <p:strVal val="#ppt_x"/>
                                          </p:val>
                                        </p:tav>
                                      </p:tavLst>
                                    </p:anim>
                                    <p:anim calcmode="lin" valueType="num">
                                      <p:cBhvr>
                                        <p:cTn id="92" dur="650" fill="hold"/>
                                        <p:tgtEl>
                                          <p:spTgt spid="21"/>
                                        </p:tgtEl>
                                        <p:attrNameLst>
                                          <p:attrName>ppt_y</p:attrName>
                                        </p:attrNameLst>
                                      </p:cBhvr>
                                      <p:tavLst>
                                        <p:tav tm="0">
                                          <p:val>
                                            <p:strVal val="#ppt_y+.05"/>
                                          </p:val>
                                        </p:tav>
                                        <p:tav tm="100000">
                                          <p:val>
                                            <p:strVal val="#ppt_y"/>
                                          </p:val>
                                        </p:tav>
                                      </p:tavLst>
                                    </p:anim>
                                  </p:childTnLst>
                                </p:cTn>
                              </p:par>
                              <p:par>
                                <p:cTn id="93" presetID="42" presetClass="entr" presetSubtype="0" fill="hold" grpId="0" nodeType="withEffect">
                                  <p:stCondLst>
                                    <p:cond delay="980"/>
                                  </p:stCondLst>
                                  <p:childTnLst>
                                    <p:set>
                                      <p:cBhvr>
                                        <p:cTn id="94" dur="1" fill="hold">
                                          <p:stCondLst>
                                            <p:cond delay="0"/>
                                          </p:stCondLst>
                                        </p:cTn>
                                        <p:tgtEl>
                                          <p:spTgt spid="22"/>
                                        </p:tgtEl>
                                        <p:attrNameLst>
                                          <p:attrName>style.visibility</p:attrName>
                                        </p:attrNameLst>
                                      </p:cBhvr>
                                      <p:to>
                                        <p:strVal val="visible"/>
                                      </p:to>
                                    </p:set>
                                    <p:animEffect transition="in" filter="fade">
                                      <p:cBhvr>
                                        <p:cTn id="95" dur="650"/>
                                        <p:tgtEl>
                                          <p:spTgt spid="22"/>
                                        </p:tgtEl>
                                      </p:cBhvr>
                                    </p:animEffect>
                                    <p:anim calcmode="lin" valueType="num">
                                      <p:cBhvr>
                                        <p:cTn id="96" dur="650" fill="hold"/>
                                        <p:tgtEl>
                                          <p:spTgt spid="22"/>
                                        </p:tgtEl>
                                        <p:attrNameLst>
                                          <p:attrName>ppt_x</p:attrName>
                                        </p:attrNameLst>
                                      </p:cBhvr>
                                      <p:tavLst>
                                        <p:tav tm="0">
                                          <p:val>
                                            <p:strVal val="#ppt_x"/>
                                          </p:val>
                                        </p:tav>
                                        <p:tav tm="100000">
                                          <p:val>
                                            <p:strVal val="#ppt_x"/>
                                          </p:val>
                                        </p:tav>
                                      </p:tavLst>
                                    </p:anim>
                                    <p:anim calcmode="lin" valueType="num">
                                      <p:cBhvr>
                                        <p:cTn id="97" dur="650" fill="hold"/>
                                        <p:tgtEl>
                                          <p:spTgt spid="22"/>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P spid="21" grpId="0" animBg="1"/>
      <p:bldP spid="2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eyebrow"/>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100" b="1" spc="200" kern="0" dirty="0">
                <a:solidFill>
                  <a:srgbClr val="B3441A"/>
                </a:solidFill>
                <a:latin typeface="Arial" pitchFamily="34" charset="0"/>
                <a:ea typeface="Arial" pitchFamily="34" charset="-122"/>
                <a:cs typeface="Arial" pitchFamily="34" charset="-120"/>
              </a:rPr>
              <a:t>ATTENDANCE</a:t>
            </a:r>
            <a:endParaRPr lang="en-US" sz="1100" dirty="0"/>
          </a:p>
        </p:txBody>
      </p:sp>
      <p:sp>
        <p:nvSpPr>
          <p:cNvPr id="4" name="Text 1"/>
          <p:cNvSpPr/>
          <p:nvPr>
            <p:ph idx="101" type="title" hasCustomPrompt="1"/>
          </p:nvPr>
        </p:nvSpPr>
        <p:spPr>
          <a:xfrm>
            <a:off x="548640" y="841248"/>
            <a:ext cx="11094415" cy="731520"/>
          </a:xfrm>
          <a:prstGeom prst="rect">
            <a:avLst/>
          </a:prstGeom>
          <a:noFill/>
          <a:ln/>
        </p:spPr>
        <p:txBody>
          <a:bodyPr wrap="square" lIns="0" tIns="0" rIns="0" bIns="0" rtlCol="0" anchor="t"/>
          <a:lstStyle/>
          <a:p>
            <a:pPr algn="l" indent="0" marL="0">
              <a:buNone/>
            </a:pPr>
            <a:r>
              <a:rPr lang="en-US" sz="3600" b="1" dirty="0">
                <a:solidFill>
                  <a:srgbClr val="1D1D1F"/>
                </a:solidFill>
                <a:latin typeface="Arial" pitchFamily="34" charset="0"/>
                <a:ea typeface="Arial" pitchFamily="34" charset="-122"/>
                <a:cs typeface="Arial" pitchFamily="34" charset="-120"/>
              </a:rPr>
              <a:t>Attendance without the chase</a:t>
            </a:r>
            <a:endParaRPr lang="en-US" sz="3600" dirty="0"/>
          </a:p>
        </p:txBody>
      </p:sp>
      <p:sp>
        <p:nvSpPr>
          <p:cNvPr id="5" name="card"/>
          <p:cNvSpPr/>
          <p:nvPr/>
        </p:nvSpPr>
        <p:spPr>
          <a:xfrm>
            <a:off x="548640" y="1874520"/>
            <a:ext cx="4846320" cy="1417320"/>
          </a:xfrm>
          <a:prstGeom prst="roundRect">
            <a:avLst>
              <a:gd name="adj" fmla="val 9032"/>
            </a:avLst>
          </a:prstGeom>
          <a:solidFill>
            <a:srgbClr val="E9E9EE"/>
          </a:solidFill>
          <a:ln/>
        </p:spPr>
      </p:sp>
      <p:sp>
        <p:nvSpPr>
          <p:cNvPr id="6" name="b-l"/>
          <p:cNvSpPr txBox="1"/>
          <p:nvPr/>
        </p:nvSpPr>
        <p:spPr>
          <a:xfrm>
            <a:off x="868680" y="2075688"/>
            <a:ext cx="1828800" cy="256032"/>
          </a:xfrm>
          <a:prstGeom prst="rect">
            <a:avLst/>
          </a:prstGeom>
          <a:noFill/>
          <a:ln/>
        </p:spPr>
        <p:txBody>
          <a:bodyPr wrap="square" lIns="0" tIns="0" rIns="0" bIns="0" rtlCol="0" anchor="ctr"/>
          <a:lstStyle/>
          <a:p>
            <a:pPr indent="0" marL="0">
              <a:buNone/>
            </a:pPr>
            <a:r>
              <a:rPr lang="en-US" sz="1100" b="1" spc="200" kern="0" dirty="0">
                <a:solidFill>
                  <a:srgbClr val="58585D"/>
                </a:solidFill>
                <a:latin typeface="Arial" pitchFamily="34" charset="0"/>
                <a:ea typeface="Arial" pitchFamily="34" charset="-122"/>
                <a:cs typeface="Arial" pitchFamily="34" charset="-120"/>
              </a:rPr>
              <a:t>BEFORE</a:t>
            </a:r>
            <a:endParaRPr lang="en-US" sz="1100" dirty="0"/>
          </a:p>
        </p:txBody>
      </p:sp>
      <p:sp>
        <p:nvSpPr>
          <p:cNvPr id="7" name="b-t"/>
          <p:cNvSpPr txBox="1"/>
          <p:nvPr/>
        </p:nvSpPr>
        <p:spPr>
          <a:xfrm>
            <a:off x="868680" y="2377440"/>
            <a:ext cx="4206240" cy="731520"/>
          </a:xfrm>
          <a:prstGeom prst="rect">
            <a:avLst/>
          </a:prstGeom>
          <a:noFill/>
          <a:ln/>
        </p:spPr>
        <p:txBody>
          <a:bodyPr wrap="square" lIns="0" tIns="0" rIns="0" bIns="0" rtlCol="0" anchor="t"/>
          <a:lstStyle/>
          <a:p>
            <a:pPr indent="0" marL="0">
              <a:buNone/>
            </a:pPr>
            <a:r>
              <a:rPr lang="en-US" sz="1600" dirty="0">
                <a:solidFill>
                  <a:srgbClr val="3A3A3C"/>
                </a:solidFill>
                <a:latin typeface="Arial" pitchFamily="34" charset="0"/>
                <a:ea typeface="Arial" pitchFamily="34" charset="-122"/>
                <a:cs typeface="Arial" pitchFamily="34" charset="-120"/>
              </a:rPr>
              <a:t>Every supervisor filled a sheet for every agent, every day of the month.</a:t>
            </a:r>
            <a:endParaRPr lang="en-US" sz="1600" dirty="0"/>
          </a:p>
        </p:txBody>
      </p:sp>
      <p:sp>
        <p:nvSpPr>
          <p:cNvPr id="8" name="arrow"/>
          <p:cNvSpPr/>
          <p:nvPr/>
        </p:nvSpPr>
        <p:spPr>
          <a:xfrm>
            <a:off x="2834640" y="3401568"/>
            <a:ext cx="274320" cy="310896"/>
          </a:xfrm>
          <a:prstGeom prst="downArrow">
            <a:avLst/>
          </a:prstGeom>
          <a:solidFill>
            <a:srgbClr val="F26722"/>
          </a:solidFill>
          <a:ln/>
        </p:spPr>
      </p:sp>
      <p:sp>
        <p:nvSpPr>
          <p:cNvPr id="9" name="card"/>
          <p:cNvSpPr/>
          <p:nvPr/>
        </p:nvSpPr>
        <p:spPr>
          <a:xfrm>
            <a:off x="548640" y="3822192"/>
            <a:ext cx="4846320" cy="2395728"/>
          </a:xfrm>
          <a:prstGeom prst="roundRect">
            <a:avLst>
              <a:gd name="adj" fmla="val 5344"/>
            </a:avLst>
          </a:prstGeom>
          <a:solidFill>
            <a:srgbClr val="FFFFFF"/>
          </a:solidFill>
          <a:ln w="9525">
            <a:solidFill>
              <a:srgbClr val="E5E5EA"/>
            </a:solidFill>
            <a:prstDash val="solid"/>
          </a:ln>
          <a:effectLst>
            <a:outerShdw sx="100000" sy="100000" kx="0" ky="0" algn="bl" rotWithShape="0" blurRad="203200" dist="38100" dir="5400000">
              <a:srgbClr val="000000">
                <a:alpha val="8000"/>
              </a:srgbClr>
            </a:outerShdw>
          </a:effectLst>
        </p:spPr>
      </p:sp>
      <p:sp>
        <p:nvSpPr>
          <p:cNvPr id="10" name="n-l"/>
          <p:cNvSpPr txBox="1"/>
          <p:nvPr/>
        </p:nvSpPr>
        <p:spPr>
          <a:xfrm>
            <a:off x="868680" y="4023360"/>
            <a:ext cx="1828800" cy="256032"/>
          </a:xfrm>
          <a:prstGeom prst="rect">
            <a:avLst/>
          </a:prstGeom>
          <a:noFill/>
          <a:ln/>
        </p:spPr>
        <p:txBody>
          <a:bodyPr wrap="square" lIns="0" tIns="0" rIns="0" bIns="0" rtlCol="0" anchor="ctr"/>
          <a:lstStyle/>
          <a:p>
            <a:pPr indent="0" marL="0">
              <a:buNone/>
            </a:pPr>
            <a:r>
              <a:rPr lang="en-US" sz="1100" b="1" spc="200" kern="0" dirty="0">
                <a:solidFill>
                  <a:srgbClr val="B3441A"/>
                </a:solidFill>
                <a:latin typeface="Arial" pitchFamily="34" charset="0"/>
                <a:ea typeface="Arial" pitchFamily="34" charset="-122"/>
                <a:cs typeface="Arial" pitchFamily="34" charset="-120"/>
              </a:rPr>
              <a:t>NOW</a:t>
            </a:r>
            <a:endParaRPr lang="en-US" sz="1100" dirty="0"/>
          </a:p>
        </p:txBody>
      </p:sp>
      <p:sp>
        <p:nvSpPr>
          <p:cNvPr id="11" name="dot-sync"/>
          <p:cNvSpPr/>
          <p:nvPr/>
        </p:nvSpPr>
        <p:spPr>
          <a:xfrm>
            <a:off x="868680" y="4434840"/>
            <a:ext cx="457200" cy="457200"/>
          </a:xfrm>
          <a:prstGeom prst="ellipse">
            <a:avLst/>
          </a:prstGeom>
          <a:solidFill>
            <a:srgbClr val="1D1D1F"/>
          </a:solidFill>
          <a:ln/>
        </p:spPr>
      </p:sp>
      <p:pic>
        <p:nvPicPr>
          <p:cNvPr id="12" name="icon-sync" descr="">    </p:cNvPr>
          <p:cNvPicPr>
            <a:picLocks noChangeAspect="1"/>
          </p:cNvPicPr>
          <p:nvPr/>
        </p:nvPicPr>
        <p:blipFill>
          <a:blip r:embed="rId1"/>
          <a:stretch>
            <a:fillRect/>
          </a:stretch>
        </p:blipFill>
        <p:spPr>
          <a:xfrm>
            <a:off x="978408" y="4544568"/>
            <a:ext cx="237744" cy="237744"/>
          </a:xfrm>
          <a:prstGeom prst="rect">
            <a:avLst/>
          </a:prstGeom>
        </p:spPr>
      </p:pic>
      <p:sp>
        <p:nvSpPr>
          <p:cNvPr id="13" name="h"/>
          <p:cNvSpPr txBox="1"/>
          <p:nvPr/>
        </p:nvSpPr>
        <p:spPr>
          <a:xfrm>
            <a:off x="1545336" y="4407408"/>
            <a:ext cx="3666744" cy="329184"/>
          </a:xfrm>
          <a:prstGeom prst="rect">
            <a:avLst/>
          </a:prstGeom>
          <a:noFill/>
          <a:ln/>
        </p:spPr>
        <p:txBody>
          <a:bodyPr wrap="square" lIns="0" tIns="0" rIns="0" bIns="0" rtlCol="0" anchor="ctr"/>
          <a:lstStyle/>
          <a:p>
            <a:pPr indent="0" marL="0">
              <a:buNone/>
            </a:pPr>
            <a:r>
              <a:rPr lang="en-US" sz="1600" b="1" dirty="0">
                <a:solidFill>
                  <a:srgbClr val="1D1D1F"/>
                </a:solidFill>
                <a:latin typeface="Arial" pitchFamily="34" charset="0"/>
                <a:ea typeface="Arial" pitchFamily="34" charset="-122"/>
                <a:cs typeface="Arial" pitchFamily="34" charset="-120"/>
              </a:rPr>
              <a:t>CC and SM: automatic</a:t>
            </a:r>
            <a:endParaRPr lang="en-US" sz="1600" dirty="0"/>
          </a:p>
        </p:txBody>
      </p:sp>
      <p:sp>
        <p:nvSpPr>
          <p:cNvPr id="14" name="t"/>
          <p:cNvSpPr txBox="1"/>
          <p:nvPr/>
        </p:nvSpPr>
        <p:spPr>
          <a:xfrm>
            <a:off x="1545336" y="4764024"/>
            <a:ext cx="3666744" cy="457200"/>
          </a:xfrm>
          <a:prstGeom prst="rect">
            <a:avLst/>
          </a:prstGeom>
          <a:noFill/>
          <a:ln/>
        </p:spPr>
        <p:txBody>
          <a:bodyPr wrap="square" lIns="0" tIns="0" rIns="0" bIns="0" rtlCol="0" anchor="t"/>
          <a:lstStyle/>
          <a:p>
            <a:pPr indent="0" marL="0">
              <a:lnSpc>
                <a:spcPct val="105000"/>
              </a:lnSpc>
              <a:buNone/>
            </a:pPr>
            <a:r>
              <a:rPr lang="en-US" sz="1400" dirty="0">
                <a:solidFill>
                  <a:srgbClr val="58585D"/>
                </a:solidFill>
                <a:latin typeface="Arial" pitchFamily="34" charset="0"/>
                <a:ea typeface="Arial" pitchFamily="34" charset="-122"/>
                <a:cs typeface="Arial" pitchFamily="34" charset="-120"/>
              </a:rPr>
              <a:t>Counted from the Genesys exports.</a:t>
            </a:r>
            <a:endParaRPr lang="en-US" sz="1400" dirty="0"/>
          </a:p>
        </p:txBody>
      </p:sp>
      <p:sp>
        <p:nvSpPr>
          <p:cNvPr id="15" name="dot-sheet"/>
          <p:cNvSpPr/>
          <p:nvPr/>
        </p:nvSpPr>
        <p:spPr>
          <a:xfrm>
            <a:off x="868680" y="5285232"/>
            <a:ext cx="457200" cy="457200"/>
          </a:xfrm>
          <a:prstGeom prst="ellipse">
            <a:avLst/>
          </a:prstGeom>
          <a:solidFill>
            <a:srgbClr val="1D1D1F"/>
          </a:solidFill>
          <a:ln/>
        </p:spPr>
      </p:sp>
      <p:pic>
        <p:nvPicPr>
          <p:cNvPr id="16" name="icon-sheet" descr="">    </p:cNvPr>
          <p:cNvPicPr>
            <a:picLocks noChangeAspect="1"/>
          </p:cNvPicPr>
          <p:nvPr/>
        </p:nvPicPr>
        <p:blipFill>
          <a:blip r:embed="rId2"/>
          <a:stretch>
            <a:fillRect/>
          </a:stretch>
        </p:blipFill>
        <p:spPr>
          <a:xfrm>
            <a:off x="978408" y="5394960"/>
            <a:ext cx="237744" cy="237744"/>
          </a:xfrm>
          <a:prstGeom prst="rect">
            <a:avLst/>
          </a:prstGeom>
        </p:spPr>
      </p:pic>
      <p:sp>
        <p:nvSpPr>
          <p:cNvPr id="17" name="h"/>
          <p:cNvSpPr txBox="1"/>
          <p:nvPr/>
        </p:nvSpPr>
        <p:spPr>
          <a:xfrm>
            <a:off x="1545336" y="5257800"/>
            <a:ext cx="3666744" cy="329184"/>
          </a:xfrm>
          <a:prstGeom prst="rect">
            <a:avLst/>
          </a:prstGeom>
          <a:noFill/>
          <a:ln/>
        </p:spPr>
        <p:txBody>
          <a:bodyPr wrap="square" lIns="0" tIns="0" rIns="0" bIns="0" rtlCol="0" anchor="ctr"/>
          <a:lstStyle/>
          <a:p>
            <a:pPr indent="0" marL="0">
              <a:buNone/>
            </a:pPr>
            <a:r>
              <a:rPr lang="en-US" sz="1600" b="1" dirty="0">
                <a:solidFill>
                  <a:srgbClr val="1D1D1F"/>
                </a:solidFill>
                <a:latin typeface="Arial" pitchFamily="34" charset="0"/>
                <a:ea typeface="Arial" pitchFamily="34" charset="-122"/>
                <a:cs typeface="Arial" pitchFamily="34" charset="-120"/>
              </a:rPr>
              <a:t>Other departments: exceptions only</a:t>
            </a:r>
            <a:endParaRPr lang="en-US" sz="1600" dirty="0"/>
          </a:p>
        </p:txBody>
      </p:sp>
      <p:sp>
        <p:nvSpPr>
          <p:cNvPr id="18" name="t"/>
          <p:cNvSpPr txBox="1"/>
          <p:nvPr/>
        </p:nvSpPr>
        <p:spPr>
          <a:xfrm>
            <a:off x="1545336" y="5614416"/>
            <a:ext cx="3666744" cy="457200"/>
          </a:xfrm>
          <a:prstGeom prst="rect">
            <a:avLst/>
          </a:prstGeom>
          <a:noFill/>
          <a:ln/>
        </p:spPr>
        <p:txBody>
          <a:bodyPr wrap="square" lIns="0" tIns="0" rIns="0" bIns="0" rtlCol="0" anchor="t"/>
          <a:lstStyle/>
          <a:p>
            <a:pPr indent="0" marL="0">
              <a:lnSpc>
                <a:spcPct val="105000"/>
              </a:lnSpc>
              <a:buNone/>
            </a:pPr>
            <a:r>
              <a:rPr lang="en-US" sz="1400" dirty="0">
                <a:solidFill>
                  <a:srgbClr val="58585D"/>
                </a:solidFill>
                <a:latin typeface="Arial" pitchFamily="34" charset="0"/>
                <a:ea typeface="Arial" pitchFamily="34" charset="-122"/>
                <a:cs typeface="Arial" pitchFamily="34" charset="-120"/>
              </a:rPr>
              <a:t>One template a month: late, absent, leave, days off.</a:t>
            </a:r>
            <a:endParaRPr lang="en-US" sz="1400" dirty="0"/>
          </a:p>
        </p:txBody>
      </p:sp>
      <p:pic>
        <p:nvPicPr>
          <p:cNvPr id="19" name="xlsx" descr="An attendance template open on How to fill">    </p:cNvPr>
          <p:cNvPicPr>
            <a:picLocks noChangeAspect="1"/>
          </p:cNvPicPr>
          <p:nvPr/>
        </p:nvPicPr>
        <p:blipFill>
          <a:blip r:embed="rId3"/>
          <a:stretch>
            <a:fillRect/>
          </a:stretch>
        </p:blipFill>
        <p:spPr>
          <a:xfrm>
            <a:off x="5637276" y="1613916"/>
            <a:ext cx="4864608" cy="3767176"/>
          </a:xfrm>
          <a:prstGeom prst="rect">
            <a:avLst/>
          </a:prstGeom>
        </p:spPr>
      </p:pic>
      <p:pic>
        <p:nvPicPr>
          <p:cNvPr id="20" name="tpl" descr="Attendance templates: one for each department">    </p:cNvPr>
          <p:cNvPicPr>
            <a:picLocks noChangeAspect="1"/>
          </p:cNvPicPr>
          <p:nvPr/>
        </p:nvPicPr>
        <p:blipFill>
          <a:blip r:embed="rId4"/>
          <a:stretch>
            <a:fillRect/>
          </a:stretch>
        </p:blipFill>
        <p:spPr>
          <a:xfrm>
            <a:off x="8464662" y="2521062"/>
            <a:ext cx="3094872" cy="3918996"/>
          </a:xfrm>
          <a:prstGeom prst="rect">
            <a:avLst/>
          </a:prstGeom>
        </p:spPr>
      </p:pic>
      <p:sp>
        <p:nvSpPr>
          <p:cNvPr id="25" name="Slide Number Placeholder 0"/>
          <p:cNvSpPr>
            <a:spLocks noGrp="1"/>
          </p:cNvSpPr>
          <p:nvPr>
            <p:ph type="sldNum" sz="quarter" idx="4294967295"/>
          </p:nvPr>
        </p:nvSpPr>
        <p:spPr>
          <a:xfrm>
            <a:off x="11091672" y="640080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E8E93"/>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42" presetClass="entr" presetSubtype="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50"/>
                                        <p:tgtEl>
                                          <p:spTgt spid="5"/>
                                        </p:tgtEl>
                                      </p:cBhvr>
                                    </p:animEffect>
                                    <p:anim calcmode="lin" valueType="num">
                                      <p:cBhvr>
                                        <p:cTn id="11" dur="650" fill="hold"/>
                                        <p:tgtEl>
                                          <p:spTgt spid="5"/>
                                        </p:tgtEl>
                                        <p:attrNameLst>
                                          <p:attrName>ppt_x</p:attrName>
                                        </p:attrNameLst>
                                      </p:cBhvr>
                                      <p:tavLst>
                                        <p:tav tm="0">
                                          <p:val>
                                            <p:strVal val="#ppt_x"/>
                                          </p:val>
                                        </p:tav>
                                        <p:tav tm="100000">
                                          <p:val>
                                            <p:strVal val="#ppt_x"/>
                                          </p:val>
                                        </p:tav>
                                      </p:tavLst>
                                    </p:anim>
                                    <p:anim calcmode="lin" valueType="num">
                                      <p:cBhvr>
                                        <p:cTn id="12" dur="650" fill="hold"/>
                                        <p:tgtEl>
                                          <p:spTgt spid="5"/>
                                        </p:tgtEl>
                                        <p:attrNameLst>
                                          <p:attrName>ppt_y</p:attrName>
                                        </p:attrNameLst>
                                      </p:cBhvr>
                                      <p:tavLst>
                                        <p:tav tm="0">
                                          <p:val>
                                            <p:strVal val="#ppt_y+.05"/>
                                          </p:val>
                                        </p:tav>
                                        <p:tav tm="100000">
                                          <p:val>
                                            <p:strVal val="#ppt_y"/>
                                          </p:val>
                                        </p:tav>
                                      </p:tavLst>
                                    </p:anim>
                                  </p:childTnLst>
                                </p:cTn>
                              </p:par>
                              <p:par>
                                <p:cTn id="13" presetID="42" presetClass="entr" presetSubtype="0" fill="hold" grpId="0" nodeType="withEffect">
                                  <p:stCondLst>
                                    <p:cond delay="25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50"/>
                                        <p:tgtEl>
                                          <p:spTgt spid="6"/>
                                        </p:tgtEl>
                                      </p:cBhvr>
                                    </p:animEffect>
                                    <p:anim calcmode="lin" valueType="num">
                                      <p:cBhvr>
                                        <p:cTn id="16" dur="650" fill="hold"/>
                                        <p:tgtEl>
                                          <p:spTgt spid="6"/>
                                        </p:tgtEl>
                                        <p:attrNameLst>
                                          <p:attrName>ppt_x</p:attrName>
                                        </p:attrNameLst>
                                      </p:cBhvr>
                                      <p:tavLst>
                                        <p:tav tm="0">
                                          <p:val>
                                            <p:strVal val="#ppt_x"/>
                                          </p:val>
                                        </p:tav>
                                        <p:tav tm="100000">
                                          <p:val>
                                            <p:strVal val="#ppt_x"/>
                                          </p:val>
                                        </p:tav>
                                      </p:tavLst>
                                    </p:anim>
                                    <p:anim calcmode="lin" valueType="num">
                                      <p:cBhvr>
                                        <p:cTn id="17" dur="650" fill="hold"/>
                                        <p:tgtEl>
                                          <p:spTgt spid="6"/>
                                        </p:tgtEl>
                                        <p:attrNameLst>
                                          <p:attrName>ppt_y</p:attrName>
                                        </p:attrNameLst>
                                      </p:cBhvr>
                                      <p:tavLst>
                                        <p:tav tm="0">
                                          <p:val>
                                            <p:strVal val="#ppt_y+.05"/>
                                          </p:val>
                                        </p:tav>
                                        <p:tav tm="100000">
                                          <p:val>
                                            <p:strVal val="#ppt_y"/>
                                          </p:val>
                                        </p:tav>
                                      </p:tavLst>
                                    </p:anim>
                                  </p:childTnLst>
                                </p:cTn>
                              </p:par>
                              <p:par>
                                <p:cTn id="18" presetID="42" presetClass="entr" presetSubtype="0" fill="hold" grpId="0" nodeType="withEffect">
                                  <p:stCondLst>
                                    <p:cond delay="25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50"/>
                                        <p:tgtEl>
                                          <p:spTgt spid="7"/>
                                        </p:tgtEl>
                                      </p:cBhvr>
                                    </p:animEffect>
                                    <p:anim calcmode="lin" valueType="num">
                                      <p:cBhvr>
                                        <p:cTn id="21" dur="650" fill="hold"/>
                                        <p:tgtEl>
                                          <p:spTgt spid="7"/>
                                        </p:tgtEl>
                                        <p:attrNameLst>
                                          <p:attrName>ppt_x</p:attrName>
                                        </p:attrNameLst>
                                      </p:cBhvr>
                                      <p:tavLst>
                                        <p:tav tm="0">
                                          <p:val>
                                            <p:strVal val="#ppt_x"/>
                                          </p:val>
                                        </p:tav>
                                        <p:tav tm="100000">
                                          <p:val>
                                            <p:strVal val="#ppt_x"/>
                                          </p:val>
                                        </p:tav>
                                      </p:tavLst>
                                    </p:anim>
                                    <p:anim calcmode="lin" valueType="num">
                                      <p:cBhvr>
                                        <p:cTn id="22" dur="650" fill="hold"/>
                                        <p:tgtEl>
                                          <p:spTgt spid="7"/>
                                        </p:tgtEl>
                                        <p:attrNameLst>
                                          <p:attrName>ppt_y</p:attrName>
                                        </p:attrNameLst>
                                      </p:cBhvr>
                                      <p:tavLst>
                                        <p:tav tm="0">
                                          <p:val>
                                            <p:strVal val="#ppt_y+.05"/>
                                          </p:val>
                                        </p:tav>
                                        <p:tav tm="100000">
                                          <p:val>
                                            <p:strVal val="#ppt_y"/>
                                          </p:val>
                                        </p:tav>
                                      </p:tavLst>
                                    </p:anim>
                                  </p:childTnLst>
                                </p:cTn>
                              </p:par>
                              <p:par>
                                <p:cTn id="23" presetID="42" presetClass="entr" presetSubtype="0" fill="hold" grpId="0" nodeType="withEffect">
                                  <p:stCondLst>
                                    <p:cond delay="35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650"/>
                                        <p:tgtEl>
                                          <p:spTgt spid="19"/>
                                        </p:tgtEl>
                                      </p:cBhvr>
                                    </p:animEffect>
                                    <p:anim calcmode="lin" valueType="num">
                                      <p:cBhvr>
                                        <p:cTn id="26" dur="650" fill="hold"/>
                                        <p:tgtEl>
                                          <p:spTgt spid="19"/>
                                        </p:tgtEl>
                                        <p:attrNameLst>
                                          <p:attrName>ppt_x</p:attrName>
                                        </p:attrNameLst>
                                      </p:cBhvr>
                                      <p:tavLst>
                                        <p:tav tm="0">
                                          <p:val>
                                            <p:strVal val="#ppt_x"/>
                                          </p:val>
                                        </p:tav>
                                        <p:tav tm="100000">
                                          <p:val>
                                            <p:strVal val="#ppt_x"/>
                                          </p:val>
                                        </p:tav>
                                      </p:tavLst>
                                    </p:anim>
                                    <p:anim calcmode="lin" valueType="num">
                                      <p:cBhvr>
                                        <p:cTn id="27" dur="650" fill="hold"/>
                                        <p:tgtEl>
                                          <p:spTgt spid="19"/>
                                        </p:tgtEl>
                                        <p:attrNameLst>
                                          <p:attrName>ppt_y</p:attrName>
                                        </p:attrNameLst>
                                      </p:cBhvr>
                                      <p:tavLst>
                                        <p:tav tm="0">
                                          <p:val>
                                            <p:strVal val="#ppt_y+.05"/>
                                          </p:val>
                                        </p:tav>
                                        <p:tav tm="100000">
                                          <p:val>
                                            <p:strVal val="#ppt_y"/>
                                          </p:val>
                                        </p:tav>
                                      </p:tavLst>
                                    </p:anim>
                                  </p:childTnLst>
                                </p:cTn>
                              </p:par>
                              <p:par>
                                <p:cTn id="28" presetID="10" presetClass="entr" presetSubtype="0" fill="hold" grpId="0" nodeType="withEffect">
                                  <p:stCondLst>
                                    <p:cond delay="45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childTnLst>
                                </p:cTn>
                              </p:par>
                              <p:par>
                                <p:cTn id="31" presetID="42" presetClass="entr" presetSubtype="0" fill="hold" grpId="0" nodeType="withEffect">
                                  <p:stCondLst>
                                    <p:cond delay="55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650"/>
                                        <p:tgtEl>
                                          <p:spTgt spid="20"/>
                                        </p:tgtEl>
                                      </p:cBhvr>
                                    </p:animEffect>
                                    <p:anim calcmode="lin" valueType="num">
                                      <p:cBhvr>
                                        <p:cTn id="34" dur="650" fill="hold"/>
                                        <p:tgtEl>
                                          <p:spTgt spid="20"/>
                                        </p:tgtEl>
                                        <p:attrNameLst>
                                          <p:attrName>ppt_x</p:attrName>
                                        </p:attrNameLst>
                                      </p:cBhvr>
                                      <p:tavLst>
                                        <p:tav tm="0">
                                          <p:val>
                                            <p:strVal val="#ppt_x"/>
                                          </p:val>
                                        </p:tav>
                                        <p:tav tm="100000">
                                          <p:val>
                                            <p:strVal val="#ppt_x"/>
                                          </p:val>
                                        </p:tav>
                                      </p:tavLst>
                                    </p:anim>
                                    <p:anim calcmode="lin" valueType="num">
                                      <p:cBhvr>
                                        <p:cTn id="35" dur="650" fill="hold"/>
                                        <p:tgtEl>
                                          <p:spTgt spid="20"/>
                                        </p:tgtEl>
                                        <p:attrNameLst>
                                          <p:attrName>ppt_y</p:attrName>
                                        </p:attrNameLst>
                                      </p:cBhvr>
                                      <p:tavLst>
                                        <p:tav tm="0">
                                          <p:val>
                                            <p:strVal val="#ppt_y+.05"/>
                                          </p:val>
                                        </p:tav>
                                        <p:tav tm="100000">
                                          <p:val>
                                            <p:strVal val="#ppt_y"/>
                                          </p:val>
                                        </p:tav>
                                      </p:tavLst>
                                    </p:anim>
                                  </p:childTnLst>
                                </p:cTn>
                              </p:par>
                              <p:par>
                                <p:cTn id="36"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50"/>
                                        <p:tgtEl>
                                          <p:spTgt spid="9"/>
                                        </p:tgtEl>
                                      </p:cBhvr>
                                    </p:animEffect>
                                    <p:anim calcmode="lin" valueType="num">
                                      <p:cBhvr>
                                        <p:cTn id="39" dur="650" fill="hold"/>
                                        <p:tgtEl>
                                          <p:spTgt spid="9"/>
                                        </p:tgtEl>
                                        <p:attrNameLst>
                                          <p:attrName>ppt_x</p:attrName>
                                        </p:attrNameLst>
                                      </p:cBhvr>
                                      <p:tavLst>
                                        <p:tav tm="0">
                                          <p:val>
                                            <p:strVal val="#ppt_x"/>
                                          </p:val>
                                        </p:tav>
                                        <p:tav tm="100000">
                                          <p:val>
                                            <p:strVal val="#ppt_x"/>
                                          </p:val>
                                        </p:tav>
                                      </p:tavLst>
                                    </p:anim>
                                    <p:anim calcmode="lin" valueType="num">
                                      <p:cBhvr>
                                        <p:cTn id="40" dur="650" fill="hold"/>
                                        <p:tgtEl>
                                          <p:spTgt spid="9"/>
                                        </p:tgtEl>
                                        <p:attrNameLst>
                                          <p:attrName>ppt_y</p:attrName>
                                        </p:attrNameLst>
                                      </p:cBhvr>
                                      <p:tavLst>
                                        <p:tav tm="0">
                                          <p:val>
                                            <p:strVal val="#ppt_y+.05"/>
                                          </p:val>
                                        </p:tav>
                                        <p:tav tm="100000">
                                          <p:val>
                                            <p:strVal val="#ppt_y"/>
                                          </p:val>
                                        </p:tav>
                                      </p:tavLst>
                                    </p:anim>
                                  </p:childTnLst>
                                </p:cTn>
                              </p:par>
                              <p:par>
                                <p:cTn id="41"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50"/>
                                        <p:tgtEl>
                                          <p:spTgt spid="10"/>
                                        </p:tgtEl>
                                      </p:cBhvr>
                                    </p:animEffect>
                                    <p:anim calcmode="lin" valueType="num">
                                      <p:cBhvr>
                                        <p:cTn id="44" dur="650" fill="hold"/>
                                        <p:tgtEl>
                                          <p:spTgt spid="10"/>
                                        </p:tgtEl>
                                        <p:attrNameLst>
                                          <p:attrName>ppt_x</p:attrName>
                                        </p:attrNameLst>
                                      </p:cBhvr>
                                      <p:tavLst>
                                        <p:tav tm="0">
                                          <p:val>
                                            <p:strVal val="#ppt_x"/>
                                          </p:val>
                                        </p:tav>
                                        <p:tav tm="100000">
                                          <p:val>
                                            <p:strVal val="#ppt_x"/>
                                          </p:val>
                                        </p:tav>
                                      </p:tavLst>
                                    </p:anim>
                                    <p:anim calcmode="lin" valueType="num">
                                      <p:cBhvr>
                                        <p:cTn id="45" dur="650" fill="hold"/>
                                        <p:tgtEl>
                                          <p:spTgt spid="10"/>
                                        </p:tgtEl>
                                        <p:attrNameLst>
                                          <p:attrName>ppt_y</p:attrName>
                                        </p:attrNameLst>
                                      </p:cBhvr>
                                      <p:tavLst>
                                        <p:tav tm="0">
                                          <p:val>
                                            <p:strVal val="#ppt_y+.05"/>
                                          </p:val>
                                        </p:tav>
                                        <p:tav tm="100000">
                                          <p:val>
                                            <p:strVal val="#ppt_y"/>
                                          </p:val>
                                        </p:tav>
                                      </p:tavLst>
                                    </p:anim>
                                  </p:childTnLst>
                                </p:cTn>
                              </p:par>
                              <p:par>
                                <p:cTn id="46" presetID="42" presetClass="entr" presetSubtype="0" fill="hold" grpId="0" nodeType="withEffect">
                                  <p:stCondLst>
                                    <p:cond delay="7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50"/>
                                        <p:tgtEl>
                                          <p:spTgt spid="11"/>
                                        </p:tgtEl>
                                      </p:cBhvr>
                                    </p:animEffect>
                                    <p:anim calcmode="lin" valueType="num">
                                      <p:cBhvr>
                                        <p:cTn id="49" dur="650" fill="hold"/>
                                        <p:tgtEl>
                                          <p:spTgt spid="11"/>
                                        </p:tgtEl>
                                        <p:attrNameLst>
                                          <p:attrName>ppt_x</p:attrName>
                                        </p:attrNameLst>
                                      </p:cBhvr>
                                      <p:tavLst>
                                        <p:tav tm="0">
                                          <p:val>
                                            <p:strVal val="#ppt_x"/>
                                          </p:val>
                                        </p:tav>
                                        <p:tav tm="100000">
                                          <p:val>
                                            <p:strVal val="#ppt_x"/>
                                          </p:val>
                                        </p:tav>
                                      </p:tavLst>
                                    </p:anim>
                                    <p:anim calcmode="lin" valueType="num">
                                      <p:cBhvr>
                                        <p:cTn id="50" dur="650" fill="hold"/>
                                        <p:tgtEl>
                                          <p:spTgt spid="11"/>
                                        </p:tgtEl>
                                        <p:attrNameLst>
                                          <p:attrName>ppt_y</p:attrName>
                                        </p:attrNameLst>
                                      </p:cBhvr>
                                      <p:tavLst>
                                        <p:tav tm="0">
                                          <p:val>
                                            <p:strVal val="#ppt_y+.05"/>
                                          </p:val>
                                        </p:tav>
                                        <p:tav tm="100000">
                                          <p:val>
                                            <p:strVal val="#ppt_y"/>
                                          </p:val>
                                        </p:tav>
                                      </p:tavLst>
                                    </p:anim>
                                  </p:childTnLst>
                                </p:cTn>
                              </p:par>
                              <p:par>
                                <p:cTn id="51" presetID="42" presetClass="entr" presetSubtype="0" fill="hold" grpId="0" nodeType="withEffect">
                                  <p:stCondLst>
                                    <p:cond delay="7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50"/>
                                        <p:tgtEl>
                                          <p:spTgt spid="12"/>
                                        </p:tgtEl>
                                      </p:cBhvr>
                                    </p:animEffect>
                                    <p:anim calcmode="lin" valueType="num">
                                      <p:cBhvr>
                                        <p:cTn id="54" dur="650" fill="hold"/>
                                        <p:tgtEl>
                                          <p:spTgt spid="12"/>
                                        </p:tgtEl>
                                        <p:attrNameLst>
                                          <p:attrName>ppt_x</p:attrName>
                                        </p:attrNameLst>
                                      </p:cBhvr>
                                      <p:tavLst>
                                        <p:tav tm="0">
                                          <p:val>
                                            <p:strVal val="#ppt_x"/>
                                          </p:val>
                                        </p:tav>
                                        <p:tav tm="100000">
                                          <p:val>
                                            <p:strVal val="#ppt_x"/>
                                          </p:val>
                                        </p:tav>
                                      </p:tavLst>
                                    </p:anim>
                                    <p:anim calcmode="lin" valueType="num">
                                      <p:cBhvr>
                                        <p:cTn id="55" dur="650" fill="hold"/>
                                        <p:tgtEl>
                                          <p:spTgt spid="12"/>
                                        </p:tgtEl>
                                        <p:attrNameLst>
                                          <p:attrName>ppt_y</p:attrName>
                                        </p:attrNameLst>
                                      </p:cBhvr>
                                      <p:tavLst>
                                        <p:tav tm="0">
                                          <p:val>
                                            <p:strVal val="#ppt_y+.05"/>
                                          </p:val>
                                        </p:tav>
                                        <p:tav tm="100000">
                                          <p:val>
                                            <p:strVal val="#ppt_y"/>
                                          </p:val>
                                        </p:tav>
                                      </p:tavLst>
                                    </p:anim>
                                  </p:childTnLst>
                                </p:cTn>
                              </p:par>
                              <p:par>
                                <p:cTn id="56" presetID="42" presetClass="entr" presetSubtype="0" fill="hold" grpId="0" nodeType="withEffect">
                                  <p:stCondLst>
                                    <p:cond delay="7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50"/>
                                        <p:tgtEl>
                                          <p:spTgt spid="13"/>
                                        </p:tgtEl>
                                      </p:cBhvr>
                                    </p:animEffect>
                                    <p:anim calcmode="lin" valueType="num">
                                      <p:cBhvr>
                                        <p:cTn id="59" dur="650" fill="hold"/>
                                        <p:tgtEl>
                                          <p:spTgt spid="13"/>
                                        </p:tgtEl>
                                        <p:attrNameLst>
                                          <p:attrName>ppt_x</p:attrName>
                                        </p:attrNameLst>
                                      </p:cBhvr>
                                      <p:tavLst>
                                        <p:tav tm="0">
                                          <p:val>
                                            <p:strVal val="#ppt_x"/>
                                          </p:val>
                                        </p:tav>
                                        <p:tav tm="100000">
                                          <p:val>
                                            <p:strVal val="#ppt_x"/>
                                          </p:val>
                                        </p:tav>
                                      </p:tavLst>
                                    </p:anim>
                                    <p:anim calcmode="lin" valueType="num">
                                      <p:cBhvr>
                                        <p:cTn id="60" dur="650" fill="hold"/>
                                        <p:tgtEl>
                                          <p:spTgt spid="13"/>
                                        </p:tgtEl>
                                        <p:attrNameLst>
                                          <p:attrName>ppt_y</p:attrName>
                                        </p:attrNameLst>
                                      </p:cBhvr>
                                      <p:tavLst>
                                        <p:tav tm="0">
                                          <p:val>
                                            <p:strVal val="#ppt_y+.05"/>
                                          </p:val>
                                        </p:tav>
                                        <p:tav tm="100000">
                                          <p:val>
                                            <p:strVal val="#ppt_y"/>
                                          </p:val>
                                        </p:tav>
                                      </p:tavLst>
                                    </p:anim>
                                  </p:childTnLst>
                                </p:cTn>
                              </p:par>
                              <p:par>
                                <p:cTn id="61" presetID="42" presetClass="entr" presetSubtype="0" fill="hold" grpId="0" nodeType="withEffect">
                                  <p:stCondLst>
                                    <p:cond delay="7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50"/>
                                        <p:tgtEl>
                                          <p:spTgt spid="14"/>
                                        </p:tgtEl>
                                      </p:cBhvr>
                                    </p:animEffect>
                                    <p:anim calcmode="lin" valueType="num">
                                      <p:cBhvr>
                                        <p:cTn id="64" dur="650" fill="hold"/>
                                        <p:tgtEl>
                                          <p:spTgt spid="14"/>
                                        </p:tgtEl>
                                        <p:attrNameLst>
                                          <p:attrName>ppt_x</p:attrName>
                                        </p:attrNameLst>
                                      </p:cBhvr>
                                      <p:tavLst>
                                        <p:tav tm="0">
                                          <p:val>
                                            <p:strVal val="#ppt_x"/>
                                          </p:val>
                                        </p:tav>
                                        <p:tav tm="100000">
                                          <p:val>
                                            <p:strVal val="#ppt_x"/>
                                          </p:val>
                                        </p:tav>
                                      </p:tavLst>
                                    </p:anim>
                                    <p:anim calcmode="lin" valueType="num">
                                      <p:cBhvr>
                                        <p:cTn id="65" dur="650" fill="hold"/>
                                        <p:tgtEl>
                                          <p:spTgt spid="14"/>
                                        </p:tgtEl>
                                        <p:attrNameLst>
                                          <p:attrName>ppt_y</p:attrName>
                                        </p:attrNameLst>
                                      </p:cBhvr>
                                      <p:tavLst>
                                        <p:tav tm="0">
                                          <p:val>
                                            <p:strVal val="#ppt_y+.05"/>
                                          </p:val>
                                        </p:tav>
                                        <p:tav tm="100000">
                                          <p:val>
                                            <p:strVal val="#ppt_y"/>
                                          </p:val>
                                        </p:tav>
                                      </p:tavLst>
                                    </p:anim>
                                  </p:childTnLst>
                                </p:cTn>
                              </p:par>
                              <p:par>
                                <p:cTn id="66" presetID="42" presetClass="entr" presetSubtype="0" fill="hold" grpId="0" nodeType="withEffect">
                                  <p:stCondLst>
                                    <p:cond delay="82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50"/>
                                        <p:tgtEl>
                                          <p:spTgt spid="15"/>
                                        </p:tgtEl>
                                      </p:cBhvr>
                                    </p:animEffect>
                                    <p:anim calcmode="lin" valueType="num">
                                      <p:cBhvr>
                                        <p:cTn id="69" dur="650" fill="hold"/>
                                        <p:tgtEl>
                                          <p:spTgt spid="15"/>
                                        </p:tgtEl>
                                        <p:attrNameLst>
                                          <p:attrName>ppt_x</p:attrName>
                                        </p:attrNameLst>
                                      </p:cBhvr>
                                      <p:tavLst>
                                        <p:tav tm="0">
                                          <p:val>
                                            <p:strVal val="#ppt_x"/>
                                          </p:val>
                                        </p:tav>
                                        <p:tav tm="100000">
                                          <p:val>
                                            <p:strVal val="#ppt_x"/>
                                          </p:val>
                                        </p:tav>
                                      </p:tavLst>
                                    </p:anim>
                                    <p:anim calcmode="lin" valueType="num">
                                      <p:cBhvr>
                                        <p:cTn id="70" dur="650" fill="hold"/>
                                        <p:tgtEl>
                                          <p:spTgt spid="15"/>
                                        </p:tgtEl>
                                        <p:attrNameLst>
                                          <p:attrName>ppt_y</p:attrName>
                                        </p:attrNameLst>
                                      </p:cBhvr>
                                      <p:tavLst>
                                        <p:tav tm="0">
                                          <p:val>
                                            <p:strVal val="#ppt_y+.05"/>
                                          </p:val>
                                        </p:tav>
                                        <p:tav tm="100000">
                                          <p:val>
                                            <p:strVal val="#ppt_y"/>
                                          </p:val>
                                        </p:tav>
                                      </p:tavLst>
                                    </p:anim>
                                  </p:childTnLst>
                                </p:cTn>
                              </p:par>
                              <p:par>
                                <p:cTn id="71" presetID="42" presetClass="entr" presetSubtype="0" fill="hold" grpId="0" nodeType="withEffect">
                                  <p:stCondLst>
                                    <p:cond delay="82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50"/>
                                        <p:tgtEl>
                                          <p:spTgt spid="16"/>
                                        </p:tgtEl>
                                      </p:cBhvr>
                                    </p:animEffect>
                                    <p:anim calcmode="lin" valueType="num">
                                      <p:cBhvr>
                                        <p:cTn id="74" dur="650" fill="hold"/>
                                        <p:tgtEl>
                                          <p:spTgt spid="16"/>
                                        </p:tgtEl>
                                        <p:attrNameLst>
                                          <p:attrName>ppt_x</p:attrName>
                                        </p:attrNameLst>
                                      </p:cBhvr>
                                      <p:tavLst>
                                        <p:tav tm="0">
                                          <p:val>
                                            <p:strVal val="#ppt_x"/>
                                          </p:val>
                                        </p:tav>
                                        <p:tav tm="100000">
                                          <p:val>
                                            <p:strVal val="#ppt_x"/>
                                          </p:val>
                                        </p:tav>
                                      </p:tavLst>
                                    </p:anim>
                                    <p:anim calcmode="lin" valueType="num">
                                      <p:cBhvr>
                                        <p:cTn id="75" dur="650" fill="hold"/>
                                        <p:tgtEl>
                                          <p:spTgt spid="16"/>
                                        </p:tgtEl>
                                        <p:attrNameLst>
                                          <p:attrName>ppt_y</p:attrName>
                                        </p:attrNameLst>
                                      </p:cBhvr>
                                      <p:tavLst>
                                        <p:tav tm="0">
                                          <p:val>
                                            <p:strVal val="#ppt_y+.05"/>
                                          </p:val>
                                        </p:tav>
                                        <p:tav tm="100000">
                                          <p:val>
                                            <p:strVal val="#ppt_y"/>
                                          </p:val>
                                        </p:tav>
                                      </p:tavLst>
                                    </p:anim>
                                  </p:childTnLst>
                                </p:cTn>
                              </p:par>
                              <p:par>
                                <p:cTn id="76" presetID="42" presetClass="entr" presetSubtype="0" fill="hold" grpId="0" nodeType="withEffect">
                                  <p:stCondLst>
                                    <p:cond delay="82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50"/>
                                        <p:tgtEl>
                                          <p:spTgt spid="17"/>
                                        </p:tgtEl>
                                      </p:cBhvr>
                                    </p:animEffect>
                                    <p:anim calcmode="lin" valueType="num">
                                      <p:cBhvr>
                                        <p:cTn id="79" dur="650" fill="hold"/>
                                        <p:tgtEl>
                                          <p:spTgt spid="17"/>
                                        </p:tgtEl>
                                        <p:attrNameLst>
                                          <p:attrName>ppt_x</p:attrName>
                                        </p:attrNameLst>
                                      </p:cBhvr>
                                      <p:tavLst>
                                        <p:tav tm="0">
                                          <p:val>
                                            <p:strVal val="#ppt_x"/>
                                          </p:val>
                                        </p:tav>
                                        <p:tav tm="100000">
                                          <p:val>
                                            <p:strVal val="#ppt_x"/>
                                          </p:val>
                                        </p:tav>
                                      </p:tavLst>
                                    </p:anim>
                                    <p:anim calcmode="lin" valueType="num">
                                      <p:cBhvr>
                                        <p:cTn id="80" dur="650" fill="hold"/>
                                        <p:tgtEl>
                                          <p:spTgt spid="17"/>
                                        </p:tgtEl>
                                        <p:attrNameLst>
                                          <p:attrName>ppt_y</p:attrName>
                                        </p:attrNameLst>
                                      </p:cBhvr>
                                      <p:tavLst>
                                        <p:tav tm="0">
                                          <p:val>
                                            <p:strVal val="#ppt_y+.05"/>
                                          </p:val>
                                        </p:tav>
                                        <p:tav tm="100000">
                                          <p:val>
                                            <p:strVal val="#ppt_y"/>
                                          </p:val>
                                        </p:tav>
                                      </p:tavLst>
                                    </p:anim>
                                  </p:childTnLst>
                                </p:cTn>
                              </p:par>
                              <p:par>
                                <p:cTn id="81" presetID="42" presetClass="entr" presetSubtype="0" fill="hold" grpId="0" nodeType="withEffect">
                                  <p:stCondLst>
                                    <p:cond delay="82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50"/>
                                        <p:tgtEl>
                                          <p:spTgt spid="18"/>
                                        </p:tgtEl>
                                      </p:cBhvr>
                                    </p:animEffect>
                                    <p:anim calcmode="lin" valueType="num">
                                      <p:cBhvr>
                                        <p:cTn id="84" dur="650" fill="hold"/>
                                        <p:tgtEl>
                                          <p:spTgt spid="18"/>
                                        </p:tgtEl>
                                        <p:attrNameLst>
                                          <p:attrName>ppt_x</p:attrName>
                                        </p:attrNameLst>
                                      </p:cBhvr>
                                      <p:tavLst>
                                        <p:tav tm="0">
                                          <p:val>
                                            <p:strVal val="#ppt_x"/>
                                          </p:val>
                                        </p:tav>
                                        <p:tav tm="100000">
                                          <p:val>
                                            <p:strVal val="#ppt_x"/>
                                          </p:val>
                                        </p:tav>
                                      </p:tavLst>
                                    </p:anim>
                                    <p:anim calcmode="lin" valueType="num">
                                      <p:cBhvr>
                                        <p:cTn id="85" dur="650" fill="hold"/>
                                        <p:tgtEl>
                                          <p:spTgt spid="18"/>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P spid="9" grpId="0" animBg="1"/>
      <p:bldP spid="10" grpId="0" animBg="1"/>
      <p:bldP spid="11" grpId="0" animBg="1"/>
      <p:bldP spid="13" grpId="0" animBg="1"/>
      <p:bldP spid="14" grpId="0" animBg="1"/>
      <p:bldP spid="15"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eyebrow"/>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100" b="1" spc="200" kern="0" dirty="0">
                <a:solidFill>
                  <a:srgbClr val="B3441A"/>
                </a:solidFill>
                <a:latin typeface="Arial" pitchFamily="34" charset="0"/>
                <a:ea typeface="Arial" pitchFamily="34" charset="-122"/>
                <a:cs typeface="Arial" pitchFamily="34" charset="-120"/>
              </a:rPr>
              <a:t>INCENTIVE</a:t>
            </a:r>
            <a:endParaRPr lang="en-US" sz="1100" dirty="0"/>
          </a:p>
        </p:txBody>
      </p:sp>
      <p:sp>
        <p:nvSpPr>
          <p:cNvPr id="4" name="Text 1"/>
          <p:cNvSpPr/>
          <p:nvPr>
            <p:ph idx="101" type="title" hasCustomPrompt="1"/>
          </p:nvPr>
        </p:nvSpPr>
        <p:spPr>
          <a:xfrm>
            <a:off x="548640" y="841248"/>
            <a:ext cx="11094415" cy="731520"/>
          </a:xfrm>
          <a:prstGeom prst="rect">
            <a:avLst/>
          </a:prstGeom>
          <a:noFill/>
          <a:ln/>
        </p:spPr>
        <p:txBody>
          <a:bodyPr wrap="square" lIns="0" tIns="0" rIns="0" bIns="0" rtlCol="0" anchor="t"/>
          <a:lstStyle/>
          <a:p>
            <a:pPr algn="l" indent="0" marL="0">
              <a:buNone/>
            </a:pPr>
            <a:r>
              <a:rPr lang="en-US" sz="3600" b="1" dirty="0">
                <a:solidFill>
                  <a:srgbClr val="1D1D1F"/>
                </a:solidFill>
                <a:latin typeface="Arial" pitchFamily="34" charset="0"/>
                <a:ea typeface="Arial" pitchFamily="34" charset="-122"/>
                <a:cs typeface="Arial" pitchFamily="34" charset="-120"/>
              </a:rPr>
              <a:t>Every bonus explains itself</a:t>
            </a:r>
            <a:endParaRPr lang="en-US" sz="3600" dirty="0"/>
          </a:p>
        </p:txBody>
      </p:sp>
      <p:pic>
        <p:nvPicPr>
          <p:cNvPr id="5" name="shot" descr="How this was counted, for one agent: each KPI, its band, ranking and points">    </p:cNvPr>
          <p:cNvPicPr>
            <a:picLocks noChangeAspect="1"/>
          </p:cNvPicPr>
          <p:nvPr/>
        </p:nvPicPr>
        <p:blipFill>
          <a:blip r:embed="rId1"/>
          <a:stretch>
            <a:fillRect/>
          </a:stretch>
        </p:blipFill>
        <p:spPr>
          <a:xfrm>
            <a:off x="265747" y="1500188"/>
            <a:ext cx="4962743" cy="5092065"/>
          </a:xfrm>
          <a:prstGeom prst="rect">
            <a:avLst/>
          </a:prstGeom>
        </p:spPr>
      </p:pic>
      <p:sp>
        <p:nvSpPr>
          <p:cNvPr id="6" name="card"/>
          <p:cNvSpPr/>
          <p:nvPr/>
        </p:nvSpPr>
        <p:spPr>
          <a:xfrm>
            <a:off x="5532120" y="1828800"/>
            <a:ext cx="6110935" cy="1444752"/>
          </a:xfrm>
          <a:prstGeom prst="roundRect">
            <a:avLst>
              <a:gd name="adj" fmla="val 8861"/>
            </a:avLst>
          </a:prstGeom>
          <a:solidFill>
            <a:srgbClr val="FDEEE6"/>
          </a:solidFill>
          <a:ln/>
        </p:spPr>
      </p:sp>
      <p:sp>
        <p:nvSpPr>
          <p:cNvPr id="7" name="stat"/>
          <p:cNvSpPr txBox="1"/>
          <p:nvPr/>
        </p:nvSpPr>
        <p:spPr>
          <a:xfrm>
            <a:off x="5852160" y="1938528"/>
            <a:ext cx="5470855" cy="685800"/>
          </a:xfrm>
          <a:prstGeom prst="rect">
            <a:avLst/>
          </a:prstGeom>
          <a:noFill/>
          <a:ln/>
        </p:spPr>
        <p:txBody>
          <a:bodyPr wrap="square" lIns="0" tIns="0" rIns="0" bIns="0" rtlCol="0" anchor="ctr"/>
          <a:lstStyle/>
          <a:p>
            <a:pPr indent="0" marL="0">
              <a:buNone/>
            </a:pPr>
            <a:r>
              <a:rPr lang="en-US" sz="3600" b="1" dirty="0">
                <a:solidFill>
                  <a:srgbClr val="1D1D1F"/>
                </a:solidFill>
                <a:latin typeface="Arial" pitchFamily="34" charset="0"/>
                <a:ea typeface="Arial" pitchFamily="34" charset="-122"/>
                <a:cs typeface="Arial" pitchFamily="34" charset="-120"/>
              </a:rPr>
              <a:t>94.96%</a:t>
            </a:r>
            <a:pPr indent="0" marL="0">
              <a:buNone/>
            </a:pPr>
            <a:r>
              <a:rPr lang="en-US" sz="3600" b="1" dirty="0">
                <a:solidFill>
                  <a:srgbClr val="F26722"/>
                </a:solidFill>
                <a:latin typeface="Arial" pitchFamily="34" charset="0"/>
                <a:ea typeface="Arial" pitchFamily="34" charset="-122"/>
                <a:cs typeface="Arial" pitchFamily="34" charset="-120"/>
              </a:rPr>
              <a:t>  →  </a:t>
            </a:r>
            <a:pPr indent="0" marL="0">
              <a:buNone/>
            </a:pPr>
            <a:r>
              <a:rPr lang="en-US" sz="3600" b="1" dirty="0">
                <a:solidFill>
                  <a:srgbClr val="B3441A"/>
                </a:solidFill>
                <a:latin typeface="Arial" pitchFamily="34" charset="0"/>
                <a:ea typeface="Arial" pitchFamily="34" charset="-122"/>
                <a:cs typeface="Arial" pitchFamily="34" charset="-120"/>
              </a:rPr>
              <a:t>95%</a:t>
            </a:r>
            <a:endParaRPr lang="en-US" sz="3600" dirty="0"/>
          </a:p>
        </p:txBody>
      </p:sp>
      <p:sp>
        <p:nvSpPr>
          <p:cNvPr id="8" name="stat-t"/>
          <p:cNvSpPr txBox="1"/>
          <p:nvPr/>
        </p:nvSpPr>
        <p:spPr>
          <a:xfrm>
            <a:off x="5852160" y="2615184"/>
            <a:ext cx="5470855" cy="457200"/>
          </a:xfrm>
          <a:prstGeom prst="rect">
            <a:avLst/>
          </a:prstGeom>
          <a:noFill/>
          <a:ln/>
        </p:spPr>
        <p:txBody>
          <a:bodyPr wrap="square" lIns="0" tIns="0" rIns="0" bIns="0" rtlCol="0" anchor="ctr"/>
          <a:lstStyle/>
          <a:p>
            <a:pPr indent="0" marL="0">
              <a:buNone/>
            </a:pPr>
            <a:r>
              <a:rPr lang="en-US" sz="1400" dirty="0">
                <a:solidFill>
                  <a:srgbClr val="3A3A3C"/>
                </a:solidFill>
                <a:latin typeface="Arial" pitchFamily="34" charset="0"/>
                <a:ea typeface="Arial" pitchFamily="34" charset="-122"/>
                <a:cs typeface="Arial" pitchFamily="34" charset="-120"/>
              </a:rPr>
              <a:t>Percent KPIs are rounded to a whole % before they count, exactly as the old workbook did.</a:t>
            </a:r>
            <a:endParaRPr lang="en-US" sz="1400" dirty="0"/>
          </a:p>
        </p:txBody>
      </p:sp>
      <p:sp>
        <p:nvSpPr>
          <p:cNvPr id="9" name="dot-star"/>
          <p:cNvSpPr/>
          <p:nvPr/>
        </p:nvSpPr>
        <p:spPr>
          <a:xfrm>
            <a:off x="5532120" y="3611880"/>
            <a:ext cx="512064" cy="512064"/>
          </a:xfrm>
          <a:prstGeom prst="ellipse">
            <a:avLst/>
          </a:prstGeom>
          <a:solidFill>
            <a:srgbClr val="1D1D1F"/>
          </a:solidFill>
          <a:ln/>
        </p:spPr>
      </p:sp>
      <p:pic>
        <p:nvPicPr>
          <p:cNvPr id="10" name="icon-star" descr="">    </p:cNvPr>
          <p:cNvPicPr>
            <a:picLocks noChangeAspect="1"/>
          </p:cNvPicPr>
          <p:nvPr/>
        </p:nvPicPr>
        <p:blipFill>
          <a:blip r:embed="rId2"/>
          <a:stretch>
            <a:fillRect/>
          </a:stretch>
        </p:blipFill>
        <p:spPr>
          <a:xfrm>
            <a:off x="5655015" y="3734775"/>
            <a:ext cx="266273" cy="266273"/>
          </a:xfrm>
          <a:prstGeom prst="rect">
            <a:avLst/>
          </a:prstGeom>
        </p:spPr>
      </p:pic>
      <p:sp>
        <p:nvSpPr>
          <p:cNvPr id="11" name="h"/>
          <p:cNvSpPr txBox="1"/>
          <p:nvPr/>
        </p:nvSpPr>
        <p:spPr>
          <a:xfrm>
            <a:off x="6263640" y="3584448"/>
            <a:ext cx="5379415" cy="329184"/>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One set of rules</a:t>
            </a:r>
            <a:endParaRPr lang="en-US" sz="1700" dirty="0"/>
          </a:p>
        </p:txBody>
      </p:sp>
      <p:sp>
        <p:nvSpPr>
          <p:cNvPr id="12" name="t"/>
          <p:cNvSpPr txBox="1"/>
          <p:nvPr/>
        </p:nvSpPr>
        <p:spPr>
          <a:xfrm>
            <a:off x="6263640" y="3941064"/>
            <a:ext cx="5379415" cy="502920"/>
          </a:xfrm>
          <a:prstGeom prst="rect">
            <a:avLst/>
          </a:prstGeom>
          <a:noFill/>
          <a:ln/>
        </p:spPr>
        <p:txBody>
          <a:bodyPr wrap="square" lIns="0" tIns="0" rIns="0" bIns="0" rtlCol="0" anchor="t"/>
          <a:lstStyle/>
          <a:p>
            <a:pPr indent="0" marL="0">
              <a:lnSpc>
                <a:spcPct val="105000"/>
              </a:lnSpc>
              <a:buNone/>
            </a:pPr>
            <a:r>
              <a:rPr lang="en-US" sz="1400" dirty="0">
                <a:solidFill>
                  <a:srgbClr val="58585D"/>
                </a:solidFill>
                <a:latin typeface="Arial" pitchFamily="34" charset="0"/>
                <a:ea typeface="Arial" pitchFamily="34" charset="-122"/>
                <a:cs typeface="Arial" pitchFamily="34" charset="-120"/>
              </a:rPr>
              <a:t>Scorecards, bases and who is eligible, kept by the senior manager; every change logged.</a:t>
            </a:r>
            <a:endParaRPr lang="en-US" sz="1400" dirty="0"/>
          </a:p>
        </p:txBody>
      </p:sp>
      <p:sp>
        <p:nvSpPr>
          <p:cNvPr id="13" name="dot-eye"/>
          <p:cNvSpPr/>
          <p:nvPr/>
        </p:nvSpPr>
        <p:spPr>
          <a:xfrm>
            <a:off x="5532120" y="4526280"/>
            <a:ext cx="512064" cy="512064"/>
          </a:xfrm>
          <a:prstGeom prst="ellipse">
            <a:avLst/>
          </a:prstGeom>
          <a:solidFill>
            <a:srgbClr val="1D1D1F"/>
          </a:solidFill>
          <a:ln/>
        </p:spPr>
      </p:sp>
      <p:pic>
        <p:nvPicPr>
          <p:cNvPr id="14" name="icon-eye" descr="">    </p:cNvPr>
          <p:cNvPicPr>
            <a:picLocks noChangeAspect="1"/>
          </p:cNvPicPr>
          <p:nvPr/>
        </p:nvPicPr>
        <p:blipFill>
          <a:blip r:embed="rId3"/>
          <a:stretch>
            <a:fillRect/>
          </a:stretch>
        </p:blipFill>
        <p:spPr>
          <a:xfrm>
            <a:off x="5655015" y="4649175"/>
            <a:ext cx="266273" cy="266273"/>
          </a:xfrm>
          <a:prstGeom prst="rect">
            <a:avLst/>
          </a:prstGeom>
        </p:spPr>
      </p:pic>
      <p:sp>
        <p:nvSpPr>
          <p:cNvPr id="15" name="h"/>
          <p:cNvSpPr txBox="1"/>
          <p:nvPr/>
        </p:nvSpPr>
        <p:spPr>
          <a:xfrm>
            <a:off x="6263640" y="4498848"/>
            <a:ext cx="5379415" cy="329184"/>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Every person, step by step</a:t>
            </a:r>
            <a:endParaRPr lang="en-US" sz="1700" dirty="0"/>
          </a:p>
        </p:txBody>
      </p:sp>
      <p:sp>
        <p:nvSpPr>
          <p:cNvPr id="16" name="t"/>
          <p:cNvSpPr txBox="1"/>
          <p:nvPr/>
        </p:nvSpPr>
        <p:spPr>
          <a:xfrm>
            <a:off x="6263640" y="4855464"/>
            <a:ext cx="5379415" cy="502920"/>
          </a:xfrm>
          <a:prstGeom prst="rect">
            <a:avLst/>
          </a:prstGeom>
          <a:noFill/>
          <a:ln/>
        </p:spPr>
        <p:txBody>
          <a:bodyPr wrap="square" lIns="0" tIns="0" rIns="0" bIns="0" rtlCol="0" anchor="t"/>
          <a:lstStyle/>
          <a:p>
            <a:pPr indent="0" marL="0">
              <a:lnSpc>
                <a:spcPct val="105000"/>
              </a:lnSpc>
              <a:buNone/>
            </a:pPr>
            <a:r>
              <a:rPr lang="en-US" sz="1400" dirty="0">
                <a:solidFill>
                  <a:srgbClr val="58585D"/>
                </a:solidFill>
                <a:latin typeface="Arial" pitchFamily="34" charset="0"/>
                <a:ea typeface="Arial" pitchFamily="34" charset="-122"/>
                <a:cs typeface="Arial" pitchFamily="34" charset="-120"/>
              </a:rPr>
              <a:t>Each KPI's result, band, ranking and points, then the days and the amount.</a:t>
            </a:r>
            <a:endParaRPr lang="en-US" sz="1400" dirty="0"/>
          </a:p>
        </p:txBody>
      </p:sp>
      <p:sp>
        <p:nvSpPr>
          <p:cNvPr id="17" name="dot-link"/>
          <p:cNvSpPr/>
          <p:nvPr/>
        </p:nvSpPr>
        <p:spPr>
          <a:xfrm>
            <a:off x="5532120" y="5440680"/>
            <a:ext cx="512064" cy="512064"/>
          </a:xfrm>
          <a:prstGeom prst="ellipse">
            <a:avLst/>
          </a:prstGeom>
          <a:solidFill>
            <a:srgbClr val="1D1D1F"/>
          </a:solidFill>
          <a:ln/>
        </p:spPr>
      </p:sp>
      <p:pic>
        <p:nvPicPr>
          <p:cNvPr id="18" name="icon-link" descr="">    </p:cNvPr>
          <p:cNvPicPr>
            <a:picLocks noChangeAspect="1"/>
          </p:cNvPicPr>
          <p:nvPr/>
        </p:nvPicPr>
        <p:blipFill>
          <a:blip r:embed="rId4"/>
          <a:stretch>
            <a:fillRect/>
          </a:stretch>
        </p:blipFill>
        <p:spPr>
          <a:xfrm>
            <a:off x="5655015" y="5563575"/>
            <a:ext cx="266273" cy="266273"/>
          </a:xfrm>
          <a:prstGeom prst="rect">
            <a:avLst/>
          </a:prstGeom>
        </p:spPr>
      </p:pic>
      <p:sp>
        <p:nvSpPr>
          <p:cNvPr id="19" name="h"/>
          <p:cNvSpPr txBox="1"/>
          <p:nvPr/>
        </p:nvSpPr>
        <p:spPr>
          <a:xfrm>
            <a:off x="6263640" y="5413248"/>
            <a:ext cx="5379415" cy="329184"/>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Reconcile with the old Excel</a:t>
            </a:r>
            <a:endParaRPr lang="en-US" sz="1700" dirty="0"/>
          </a:p>
        </p:txBody>
      </p:sp>
      <p:sp>
        <p:nvSpPr>
          <p:cNvPr id="20" name="t"/>
          <p:cNvSpPr txBox="1"/>
          <p:nvPr/>
        </p:nvSpPr>
        <p:spPr>
          <a:xfrm>
            <a:off x="6263640" y="5769864"/>
            <a:ext cx="5379415" cy="502920"/>
          </a:xfrm>
          <a:prstGeom prst="rect">
            <a:avLst/>
          </a:prstGeom>
          <a:noFill/>
          <a:ln/>
        </p:spPr>
        <p:txBody>
          <a:bodyPr wrap="square" lIns="0" tIns="0" rIns="0" bIns="0" rtlCol="0" anchor="t"/>
          <a:lstStyle/>
          <a:p>
            <a:pPr indent="0" marL="0">
              <a:lnSpc>
                <a:spcPct val="105000"/>
              </a:lnSpc>
              <a:buNone/>
            </a:pPr>
            <a:r>
              <a:rPr lang="en-US" sz="1400" dirty="0">
                <a:solidFill>
                  <a:srgbClr val="58585D"/>
                </a:solidFill>
                <a:latin typeface="Arial" pitchFamily="34" charset="0"/>
                <a:ea typeface="Arial" pitchFamily="34" charset="-122"/>
                <a:cs typeface="Arial" pitchFamily="34" charset="-120"/>
              </a:rPr>
              <a:t>Every difference with the old file is lined up with its reason and a fix.</a:t>
            </a:r>
            <a:endParaRPr lang="en-US" sz="1400" dirty="0"/>
          </a:p>
        </p:txBody>
      </p:sp>
      <p:sp>
        <p:nvSpPr>
          <p:cNvPr id="25" name="Slide Number Placeholder 0"/>
          <p:cNvSpPr>
            <a:spLocks noGrp="1"/>
          </p:cNvSpPr>
          <p:nvPr>
            <p:ph type="sldNum" sz="quarter" idx="4294967295"/>
          </p:nvPr>
        </p:nvSpPr>
        <p:spPr>
          <a:xfrm>
            <a:off x="11091672" y="640080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E8E93"/>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42" presetClass="entr" presetSubtype="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50"/>
                                        <p:tgtEl>
                                          <p:spTgt spid="5"/>
                                        </p:tgtEl>
                                      </p:cBhvr>
                                    </p:animEffect>
                                    <p:anim calcmode="lin" valueType="num">
                                      <p:cBhvr>
                                        <p:cTn id="11" dur="650" fill="hold"/>
                                        <p:tgtEl>
                                          <p:spTgt spid="5"/>
                                        </p:tgtEl>
                                        <p:attrNameLst>
                                          <p:attrName>ppt_x</p:attrName>
                                        </p:attrNameLst>
                                      </p:cBhvr>
                                      <p:tavLst>
                                        <p:tav tm="0">
                                          <p:val>
                                            <p:strVal val="#ppt_x"/>
                                          </p:val>
                                        </p:tav>
                                        <p:tav tm="100000">
                                          <p:val>
                                            <p:strVal val="#ppt_x"/>
                                          </p:val>
                                        </p:tav>
                                      </p:tavLst>
                                    </p:anim>
                                    <p:anim calcmode="lin" valueType="num">
                                      <p:cBhvr>
                                        <p:cTn id="12" dur="650" fill="hold"/>
                                        <p:tgtEl>
                                          <p:spTgt spid="5"/>
                                        </p:tgtEl>
                                        <p:attrNameLst>
                                          <p:attrName>ppt_y</p:attrName>
                                        </p:attrNameLst>
                                      </p:cBhvr>
                                      <p:tavLst>
                                        <p:tav tm="0">
                                          <p:val>
                                            <p:strVal val="#ppt_y+.05"/>
                                          </p:val>
                                        </p:tav>
                                        <p:tav tm="100000">
                                          <p:val>
                                            <p:strVal val="#ppt_y"/>
                                          </p:val>
                                        </p:tav>
                                      </p:tavLst>
                                    </p:anim>
                                  </p:childTnLst>
                                </p:cTn>
                              </p:par>
                              <p:par>
                                <p:cTn id="13" presetID="42" presetClass="entr" presetSubtype="0" fill="hold" grpId="0" nodeType="with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50"/>
                                        <p:tgtEl>
                                          <p:spTgt spid="6"/>
                                        </p:tgtEl>
                                      </p:cBhvr>
                                    </p:animEffect>
                                    <p:anim calcmode="lin" valueType="num">
                                      <p:cBhvr>
                                        <p:cTn id="16" dur="650" fill="hold"/>
                                        <p:tgtEl>
                                          <p:spTgt spid="6"/>
                                        </p:tgtEl>
                                        <p:attrNameLst>
                                          <p:attrName>ppt_x</p:attrName>
                                        </p:attrNameLst>
                                      </p:cBhvr>
                                      <p:tavLst>
                                        <p:tav tm="0">
                                          <p:val>
                                            <p:strVal val="#ppt_x"/>
                                          </p:val>
                                        </p:tav>
                                        <p:tav tm="100000">
                                          <p:val>
                                            <p:strVal val="#ppt_x"/>
                                          </p:val>
                                        </p:tav>
                                      </p:tavLst>
                                    </p:anim>
                                    <p:anim calcmode="lin" valueType="num">
                                      <p:cBhvr>
                                        <p:cTn id="17" dur="650" fill="hold"/>
                                        <p:tgtEl>
                                          <p:spTgt spid="6"/>
                                        </p:tgtEl>
                                        <p:attrNameLst>
                                          <p:attrName>ppt_y</p:attrName>
                                        </p:attrNameLst>
                                      </p:cBhvr>
                                      <p:tavLst>
                                        <p:tav tm="0">
                                          <p:val>
                                            <p:strVal val="#ppt_y+.05"/>
                                          </p:val>
                                        </p:tav>
                                        <p:tav tm="100000">
                                          <p:val>
                                            <p:strVal val="#ppt_y"/>
                                          </p:val>
                                        </p:tav>
                                      </p:tavLst>
                                    </p:anim>
                                  </p:childTnLst>
                                </p:cTn>
                              </p:par>
                              <p:par>
                                <p:cTn id="18" presetID="42" presetClass="entr" presetSubtype="0" fill="hold" grpId="0" nodeType="withEffect">
                                  <p:stCondLst>
                                    <p:cond delay="40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50"/>
                                        <p:tgtEl>
                                          <p:spTgt spid="7"/>
                                        </p:tgtEl>
                                      </p:cBhvr>
                                    </p:animEffect>
                                    <p:anim calcmode="lin" valueType="num">
                                      <p:cBhvr>
                                        <p:cTn id="21" dur="650" fill="hold"/>
                                        <p:tgtEl>
                                          <p:spTgt spid="7"/>
                                        </p:tgtEl>
                                        <p:attrNameLst>
                                          <p:attrName>ppt_x</p:attrName>
                                        </p:attrNameLst>
                                      </p:cBhvr>
                                      <p:tavLst>
                                        <p:tav tm="0">
                                          <p:val>
                                            <p:strVal val="#ppt_x"/>
                                          </p:val>
                                        </p:tav>
                                        <p:tav tm="100000">
                                          <p:val>
                                            <p:strVal val="#ppt_x"/>
                                          </p:val>
                                        </p:tav>
                                      </p:tavLst>
                                    </p:anim>
                                    <p:anim calcmode="lin" valueType="num">
                                      <p:cBhvr>
                                        <p:cTn id="22" dur="650" fill="hold"/>
                                        <p:tgtEl>
                                          <p:spTgt spid="7"/>
                                        </p:tgtEl>
                                        <p:attrNameLst>
                                          <p:attrName>ppt_y</p:attrName>
                                        </p:attrNameLst>
                                      </p:cBhvr>
                                      <p:tavLst>
                                        <p:tav tm="0">
                                          <p:val>
                                            <p:strVal val="#ppt_y+.05"/>
                                          </p:val>
                                        </p:tav>
                                        <p:tav tm="100000">
                                          <p:val>
                                            <p:strVal val="#ppt_y"/>
                                          </p:val>
                                        </p:tav>
                                      </p:tavLst>
                                    </p:anim>
                                  </p:childTnLst>
                                </p:cTn>
                              </p:par>
                              <p:par>
                                <p:cTn id="23" presetID="42" presetClass="entr" presetSubtype="0" fill="hold" grpId="0" nodeType="withEffect">
                                  <p:stCondLst>
                                    <p:cond delay="40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50"/>
                                        <p:tgtEl>
                                          <p:spTgt spid="8"/>
                                        </p:tgtEl>
                                      </p:cBhvr>
                                    </p:animEffect>
                                    <p:anim calcmode="lin" valueType="num">
                                      <p:cBhvr>
                                        <p:cTn id="26" dur="650" fill="hold"/>
                                        <p:tgtEl>
                                          <p:spTgt spid="8"/>
                                        </p:tgtEl>
                                        <p:attrNameLst>
                                          <p:attrName>ppt_x</p:attrName>
                                        </p:attrNameLst>
                                      </p:cBhvr>
                                      <p:tavLst>
                                        <p:tav tm="0">
                                          <p:val>
                                            <p:strVal val="#ppt_x"/>
                                          </p:val>
                                        </p:tav>
                                        <p:tav tm="100000">
                                          <p:val>
                                            <p:strVal val="#ppt_x"/>
                                          </p:val>
                                        </p:tav>
                                      </p:tavLst>
                                    </p:anim>
                                    <p:anim calcmode="lin" valueType="num">
                                      <p:cBhvr>
                                        <p:cTn id="27" dur="650" fill="hold"/>
                                        <p:tgtEl>
                                          <p:spTgt spid="8"/>
                                        </p:tgtEl>
                                        <p:attrNameLst>
                                          <p:attrName>ppt_y</p:attrName>
                                        </p:attrNameLst>
                                      </p:cBhvr>
                                      <p:tavLst>
                                        <p:tav tm="0">
                                          <p:val>
                                            <p:strVal val="#ppt_y+.05"/>
                                          </p:val>
                                        </p:tav>
                                        <p:tav tm="100000">
                                          <p:val>
                                            <p:strVal val="#ppt_y"/>
                                          </p:val>
                                        </p:tav>
                                      </p:tavLst>
                                    </p:anim>
                                  </p:childTnLst>
                                </p:cTn>
                              </p:par>
                              <p:par>
                                <p:cTn id="28" presetID="42" presetClass="entr" presetSubtype="0" fill="hold" grpId="0" nodeType="withEffect">
                                  <p:stCondLst>
                                    <p:cond delay="60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650"/>
                                        <p:tgtEl>
                                          <p:spTgt spid="9"/>
                                        </p:tgtEl>
                                      </p:cBhvr>
                                    </p:animEffect>
                                    <p:anim calcmode="lin" valueType="num">
                                      <p:cBhvr>
                                        <p:cTn id="31" dur="650" fill="hold"/>
                                        <p:tgtEl>
                                          <p:spTgt spid="9"/>
                                        </p:tgtEl>
                                        <p:attrNameLst>
                                          <p:attrName>ppt_x</p:attrName>
                                        </p:attrNameLst>
                                      </p:cBhvr>
                                      <p:tavLst>
                                        <p:tav tm="0">
                                          <p:val>
                                            <p:strVal val="#ppt_x"/>
                                          </p:val>
                                        </p:tav>
                                        <p:tav tm="100000">
                                          <p:val>
                                            <p:strVal val="#ppt_x"/>
                                          </p:val>
                                        </p:tav>
                                      </p:tavLst>
                                    </p:anim>
                                    <p:anim calcmode="lin" valueType="num">
                                      <p:cBhvr>
                                        <p:cTn id="32" dur="650" fill="hold"/>
                                        <p:tgtEl>
                                          <p:spTgt spid="9"/>
                                        </p:tgtEl>
                                        <p:attrNameLst>
                                          <p:attrName>ppt_y</p:attrName>
                                        </p:attrNameLst>
                                      </p:cBhvr>
                                      <p:tavLst>
                                        <p:tav tm="0">
                                          <p:val>
                                            <p:strVal val="#ppt_y+.05"/>
                                          </p:val>
                                        </p:tav>
                                        <p:tav tm="100000">
                                          <p:val>
                                            <p:strVal val="#ppt_y"/>
                                          </p:val>
                                        </p:tav>
                                      </p:tavLst>
                                    </p:anim>
                                  </p:childTnLst>
                                </p:cTn>
                              </p:par>
                              <p:par>
                                <p:cTn id="33" presetID="42" presetClass="entr" presetSubtype="0" fill="hold" grpId="0" nodeType="withEffect">
                                  <p:stCondLst>
                                    <p:cond delay="60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650"/>
                                        <p:tgtEl>
                                          <p:spTgt spid="10"/>
                                        </p:tgtEl>
                                      </p:cBhvr>
                                    </p:animEffect>
                                    <p:anim calcmode="lin" valueType="num">
                                      <p:cBhvr>
                                        <p:cTn id="36" dur="650" fill="hold"/>
                                        <p:tgtEl>
                                          <p:spTgt spid="10"/>
                                        </p:tgtEl>
                                        <p:attrNameLst>
                                          <p:attrName>ppt_x</p:attrName>
                                        </p:attrNameLst>
                                      </p:cBhvr>
                                      <p:tavLst>
                                        <p:tav tm="0">
                                          <p:val>
                                            <p:strVal val="#ppt_x"/>
                                          </p:val>
                                        </p:tav>
                                        <p:tav tm="100000">
                                          <p:val>
                                            <p:strVal val="#ppt_x"/>
                                          </p:val>
                                        </p:tav>
                                      </p:tavLst>
                                    </p:anim>
                                    <p:anim calcmode="lin" valueType="num">
                                      <p:cBhvr>
                                        <p:cTn id="37" dur="650" fill="hold"/>
                                        <p:tgtEl>
                                          <p:spTgt spid="10"/>
                                        </p:tgtEl>
                                        <p:attrNameLst>
                                          <p:attrName>ppt_y</p:attrName>
                                        </p:attrNameLst>
                                      </p:cBhvr>
                                      <p:tavLst>
                                        <p:tav tm="0">
                                          <p:val>
                                            <p:strVal val="#ppt_y+.05"/>
                                          </p:val>
                                        </p:tav>
                                        <p:tav tm="100000">
                                          <p:val>
                                            <p:strVal val="#ppt_y"/>
                                          </p:val>
                                        </p:tav>
                                      </p:tavLst>
                                    </p:anim>
                                  </p:childTnLst>
                                </p:cTn>
                              </p:par>
                              <p:par>
                                <p:cTn id="38" presetID="42" presetClass="entr" presetSubtype="0" fill="hold" grpId="0" nodeType="withEffect">
                                  <p:stCondLst>
                                    <p:cond delay="60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650"/>
                                        <p:tgtEl>
                                          <p:spTgt spid="11"/>
                                        </p:tgtEl>
                                      </p:cBhvr>
                                    </p:animEffect>
                                    <p:anim calcmode="lin" valueType="num">
                                      <p:cBhvr>
                                        <p:cTn id="41" dur="650" fill="hold"/>
                                        <p:tgtEl>
                                          <p:spTgt spid="11"/>
                                        </p:tgtEl>
                                        <p:attrNameLst>
                                          <p:attrName>ppt_x</p:attrName>
                                        </p:attrNameLst>
                                      </p:cBhvr>
                                      <p:tavLst>
                                        <p:tav tm="0">
                                          <p:val>
                                            <p:strVal val="#ppt_x"/>
                                          </p:val>
                                        </p:tav>
                                        <p:tav tm="100000">
                                          <p:val>
                                            <p:strVal val="#ppt_x"/>
                                          </p:val>
                                        </p:tav>
                                      </p:tavLst>
                                    </p:anim>
                                    <p:anim calcmode="lin" valueType="num">
                                      <p:cBhvr>
                                        <p:cTn id="42" dur="650" fill="hold"/>
                                        <p:tgtEl>
                                          <p:spTgt spid="11"/>
                                        </p:tgtEl>
                                        <p:attrNameLst>
                                          <p:attrName>ppt_y</p:attrName>
                                        </p:attrNameLst>
                                      </p:cBhvr>
                                      <p:tavLst>
                                        <p:tav tm="0">
                                          <p:val>
                                            <p:strVal val="#ppt_y+.05"/>
                                          </p:val>
                                        </p:tav>
                                        <p:tav tm="100000">
                                          <p:val>
                                            <p:strVal val="#ppt_y"/>
                                          </p:val>
                                        </p:tav>
                                      </p:tavLst>
                                    </p:anim>
                                  </p:childTnLst>
                                </p:cTn>
                              </p:par>
                              <p:par>
                                <p:cTn id="43" presetID="42" presetClass="entr" presetSubtype="0" fill="hold" grpId="0" nodeType="withEffect">
                                  <p:stCondLst>
                                    <p:cond delay="60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650"/>
                                        <p:tgtEl>
                                          <p:spTgt spid="12"/>
                                        </p:tgtEl>
                                      </p:cBhvr>
                                    </p:animEffect>
                                    <p:anim calcmode="lin" valueType="num">
                                      <p:cBhvr>
                                        <p:cTn id="46" dur="650" fill="hold"/>
                                        <p:tgtEl>
                                          <p:spTgt spid="12"/>
                                        </p:tgtEl>
                                        <p:attrNameLst>
                                          <p:attrName>ppt_x</p:attrName>
                                        </p:attrNameLst>
                                      </p:cBhvr>
                                      <p:tavLst>
                                        <p:tav tm="0">
                                          <p:val>
                                            <p:strVal val="#ppt_x"/>
                                          </p:val>
                                        </p:tav>
                                        <p:tav tm="100000">
                                          <p:val>
                                            <p:strVal val="#ppt_x"/>
                                          </p:val>
                                        </p:tav>
                                      </p:tavLst>
                                    </p:anim>
                                    <p:anim calcmode="lin" valueType="num">
                                      <p:cBhvr>
                                        <p:cTn id="47" dur="650" fill="hold"/>
                                        <p:tgtEl>
                                          <p:spTgt spid="12"/>
                                        </p:tgtEl>
                                        <p:attrNameLst>
                                          <p:attrName>ppt_y</p:attrName>
                                        </p:attrNameLst>
                                      </p:cBhvr>
                                      <p:tavLst>
                                        <p:tav tm="0">
                                          <p:val>
                                            <p:strVal val="#ppt_y+.05"/>
                                          </p:val>
                                        </p:tav>
                                        <p:tav tm="100000">
                                          <p:val>
                                            <p:strVal val="#ppt_y"/>
                                          </p:val>
                                        </p:tav>
                                      </p:tavLst>
                                    </p:anim>
                                  </p:childTnLst>
                                </p:cTn>
                              </p:par>
                              <p:par>
                                <p:cTn id="48" presetID="42" presetClass="entr" presetSubtype="0" fill="hold" grpId="0" nodeType="withEffect">
                                  <p:stCondLst>
                                    <p:cond delay="75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650"/>
                                        <p:tgtEl>
                                          <p:spTgt spid="13"/>
                                        </p:tgtEl>
                                      </p:cBhvr>
                                    </p:animEffect>
                                    <p:anim calcmode="lin" valueType="num">
                                      <p:cBhvr>
                                        <p:cTn id="51" dur="650" fill="hold"/>
                                        <p:tgtEl>
                                          <p:spTgt spid="13"/>
                                        </p:tgtEl>
                                        <p:attrNameLst>
                                          <p:attrName>ppt_x</p:attrName>
                                        </p:attrNameLst>
                                      </p:cBhvr>
                                      <p:tavLst>
                                        <p:tav tm="0">
                                          <p:val>
                                            <p:strVal val="#ppt_x"/>
                                          </p:val>
                                        </p:tav>
                                        <p:tav tm="100000">
                                          <p:val>
                                            <p:strVal val="#ppt_x"/>
                                          </p:val>
                                        </p:tav>
                                      </p:tavLst>
                                    </p:anim>
                                    <p:anim calcmode="lin" valueType="num">
                                      <p:cBhvr>
                                        <p:cTn id="52" dur="650" fill="hold"/>
                                        <p:tgtEl>
                                          <p:spTgt spid="13"/>
                                        </p:tgtEl>
                                        <p:attrNameLst>
                                          <p:attrName>ppt_y</p:attrName>
                                        </p:attrNameLst>
                                      </p:cBhvr>
                                      <p:tavLst>
                                        <p:tav tm="0">
                                          <p:val>
                                            <p:strVal val="#ppt_y+.05"/>
                                          </p:val>
                                        </p:tav>
                                        <p:tav tm="100000">
                                          <p:val>
                                            <p:strVal val="#ppt_y"/>
                                          </p:val>
                                        </p:tav>
                                      </p:tavLst>
                                    </p:anim>
                                  </p:childTnLst>
                                </p:cTn>
                              </p:par>
                              <p:par>
                                <p:cTn id="53" presetID="42" presetClass="entr" presetSubtype="0" fill="hold" grpId="0" nodeType="withEffect">
                                  <p:stCondLst>
                                    <p:cond delay="75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650"/>
                                        <p:tgtEl>
                                          <p:spTgt spid="14"/>
                                        </p:tgtEl>
                                      </p:cBhvr>
                                    </p:animEffect>
                                    <p:anim calcmode="lin" valueType="num">
                                      <p:cBhvr>
                                        <p:cTn id="56" dur="650" fill="hold"/>
                                        <p:tgtEl>
                                          <p:spTgt spid="14"/>
                                        </p:tgtEl>
                                        <p:attrNameLst>
                                          <p:attrName>ppt_x</p:attrName>
                                        </p:attrNameLst>
                                      </p:cBhvr>
                                      <p:tavLst>
                                        <p:tav tm="0">
                                          <p:val>
                                            <p:strVal val="#ppt_x"/>
                                          </p:val>
                                        </p:tav>
                                        <p:tav tm="100000">
                                          <p:val>
                                            <p:strVal val="#ppt_x"/>
                                          </p:val>
                                        </p:tav>
                                      </p:tavLst>
                                    </p:anim>
                                    <p:anim calcmode="lin" valueType="num">
                                      <p:cBhvr>
                                        <p:cTn id="57" dur="650" fill="hold"/>
                                        <p:tgtEl>
                                          <p:spTgt spid="14"/>
                                        </p:tgtEl>
                                        <p:attrNameLst>
                                          <p:attrName>ppt_y</p:attrName>
                                        </p:attrNameLst>
                                      </p:cBhvr>
                                      <p:tavLst>
                                        <p:tav tm="0">
                                          <p:val>
                                            <p:strVal val="#ppt_y+.05"/>
                                          </p:val>
                                        </p:tav>
                                        <p:tav tm="100000">
                                          <p:val>
                                            <p:strVal val="#ppt_y"/>
                                          </p:val>
                                        </p:tav>
                                      </p:tavLst>
                                    </p:anim>
                                  </p:childTnLst>
                                </p:cTn>
                              </p:par>
                              <p:par>
                                <p:cTn id="58" presetID="42" presetClass="entr" presetSubtype="0" fill="hold" grpId="0" nodeType="withEffect">
                                  <p:stCondLst>
                                    <p:cond delay="75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650"/>
                                        <p:tgtEl>
                                          <p:spTgt spid="15"/>
                                        </p:tgtEl>
                                      </p:cBhvr>
                                    </p:animEffect>
                                    <p:anim calcmode="lin" valueType="num">
                                      <p:cBhvr>
                                        <p:cTn id="61" dur="650" fill="hold"/>
                                        <p:tgtEl>
                                          <p:spTgt spid="15"/>
                                        </p:tgtEl>
                                        <p:attrNameLst>
                                          <p:attrName>ppt_x</p:attrName>
                                        </p:attrNameLst>
                                      </p:cBhvr>
                                      <p:tavLst>
                                        <p:tav tm="0">
                                          <p:val>
                                            <p:strVal val="#ppt_x"/>
                                          </p:val>
                                        </p:tav>
                                        <p:tav tm="100000">
                                          <p:val>
                                            <p:strVal val="#ppt_x"/>
                                          </p:val>
                                        </p:tav>
                                      </p:tavLst>
                                    </p:anim>
                                    <p:anim calcmode="lin" valueType="num">
                                      <p:cBhvr>
                                        <p:cTn id="62" dur="650" fill="hold"/>
                                        <p:tgtEl>
                                          <p:spTgt spid="15"/>
                                        </p:tgtEl>
                                        <p:attrNameLst>
                                          <p:attrName>ppt_y</p:attrName>
                                        </p:attrNameLst>
                                      </p:cBhvr>
                                      <p:tavLst>
                                        <p:tav tm="0">
                                          <p:val>
                                            <p:strVal val="#ppt_y+.05"/>
                                          </p:val>
                                        </p:tav>
                                        <p:tav tm="100000">
                                          <p:val>
                                            <p:strVal val="#ppt_y"/>
                                          </p:val>
                                        </p:tav>
                                      </p:tavLst>
                                    </p:anim>
                                  </p:childTnLst>
                                </p:cTn>
                              </p:par>
                              <p:par>
                                <p:cTn id="63" presetID="42" presetClass="entr" presetSubtype="0" fill="hold" grpId="0" nodeType="withEffect">
                                  <p:stCondLst>
                                    <p:cond delay="750"/>
                                  </p:stCondLst>
                                  <p:childTnLst>
                                    <p:set>
                                      <p:cBhvr>
                                        <p:cTn id="64" dur="1" fill="hold">
                                          <p:stCondLst>
                                            <p:cond delay="0"/>
                                          </p:stCondLst>
                                        </p:cTn>
                                        <p:tgtEl>
                                          <p:spTgt spid="16"/>
                                        </p:tgtEl>
                                        <p:attrNameLst>
                                          <p:attrName>style.visibility</p:attrName>
                                        </p:attrNameLst>
                                      </p:cBhvr>
                                      <p:to>
                                        <p:strVal val="visible"/>
                                      </p:to>
                                    </p:set>
                                    <p:animEffect transition="in" filter="fade">
                                      <p:cBhvr>
                                        <p:cTn id="65" dur="650"/>
                                        <p:tgtEl>
                                          <p:spTgt spid="16"/>
                                        </p:tgtEl>
                                      </p:cBhvr>
                                    </p:animEffect>
                                    <p:anim calcmode="lin" valueType="num">
                                      <p:cBhvr>
                                        <p:cTn id="66" dur="650" fill="hold"/>
                                        <p:tgtEl>
                                          <p:spTgt spid="16"/>
                                        </p:tgtEl>
                                        <p:attrNameLst>
                                          <p:attrName>ppt_x</p:attrName>
                                        </p:attrNameLst>
                                      </p:cBhvr>
                                      <p:tavLst>
                                        <p:tav tm="0">
                                          <p:val>
                                            <p:strVal val="#ppt_x"/>
                                          </p:val>
                                        </p:tav>
                                        <p:tav tm="100000">
                                          <p:val>
                                            <p:strVal val="#ppt_x"/>
                                          </p:val>
                                        </p:tav>
                                      </p:tavLst>
                                    </p:anim>
                                    <p:anim calcmode="lin" valueType="num">
                                      <p:cBhvr>
                                        <p:cTn id="67" dur="650" fill="hold"/>
                                        <p:tgtEl>
                                          <p:spTgt spid="16"/>
                                        </p:tgtEl>
                                        <p:attrNameLst>
                                          <p:attrName>ppt_y</p:attrName>
                                        </p:attrNameLst>
                                      </p:cBhvr>
                                      <p:tavLst>
                                        <p:tav tm="0">
                                          <p:val>
                                            <p:strVal val="#ppt_y+.05"/>
                                          </p:val>
                                        </p:tav>
                                        <p:tav tm="100000">
                                          <p:val>
                                            <p:strVal val="#ppt_y"/>
                                          </p:val>
                                        </p:tav>
                                      </p:tavLst>
                                    </p:anim>
                                  </p:childTnLst>
                                </p:cTn>
                              </p:par>
                              <p:par>
                                <p:cTn id="68" presetID="42" presetClass="entr" presetSubtype="0" fill="hold" grpId="0" nodeType="withEffect">
                                  <p:stCondLst>
                                    <p:cond delay="900"/>
                                  </p:stCondLst>
                                  <p:childTnLst>
                                    <p:set>
                                      <p:cBhvr>
                                        <p:cTn id="69" dur="1" fill="hold">
                                          <p:stCondLst>
                                            <p:cond delay="0"/>
                                          </p:stCondLst>
                                        </p:cTn>
                                        <p:tgtEl>
                                          <p:spTgt spid="17"/>
                                        </p:tgtEl>
                                        <p:attrNameLst>
                                          <p:attrName>style.visibility</p:attrName>
                                        </p:attrNameLst>
                                      </p:cBhvr>
                                      <p:to>
                                        <p:strVal val="visible"/>
                                      </p:to>
                                    </p:set>
                                    <p:animEffect transition="in" filter="fade">
                                      <p:cBhvr>
                                        <p:cTn id="70" dur="650"/>
                                        <p:tgtEl>
                                          <p:spTgt spid="17"/>
                                        </p:tgtEl>
                                      </p:cBhvr>
                                    </p:animEffect>
                                    <p:anim calcmode="lin" valueType="num">
                                      <p:cBhvr>
                                        <p:cTn id="71" dur="650" fill="hold"/>
                                        <p:tgtEl>
                                          <p:spTgt spid="17"/>
                                        </p:tgtEl>
                                        <p:attrNameLst>
                                          <p:attrName>ppt_x</p:attrName>
                                        </p:attrNameLst>
                                      </p:cBhvr>
                                      <p:tavLst>
                                        <p:tav tm="0">
                                          <p:val>
                                            <p:strVal val="#ppt_x"/>
                                          </p:val>
                                        </p:tav>
                                        <p:tav tm="100000">
                                          <p:val>
                                            <p:strVal val="#ppt_x"/>
                                          </p:val>
                                        </p:tav>
                                      </p:tavLst>
                                    </p:anim>
                                    <p:anim calcmode="lin" valueType="num">
                                      <p:cBhvr>
                                        <p:cTn id="72" dur="650" fill="hold"/>
                                        <p:tgtEl>
                                          <p:spTgt spid="17"/>
                                        </p:tgtEl>
                                        <p:attrNameLst>
                                          <p:attrName>ppt_y</p:attrName>
                                        </p:attrNameLst>
                                      </p:cBhvr>
                                      <p:tavLst>
                                        <p:tav tm="0">
                                          <p:val>
                                            <p:strVal val="#ppt_y+.05"/>
                                          </p:val>
                                        </p:tav>
                                        <p:tav tm="100000">
                                          <p:val>
                                            <p:strVal val="#ppt_y"/>
                                          </p:val>
                                        </p:tav>
                                      </p:tavLst>
                                    </p:anim>
                                  </p:childTnLst>
                                </p:cTn>
                              </p:par>
                              <p:par>
                                <p:cTn id="73" presetID="42" presetClass="entr" presetSubtype="0" fill="hold" grpId="0" nodeType="withEffect">
                                  <p:stCondLst>
                                    <p:cond delay="900"/>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650"/>
                                        <p:tgtEl>
                                          <p:spTgt spid="18"/>
                                        </p:tgtEl>
                                      </p:cBhvr>
                                    </p:animEffect>
                                    <p:anim calcmode="lin" valueType="num">
                                      <p:cBhvr>
                                        <p:cTn id="76" dur="650" fill="hold"/>
                                        <p:tgtEl>
                                          <p:spTgt spid="18"/>
                                        </p:tgtEl>
                                        <p:attrNameLst>
                                          <p:attrName>ppt_x</p:attrName>
                                        </p:attrNameLst>
                                      </p:cBhvr>
                                      <p:tavLst>
                                        <p:tav tm="0">
                                          <p:val>
                                            <p:strVal val="#ppt_x"/>
                                          </p:val>
                                        </p:tav>
                                        <p:tav tm="100000">
                                          <p:val>
                                            <p:strVal val="#ppt_x"/>
                                          </p:val>
                                        </p:tav>
                                      </p:tavLst>
                                    </p:anim>
                                    <p:anim calcmode="lin" valueType="num">
                                      <p:cBhvr>
                                        <p:cTn id="77" dur="650" fill="hold"/>
                                        <p:tgtEl>
                                          <p:spTgt spid="18"/>
                                        </p:tgtEl>
                                        <p:attrNameLst>
                                          <p:attrName>ppt_y</p:attrName>
                                        </p:attrNameLst>
                                      </p:cBhvr>
                                      <p:tavLst>
                                        <p:tav tm="0">
                                          <p:val>
                                            <p:strVal val="#ppt_y+.05"/>
                                          </p:val>
                                        </p:tav>
                                        <p:tav tm="100000">
                                          <p:val>
                                            <p:strVal val="#ppt_y"/>
                                          </p:val>
                                        </p:tav>
                                      </p:tavLst>
                                    </p:anim>
                                  </p:childTnLst>
                                </p:cTn>
                              </p:par>
                              <p:par>
                                <p:cTn id="78" presetID="42" presetClass="entr" presetSubtype="0" fill="hold" grpId="0" nodeType="withEffect">
                                  <p:stCondLst>
                                    <p:cond delay="90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650"/>
                                        <p:tgtEl>
                                          <p:spTgt spid="19"/>
                                        </p:tgtEl>
                                      </p:cBhvr>
                                    </p:animEffect>
                                    <p:anim calcmode="lin" valueType="num">
                                      <p:cBhvr>
                                        <p:cTn id="81" dur="650" fill="hold"/>
                                        <p:tgtEl>
                                          <p:spTgt spid="19"/>
                                        </p:tgtEl>
                                        <p:attrNameLst>
                                          <p:attrName>ppt_x</p:attrName>
                                        </p:attrNameLst>
                                      </p:cBhvr>
                                      <p:tavLst>
                                        <p:tav tm="0">
                                          <p:val>
                                            <p:strVal val="#ppt_x"/>
                                          </p:val>
                                        </p:tav>
                                        <p:tav tm="100000">
                                          <p:val>
                                            <p:strVal val="#ppt_x"/>
                                          </p:val>
                                        </p:tav>
                                      </p:tavLst>
                                    </p:anim>
                                    <p:anim calcmode="lin" valueType="num">
                                      <p:cBhvr>
                                        <p:cTn id="82" dur="650" fill="hold"/>
                                        <p:tgtEl>
                                          <p:spTgt spid="19"/>
                                        </p:tgtEl>
                                        <p:attrNameLst>
                                          <p:attrName>ppt_y</p:attrName>
                                        </p:attrNameLst>
                                      </p:cBhvr>
                                      <p:tavLst>
                                        <p:tav tm="0">
                                          <p:val>
                                            <p:strVal val="#ppt_y+.05"/>
                                          </p:val>
                                        </p:tav>
                                        <p:tav tm="100000">
                                          <p:val>
                                            <p:strVal val="#ppt_y"/>
                                          </p:val>
                                        </p:tav>
                                      </p:tavLst>
                                    </p:anim>
                                  </p:childTnLst>
                                </p:cTn>
                              </p:par>
                              <p:par>
                                <p:cTn id="83" presetID="42" presetClass="entr" presetSubtype="0" fill="hold" grpId="0" nodeType="withEffect">
                                  <p:stCondLst>
                                    <p:cond delay="900"/>
                                  </p:stCondLst>
                                  <p:childTnLst>
                                    <p:set>
                                      <p:cBhvr>
                                        <p:cTn id="84" dur="1" fill="hold">
                                          <p:stCondLst>
                                            <p:cond delay="0"/>
                                          </p:stCondLst>
                                        </p:cTn>
                                        <p:tgtEl>
                                          <p:spTgt spid="20"/>
                                        </p:tgtEl>
                                        <p:attrNameLst>
                                          <p:attrName>style.visibility</p:attrName>
                                        </p:attrNameLst>
                                      </p:cBhvr>
                                      <p:to>
                                        <p:strVal val="visible"/>
                                      </p:to>
                                    </p:set>
                                    <p:animEffect transition="in" filter="fade">
                                      <p:cBhvr>
                                        <p:cTn id="85" dur="650"/>
                                        <p:tgtEl>
                                          <p:spTgt spid="20"/>
                                        </p:tgtEl>
                                      </p:cBhvr>
                                    </p:animEffect>
                                    <p:anim calcmode="lin" valueType="num">
                                      <p:cBhvr>
                                        <p:cTn id="86" dur="650" fill="hold"/>
                                        <p:tgtEl>
                                          <p:spTgt spid="20"/>
                                        </p:tgtEl>
                                        <p:attrNameLst>
                                          <p:attrName>ppt_x</p:attrName>
                                        </p:attrNameLst>
                                      </p:cBhvr>
                                      <p:tavLst>
                                        <p:tav tm="0">
                                          <p:val>
                                            <p:strVal val="#ppt_x"/>
                                          </p:val>
                                        </p:tav>
                                        <p:tav tm="100000">
                                          <p:val>
                                            <p:strVal val="#ppt_x"/>
                                          </p:val>
                                        </p:tav>
                                      </p:tavLst>
                                    </p:anim>
                                    <p:anim calcmode="lin" valueType="num">
                                      <p:cBhvr>
                                        <p:cTn id="87" dur="650" fill="hold"/>
                                        <p:tgtEl>
                                          <p:spTgt spid="20"/>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P spid="8" grpId="0" animBg="1"/>
      <p:bldP spid="9" grpId="0" animBg="1"/>
      <p:bldP spid="11" grpId="0" animBg="1"/>
      <p:bldP spid="12" grpId="0" animBg="1"/>
      <p:bldP spid="13" grpId="0" animBg="1"/>
      <p:bldP spid="15" grpId="0" animBg="1"/>
      <p:bldP spid="16" grpId="0" animBg="1"/>
      <p:bldP spid="17" grpId="0" animBg="1"/>
      <p:bldP spid="19" grpId="0" animBg="1"/>
      <p:bldP spid="2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eyebrow"/>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100" b="1" spc="200" kern="0" dirty="0">
                <a:solidFill>
                  <a:srgbClr val="F26722"/>
                </a:solidFill>
                <a:latin typeface="Arial" pitchFamily="34" charset="0"/>
                <a:ea typeface="Arial" pitchFamily="34" charset="-122"/>
                <a:cs typeface="Arial" pitchFamily="34" charset="-120"/>
              </a:rPr>
              <a:t>EMAILS</a:t>
            </a:r>
            <a:endParaRPr lang="en-US" sz="1100" dirty="0"/>
          </a:p>
        </p:txBody>
      </p:sp>
      <p:sp>
        <p:nvSpPr>
          <p:cNvPr id="4" name="Text 1"/>
          <p:cNvSpPr/>
          <p:nvPr>
            <p:ph idx="101" type="title" hasCustomPrompt="1"/>
          </p:nvPr>
        </p:nvSpPr>
        <p:spPr>
          <a:xfrm>
            <a:off x="548640" y="841248"/>
            <a:ext cx="11094415" cy="73152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Emails ready to send</a:t>
            </a:r>
            <a:endParaRPr lang="en-US" sz="3600" dirty="0"/>
          </a:p>
        </p:txBody>
      </p:sp>
      <p:sp>
        <p:nvSpPr>
          <p:cNvPr id="5" name="lead"/>
          <p:cNvSpPr txBox="1"/>
          <p:nvPr/>
        </p:nvSpPr>
        <p:spPr>
          <a:xfrm>
            <a:off x="548640" y="1627632"/>
            <a:ext cx="4572000" cy="603504"/>
          </a:xfrm>
          <a:prstGeom prst="rect">
            <a:avLst/>
          </a:prstGeom>
          <a:noFill/>
          <a:ln/>
        </p:spPr>
        <p:txBody>
          <a:bodyPr wrap="square" lIns="0" tIns="0" rIns="0" bIns="0" rtlCol="0" anchor="t"/>
          <a:lstStyle/>
          <a:p>
            <a:pPr indent="0" marL="0">
              <a:lnSpc>
                <a:spcPct val="108000"/>
              </a:lnSpc>
              <a:buNone/>
            </a:pPr>
            <a:r>
              <a:rPr lang="en-US" sz="1600" dirty="0">
                <a:solidFill>
                  <a:srgbClr val="AEAEB2"/>
                </a:solidFill>
                <a:latin typeface="Arial" pitchFamily="34" charset="0"/>
                <a:ea typeface="Arial" pitchFamily="34" charset="-122"/>
                <a:cs typeface="Arial" pitchFamily="34" charset="-120"/>
              </a:rPr>
              <a:t>The tool writes them; people send them from Outlook. It never sends anything itself.</a:t>
            </a:r>
            <a:endParaRPr lang="en-US" sz="1600" dirty="0"/>
          </a:p>
        </p:txBody>
      </p:sp>
      <p:pic>
        <p:nvPicPr>
          <p:cNvPr id="6" name="glow" descr="">    </p:cNvPr>
          <p:cNvPicPr>
            <a:picLocks noChangeAspect="1"/>
          </p:cNvPicPr>
          <p:nvPr/>
        </p:nvPicPr>
        <p:blipFill>
          <a:blip r:embed="rId1"/>
          <a:stretch>
            <a:fillRect/>
          </a:stretch>
        </p:blipFill>
        <p:spPr>
          <a:xfrm>
            <a:off x="5669280" y="365760"/>
            <a:ext cx="6400800" cy="6400800"/>
          </a:xfrm>
          <a:prstGeom prst="rect">
            <a:avLst/>
          </a:prstGeom>
        </p:spPr>
      </p:pic>
      <p:sp>
        <p:nvSpPr>
          <p:cNvPr id="7" name="g"/>
          <p:cNvSpPr txBox="1"/>
          <p:nvPr/>
        </p:nvSpPr>
        <p:spPr>
          <a:xfrm>
            <a:off x="548640" y="2468880"/>
            <a:ext cx="4572000" cy="256032"/>
          </a:xfrm>
          <a:prstGeom prst="rect">
            <a:avLst/>
          </a:prstGeom>
          <a:noFill/>
          <a:ln/>
        </p:spPr>
        <p:txBody>
          <a:bodyPr wrap="square" lIns="0" tIns="0" rIns="0" bIns="0" rtlCol="0" anchor="ctr"/>
          <a:lstStyle/>
          <a:p>
            <a:pPr indent="0" marL="0">
              <a:buNone/>
            </a:pPr>
            <a:r>
              <a:rPr lang="en-US" sz="1100" b="1" spc="200" kern="0" dirty="0">
                <a:solidFill>
                  <a:srgbClr val="AEAEB2"/>
                </a:solidFill>
                <a:latin typeface="Arial" pitchFamily="34" charset="0"/>
                <a:ea typeface="Arial" pitchFamily="34" charset="-122"/>
                <a:cs typeface="Arial" pitchFamily="34" charset="-120"/>
              </a:rPr>
              <a:t>EVERY MONTH</a:t>
            </a:r>
            <a:endParaRPr lang="en-US" sz="1100" dirty="0"/>
          </a:p>
        </p:txBody>
      </p:sp>
      <p:sp>
        <p:nvSpPr>
          <p:cNvPr id="8" name="chip"/>
          <p:cNvSpPr/>
          <p:nvPr/>
        </p:nvSpPr>
        <p:spPr>
          <a:xfrm>
            <a:off x="548640" y="2816352"/>
            <a:ext cx="2434133" cy="384048"/>
          </a:xfrm>
          <a:prstGeom prst="roundRect">
            <a:avLst>
              <a:gd name="adj" fmla="val 50000"/>
            </a:avLst>
          </a:prstGeom>
          <a:solidFill>
            <a:srgbClr val="1C1C1E"/>
          </a:solidFill>
          <a:ln w="9525">
            <a:solidFill>
              <a:srgbClr val="2C2C2E"/>
            </a:solidFill>
            <a:prstDash val="solid"/>
          </a:ln>
        </p:spPr>
      </p:sp>
      <p:sp>
        <p:nvSpPr>
          <p:cNvPr id="9" name="chip-t"/>
          <p:cNvSpPr txBox="1"/>
          <p:nvPr/>
        </p:nvSpPr>
        <p:spPr>
          <a:xfrm>
            <a:off x="548640" y="2816352"/>
            <a:ext cx="2434133" cy="384048"/>
          </a:xfrm>
          <a:prstGeom prst="rect">
            <a:avLst/>
          </a:prstGeom>
          <a:noFill/>
          <a:ln/>
        </p:spPr>
        <p:txBody>
          <a:bodyPr wrap="square" lIns="0" tIns="0" rIns="0" bIns="0" rtlCol="0" anchor="ctr"/>
          <a:lstStyle/>
          <a:p>
            <a:pPr algn="ctr" indent="0" marL="0">
              <a:buNone/>
            </a:pPr>
            <a:r>
              <a:rPr lang="en-US" sz="1300" dirty="0">
                <a:solidFill>
                  <a:srgbClr val="F5F5F7"/>
                </a:solidFill>
                <a:latin typeface="Arial" pitchFamily="34" charset="0"/>
                <a:ea typeface="Arial" pitchFamily="34" charset="-122"/>
                <a:cs typeface="Arial" pitchFamily="34" charset="-120"/>
              </a:rPr>
              <a:t>Deduction: review, then final</a:t>
            </a:r>
            <a:endParaRPr lang="en-US" sz="1300" dirty="0"/>
          </a:p>
        </p:txBody>
      </p:sp>
      <p:sp>
        <p:nvSpPr>
          <p:cNvPr id="10" name="chip"/>
          <p:cNvSpPr/>
          <p:nvPr/>
        </p:nvSpPr>
        <p:spPr>
          <a:xfrm>
            <a:off x="3092501" y="2816352"/>
            <a:ext cx="936346" cy="384048"/>
          </a:xfrm>
          <a:prstGeom prst="roundRect">
            <a:avLst>
              <a:gd name="adj" fmla="val 50000"/>
            </a:avLst>
          </a:prstGeom>
          <a:solidFill>
            <a:srgbClr val="1C1C1E"/>
          </a:solidFill>
          <a:ln w="9525">
            <a:solidFill>
              <a:srgbClr val="2C2C2E"/>
            </a:solidFill>
            <a:prstDash val="solid"/>
          </a:ln>
        </p:spPr>
      </p:sp>
      <p:sp>
        <p:nvSpPr>
          <p:cNvPr id="11" name="chip-t"/>
          <p:cNvSpPr txBox="1"/>
          <p:nvPr/>
        </p:nvSpPr>
        <p:spPr>
          <a:xfrm>
            <a:off x="3092501" y="2816352"/>
            <a:ext cx="936346" cy="384048"/>
          </a:xfrm>
          <a:prstGeom prst="rect">
            <a:avLst/>
          </a:prstGeom>
          <a:noFill/>
          <a:ln/>
        </p:spPr>
        <p:txBody>
          <a:bodyPr wrap="square" lIns="0" tIns="0" rIns="0" bIns="0" rtlCol="0" anchor="ctr"/>
          <a:lstStyle/>
          <a:p>
            <a:pPr algn="ctr" indent="0" marL="0">
              <a:buNone/>
            </a:pPr>
            <a:r>
              <a:rPr lang="en-US" sz="1300" dirty="0">
                <a:solidFill>
                  <a:srgbClr val="F5F5F7"/>
                </a:solidFill>
                <a:latin typeface="Arial" pitchFamily="34" charset="0"/>
                <a:ea typeface="Arial" pitchFamily="34" charset="-122"/>
                <a:cs typeface="Arial" pitchFamily="34" charset="-120"/>
              </a:rPr>
              <a:t>Absences</a:t>
            </a:r>
            <a:endParaRPr lang="en-US" sz="1300" dirty="0"/>
          </a:p>
        </p:txBody>
      </p:sp>
      <p:sp>
        <p:nvSpPr>
          <p:cNvPr id="12" name="chip"/>
          <p:cNvSpPr/>
          <p:nvPr/>
        </p:nvSpPr>
        <p:spPr>
          <a:xfrm>
            <a:off x="4138574" y="2816352"/>
            <a:ext cx="1007669" cy="384048"/>
          </a:xfrm>
          <a:prstGeom prst="roundRect">
            <a:avLst>
              <a:gd name="adj" fmla="val 50000"/>
            </a:avLst>
          </a:prstGeom>
          <a:solidFill>
            <a:srgbClr val="1C1C1E"/>
          </a:solidFill>
          <a:ln w="9525">
            <a:solidFill>
              <a:srgbClr val="2C2C2E"/>
            </a:solidFill>
            <a:prstDash val="solid"/>
          </a:ln>
        </p:spPr>
      </p:sp>
      <p:sp>
        <p:nvSpPr>
          <p:cNvPr id="13" name="chip-t"/>
          <p:cNvSpPr txBox="1"/>
          <p:nvPr/>
        </p:nvSpPr>
        <p:spPr>
          <a:xfrm>
            <a:off x="4138574" y="2816352"/>
            <a:ext cx="1007669" cy="384048"/>
          </a:xfrm>
          <a:prstGeom prst="rect">
            <a:avLst/>
          </a:prstGeom>
          <a:noFill/>
          <a:ln/>
        </p:spPr>
        <p:txBody>
          <a:bodyPr wrap="square" lIns="0" tIns="0" rIns="0" bIns="0" rtlCol="0" anchor="ctr"/>
          <a:lstStyle/>
          <a:p>
            <a:pPr algn="ctr" indent="0" marL="0">
              <a:buNone/>
            </a:pPr>
            <a:r>
              <a:rPr lang="en-US" sz="1300" dirty="0">
                <a:solidFill>
                  <a:srgbClr val="F5F5F7"/>
                </a:solidFill>
                <a:latin typeface="Arial" pitchFamily="34" charset="0"/>
                <a:ea typeface="Arial" pitchFamily="34" charset="-122"/>
                <a:cs typeface="Arial" pitchFamily="34" charset="-120"/>
              </a:rPr>
              <a:t>Incentive</a:t>
            </a:r>
            <a:endParaRPr lang="en-US" sz="1300" dirty="0"/>
          </a:p>
        </p:txBody>
      </p:sp>
      <p:sp>
        <p:nvSpPr>
          <p:cNvPr id="14" name="g"/>
          <p:cNvSpPr txBox="1"/>
          <p:nvPr/>
        </p:nvSpPr>
        <p:spPr>
          <a:xfrm>
            <a:off x="548640" y="3547872"/>
            <a:ext cx="4572000" cy="256032"/>
          </a:xfrm>
          <a:prstGeom prst="rect">
            <a:avLst/>
          </a:prstGeom>
          <a:noFill/>
          <a:ln/>
        </p:spPr>
        <p:txBody>
          <a:bodyPr wrap="square" lIns="0" tIns="0" rIns="0" bIns="0" rtlCol="0" anchor="ctr"/>
          <a:lstStyle/>
          <a:p>
            <a:pPr indent="0" marL="0">
              <a:buNone/>
            </a:pPr>
            <a:r>
              <a:rPr lang="en-US" sz="1100" b="1" spc="200" kern="0" dirty="0">
                <a:solidFill>
                  <a:srgbClr val="AEAEB2"/>
                </a:solidFill>
                <a:latin typeface="Arial" pitchFamily="34" charset="0"/>
                <a:ea typeface="Arial" pitchFamily="34" charset="-122"/>
                <a:cs typeface="Arial" pitchFamily="34" charset="-120"/>
              </a:rPr>
              <a:t>EVERY DAY</a:t>
            </a:r>
            <a:endParaRPr lang="en-US" sz="1100" dirty="0"/>
          </a:p>
        </p:txBody>
      </p:sp>
      <p:sp>
        <p:nvSpPr>
          <p:cNvPr id="15" name="chip"/>
          <p:cNvSpPr/>
          <p:nvPr/>
        </p:nvSpPr>
        <p:spPr>
          <a:xfrm>
            <a:off x="548640" y="3895344"/>
            <a:ext cx="1435608" cy="384048"/>
          </a:xfrm>
          <a:prstGeom prst="roundRect">
            <a:avLst>
              <a:gd name="adj" fmla="val 50000"/>
            </a:avLst>
          </a:prstGeom>
          <a:solidFill>
            <a:srgbClr val="1C1C1E"/>
          </a:solidFill>
          <a:ln w="9525">
            <a:solidFill>
              <a:srgbClr val="2C2C2E"/>
            </a:solidFill>
            <a:prstDash val="solid"/>
          </a:ln>
        </p:spPr>
      </p:sp>
      <p:sp>
        <p:nvSpPr>
          <p:cNvPr id="16" name="chip-t"/>
          <p:cNvSpPr txBox="1"/>
          <p:nvPr/>
        </p:nvSpPr>
        <p:spPr>
          <a:xfrm>
            <a:off x="548640" y="3895344"/>
            <a:ext cx="1435608" cy="384048"/>
          </a:xfrm>
          <a:prstGeom prst="rect">
            <a:avLst/>
          </a:prstGeom>
          <a:noFill/>
          <a:ln/>
        </p:spPr>
        <p:txBody>
          <a:bodyPr wrap="square" lIns="0" tIns="0" rIns="0" bIns="0" rtlCol="0" anchor="ctr"/>
          <a:lstStyle/>
          <a:p>
            <a:pPr algn="ctr" indent="0" marL="0">
              <a:buNone/>
            </a:pPr>
            <a:r>
              <a:rPr lang="en-US" sz="1300" dirty="0">
                <a:solidFill>
                  <a:srgbClr val="F5F5F7"/>
                </a:solidFill>
                <a:latin typeface="Arial" pitchFamily="34" charset="0"/>
                <a:ea typeface="Arial" pitchFamily="34" charset="-122"/>
                <a:cs typeface="Arial" pitchFamily="34" charset="-120"/>
              </a:rPr>
              <a:t>Virgin Postpaid</a:t>
            </a:r>
            <a:endParaRPr lang="en-US" sz="1300" dirty="0"/>
          </a:p>
        </p:txBody>
      </p:sp>
      <p:sp>
        <p:nvSpPr>
          <p:cNvPr id="17" name="chip"/>
          <p:cNvSpPr/>
          <p:nvPr/>
        </p:nvSpPr>
        <p:spPr>
          <a:xfrm>
            <a:off x="2093976" y="3895344"/>
            <a:ext cx="1292962" cy="384048"/>
          </a:xfrm>
          <a:prstGeom prst="roundRect">
            <a:avLst>
              <a:gd name="adj" fmla="val 50000"/>
            </a:avLst>
          </a:prstGeom>
          <a:solidFill>
            <a:srgbClr val="1C1C1E"/>
          </a:solidFill>
          <a:ln w="9525">
            <a:solidFill>
              <a:srgbClr val="2C2C2E"/>
            </a:solidFill>
            <a:prstDash val="solid"/>
          </a:ln>
        </p:spPr>
      </p:sp>
      <p:sp>
        <p:nvSpPr>
          <p:cNvPr id="18" name="chip-t"/>
          <p:cNvSpPr txBox="1"/>
          <p:nvPr/>
        </p:nvSpPr>
        <p:spPr>
          <a:xfrm>
            <a:off x="2093976" y="3895344"/>
            <a:ext cx="1292962" cy="384048"/>
          </a:xfrm>
          <a:prstGeom prst="rect">
            <a:avLst/>
          </a:prstGeom>
          <a:noFill/>
          <a:ln/>
        </p:spPr>
        <p:txBody>
          <a:bodyPr wrap="square" lIns="0" tIns="0" rIns="0" bIns="0" rtlCol="0" anchor="ctr"/>
          <a:lstStyle/>
          <a:p>
            <a:pPr algn="ctr" indent="0" marL="0">
              <a:buNone/>
            </a:pPr>
            <a:r>
              <a:rPr lang="en-US" sz="1300" dirty="0">
                <a:solidFill>
                  <a:srgbClr val="F5F5F7"/>
                </a:solidFill>
                <a:latin typeface="Arial" pitchFamily="34" charset="0"/>
                <a:ea typeface="Arial" pitchFamily="34" charset="-122"/>
                <a:cs typeface="Arial" pitchFamily="34" charset="-120"/>
              </a:rPr>
              <a:t>Virgin Mobile</a:t>
            </a:r>
            <a:endParaRPr lang="en-US" sz="1300" dirty="0"/>
          </a:p>
        </p:txBody>
      </p:sp>
      <p:sp>
        <p:nvSpPr>
          <p:cNvPr id="19" name="chip"/>
          <p:cNvSpPr/>
          <p:nvPr/>
        </p:nvSpPr>
        <p:spPr>
          <a:xfrm>
            <a:off x="3496666" y="3895344"/>
            <a:ext cx="1364285" cy="384048"/>
          </a:xfrm>
          <a:prstGeom prst="roundRect">
            <a:avLst>
              <a:gd name="adj" fmla="val 50000"/>
            </a:avLst>
          </a:prstGeom>
          <a:solidFill>
            <a:srgbClr val="1C1C1E"/>
          </a:solidFill>
          <a:ln w="9525">
            <a:solidFill>
              <a:srgbClr val="2C2C2E"/>
            </a:solidFill>
            <a:prstDash val="solid"/>
          </a:ln>
        </p:spPr>
      </p:sp>
      <p:sp>
        <p:nvSpPr>
          <p:cNvPr id="20" name="chip-t"/>
          <p:cNvSpPr txBox="1"/>
          <p:nvPr/>
        </p:nvSpPr>
        <p:spPr>
          <a:xfrm>
            <a:off x="3496666" y="3895344"/>
            <a:ext cx="1364285" cy="384048"/>
          </a:xfrm>
          <a:prstGeom prst="rect">
            <a:avLst/>
          </a:prstGeom>
          <a:noFill/>
          <a:ln/>
        </p:spPr>
        <p:txBody>
          <a:bodyPr wrap="square" lIns="0" tIns="0" rIns="0" bIns="0" rtlCol="0" anchor="ctr"/>
          <a:lstStyle/>
          <a:p>
            <a:pPr algn="ctr" indent="0" marL="0">
              <a:buNone/>
            </a:pPr>
            <a:r>
              <a:rPr lang="en-US" sz="1300" dirty="0">
                <a:solidFill>
                  <a:srgbClr val="F5F5F7"/>
                </a:solidFill>
                <a:latin typeface="Arial" pitchFamily="34" charset="0"/>
                <a:ea typeface="Arial" pitchFamily="34" charset="-122"/>
                <a:cs typeface="Arial" pitchFamily="34" charset="-120"/>
              </a:rPr>
              <a:t>FRiENDi Mobile</a:t>
            </a:r>
            <a:endParaRPr lang="en-US" sz="1300" dirty="0"/>
          </a:p>
        </p:txBody>
      </p:sp>
      <p:sp>
        <p:nvSpPr>
          <p:cNvPr id="21" name="chip"/>
          <p:cNvSpPr/>
          <p:nvPr/>
        </p:nvSpPr>
        <p:spPr>
          <a:xfrm>
            <a:off x="548640" y="4370832"/>
            <a:ext cx="1150315" cy="384048"/>
          </a:xfrm>
          <a:prstGeom prst="roundRect">
            <a:avLst>
              <a:gd name="adj" fmla="val 50000"/>
            </a:avLst>
          </a:prstGeom>
          <a:solidFill>
            <a:srgbClr val="1C1C1E"/>
          </a:solidFill>
          <a:ln w="9525">
            <a:solidFill>
              <a:srgbClr val="2C2C2E"/>
            </a:solidFill>
            <a:prstDash val="solid"/>
          </a:ln>
        </p:spPr>
      </p:sp>
      <p:sp>
        <p:nvSpPr>
          <p:cNvPr id="22" name="chip-t"/>
          <p:cNvSpPr txBox="1"/>
          <p:nvPr/>
        </p:nvSpPr>
        <p:spPr>
          <a:xfrm>
            <a:off x="548640" y="4370832"/>
            <a:ext cx="1150315" cy="384048"/>
          </a:xfrm>
          <a:prstGeom prst="rect">
            <a:avLst/>
          </a:prstGeom>
          <a:noFill/>
          <a:ln/>
        </p:spPr>
        <p:txBody>
          <a:bodyPr wrap="square" lIns="0" tIns="0" rIns="0" bIns="0" rtlCol="0" anchor="ctr"/>
          <a:lstStyle/>
          <a:p>
            <a:pPr algn="ctr" indent="0" marL="0">
              <a:buNone/>
            </a:pPr>
            <a:r>
              <a:rPr lang="en-US" sz="1300" dirty="0">
                <a:solidFill>
                  <a:srgbClr val="F5F5F7"/>
                </a:solidFill>
                <a:latin typeface="Arial" pitchFamily="34" charset="0"/>
                <a:ea typeface="Arial" pitchFamily="34" charset="-122"/>
                <a:cs typeface="Arial" pitchFamily="34" charset="-120"/>
              </a:rPr>
              <a:t>FRiENDi Pay</a:t>
            </a:r>
            <a:endParaRPr lang="en-US" sz="1300" dirty="0"/>
          </a:p>
        </p:txBody>
      </p:sp>
      <p:sp>
        <p:nvSpPr>
          <p:cNvPr id="23" name="chip"/>
          <p:cNvSpPr/>
          <p:nvPr/>
        </p:nvSpPr>
        <p:spPr>
          <a:xfrm>
            <a:off x="1808683" y="4370832"/>
            <a:ext cx="1078992" cy="384048"/>
          </a:xfrm>
          <a:prstGeom prst="roundRect">
            <a:avLst>
              <a:gd name="adj" fmla="val 50000"/>
            </a:avLst>
          </a:prstGeom>
          <a:solidFill>
            <a:srgbClr val="1C1C1E"/>
          </a:solidFill>
          <a:ln w="9525">
            <a:solidFill>
              <a:srgbClr val="2C2C2E"/>
            </a:solidFill>
            <a:prstDash val="solid"/>
          </a:ln>
        </p:spPr>
      </p:sp>
      <p:sp>
        <p:nvSpPr>
          <p:cNvPr id="24" name="chip-t"/>
          <p:cNvSpPr txBox="1"/>
          <p:nvPr/>
        </p:nvSpPr>
        <p:spPr>
          <a:xfrm>
            <a:off x="1808683" y="4370832"/>
            <a:ext cx="1078992" cy="384048"/>
          </a:xfrm>
          <a:prstGeom prst="rect">
            <a:avLst/>
          </a:prstGeom>
          <a:noFill/>
          <a:ln/>
        </p:spPr>
        <p:txBody>
          <a:bodyPr wrap="square" lIns="0" tIns="0" rIns="0" bIns="0" rtlCol="0" anchor="ctr"/>
          <a:lstStyle/>
          <a:p>
            <a:pPr algn="ctr" indent="0" marL="0">
              <a:buNone/>
            </a:pPr>
            <a:r>
              <a:rPr lang="en-US" sz="1300" dirty="0">
                <a:solidFill>
                  <a:srgbClr val="F5F5F7"/>
                </a:solidFill>
                <a:latin typeface="Arial" pitchFamily="34" charset="0"/>
                <a:ea typeface="Arial" pitchFamily="34" charset="-122"/>
                <a:cs typeface="Arial" pitchFamily="34" charset="-120"/>
              </a:rPr>
              <a:t>MC Leaders</a:t>
            </a:r>
            <a:endParaRPr lang="en-US" sz="1300" dirty="0"/>
          </a:p>
        </p:txBody>
      </p:sp>
      <p:sp>
        <p:nvSpPr>
          <p:cNvPr id="25" name="chip"/>
          <p:cNvSpPr/>
          <p:nvPr/>
        </p:nvSpPr>
        <p:spPr>
          <a:xfrm>
            <a:off x="2997403" y="4370832"/>
            <a:ext cx="1506931" cy="384048"/>
          </a:xfrm>
          <a:prstGeom prst="roundRect">
            <a:avLst>
              <a:gd name="adj" fmla="val 50000"/>
            </a:avLst>
          </a:prstGeom>
          <a:solidFill>
            <a:srgbClr val="1C1C1E"/>
          </a:solidFill>
          <a:ln w="9525">
            <a:solidFill>
              <a:srgbClr val="2C2C2E"/>
            </a:solidFill>
            <a:prstDash val="solid"/>
          </a:ln>
        </p:spPr>
      </p:sp>
      <p:sp>
        <p:nvSpPr>
          <p:cNvPr id="26" name="chip-t"/>
          <p:cNvSpPr txBox="1"/>
          <p:nvPr/>
        </p:nvSpPr>
        <p:spPr>
          <a:xfrm>
            <a:off x="2997403" y="4370832"/>
            <a:ext cx="1506931" cy="384048"/>
          </a:xfrm>
          <a:prstGeom prst="rect">
            <a:avLst/>
          </a:prstGeom>
          <a:noFill/>
          <a:ln/>
        </p:spPr>
        <p:txBody>
          <a:bodyPr wrap="square" lIns="0" tIns="0" rIns="0" bIns="0" rtlCol="0" anchor="ctr"/>
          <a:lstStyle/>
          <a:p>
            <a:pPr algn="ctr" indent="0" marL="0">
              <a:buNone/>
            </a:pPr>
            <a:r>
              <a:rPr lang="en-US" sz="1300" dirty="0">
                <a:solidFill>
                  <a:srgbClr val="F5F5F7"/>
                </a:solidFill>
                <a:latin typeface="Arial" pitchFamily="34" charset="0"/>
                <a:ea typeface="Arial" pitchFamily="34" charset="-122"/>
                <a:cs typeface="Arial" pitchFamily="34" charset="-120"/>
              </a:rPr>
              <a:t>WFM Daily Review</a:t>
            </a:r>
            <a:endParaRPr lang="en-US" sz="1300" dirty="0"/>
          </a:p>
        </p:txBody>
      </p:sp>
      <p:sp>
        <p:nvSpPr>
          <p:cNvPr id="27" name="dot-lock"/>
          <p:cNvSpPr/>
          <p:nvPr/>
        </p:nvSpPr>
        <p:spPr>
          <a:xfrm>
            <a:off x="548640" y="5193792"/>
            <a:ext cx="512064" cy="512064"/>
          </a:xfrm>
          <a:prstGeom prst="ellipse">
            <a:avLst/>
          </a:prstGeom>
          <a:solidFill>
            <a:srgbClr val="C4511A"/>
          </a:solidFill>
          <a:ln/>
        </p:spPr>
      </p:sp>
      <p:pic>
        <p:nvPicPr>
          <p:cNvPr id="28" name="icon-lock" descr="">    </p:cNvPr>
          <p:cNvPicPr>
            <a:picLocks noChangeAspect="1"/>
          </p:cNvPicPr>
          <p:nvPr/>
        </p:nvPicPr>
        <p:blipFill>
          <a:blip r:embed="rId2"/>
          <a:stretch>
            <a:fillRect/>
          </a:stretch>
        </p:blipFill>
        <p:spPr>
          <a:xfrm>
            <a:off x="671535" y="5316687"/>
            <a:ext cx="266273" cy="266273"/>
          </a:xfrm>
          <a:prstGeom prst="rect">
            <a:avLst/>
          </a:prstGeom>
        </p:spPr>
      </p:pic>
      <p:sp>
        <p:nvSpPr>
          <p:cNvPr id="29" name="h"/>
          <p:cNvSpPr txBox="1"/>
          <p:nvPr/>
        </p:nvSpPr>
        <p:spPr>
          <a:xfrm>
            <a:off x="1280160" y="5166360"/>
            <a:ext cx="4023360"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No National IDs in attachments</a:t>
            </a:r>
            <a:endParaRPr lang="en-US" sz="1700" dirty="0"/>
          </a:p>
        </p:txBody>
      </p:sp>
      <p:sp>
        <p:nvSpPr>
          <p:cNvPr id="30" name="t"/>
          <p:cNvSpPr txBox="1"/>
          <p:nvPr/>
        </p:nvSpPr>
        <p:spPr>
          <a:xfrm>
            <a:off x="1280160" y="5522976"/>
            <a:ext cx="4023360" cy="457200"/>
          </a:xfrm>
          <a:prstGeom prst="rect">
            <a:avLst/>
          </a:prstGeom>
          <a:noFill/>
          <a:ln/>
        </p:spPr>
        <p:txBody>
          <a:bodyPr wrap="square" lIns="0" tIns="0" rIns="0" bIns="0" rtlCol="0" anchor="t"/>
          <a:lstStyle/>
          <a:p>
            <a:pPr indent="0" marL="0">
              <a:lnSpc>
                <a:spcPct val="105000"/>
              </a:lnSpc>
              <a:buNone/>
            </a:pPr>
            <a:r>
              <a:rPr lang="en-US" sz="1400" dirty="0">
                <a:solidFill>
                  <a:srgbClr val="AEAEB2"/>
                </a:solidFill>
                <a:latin typeface="Arial" pitchFamily="34" charset="0"/>
                <a:ea typeface="Arial" pitchFamily="34" charset="-122"/>
                <a:cs typeface="Arial" pitchFamily="34" charset="-120"/>
              </a:rPr>
              <a:t>Names only: the agents' privacy, by default.</a:t>
            </a:r>
            <a:endParaRPr lang="en-US" sz="1400" dirty="0"/>
          </a:p>
        </p:txBody>
      </p:sp>
      <p:pic>
        <p:nvPicPr>
          <p:cNvPr id="31" name="shot" descr="The deduction email for review, ready to copy into Outlook">    </p:cNvPr>
          <p:cNvPicPr>
            <a:picLocks noChangeAspect="1"/>
          </p:cNvPicPr>
          <p:nvPr/>
        </p:nvPicPr>
        <p:blipFill>
          <a:blip r:embed="rId3"/>
          <a:stretch>
            <a:fillRect/>
          </a:stretch>
        </p:blipFill>
        <p:spPr>
          <a:xfrm>
            <a:off x="5375422" y="1443502"/>
            <a:ext cx="6607210" cy="4841407"/>
          </a:xfrm>
          <a:prstGeom prst="rect">
            <a:avLst/>
          </a:prstGeom>
        </p:spPr>
      </p:pic>
      <p:sp>
        <p:nvSpPr>
          <p:cNvPr id="25" name="Slide Number Placeholder 0"/>
          <p:cNvSpPr>
            <a:spLocks noGrp="1"/>
          </p:cNvSpPr>
          <p:nvPr>
            <p:ph type="sldNum" sz="quarter" idx="4294967295"/>
          </p:nvPr>
        </p:nvSpPr>
        <p:spPr>
          <a:xfrm>
            <a:off x="11091672" y="640080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6E73"/>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42" presetClass="entr" presetSubtype="0" fill="hold" grpId="0" nodeType="withEffect">
                                  <p:stCondLst>
                                    <p:cond delay="18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50"/>
                                        <p:tgtEl>
                                          <p:spTgt spid="5"/>
                                        </p:tgtEl>
                                      </p:cBhvr>
                                    </p:animEffect>
                                    <p:anim calcmode="lin" valueType="num">
                                      <p:cBhvr>
                                        <p:cTn id="14" dur="650" fill="hold"/>
                                        <p:tgtEl>
                                          <p:spTgt spid="5"/>
                                        </p:tgtEl>
                                        <p:attrNameLst>
                                          <p:attrName>ppt_x</p:attrName>
                                        </p:attrNameLst>
                                      </p:cBhvr>
                                      <p:tavLst>
                                        <p:tav tm="0">
                                          <p:val>
                                            <p:strVal val="#ppt_x"/>
                                          </p:val>
                                        </p:tav>
                                        <p:tav tm="100000">
                                          <p:val>
                                            <p:strVal val="#ppt_x"/>
                                          </p:val>
                                        </p:tav>
                                      </p:tavLst>
                                    </p:anim>
                                    <p:anim calcmode="lin" valueType="num">
                                      <p:cBhvr>
                                        <p:cTn id="15" dur="650" fill="hold"/>
                                        <p:tgtEl>
                                          <p:spTgt spid="5"/>
                                        </p:tgtEl>
                                        <p:attrNameLst>
                                          <p:attrName>ppt_y</p:attrName>
                                        </p:attrNameLst>
                                      </p:cBhvr>
                                      <p:tavLst>
                                        <p:tav tm="0">
                                          <p:val>
                                            <p:strVal val="#ppt_y+.05"/>
                                          </p:val>
                                        </p:tav>
                                        <p:tav tm="100000">
                                          <p:val>
                                            <p:strVal val="#ppt_y"/>
                                          </p:val>
                                        </p:tav>
                                      </p:tavLst>
                                    </p:anim>
                                  </p:childTnLst>
                                </p:cTn>
                              </p:par>
                              <p:par>
                                <p:cTn id="16" presetID="42" presetClass="entr" presetSubtype="0" fill="hold" grpId="0" nodeType="withEffect">
                                  <p:stCondLst>
                                    <p:cond delay="25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650"/>
                                        <p:tgtEl>
                                          <p:spTgt spid="31"/>
                                        </p:tgtEl>
                                      </p:cBhvr>
                                    </p:animEffect>
                                    <p:anim calcmode="lin" valueType="num">
                                      <p:cBhvr>
                                        <p:cTn id="19" dur="650" fill="hold"/>
                                        <p:tgtEl>
                                          <p:spTgt spid="31"/>
                                        </p:tgtEl>
                                        <p:attrNameLst>
                                          <p:attrName>ppt_x</p:attrName>
                                        </p:attrNameLst>
                                      </p:cBhvr>
                                      <p:tavLst>
                                        <p:tav tm="0">
                                          <p:val>
                                            <p:strVal val="#ppt_x"/>
                                          </p:val>
                                        </p:tav>
                                        <p:tav tm="100000">
                                          <p:val>
                                            <p:strVal val="#ppt_x"/>
                                          </p:val>
                                        </p:tav>
                                      </p:tavLst>
                                    </p:anim>
                                    <p:anim calcmode="lin" valueType="num">
                                      <p:cBhvr>
                                        <p:cTn id="20" dur="650" fill="hold"/>
                                        <p:tgtEl>
                                          <p:spTgt spid="31"/>
                                        </p:tgtEl>
                                        <p:attrNameLst>
                                          <p:attrName>ppt_y</p:attrName>
                                        </p:attrNameLst>
                                      </p:cBhvr>
                                      <p:tavLst>
                                        <p:tav tm="0">
                                          <p:val>
                                            <p:strVal val="#ppt_y+.05"/>
                                          </p:val>
                                        </p:tav>
                                        <p:tav tm="100000">
                                          <p:val>
                                            <p:strVal val="#ppt_y"/>
                                          </p:val>
                                        </p:tav>
                                      </p:tavLst>
                                    </p:anim>
                                  </p:childTnLst>
                                </p:cTn>
                              </p:par>
                              <p:par>
                                <p:cTn id="21" presetID="42" presetClass="entr" presetSubtype="0" fill="hold" grpId="0" nodeType="withEffect">
                                  <p:stCondLst>
                                    <p:cond delay="35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650"/>
                                        <p:tgtEl>
                                          <p:spTgt spid="7"/>
                                        </p:tgtEl>
                                      </p:cBhvr>
                                    </p:animEffect>
                                    <p:anim calcmode="lin" valueType="num">
                                      <p:cBhvr>
                                        <p:cTn id="24" dur="650" fill="hold"/>
                                        <p:tgtEl>
                                          <p:spTgt spid="7"/>
                                        </p:tgtEl>
                                        <p:attrNameLst>
                                          <p:attrName>ppt_x</p:attrName>
                                        </p:attrNameLst>
                                      </p:cBhvr>
                                      <p:tavLst>
                                        <p:tav tm="0">
                                          <p:val>
                                            <p:strVal val="#ppt_x"/>
                                          </p:val>
                                        </p:tav>
                                        <p:tav tm="100000">
                                          <p:val>
                                            <p:strVal val="#ppt_x"/>
                                          </p:val>
                                        </p:tav>
                                      </p:tavLst>
                                    </p:anim>
                                    <p:anim calcmode="lin" valueType="num">
                                      <p:cBhvr>
                                        <p:cTn id="25" dur="650" fill="hold"/>
                                        <p:tgtEl>
                                          <p:spTgt spid="7"/>
                                        </p:tgtEl>
                                        <p:attrNameLst>
                                          <p:attrName>ppt_y</p:attrName>
                                        </p:attrNameLst>
                                      </p:cBhvr>
                                      <p:tavLst>
                                        <p:tav tm="0">
                                          <p:val>
                                            <p:strVal val="#ppt_y+.05"/>
                                          </p:val>
                                        </p:tav>
                                        <p:tav tm="100000">
                                          <p:val>
                                            <p:strVal val="#ppt_y"/>
                                          </p:val>
                                        </p:tav>
                                      </p:tavLst>
                                    </p:anim>
                                  </p:childTnLst>
                                </p:cTn>
                              </p:par>
                              <p:par>
                                <p:cTn id="26" presetID="42" presetClass="entr" presetSubtype="0" fill="hold" grpId="0" nodeType="withEffect">
                                  <p:stCondLst>
                                    <p:cond delay="35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650"/>
                                        <p:tgtEl>
                                          <p:spTgt spid="8"/>
                                        </p:tgtEl>
                                      </p:cBhvr>
                                    </p:animEffect>
                                    <p:anim calcmode="lin" valueType="num">
                                      <p:cBhvr>
                                        <p:cTn id="29" dur="650" fill="hold"/>
                                        <p:tgtEl>
                                          <p:spTgt spid="8"/>
                                        </p:tgtEl>
                                        <p:attrNameLst>
                                          <p:attrName>ppt_x</p:attrName>
                                        </p:attrNameLst>
                                      </p:cBhvr>
                                      <p:tavLst>
                                        <p:tav tm="0">
                                          <p:val>
                                            <p:strVal val="#ppt_x"/>
                                          </p:val>
                                        </p:tav>
                                        <p:tav tm="100000">
                                          <p:val>
                                            <p:strVal val="#ppt_x"/>
                                          </p:val>
                                        </p:tav>
                                      </p:tavLst>
                                    </p:anim>
                                    <p:anim calcmode="lin" valueType="num">
                                      <p:cBhvr>
                                        <p:cTn id="30" dur="650" fill="hold"/>
                                        <p:tgtEl>
                                          <p:spTgt spid="8"/>
                                        </p:tgtEl>
                                        <p:attrNameLst>
                                          <p:attrName>ppt_y</p:attrName>
                                        </p:attrNameLst>
                                      </p:cBhvr>
                                      <p:tavLst>
                                        <p:tav tm="0">
                                          <p:val>
                                            <p:strVal val="#ppt_y+.05"/>
                                          </p:val>
                                        </p:tav>
                                        <p:tav tm="100000">
                                          <p:val>
                                            <p:strVal val="#ppt_y"/>
                                          </p:val>
                                        </p:tav>
                                      </p:tavLst>
                                    </p:anim>
                                  </p:childTnLst>
                                </p:cTn>
                              </p:par>
                              <p:par>
                                <p:cTn id="31" presetID="42" presetClass="entr" presetSubtype="0" fill="hold" grpId="0" nodeType="withEffect">
                                  <p:stCondLst>
                                    <p:cond delay="35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650"/>
                                        <p:tgtEl>
                                          <p:spTgt spid="9"/>
                                        </p:tgtEl>
                                      </p:cBhvr>
                                    </p:animEffect>
                                    <p:anim calcmode="lin" valueType="num">
                                      <p:cBhvr>
                                        <p:cTn id="34" dur="650" fill="hold"/>
                                        <p:tgtEl>
                                          <p:spTgt spid="9"/>
                                        </p:tgtEl>
                                        <p:attrNameLst>
                                          <p:attrName>ppt_x</p:attrName>
                                        </p:attrNameLst>
                                      </p:cBhvr>
                                      <p:tavLst>
                                        <p:tav tm="0">
                                          <p:val>
                                            <p:strVal val="#ppt_x"/>
                                          </p:val>
                                        </p:tav>
                                        <p:tav tm="100000">
                                          <p:val>
                                            <p:strVal val="#ppt_x"/>
                                          </p:val>
                                        </p:tav>
                                      </p:tavLst>
                                    </p:anim>
                                    <p:anim calcmode="lin" valueType="num">
                                      <p:cBhvr>
                                        <p:cTn id="35" dur="650" fill="hold"/>
                                        <p:tgtEl>
                                          <p:spTgt spid="9"/>
                                        </p:tgtEl>
                                        <p:attrNameLst>
                                          <p:attrName>ppt_y</p:attrName>
                                        </p:attrNameLst>
                                      </p:cBhvr>
                                      <p:tavLst>
                                        <p:tav tm="0">
                                          <p:val>
                                            <p:strVal val="#ppt_y+.05"/>
                                          </p:val>
                                        </p:tav>
                                        <p:tav tm="100000">
                                          <p:val>
                                            <p:strVal val="#ppt_y"/>
                                          </p:val>
                                        </p:tav>
                                      </p:tavLst>
                                    </p:anim>
                                  </p:childTnLst>
                                </p:cTn>
                              </p:par>
                              <p:par>
                                <p:cTn id="36" presetID="42" presetClass="entr" presetSubtype="0" fill="hold" grpId="0" nodeType="withEffect">
                                  <p:stCondLst>
                                    <p:cond delay="41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650"/>
                                        <p:tgtEl>
                                          <p:spTgt spid="10"/>
                                        </p:tgtEl>
                                      </p:cBhvr>
                                    </p:animEffect>
                                    <p:anim calcmode="lin" valueType="num">
                                      <p:cBhvr>
                                        <p:cTn id="39" dur="650" fill="hold"/>
                                        <p:tgtEl>
                                          <p:spTgt spid="10"/>
                                        </p:tgtEl>
                                        <p:attrNameLst>
                                          <p:attrName>ppt_x</p:attrName>
                                        </p:attrNameLst>
                                      </p:cBhvr>
                                      <p:tavLst>
                                        <p:tav tm="0">
                                          <p:val>
                                            <p:strVal val="#ppt_x"/>
                                          </p:val>
                                        </p:tav>
                                        <p:tav tm="100000">
                                          <p:val>
                                            <p:strVal val="#ppt_x"/>
                                          </p:val>
                                        </p:tav>
                                      </p:tavLst>
                                    </p:anim>
                                    <p:anim calcmode="lin" valueType="num">
                                      <p:cBhvr>
                                        <p:cTn id="40" dur="650" fill="hold"/>
                                        <p:tgtEl>
                                          <p:spTgt spid="10"/>
                                        </p:tgtEl>
                                        <p:attrNameLst>
                                          <p:attrName>ppt_y</p:attrName>
                                        </p:attrNameLst>
                                      </p:cBhvr>
                                      <p:tavLst>
                                        <p:tav tm="0">
                                          <p:val>
                                            <p:strVal val="#ppt_y+.05"/>
                                          </p:val>
                                        </p:tav>
                                        <p:tav tm="100000">
                                          <p:val>
                                            <p:strVal val="#ppt_y"/>
                                          </p:val>
                                        </p:tav>
                                      </p:tavLst>
                                    </p:anim>
                                  </p:childTnLst>
                                </p:cTn>
                              </p:par>
                              <p:par>
                                <p:cTn id="41" presetID="42" presetClass="entr" presetSubtype="0" fill="hold" grpId="0" nodeType="withEffect">
                                  <p:stCondLst>
                                    <p:cond delay="41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50"/>
                                        <p:tgtEl>
                                          <p:spTgt spid="11"/>
                                        </p:tgtEl>
                                      </p:cBhvr>
                                    </p:animEffect>
                                    <p:anim calcmode="lin" valueType="num">
                                      <p:cBhvr>
                                        <p:cTn id="44" dur="650" fill="hold"/>
                                        <p:tgtEl>
                                          <p:spTgt spid="11"/>
                                        </p:tgtEl>
                                        <p:attrNameLst>
                                          <p:attrName>ppt_x</p:attrName>
                                        </p:attrNameLst>
                                      </p:cBhvr>
                                      <p:tavLst>
                                        <p:tav tm="0">
                                          <p:val>
                                            <p:strVal val="#ppt_x"/>
                                          </p:val>
                                        </p:tav>
                                        <p:tav tm="100000">
                                          <p:val>
                                            <p:strVal val="#ppt_x"/>
                                          </p:val>
                                        </p:tav>
                                      </p:tavLst>
                                    </p:anim>
                                    <p:anim calcmode="lin" valueType="num">
                                      <p:cBhvr>
                                        <p:cTn id="45" dur="650" fill="hold"/>
                                        <p:tgtEl>
                                          <p:spTgt spid="11"/>
                                        </p:tgtEl>
                                        <p:attrNameLst>
                                          <p:attrName>ppt_y</p:attrName>
                                        </p:attrNameLst>
                                      </p:cBhvr>
                                      <p:tavLst>
                                        <p:tav tm="0">
                                          <p:val>
                                            <p:strVal val="#ppt_y+.05"/>
                                          </p:val>
                                        </p:tav>
                                        <p:tav tm="100000">
                                          <p:val>
                                            <p:strVal val="#ppt_y"/>
                                          </p:val>
                                        </p:tav>
                                      </p:tavLst>
                                    </p:anim>
                                  </p:childTnLst>
                                </p:cTn>
                              </p:par>
                              <p:par>
                                <p:cTn id="46" presetID="42" presetClass="entr" presetSubtype="0" fill="hold" grpId="0" nodeType="withEffect">
                                  <p:stCondLst>
                                    <p:cond delay="47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650"/>
                                        <p:tgtEl>
                                          <p:spTgt spid="12"/>
                                        </p:tgtEl>
                                      </p:cBhvr>
                                    </p:animEffect>
                                    <p:anim calcmode="lin" valueType="num">
                                      <p:cBhvr>
                                        <p:cTn id="49" dur="650" fill="hold"/>
                                        <p:tgtEl>
                                          <p:spTgt spid="12"/>
                                        </p:tgtEl>
                                        <p:attrNameLst>
                                          <p:attrName>ppt_x</p:attrName>
                                        </p:attrNameLst>
                                      </p:cBhvr>
                                      <p:tavLst>
                                        <p:tav tm="0">
                                          <p:val>
                                            <p:strVal val="#ppt_x"/>
                                          </p:val>
                                        </p:tav>
                                        <p:tav tm="100000">
                                          <p:val>
                                            <p:strVal val="#ppt_x"/>
                                          </p:val>
                                        </p:tav>
                                      </p:tavLst>
                                    </p:anim>
                                    <p:anim calcmode="lin" valueType="num">
                                      <p:cBhvr>
                                        <p:cTn id="50" dur="650" fill="hold"/>
                                        <p:tgtEl>
                                          <p:spTgt spid="12"/>
                                        </p:tgtEl>
                                        <p:attrNameLst>
                                          <p:attrName>ppt_y</p:attrName>
                                        </p:attrNameLst>
                                      </p:cBhvr>
                                      <p:tavLst>
                                        <p:tav tm="0">
                                          <p:val>
                                            <p:strVal val="#ppt_y+.05"/>
                                          </p:val>
                                        </p:tav>
                                        <p:tav tm="100000">
                                          <p:val>
                                            <p:strVal val="#ppt_y"/>
                                          </p:val>
                                        </p:tav>
                                      </p:tavLst>
                                    </p:anim>
                                  </p:childTnLst>
                                </p:cTn>
                              </p:par>
                              <p:par>
                                <p:cTn id="51" presetID="42" presetClass="entr" presetSubtype="0" fill="hold" grpId="0" nodeType="withEffect">
                                  <p:stCondLst>
                                    <p:cond delay="47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650"/>
                                        <p:tgtEl>
                                          <p:spTgt spid="13"/>
                                        </p:tgtEl>
                                      </p:cBhvr>
                                    </p:animEffect>
                                    <p:anim calcmode="lin" valueType="num">
                                      <p:cBhvr>
                                        <p:cTn id="54" dur="650" fill="hold"/>
                                        <p:tgtEl>
                                          <p:spTgt spid="13"/>
                                        </p:tgtEl>
                                        <p:attrNameLst>
                                          <p:attrName>ppt_x</p:attrName>
                                        </p:attrNameLst>
                                      </p:cBhvr>
                                      <p:tavLst>
                                        <p:tav tm="0">
                                          <p:val>
                                            <p:strVal val="#ppt_x"/>
                                          </p:val>
                                        </p:tav>
                                        <p:tav tm="100000">
                                          <p:val>
                                            <p:strVal val="#ppt_x"/>
                                          </p:val>
                                        </p:tav>
                                      </p:tavLst>
                                    </p:anim>
                                    <p:anim calcmode="lin" valueType="num">
                                      <p:cBhvr>
                                        <p:cTn id="55" dur="650" fill="hold"/>
                                        <p:tgtEl>
                                          <p:spTgt spid="13"/>
                                        </p:tgtEl>
                                        <p:attrNameLst>
                                          <p:attrName>ppt_y</p:attrName>
                                        </p:attrNameLst>
                                      </p:cBhvr>
                                      <p:tavLst>
                                        <p:tav tm="0">
                                          <p:val>
                                            <p:strVal val="#ppt_y+.05"/>
                                          </p:val>
                                        </p:tav>
                                        <p:tav tm="100000">
                                          <p:val>
                                            <p:strVal val="#ppt_y"/>
                                          </p:val>
                                        </p:tav>
                                      </p:tavLst>
                                    </p:anim>
                                  </p:childTnLst>
                                </p:cTn>
                              </p:par>
                              <p:par>
                                <p:cTn id="56" presetID="42" presetClass="entr" presetSubtype="0" fill="hold" grpId="0" nodeType="withEffect">
                                  <p:stCondLst>
                                    <p:cond delay="60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650"/>
                                        <p:tgtEl>
                                          <p:spTgt spid="14"/>
                                        </p:tgtEl>
                                      </p:cBhvr>
                                    </p:animEffect>
                                    <p:anim calcmode="lin" valueType="num">
                                      <p:cBhvr>
                                        <p:cTn id="59" dur="650" fill="hold"/>
                                        <p:tgtEl>
                                          <p:spTgt spid="14"/>
                                        </p:tgtEl>
                                        <p:attrNameLst>
                                          <p:attrName>ppt_x</p:attrName>
                                        </p:attrNameLst>
                                      </p:cBhvr>
                                      <p:tavLst>
                                        <p:tav tm="0">
                                          <p:val>
                                            <p:strVal val="#ppt_x"/>
                                          </p:val>
                                        </p:tav>
                                        <p:tav tm="100000">
                                          <p:val>
                                            <p:strVal val="#ppt_x"/>
                                          </p:val>
                                        </p:tav>
                                      </p:tavLst>
                                    </p:anim>
                                    <p:anim calcmode="lin" valueType="num">
                                      <p:cBhvr>
                                        <p:cTn id="60" dur="650" fill="hold"/>
                                        <p:tgtEl>
                                          <p:spTgt spid="14"/>
                                        </p:tgtEl>
                                        <p:attrNameLst>
                                          <p:attrName>ppt_y</p:attrName>
                                        </p:attrNameLst>
                                      </p:cBhvr>
                                      <p:tavLst>
                                        <p:tav tm="0">
                                          <p:val>
                                            <p:strVal val="#ppt_y+.05"/>
                                          </p:val>
                                        </p:tav>
                                        <p:tav tm="100000">
                                          <p:val>
                                            <p:strVal val="#ppt_y"/>
                                          </p:val>
                                        </p:tav>
                                      </p:tavLst>
                                    </p:anim>
                                  </p:childTnLst>
                                </p:cTn>
                              </p:par>
                              <p:par>
                                <p:cTn id="61" presetID="42" presetClass="entr" presetSubtype="0" fill="hold" grpId="0" nodeType="withEffect">
                                  <p:stCondLst>
                                    <p:cond delay="60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650"/>
                                        <p:tgtEl>
                                          <p:spTgt spid="15"/>
                                        </p:tgtEl>
                                      </p:cBhvr>
                                    </p:animEffect>
                                    <p:anim calcmode="lin" valueType="num">
                                      <p:cBhvr>
                                        <p:cTn id="64" dur="650" fill="hold"/>
                                        <p:tgtEl>
                                          <p:spTgt spid="15"/>
                                        </p:tgtEl>
                                        <p:attrNameLst>
                                          <p:attrName>ppt_x</p:attrName>
                                        </p:attrNameLst>
                                      </p:cBhvr>
                                      <p:tavLst>
                                        <p:tav tm="0">
                                          <p:val>
                                            <p:strVal val="#ppt_x"/>
                                          </p:val>
                                        </p:tav>
                                        <p:tav tm="100000">
                                          <p:val>
                                            <p:strVal val="#ppt_x"/>
                                          </p:val>
                                        </p:tav>
                                      </p:tavLst>
                                    </p:anim>
                                    <p:anim calcmode="lin" valueType="num">
                                      <p:cBhvr>
                                        <p:cTn id="65" dur="650" fill="hold"/>
                                        <p:tgtEl>
                                          <p:spTgt spid="15"/>
                                        </p:tgtEl>
                                        <p:attrNameLst>
                                          <p:attrName>ppt_y</p:attrName>
                                        </p:attrNameLst>
                                      </p:cBhvr>
                                      <p:tavLst>
                                        <p:tav tm="0">
                                          <p:val>
                                            <p:strVal val="#ppt_y+.05"/>
                                          </p:val>
                                        </p:tav>
                                        <p:tav tm="100000">
                                          <p:val>
                                            <p:strVal val="#ppt_y"/>
                                          </p:val>
                                        </p:tav>
                                      </p:tavLst>
                                    </p:anim>
                                  </p:childTnLst>
                                </p:cTn>
                              </p:par>
                              <p:par>
                                <p:cTn id="66" presetID="42" presetClass="entr" presetSubtype="0" fill="hold" grpId="0" nodeType="withEffect">
                                  <p:stCondLst>
                                    <p:cond delay="60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650"/>
                                        <p:tgtEl>
                                          <p:spTgt spid="16"/>
                                        </p:tgtEl>
                                      </p:cBhvr>
                                    </p:animEffect>
                                    <p:anim calcmode="lin" valueType="num">
                                      <p:cBhvr>
                                        <p:cTn id="69" dur="650" fill="hold"/>
                                        <p:tgtEl>
                                          <p:spTgt spid="16"/>
                                        </p:tgtEl>
                                        <p:attrNameLst>
                                          <p:attrName>ppt_x</p:attrName>
                                        </p:attrNameLst>
                                      </p:cBhvr>
                                      <p:tavLst>
                                        <p:tav tm="0">
                                          <p:val>
                                            <p:strVal val="#ppt_x"/>
                                          </p:val>
                                        </p:tav>
                                        <p:tav tm="100000">
                                          <p:val>
                                            <p:strVal val="#ppt_x"/>
                                          </p:val>
                                        </p:tav>
                                      </p:tavLst>
                                    </p:anim>
                                    <p:anim calcmode="lin" valueType="num">
                                      <p:cBhvr>
                                        <p:cTn id="70" dur="650" fill="hold"/>
                                        <p:tgtEl>
                                          <p:spTgt spid="16"/>
                                        </p:tgtEl>
                                        <p:attrNameLst>
                                          <p:attrName>ppt_y</p:attrName>
                                        </p:attrNameLst>
                                      </p:cBhvr>
                                      <p:tavLst>
                                        <p:tav tm="0">
                                          <p:val>
                                            <p:strVal val="#ppt_y+.05"/>
                                          </p:val>
                                        </p:tav>
                                        <p:tav tm="100000">
                                          <p:val>
                                            <p:strVal val="#ppt_y"/>
                                          </p:val>
                                        </p:tav>
                                      </p:tavLst>
                                    </p:anim>
                                  </p:childTnLst>
                                </p:cTn>
                              </p:par>
                              <p:par>
                                <p:cTn id="71" presetID="42" presetClass="entr" presetSubtype="0" fill="hold" grpId="0" nodeType="withEffect">
                                  <p:stCondLst>
                                    <p:cond delay="660"/>
                                  </p:stCondLst>
                                  <p:childTnLst>
                                    <p:set>
                                      <p:cBhvr>
                                        <p:cTn id="72" dur="1" fill="hold">
                                          <p:stCondLst>
                                            <p:cond delay="0"/>
                                          </p:stCondLst>
                                        </p:cTn>
                                        <p:tgtEl>
                                          <p:spTgt spid="17"/>
                                        </p:tgtEl>
                                        <p:attrNameLst>
                                          <p:attrName>style.visibility</p:attrName>
                                        </p:attrNameLst>
                                      </p:cBhvr>
                                      <p:to>
                                        <p:strVal val="visible"/>
                                      </p:to>
                                    </p:set>
                                    <p:animEffect transition="in" filter="fade">
                                      <p:cBhvr>
                                        <p:cTn id="73" dur="650"/>
                                        <p:tgtEl>
                                          <p:spTgt spid="17"/>
                                        </p:tgtEl>
                                      </p:cBhvr>
                                    </p:animEffect>
                                    <p:anim calcmode="lin" valueType="num">
                                      <p:cBhvr>
                                        <p:cTn id="74" dur="650" fill="hold"/>
                                        <p:tgtEl>
                                          <p:spTgt spid="17"/>
                                        </p:tgtEl>
                                        <p:attrNameLst>
                                          <p:attrName>ppt_x</p:attrName>
                                        </p:attrNameLst>
                                      </p:cBhvr>
                                      <p:tavLst>
                                        <p:tav tm="0">
                                          <p:val>
                                            <p:strVal val="#ppt_x"/>
                                          </p:val>
                                        </p:tav>
                                        <p:tav tm="100000">
                                          <p:val>
                                            <p:strVal val="#ppt_x"/>
                                          </p:val>
                                        </p:tav>
                                      </p:tavLst>
                                    </p:anim>
                                    <p:anim calcmode="lin" valueType="num">
                                      <p:cBhvr>
                                        <p:cTn id="75" dur="650" fill="hold"/>
                                        <p:tgtEl>
                                          <p:spTgt spid="17"/>
                                        </p:tgtEl>
                                        <p:attrNameLst>
                                          <p:attrName>ppt_y</p:attrName>
                                        </p:attrNameLst>
                                      </p:cBhvr>
                                      <p:tavLst>
                                        <p:tav tm="0">
                                          <p:val>
                                            <p:strVal val="#ppt_y+.05"/>
                                          </p:val>
                                        </p:tav>
                                        <p:tav tm="100000">
                                          <p:val>
                                            <p:strVal val="#ppt_y"/>
                                          </p:val>
                                        </p:tav>
                                      </p:tavLst>
                                    </p:anim>
                                  </p:childTnLst>
                                </p:cTn>
                              </p:par>
                              <p:par>
                                <p:cTn id="76" presetID="42" presetClass="entr" presetSubtype="0" fill="hold" grpId="0" nodeType="withEffect">
                                  <p:stCondLst>
                                    <p:cond delay="660"/>
                                  </p:stCondLst>
                                  <p:childTnLst>
                                    <p:set>
                                      <p:cBhvr>
                                        <p:cTn id="77" dur="1" fill="hold">
                                          <p:stCondLst>
                                            <p:cond delay="0"/>
                                          </p:stCondLst>
                                        </p:cTn>
                                        <p:tgtEl>
                                          <p:spTgt spid="18"/>
                                        </p:tgtEl>
                                        <p:attrNameLst>
                                          <p:attrName>style.visibility</p:attrName>
                                        </p:attrNameLst>
                                      </p:cBhvr>
                                      <p:to>
                                        <p:strVal val="visible"/>
                                      </p:to>
                                    </p:set>
                                    <p:animEffect transition="in" filter="fade">
                                      <p:cBhvr>
                                        <p:cTn id="78" dur="650"/>
                                        <p:tgtEl>
                                          <p:spTgt spid="18"/>
                                        </p:tgtEl>
                                      </p:cBhvr>
                                    </p:animEffect>
                                    <p:anim calcmode="lin" valueType="num">
                                      <p:cBhvr>
                                        <p:cTn id="79" dur="650" fill="hold"/>
                                        <p:tgtEl>
                                          <p:spTgt spid="18"/>
                                        </p:tgtEl>
                                        <p:attrNameLst>
                                          <p:attrName>ppt_x</p:attrName>
                                        </p:attrNameLst>
                                      </p:cBhvr>
                                      <p:tavLst>
                                        <p:tav tm="0">
                                          <p:val>
                                            <p:strVal val="#ppt_x"/>
                                          </p:val>
                                        </p:tav>
                                        <p:tav tm="100000">
                                          <p:val>
                                            <p:strVal val="#ppt_x"/>
                                          </p:val>
                                        </p:tav>
                                      </p:tavLst>
                                    </p:anim>
                                    <p:anim calcmode="lin" valueType="num">
                                      <p:cBhvr>
                                        <p:cTn id="80" dur="650" fill="hold"/>
                                        <p:tgtEl>
                                          <p:spTgt spid="18"/>
                                        </p:tgtEl>
                                        <p:attrNameLst>
                                          <p:attrName>ppt_y</p:attrName>
                                        </p:attrNameLst>
                                      </p:cBhvr>
                                      <p:tavLst>
                                        <p:tav tm="0">
                                          <p:val>
                                            <p:strVal val="#ppt_y+.05"/>
                                          </p:val>
                                        </p:tav>
                                        <p:tav tm="100000">
                                          <p:val>
                                            <p:strVal val="#ppt_y"/>
                                          </p:val>
                                        </p:tav>
                                      </p:tavLst>
                                    </p:anim>
                                  </p:childTnLst>
                                </p:cTn>
                              </p:par>
                              <p:par>
                                <p:cTn id="81" presetID="42" presetClass="entr" presetSubtype="0" fill="hold" grpId="0" nodeType="withEffect">
                                  <p:stCondLst>
                                    <p:cond delay="720"/>
                                  </p:stCondLst>
                                  <p:childTnLst>
                                    <p:set>
                                      <p:cBhvr>
                                        <p:cTn id="82" dur="1" fill="hold">
                                          <p:stCondLst>
                                            <p:cond delay="0"/>
                                          </p:stCondLst>
                                        </p:cTn>
                                        <p:tgtEl>
                                          <p:spTgt spid="19"/>
                                        </p:tgtEl>
                                        <p:attrNameLst>
                                          <p:attrName>style.visibility</p:attrName>
                                        </p:attrNameLst>
                                      </p:cBhvr>
                                      <p:to>
                                        <p:strVal val="visible"/>
                                      </p:to>
                                    </p:set>
                                    <p:animEffect transition="in" filter="fade">
                                      <p:cBhvr>
                                        <p:cTn id="83" dur="650"/>
                                        <p:tgtEl>
                                          <p:spTgt spid="19"/>
                                        </p:tgtEl>
                                      </p:cBhvr>
                                    </p:animEffect>
                                    <p:anim calcmode="lin" valueType="num">
                                      <p:cBhvr>
                                        <p:cTn id="84" dur="650" fill="hold"/>
                                        <p:tgtEl>
                                          <p:spTgt spid="19"/>
                                        </p:tgtEl>
                                        <p:attrNameLst>
                                          <p:attrName>ppt_x</p:attrName>
                                        </p:attrNameLst>
                                      </p:cBhvr>
                                      <p:tavLst>
                                        <p:tav tm="0">
                                          <p:val>
                                            <p:strVal val="#ppt_x"/>
                                          </p:val>
                                        </p:tav>
                                        <p:tav tm="100000">
                                          <p:val>
                                            <p:strVal val="#ppt_x"/>
                                          </p:val>
                                        </p:tav>
                                      </p:tavLst>
                                    </p:anim>
                                    <p:anim calcmode="lin" valueType="num">
                                      <p:cBhvr>
                                        <p:cTn id="85" dur="650" fill="hold"/>
                                        <p:tgtEl>
                                          <p:spTgt spid="19"/>
                                        </p:tgtEl>
                                        <p:attrNameLst>
                                          <p:attrName>ppt_y</p:attrName>
                                        </p:attrNameLst>
                                      </p:cBhvr>
                                      <p:tavLst>
                                        <p:tav tm="0">
                                          <p:val>
                                            <p:strVal val="#ppt_y+.05"/>
                                          </p:val>
                                        </p:tav>
                                        <p:tav tm="100000">
                                          <p:val>
                                            <p:strVal val="#ppt_y"/>
                                          </p:val>
                                        </p:tav>
                                      </p:tavLst>
                                    </p:anim>
                                  </p:childTnLst>
                                </p:cTn>
                              </p:par>
                              <p:par>
                                <p:cTn id="86" presetID="42" presetClass="entr" presetSubtype="0" fill="hold" grpId="0" nodeType="withEffect">
                                  <p:stCondLst>
                                    <p:cond delay="720"/>
                                  </p:stCondLst>
                                  <p:childTnLst>
                                    <p:set>
                                      <p:cBhvr>
                                        <p:cTn id="87" dur="1" fill="hold">
                                          <p:stCondLst>
                                            <p:cond delay="0"/>
                                          </p:stCondLst>
                                        </p:cTn>
                                        <p:tgtEl>
                                          <p:spTgt spid="20"/>
                                        </p:tgtEl>
                                        <p:attrNameLst>
                                          <p:attrName>style.visibility</p:attrName>
                                        </p:attrNameLst>
                                      </p:cBhvr>
                                      <p:to>
                                        <p:strVal val="visible"/>
                                      </p:to>
                                    </p:set>
                                    <p:animEffect transition="in" filter="fade">
                                      <p:cBhvr>
                                        <p:cTn id="88" dur="650"/>
                                        <p:tgtEl>
                                          <p:spTgt spid="20"/>
                                        </p:tgtEl>
                                      </p:cBhvr>
                                    </p:animEffect>
                                    <p:anim calcmode="lin" valueType="num">
                                      <p:cBhvr>
                                        <p:cTn id="89" dur="650" fill="hold"/>
                                        <p:tgtEl>
                                          <p:spTgt spid="20"/>
                                        </p:tgtEl>
                                        <p:attrNameLst>
                                          <p:attrName>ppt_x</p:attrName>
                                        </p:attrNameLst>
                                      </p:cBhvr>
                                      <p:tavLst>
                                        <p:tav tm="0">
                                          <p:val>
                                            <p:strVal val="#ppt_x"/>
                                          </p:val>
                                        </p:tav>
                                        <p:tav tm="100000">
                                          <p:val>
                                            <p:strVal val="#ppt_x"/>
                                          </p:val>
                                        </p:tav>
                                      </p:tavLst>
                                    </p:anim>
                                    <p:anim calcmode="lin" valueType="num">
                                      <p:cBhvr>
                                        <p:cTn id="90" dur="650" fill="hold"/>
                                        <p:tgtEl>
                                          <p:spTgt spid="20"/>
                                        </p:tgtEl>
                                        <p:attrNameLst>
                                          <p:attrName>ppt_y</p:attrName>
                                        </p:attrNameLst>
                                      </p:cBhvr>
                                      <p:tavLst>
                                        <p:tav tm="0">
                                          <p:val>
                                            <p:strVal val="#ppt_y+.05"/>
                                          </p:val>
                                        </p:tav>
                                        <p:tav tm="100000">
                                          <p:val>
                                            <p:strVal val="#ppt_y"/>
                                          </p:val>
                                        </p:tav>
                                      </p:tavLst>
                                    </p:anim>
                                  </p:childTnLst>
                                </p:cTn>
                              </p:par>
                              <p:par>
                                <p:cTn id="91" presetID="42" presetClass="entr" presetSubtype="0" fill="hold" grpId="0" nodeType="withEffect">
                                  <p:stCondLst>
                                    <p:cond delay="780"/>
                                  </p:stCondLst>
                                  <p:childTnLst>
                                    <p:set>
                                      <p:cBhvr>
                                        <p:cTn id="92" dur="1" fill="hold">
                                          <p:stCondLst>
                                            <p:cond delay="0"/>
                                          </p:stCondLst>
                                        </p:cTn>
                                        <p:tgtEl>
                                          <p:spTgt spid="21"/>
                                        </p:tgtEl>
                                        <p:attrNameLst>
                                          <p:attrName>style.visibility</p:attrName>
                                        </p:attrNameLst>
                                      </p:cBhvr>
                                      <p:to>
                                        <p:strVal val="visible"/>
                                      </p:to>
                                    </p:set>
                                    <p:animEffect transition="in" filter="fade">
                                      <p:cBhvr>
                                        <p:cTn id="93" dur="650"/>
                                        <p:tgtEl>
                                          <p:spTgt spid="21"/>
                                        </p:tgtEl>
                                      </p:cBhvr>
                                    </p:animEffect>
                                    <p:anim calcmode="lin" valueType="num">
                                      <p:cBhvr>
                                        <p:cTn id="94" dur="650" fill="hold"/>
                                        <p:tgtEl>
                                          <p:spTgt spid="21"/>
                                        </p:tgtEl>
                                        <p:attrNameLst>
                                          <p:attrName>ppt_x</p:attrName>
                                        </p:attrNameLst>
                                      </p:cBhvr>
                                      <p:tavLst>
                                        <p:tav tm="0">
                                          <p:val>
                                            <p:strVal val="#ppt_x"/>
                                          </p:val>
                                        </p:tav>
                                        <p:tav tm="100000">
                                          <p:val>
                                            <p:strVal val="#ppt_x"/>
                                          </p:val>
                                        </p:tav>
                                      </p:tavLst>
                                    </p:anim>
                                    <p:anim calcmode="lin" valueType="num">
                                      <p:cBhvr>
                                        <p:cTn id="95" dur="650" fill="hold"/>
                                        <p:tgtEl>
                                          <p:spTgt spid="21"/>
                                        </p:tgtEl>
                                        <p:attrNameLst>
                                          <p:attrName>ppt_y</p:attrName>
                                        </p:attrNameLst>
                                      </p:cBhvr>
                                      <p:tavLst>
                                        <p:tav tm="0">
                                          <p:val>
                                            <p:strVal val="#ppt_y+.05"/>
                                          </p:val>
                                        </p:tav>
                                        <p:tav tm="100000">
                                          <p:val>
                                            <p:strVal val="#ppt_y"/>
                                          </p:val>
                                        </p:tav>
                                      </p:tavLst>
                                    </p:anim>
                                  </p:childTnLst>
                                </p:cTn>
                              </p:par>
                              <p:par>
                                <p:cTn id="96" presetID="42" presetClass="entr" presetSubtype="0" fill="hold" grpId="0" nodeType="withEffect">
                                  <p:stCondLst>
                                    <p:cond delay="780"/>
                                  </p:stCondLst>
                                  <p:childTnLst>
                                    <p:set>
                                      <p:cBhvr>
                                        <p:cTn id="97" dur="1" fill="hold">
                                          <p:stCondLst>
                                            <p:cond delay="0"/>
                                          </p:stCondLst>
                                        </p:cTn>
                                        <p:tgtEl>
                                          <p:spTgt spid="22"/>
                                        </p:tgtEl>
                                        <p:attrNameLst>
                                          <p:attrName>style.visibility</p:attrName>
                                        </p:attrNameLst>
                                      </p:cBhvr>
                                      <p:to>
                                        <p:strVal val="visible"/>
                                      </p:to>
                                    </p:set>
                                    <p:animEffect transition="in" filter="fade">
                                      <p:cBhvr>
                                        <p:cTn id="98" dur="650"/>
                                        <p:tgtEl>
                                          <p:spTgt spid="22"/>
                                        </p:tgtEl>
                                      </p:cBhvr>
                                    </p:animEffect>
                                    <p:anim calcmode="lin" valueType="num">
                                      <p:cBhvr>
                                        <p:cTn id="99" dur="650" fill="hold"/>
                                        <p:tgtEl>
                                          <p:spTgt spid="22"/>
                                        </p:tgtEl>
                                        <p:attrNameLst>
                                          <p:attrName>ppt_x</p:attrName>
                                        </p:attrNameLst>
                                      </p:cBhvr>
                                      <p:tavLst>
                                        <p:tav tm="0">
                                          <p:val>
                                            <p:strVal val="#ppt_x"/>
                                          </p:val>
                                        </p:tav>
                                        <p:tav tm="100000">
                                          <p:val>
                                            <p:strVal val="#ppt_x"/>
                                          </p:val>
                                        </p:tav>
                                      </p:tavLst>
                                    </p:anim>
                                    <p:anim calcmode="lin" valueType="num">
                                      <p:cBhvr>
                                        <p:cTn id="100" dur="650" fill="hold"/>
                                        <p:tgtEl>
                                          <p:spTgt spid="22"/>
                                        </p:tgtEl>
                                        <p:attrNameLst>
                                          <p:attrName>ppt_y</p:attrName>
                                        </p:attrNameLst>
                                      </p:cBhvr>
                                      <p:tavLst>
                                        <p:tav tm="0">
                                          <p:val>
                                            <p:strVal val="#ppt_y+.05"/>
                                          </p:val>
                                        </p:tav>
                                        <p:tav tm="100000">
                                          <p:val>
                                            <p:strVal val="#ppt_y"/>
                                          </p:val>
                                        </p:tav>
                                      </p:tavLst>
                                    </p:anim>
                                  </p:childTnLst>
                                </p:cTn>
                              </p:par>
                              <p:par>
                                <p:cTn id="101" presetID="42" presetClass="entr" presetSubtype="0" fill="hold" grpId="0" nodeType="withEffect">
                                  <p:stCondLst>
                                    <p:cond delay="840"/>
                                  </p:stCondLst>
                                  <p:childTnLst>
                                    <p:set>
                                      <p:cBhvr>
                                        <p:cTn id="102" dur="1" fill="hold">
                                          <p:stCondLst>
                                            <p:cond delay="0"/>
                                          </p:stCondLst>
                                        </p:cTn>
                                        <p:tgtEl>
                                          <p:spTgt spid="23"/>
                                        </p:tgtEl>
                                        <p:attrNameLst>
                                          <p:attrName>style.visibility</p:attrName>
                                        </p:attrNameLst>
                                      </p:cBhvr>
                                      <p:to>
                                        <p:strVal val="visible"/>
                                      </p:to>
                                    </p:set>
                                    <p:animEffect transition="in" filter="fade">
                                      <p:cBhvr>
                                        <p:cTn id="103" dur="650"/>
                                        <p:tgtEl>
                                          <p:spTgt spid="23"/>
                                        </p:tgtEl>
                                      </p:cBhvr>
                                    </p:animEffect>
                                    <p:anim calcmode="lin" valueType="num">
                                      <p:cBhvr>
                                        <p:cTn id="104" dur="650" fill="hold"/>
                                        <p:tgtEl>
                                          <p:spTgt spid="23"/>
                                        </p:tgtEl>
                                        <p:attrNameLst>
                                          <p:attrName>ppt_x</p:attrName>
                                        </p:attrNameLst>
                                      </p:cBhvr>
                                      <p:tavLst>
                                        <p:tav tm="0">
                                          <p:val>
                                            <p:strVal val="#ppt_x"/>
                                          </p:val>
                                        </p:tav>
                                        <p:tav tm="100000">
                                          <p:val>
                                            <p:strVal val="#ppt_x"/>
                                          </p:val>
                                        </p:tav>
                                      </p:tavLst>
                                    </p:anim>
                                    <p:anim calcmode="lin" valueType="num">
                                      <p:cBhvr>
                                        <p:cTn id="105" dur="650" fill="hold"/>
                                        <p:tgtEl>
                                          <p:spTgt spid="23"/>
                                        </p:tgtEl>
                                        <p:attrNameLst>
                                          <p:attrName>ppt_y</p:attrName>
                                        </p:attrNameLst>
                                      </p:cBhvr>
                                      <p:tavLst>
                                        <p:tav tm="0">
                                          <p:val>
                                            <p:strVal val="#ppt_y+.05"/>
                                          </p:val>
                                        </p:tav>
                                        <p:tav tm="100000">
                                          <p:val>
                                            <p:strVal val="#ppt_y"/>
                                          </p:val>
                                        </p:tav>
                                      </p:tavLst>
                                    </p:anim>
                                  </p:childTnLst>
                                </p:cTn>
                              </p:par>
                              <p:par>
                                <p:cTn id="106" presetID="42" presetClass="entr" presetSubtype="0" fill="hold" grpId="0" nodeType="withEffect">
                                  <p:stCondLst>
                                    <p:cond delay="840"/>
                                  </p:stCondLst>
                                  <p:childTnLst>
                                    <p:set>
                                      <p:cBhvr>
                                        <p:cTn id="107" dur="1" fill="hold">
                                          <p:stCondLst>
                                            <p:cond delay="0"/>
                                          </p:stCondLst>
                                        </p:cTn>
                                        <p:tgtEl>
                                          <p:spTgt spid="24"/>
                                        </p:tgtEl>
                                        <p:attrNameLst>
                                          <p:attrName>style.visibility</p:attrName>
                                        </p:attrNameLst>
                                      </p:cBhvr>
                                      <p:to>
                                        <p:strVal val="visible"/>
                                      </p:to>
                                    </p:set>
                                    <p:animEffect transition="in" filter="fade">
                                      <p:cBhvr>
                                        <p:cTn id="108" dur="650"/>
                                        <p:tgtEl>
                                          <p:spTgt spid="24"/>
                                        </p:tgtEl>
                                      </p:cBhvr>
                                    </p:animEffect>
                                    <p:anim calcmode="lin" valueType="num">
                                      <p:cBhvr>
                                        <p:cTn id="109" dur="650" fill="hold"/>
                                        <p:tgtEl>
                                          <p:spTgt spid="24"/>
                                        </p:tgtEl>
                                        <p:attrNameLst>
                                          <p:attrName>ppt_x</p:attrName>
                                        </p:attrNameLst>
                                      </p:cBhvr>
                                      <p:tavLst>
                                        <p:tav tm="0">
                                          <p:val>
                                            <p:strVal val="#ppt_x"/>
                                          </p:val>
                                        </p:tav>
                                        <p:tav tm="100000">
                                          <p:val>
                                            <p:strVal val="#ppt_x"/>
                                          </p:val>
                                        </p:tav>
                                      </p:tavLst>
                                    </p:anim>
                                    <p:anim calcmode="lin" valueType="num">
                                      <p:cBhvr>
                                        <p:cTn id="110" dur="650" fill="hold"/>
                                        <p:tgtEl>
                                          <p:spTgt spid="24"/>
                                        </p:tgtEl>
                                        <p:attrNameLst>
                                          <p:attrName>ppt_y</p:attrName>
                                        </p:attrNameLst>
                                      </p:cBhvr>
                                      <p:tavLst>
                                        <p:tav tm="0">
                                          <p:val>
                                            <p:strVal val="#ppt_y+.05"/>
                                          </p:val>
                                        </p:tav>
                                        <p:tav tm="100000">
                                          <p:val>
                                            <p:strVal val="#ppt_y"/>
                                          </p:val>
                                        </p:tav>
                                      </p:tavLst>
                                    </p:anim>
                                  </p:childTnLst>
                                </p:cTn>
                              </p:par>
                              <p:par>
                                <p:cTn id="111" presetID="42" presetClass="entr" presetSubtype="0" fill="hold" grpId="0" nodeType="withEffect">
                                  <p:stCondLst>
                                    <p:cond delay="900"/>
                                  </p:stCondLst>
                                  <p:childTnLst>
                                    <p:set>
                                      <p:cBhvr>
                                        <p:cTn id="112" dur="1" fill="hold">
                                          <p:stCondLst>
                                            <p:cond delay="0"/>
                                          </p:stCondLst>
                                        </p:cTn>
                                        <p:tgtEl>
                                          <p:spTgt spid="25"/>
                                        </p:tgtEl>
                                        <p:attrNameLst>
                                          <p:attrName>style.visibility</p:attrName>
                                        </p:attrNameLst>
                                      </p:cBhvr>
                                      <p:to>
                                        <p:strVal val="visible"/>
                                      </p:to>
                                    </p:set>
                                    <p:animEffect transition="in" filter="fade">
                                      <p:cBhvr>
                                        <p:cTn id="113" dur="650"/>
                                        <p:tgtEl>
                                          <p:spTgt spid="25"/>
                                        </p:tgtEl>
                                      </p:cBhvr>
                                    </p:animEffect>
                                    <p:anim calcmode="lin" valueType="num">
                                      <p:cBhvr>
                                        <p:cTn id="114" dur="650" fill="hold"/>
                                        <p:tgtEl>
                                          <p:spTgt spid="25"/>
                                        </p:tgtEl>
                                        <p:attrNameLst>
                                          <p:attrName>ppt_x</p:attrName>
                                        </p:attrNameLst>
                                      </p:cBhvr>
                                      <p:tavLst>
                                        <p:tav tm="0">
                                          <p:val>
                                            <p:strVal val="#ppt_x"/>
                                          </p:val>
                                        </p:tav>
                                        <p:tav tm="100000">
                                          <p:val>
                                            <p:strVal val="#ppt_x"/>
                                          </p:val>
                                        </p:tav>
                                      </p:tavLst>
                                    </p:anim>
                                    <p:anim calcmode="lin" valueType="num">
                                      <p:cBhvr>
                                        <p:cTn id="115" dur="650" fill="hold"/>
                                        <p:tgtEl>
                                          <p:spTgt spid="25"/>
                                        </p:tgtEl>
                                        <p:attrNameLst>
                                          <p:attrName>ppt_y</p:attrName>
                                        </p:attrNameLst>
                                      </p:cBhvr>
                                      <p:tavLst>
                                        <p:tav tm="0">
                                          <p:val>
                                            <p:strVal val="#ppt_y+.05"/>
                                          </p:val>
                                        </p:tav>
                                        <p:tav tm="100000">
                                          <p:val>
                                            <p:strVal val="#ppt_y"/>
                                          </p:val>
                                        </p:tav>
                                      </p:tavLst>
                                    </p:anim>
                                  </p:childTnLst>
                                </p:cTn>
                              </p:par>
                              <p:par>
                                <p:cTn id="116" presetID="42" presetClass="entr" presetSubtype="0" fill="hold" grpId="0" nodeType="withEffect">
                                  <p:stCondLst>
                                    <p:cond delay="900"/>
                                  </p:stCondLst>
                                  <p:childTnLst>
                                    <p:set>
                                      <p:cBhvr>
                                        <p:cTn id="117" dur="1" fill="hold">
                                          <p:stCondLst>
                                            <p:cond delay="0"/>
                                          </p:stCondLst>
                                        </p:cTn>
                                        <p:tgtEl>
                                          <p:spTgt spid="26"/>
                                        </p:tgtEl>
                                        <p:attrNameLst>
                                          <p:attrName>style.visibility</p:attrName>
                                        </p:attrNameLst>
                                      </p:cBhvr>
                                      <p:to>
                                        <p:strVal val="visible"/>
                                      </p:to>
                                    </p:set>
                                    <p:animEffect transition="in" filter="fade">
                                      <p:cBhvr>
                                        <p:cTn id="118" dur="650"/>
                                        <p:tgtEl>
                                          <p:spTgt spid="26"/>
                                        </p:tgtEl>
                                      </p:cBhvr>
                                    </p:animEffect>
                                    <p:anim calcmode="lin" valueType="num">
                                      <p:cBhvr>
                                        <p:cTn id="119" dur="650" fill="hold"/>
                                        <p:tgtEl>
                                          <p:spTgt spid="26"/>
                                        </p:tgtEl>
                                        <p:attrNameLst>
                                          <p:attrName>ppt_x</p:attrName>
                                        </p:attrNameLst>
                                      </p:cBhvr>
                                      <p:tavLst>
                                        <p:tav tm="0">
                                          <p:val>
                                            <p:strVal val="#ppt_x"/>
                                          </p:val>
                                        </p:tav>
                                        <p:tav tm="100000">
                                          <p:val>
                                            <p:strVal val="#ppt_x"/>
                                          </p:val>
                                        </p:tav>
                                      </p:tavLst>
                                    </p:anim>
                                    <p:anim calcmode="lin" valueType="num">
                                      <p:cBhvr>
                                        <p:cTn id="120" dur="650" fill="hold"/>
                                        <p:tgtEl>
                                          <p:spTgt spid="26"/>
                                        </p:tgtEl>
                                        <p:attrNameLst>
                                          <p:attrName>ppt_y</p:attrName>
                                        </p:attrNameLst>
                                      </p:cBhvr>
                                      <p:tavLst>
                                        <p:tav tm="0">
                                          <p:val>
                                            <p:strVal val="#ppt_y+.05"/>
                                          </p:val>
                                        </p:tav>
                                        <p:tav tm="100000">
                                          <p:val>
                                            <p:strVal val="#ppt_y"/>
                                          </p:val>
                                        </p:tav>
                                      </p:tavLst>
                                    </p:anim>
                                  </p:childTnLst>
                                </p:cTn>
                              </p:par>
                              <p:par>
                                <p:cTn id="121" presetID="42" presetClass="entr" presetSubtype="0" fill="hold" grpId="0" nodeType="withEffect">
                                  <p:stCondLst>
                                    <p:cond delay="1000"/>
                                  </p:stCondLst>
                                  <p:childTnLst>
                                    <p:set>
                                      <p:cBhvr>
                                        <p:cTn id="122" dur="1" fill="hold">
                                          <p:stCondLst>
                                            <p:cond delay="0"/>
                                          </p:stCondLst>
                                        </p:cTn>
                                        <p:tgtEl>
                                          <p:spTgt spid="27"/>
                                        </p:tgtEl>
                                        <p:attrNameLst>
                                          <p:attrName>style.visibility</p:attrName>
                                        </p:attrNameLst>
                                      </p:cBhvr>
                                      <p:to>
                                        <p:strVal val="visible"/>
                                      </p:to>
                                    </p:set>
                                    <p:animEffect transition="in" filter="fade">
                                      <p:cBhvr>
                                        <p:cTn id="123" dur="650"/>
                                        <p:tgtEl>
                                          <p:spTgt spid="27"/>
                                        </p:tgtEl>
                                      </p:cBhvr>
                                    </p:animEffect>
                                    <p:anim calcmode="lin" valueType="num">
                                      <p:cBhvr>
                                        <p:cTn id="124" dur="650" fill="hold"/>
                                        <p:tgtEl>
                                          <p:spTgt spid="27"/>
                                        </p:tgtEl>
                                        <p:attrNameLst>
                                          <p:attrName>ppt_x</p:attrName>
                                        </p:attrNameLst>
                                      </p:cBhvr>
                                      <p:tavLst>
                                        <p:tav tm="0">
                                          <p:val>
                                            <p:strVal val="#ppt_x"/>
                                          </p:val>
                                        </p:tav>
                                        <p:tav tm="100000">
                                          <p:val>
                                            <p:strVal val="#ppt_x"/>
                                          </p:val>
                                        </p:tav>
                                      </p:tavLst>
                                    </p:anim>
                                    <p:anim calcmode="lin" valueType="num">
                                      <p:cBhvr>
                                        <p:cTn id="125" dur="650" fill="hold"/>
                                        <p:tgtEl>
                                          <p:spTgt spid="27"/>
                                        </p:tgtEl>
                                        <p:attrNameLst>
                                          <p:attrName>ppt_y</p:attrName>
                                        </p:attrNameLst>
                                      </p:cBhvr>
                                      <p:tavLst>
                                        <p:tav tm="0">
                                          <p:val>
                                            <p:strVal val="#ppt_y+.05"/>
                                          </p:val>
                                        </p:tav>
                                        <p:tav tm="100000">
                                          <p:val>
                                            <p:strVal val="#ppt_y"/>
                                          </p:val>
                                        </p:tav>
                                      </p:tavLst>
                                    </p:anim>
                                  </p:childTnLst>
                                </p:cTn>
                              </p:par>
                              <p:par>
                                <p:cTn id="126" presetID="42" presetClass="entr" presetSubtype="0" fill="hold" grpId="0" nodeType="withEffect">
                                  <p:stCondLst>
                                    <p:cond delay="1000"/>
                                  </p:stCondLst>
                                  <p:childTnLst>
                                    <p:set>
                                      <p:cBhvr>
                                        <p:cTn id="127" dur="1" fill="hold">
                                          <p:stCondLst>
                                            <p:cond delay="0"/>
                                          </p:stCondLst>
                                        </p:cTn>
                                        <p:tgtEl>
                                          <p:spTgt spid="28"/>
                                        </p:tgtEl>
                                        <p:attrNameLst>
                                          <p:attrName>style.visibility</p:attrName>
                                        </p:attrNameLst>
                                      </p:cBhvr>
                                      <p:to>
                                        <p:strVal val="visible"/>
                                      </p:to>
                                    </p:set>
                                    <p:animEffect transition="in" filter="fade">
                                      <p:cBhvr>
                                        <p:cTn id="128" dur="650"/>
                                        <p:tgtEl>
                                          <p:spTgt spid="28"/>
                                        </p:tgtEl>
                                      </p:cBhvr>
                                    </p:animEffect>
                                    <p:anim calcmode="lin" valueType="num">
                                      <p:cBhvr>
                                        <p:cTn id="129" dur="650" fill="hold"/>
                                        <p:tgtEl>
                                          <p:spTgt spid="28"/>
                                        </p:tgtEl>
                                        <p:attrNameLst>
                                          <p:attrName>ppt_x</p:attrName>
                                        </p:attrNameLst>
                                      </p:cBhvr>
                                      <p:tavLst>
                                        <p:tav tm="0">
                                          <p:val>
                                            <p:strVal val="#ppt_x"/>
                                          </p:val>
                                        </p:tav>
                                        <p:tav tm="100000">
                                          <p:val>
                                            <p:strVal val="#ppt_x"/>
                                          </p:val>
                                        </p:tav>
                                      </p:tavLst>
                                    </p:anim>
                                    <p:anim calcmode="lin" valueType="num">
                                      <p:cBhvr>
                                        <p:cTn id="130" dur="650" fill="hold"/>
                                        <p:tgtEl>
                                          <p:spTgt spid="28"/>
                                        </p:tgtEl>
                                        <p:attrNameLst>
                                          <p:attrName>ppt_y</p:attrName>
                                        </p:attrNameLst>
                                      </p:cBhvr>
                                      <p:tavLst>
                                        <p:tav tm="0">
                                          <p:val>
                                            <p:strVal val="#ppt_y+.05"/>
                                          </p:val>
                                        </p:tav>
                                        <p:tav tm="100000">
                                          <p:val>
                                            <p:strVal val="#ppt_y"/>
                                          </p:val>
                                        </p:tav>
                                      </p:tavLst>
                                    </p:anim>
                                  </p:childTnLst>
                                </p:cTn>
                              </p:par>
                              <p:par>
                                <p:cTn id="131" presetID="42" presetClass="entr" presetSubtype="0" fill="hold" grpId="0" nodeType="withEffect">
                                  <p:stCondLst>
                                    <p:cond delay="1000"/>
                                  </p:stCondLst>
                                  <p:childTnLst>
                                    <p:set>
                                      <p:cBhvr>
                                        <p:cTn id="132" dur="1" fill="hold">
                                          <p:stCondLst>
                                            <p:cond delay="0"/>
                                          </p:stCondLst>
                                        </p:cTn>
                                        <p:tgtEl>
                                          <p:spTgt spid="29"/>
                                        </p:tgtEl>
                                        <p:attrNameLst>
                                          <p:attrName>style.visibility</p:attrName>
                                        </p:attrNameLst>
                                      </p:cBhvr>
                                      <p:to>
                                        <p:strVal val="visible"/>
                                      </p:to>
                                    </p:set>
                                    <p:animEffect transition="in" filter="fade">
                                      <p:cBhvr>
                                        <p:cTn id="133" dur="650"/>
                                        <p:tgtEl>
                                          <p:spTgt spid="29"/>
                                        </p:tgtEl>
                                      </p:cBhvr>
                                    </p:animEffect>
                                    <p:anim calcmode="lin" valueType="num">
                                      <p:cBhvr>
                                        <p:cTn id="134" dur="650" fill="hold"/>
                                        <p:tgtEl>
                                          <p:spTgt spid="29"/>
                                        </p:tgtEl>
                                        <p:attrNameLst>
                                          <p:attrName>ppt_x</p:attrName>
                                        </p:attrNameLst>
                                      </p:cBhvr>
                                      <p:tavLst>
                                        <p:tav tm="0">
                                          <p:val>
                                            <p:strVal val="#ppt_x"/>
                                          </p:val>
                                        </p:tav>
                                        <p:tav tm="100000">
                                          <p:val>
                                            <p:strVal val="#ppt_x"/>
                                          </p:val>
                                        </p:tav>
                                      </p:tavLst>
                                    </p:anim>
                                    <p:anim calcmode="lin" valueType="num">
                                      <p:cBhvr>
                                        <p:cTn id="135" dur="650" fill="hold"/>
                                        <p:tgtEl>
                                          <p:spTgt spid="29"/>
                                        </p:tgtEl>
                                        <p:attrNameLst>
                                          <p:attrName>ppt_y</p:attrName>
                                        </p:attrNameLst>
                                      </p:cBhvr>
                                      <p:tavLst>
                                        <p:tav tm="0">
                                          <p:val>
                                            <p:strVal val="#ppt_y+.05"/>
                                          </p:val>
                                        </p:tav>
                                        <p:tav tm="100000">
                                          <p:val>
                                            <p:strVal val="#ppt_y"/>
                                          </p:val>
                                        </p:tav>
                                      </p:tavLst>
                                    </p:anim>
                                  </p:childTnLst>
                                </p:cTn>
                              </p:par>
                              <p:par>
                                <p:cTn id="136" presetID="42" presetClass="entr" presetSubtype="0" fill="hold" grpId="0" nodeType="withEffect">
                                  <p:stCondLst>
                                    <p:cond delay="1000"/>
                                  </p:stCondLst>
                                  <p:childTnLst>
                                    <p:set>
                                      <p:cBhvr>
                                        <p:cTn id="137" dur="1" fill="hold">
                                          <p:stCondLst>
                                            <p:cond delay="0"/>
                                          </p:stCondLst>
                                        </p:cTn>
                                        <p:tgtEl>
                                          <p:spTgt spid="30"/>
                                        </p:tgtEl>
                                        <p:attrNameLst>
                                          <p:attrName>style.visibility</p:attrName>
                                        </p:attrNameLst>
                                      </p:cBhvr>
                                      <p:to>
                                        <p:strVal val="visible"/>
                                      </p:to>
                                    </p:set>
                                    <p:animEffect transition="in" filter="fade">
                                      <p:cBhvr>
                                        <p:cTn id="138" dur="650"/>
                                        <p:tgtEl>
                                          <p:spTgt spid="30"/>
                                        </p:tgtEl>
                                      </p:cBhvr>
                                    </p:animEffect>
                                    <p:anim calcmode="lin" valueType="num">
                                      <p:cBhvr>
                                        <p:cTn id="139" dur="650" fill="hold"/>
                                        <p:tgtEl>
                                          <p:spTgt spid="30"/>
                                        </p:tgtEl>
                                        <p:attrNameLst>
                                          <p:attrName>ppt_x</p:attrName>
                                        </p:attrNameLst>
                                      </p:cBhvr>
                                      <p:tavLst>
                                        <p:tav tm="0">
                                          <p:val>
                                            <p:strVal val="#ppt_x"/>
                                          </p:val>
                                        </p:tav>
                                        <p:tav tm="100000">
                                          <p:val>
                                            <p:strVal val="#ppt_x"/>
                                          </p:val>
                                        </p:tav>
                                      </p:tavLst>
                                    </p:anim>
                                    <p:anim calcmode="lin" valueType="num">
                                      <p:cBhvr>
                                        <p:cTn id="140" dur="650" fill="hold"/>
                                        <p:tgtEl>
                                          <p:spTgt spid="30"/>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9" grpId="0" animBg="1"/>
      <p:bldP spid="3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eyebrow"/>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100" b="1" spc="200" kern="0" dirty="0">
                <a:solidFill>
                  <a:srgbClr val="B3441A"/>
                </a:solidFill>
                <a:latin typeface="Arial" pitchFamily="34" charset="0"/>
                <a:ea typeface="Arial" pitchFamily="34" charset="-122"/>
                <a:cs typeface="Arial" pitchFamily="34" charset="-120"/>
              </a:rPr>
              <a:t>EVERY ROLE</a:t>
            </a:r>
            <a:endParaRPr lang="en-US" sz="1100" dirty="0"/>
          </a:p>
        </p:txBody>
      </p:sp>
      <p:sp>
        <p:nvSpPr>
          <p:cNvPr id="4" name="Text 1"/>
          <p:cNvSpPr/>
          <p:nvPr>
            <p:ph idx="101" type="title" hasCustomPrompt="1"/>
          </p:nvPr>
        </p:nvSpPr>
        <p:spPr>
          <a:xfrm>
            <a:off x="548640" y="841248"/>
            <a:ext cx="11094415" cy="731520"/>
          </a:xfrm>
          <a:prstGeom prst="rect">
            <a:avLst/>
          </a:prstGeom>
          <a:noFill/>
          <a:ln/>
        </p:spPr>
        <p:txBody>
          <a:bodyPr wrap="square" lIns="0" tIns="0" rIns="0" bIns="0" rtlCol="0" anchor="t"/>
          <a:lstStyle/>
          <a:p>
            <a:pPr algn="l" indent="0" marL="0">
              <a:buNone/>
            </a:pPr>
            <a:r>
              <a:rPr lang="en-US" sz="3600" b="1" dirty="0">
                <a:solidFill>
                  <a:srgbClr val="1D1D1F"/>
                </a:solidFill>
                <a:latin typeface="Arial" pitchFamily="34" charset="0"/>
                <a:ea typeface="Arial" pitchFamily="34" charset="-122"/>
                <a:cs typeface="Arial" pitchFamily="34" charset="-120"/>
              </a:rPr>
              <a:t>A page for every role</a:t>
            </a:r>
            <a:endParaRPr lang="en-US" sz="3600" dirty="0"/>
          </a:p>
        </p:txBody>
      </p:sp>
      <p:sp>
        <p:nvSpPr>
          <p:cNvPr id="5" name="card"/>
          <p:cNvSpPr/>
          <p:nvPr/>
        </p:nvSpPr>
        <p:spPr>
          <a:xfrm>
            <a:off x="548640" y="1783080"/>
            <a:ext cx="5989320" cy="530352"/>
          </a:xfrm>
          <a:prstGeom prst="roundRect">
            <a:avLst>
              <a:gd name="adj" fmla="val 17241"/>
            </a:avLst>
          </a:prstGeom>
          <a:solidFill>
            <a:srgbClr val="FFFFFF"/>
          </a:solidFill>
          <a:ln w="9525">
            <a:solidFill>
              <a:srgbClr val="E5E5EA"/>
            </a:solidFill>
            <a:prstDash val="solid"/>
          </a:ln>
        </p:spPr>
      </p:sp>
      <p:sp>
        <p:nvSpPr>
          <p:cNvPr id="6" name="dot-up"/>
          <p:cNvSpPr/>
          <p:nvPr/>
        </p:nvSpPr>
        <p:spPr>
          <a:xfrm>
            <a:off x="676656" y="1865376"/>
            <a:ext cx="365760" cy="365760"/>
          </a:xfrm>
          <a:prstGeom prst="ellipse">
            <a:avLst/>
          </a:prstGeom>
          <a:solidFill>
            <a:srgbClr val="C4511A"/>
          </a:solidFill>
          <a:ln/>
        </p:spPr>
      </p:sp>
      <p:pic>
        <p:nvPicPr>
          <p:cNvPr id="7" name="icon-up" descr="">    </p:cNvPr>
          <p:cNvPicPr>
            <a:picLocks noChangeAspect="1"/>
          </p:cNvPicPr>
          <p:nvPr/>
        </p:nvPicPr>
        <p:blipFill>
          <a:blip r:embed="rId1"/>
          <a:stretch>
            <a:fillRect/>
          </a:stretch>
        </p:blipFill>
        <p:spPr>
          <a:xfrm>
            <a:off x="764438" y="1953158"/>
            <a:ext cx="190195" cy="190195"/>
          </a:xfrm>
          <a:prstGeom prst="rect">
            <a:avLst/>
          </a:prstGeom>
        </p:spPr>
      </p:pic>
      <p:sp>
        <p:nvSpPr>
          <p:cNvPr id="8" name="h"/>
          <p:cNvSpPr txBox="1"/>
          <p:nvPr/>
        </p:nvSpPr>
        <p:spPr>
          <a:xfrm>
            <a:off x="1207008" y="1783080"/>
            <a:ext cx="1691640" cy="530352"/>
          </a:xfrm>
          <a:prstGeom prst="rect">
            <a:avLst/>
          </a:prstGeom>
          <a:noFill/>
          <a:ln/>
        </p:spPr>
        <p:txBody>
          <a:bodyPr wrap="square" lIns="0" tIns="0" rIns="0" bIns="0" rtlCol="0" anchor="ctr"/>
          <a:lstStyle/>
          <a:p>
            <a:pPr indent="0" marL="0">
              <a:buNone/>
            </a:pPr>
            <a:r>
              <a:rPr lang="en-US" sz="1600" b="1" dirty="0">
                <a:solidFill>
                  <a:srgbClr val="1D1D1F"/>
                </a:solidFill>
                <a:latin typeface="Arial" pitchFamily="34" charset="0"/>
                <a:ea typeface="Arial" pitchFamily="34" charset="-122"/>
                <a:cs typeface="Arial" pitchFamily="34" charset="-120"/>
              </a:rPr>
              <a:t>WFM analyst</a:t>
            </a:r>
            <a:endParaRPr lang="en-US" sz="1600" dirty="0"/>
          </a:p>
        </p:txBody>
      </p:sp>
      <p:sp>
        <p:nvSpPr>
          <p:cNvPr id="9" name="t"/>
          <p:cNvSpPr txBox="1"/>
          <p:nvPr/>
        </p:nvSpPr>
        <p:spPr>
          <a:xfrm>
            <a:off x="2926080" y="1783080"/>
            <a:ext cx="3474720" cy="530352"/>
          </a:xfrm>
          <a:prstGeom prst="rect">
            <a:avLst/>
          </a:prstGeom>
          <a:noFill/>
          <a:ln/>
        </p:spPr>
        <p:txBody>
          <a:bodyPr wrap="square" lIns="0" tIns="0" rIns="0" bIns="0" rtlCol="0" anchor="ctr"/>
          <a:lstStyle/>
          <a:p>
            <a:pPr indent="0" marL="0">
              <a:buNone/>
            </a:pPr>
            <a:r>
              <a:rPr lang="en-US" sz="1400" dirty="0">
                <a:solidFill>
                  <a:srgbClr val="58585D"/>
                </a:solidFill>
                <a:latin typeface="Arial" pitchFamily="34" charset="0"/>
                <a:ea typeface="Arial" pitchFamily="34" charset="-122"/>
                <a:cs typeface="Arial" pitchFamily="34" charset="-120"/>
              </a:rPr>
              <a:t>Builds the month and the daily emails</a:t>
            </a:r>
            <a:endParaRPr lang="en-US" sz="1400" dirty="0"/>
          </a:p>
        </p:txBody>
      </p:sp>
      <p:sp>
        <p:nvSpPr>
          <p:cNvPr id="10" name="card"/>
          <p:cNvSpPr/>
          <p:nvPr/>
        </p:nvSpPr>
        <p:spPr>
          <a:xfrm>
            <a:off x="548640" y="2395728"/>
            <a:ext cx="5989320" cy="530352"/>
          </a:xfrm>
          <a:prstGeom prst="roundRect">
            <a:avLst>
              <a:gd name="adj" fmla="val 17241"/>
            </a:avLst>
          </a:prstGeom>
          <a:solidFill>
            <a:srgbClr val="FFFFFF"/>
          </a:solidFill>
          <a:ln w="9525">
            <a:solidFill>
              <a:srgbClr val="E5E5EA"/>
            </a:solidFill>
            <a:prstDash val="solid"/>
          </a:ln>
        </p:spPr>
      </p:sp>
      <p:sp>
        <p:nvSpPr>
          <p:cNvPr id="11" name="dot-mail"/>
          <p:cNvSpPr/>
          <p:nvPr/>
        </p:nvSpPr>
        <p:spPr>
          <a:xfrm>
            <a:off x="676656" y="2478024"/>
            <a:ext cx="365760" cy="365760"/>
          </a:xfrm>
          <a:prstGeom prst="ellipse">
            <a:avLst/>
          </a:prstGeom>
          <a:solidFill>
            <a:srgbClr val="1D1D1F"/>
          </a:solidFill>
          <a:ln/>
        </p:spPr>
      </p:sp>
      <p:pic>
        <p:nvPicPr>
          <p:cNvPr id="12" name="icon-mail" descr="">    </p:cNvPr>
          <p:cNvPicPr>
            <a:picLocks noChangeAspect="1"/>
          </p:cNvPicPr>
          <p:nvPr/>
        </p:nvPicPr>
        <p:blipFill>
          <a:blip r:embed="rId2"/>
          <a:stretch>
            <a:fillRect/>
          </a:stretch>
        </p:blipFill>
        <p:spPr>
          <a:xfrm>
            <a:off x="764438" y="2565806"/>
            <a:ext cx="190195" cy="190195"/>
          </a:xfrm>
          <a:prstGeom prst="rect">
            <a:avLst/>
          </a:prstGeom>
        </p:spPr>
      </p:pic>
      <p:sp>
        <p:nvSpPr>
          <p:cNvPr id="13" name="h"/>
          <p:cNvSpPr txBox="1"/>
          <p:nvPr/>
        </p:nvSpPr>
        <p:spPr>
          <a:xfrm>
            <a:off x="1207008" y="2395728"/>
            <a:ext cx="1691640" cy="530352"/>
          </a:xfrm>
          <a:prstGeom prst="rect">
            <a:avLst/>
          </a:prstGeom>
          <a:noFill/>
          <a:ln/>
        </p:spPr>
        <p:txBody>
          <a:bodyPr wrap="square" lIns="0" tIns="0" rIns="0" bIns="0" rtlCol="0" anchor="ctr"/>
          <a:lstStyle/>
          <a:p>
            <a:pPr indent="0" marL="0">
              <a:buNone/>
            </a:pPr>
            <a:r>
              <a:rPr lang="en-US" sz="1600" b="1" dirty="0">
                <a:solidFill>
                  <a:srgbClr val="1D1D1F"/>
                </a:solidFill>
                <a:latin typeface="Arial" pitchFamily="34" charset="0"/>
                <a:ea typeface="Arial" pitchFamily="34" charset="-122"/>
                <a:cs typeface="Arial" pitchFamily="34" charset="-120"/>
              </a:rPr>
              <a:t>WFM manager</a:t>
            </a:r>
            <a:endParaRPr lang="en-US" sz="1600" dirty="0"/>
          </a:p>
        </p:txBody>
      </p:sp>
      <p:sp>
        <p:nvSpPr>
          <p:cNvPr id="14" name="t"/>
          <p:cNvSpPr txBox="1"/>
          <p:nvPr/>
        </p:nvSpPr>
        <p:spPr>
          <a:xfrm>
            <a:off x="2926080" y="2395728"/>
            <a:ext cx="3474720" cy="530352"/>
          </a:xfrm>
          <a:prstGeom prst="rect">
            <a:avLst/>
          </a:prstGeom>
          <a:noFill/>
          <a:ln/>
        </p:spPr>
        <p:txBody>
          <a:bodyPr wrap="square" lIns="0" tIns="0" rIns="0" bIns="0" rtlCol="0" anchor="ctr"/>
          <a:lstStyle/>
          <a:p>
            <a:pPr indent="0" marL="0">
              <a:buNone/>
            </a:pPr>
            <a:r>
              <a:rPr lang="en-US" sz="1400" dirty="0">
                <a:solidFill>
                  <a:srgbClr val="58585D"/>
                </a:solidFill>
                <a:latin typeface="Arial" pitchFamily="34" charset="0"/>
                <a:ea typeface="Arial" pitchFamily="34" charset="-122"/>
                <a:cs typeface="Arial" pitchFamily="34" charset="-120"/>
              </a:rPr>
              <a:t>Sends the emails; sees the analytics</a:t>
            </a:r>
            <a:endParaRPr lang="en-US" sz="1400" dirty="0"/>
          </a:p>
        </p:txBody>
      </p:sp>
      <p:sp>
        <p:nvSpPr>
          <p:cNvPr id="15" name="card"/>
          <p:cNvSpPr/>
          <p:nvPr/>
        </p:nvSpPr>
        <p:spPr>
          <a:xfrm>
            <a:off x="548640" y="3008376"/>
            <a:ext cx="5989320" cy="530352"/>
          </a:xfrm>
          <a:prstGeom prst="roundRect">
            <a:avLst>
              <a:gd name="adj" fmla="val 17241"/>
            </a:avLst>
          </a:prstGeom>
          <a:solidFill>
            <a:srgbClr val="FFFFFF"/>
          </a:solidFill>
          <a:ln w="9525">
            <a:solidFill>
              <a:srgbClr val="E5E5EA"/>
            </a:solidFill>
            <a:prstDash val="solid"/>
          </a:ln>
        </p:spPr>
      </p:sp>
      <p:sp>
        <p:nvSpPr>
          <p:cNvPr id="16" name="dot-star"/>
          <p:cNvSpPr/>
          <p:nvPr/>
        </p:nvSpPr>
        <p:spPr>
          <a:xfrm>
            <a:off x="676656" y="3090672"/>
            <a:ext cx="365760" cy="365760"/>
          </a:xfrm>
          <a:prstGeom prst="ellipse">
            <a:avLst/>
          </a:prstGeom>
          <a:solidFill>
            <a:srgbClr val="1D1D1F"/>
          </a:solidFill>
          <a:ln/>
        </p:spPr>
      </p:sp>
      <p:pic>
        <p:nvPicPr>
          <p:cNvPr id="17" name="icon-star" descr="">    </p:cNvPr>
          <p:cNvPicPr>
            <a:picLocks noChangeAspect="1"/>
          </p:cNvPicPr>
          <p:nvPr/>
        </p:nvPicPr>
        <p:blipFill>
          <a:blip r:embed="rId3"/>
          <a:stretch>
            <a:fillRect/>
          </a:stretch>
        </p:blipFill>
        <p:spPr>
          <a:xfrm>
            <a:off x="764438" y="3178454"/>
            <a:ext cx="190195" cy="190195"/>
          </a:xfrm>
          <a:prstGeom prst="rect">
            <a:avLst/>
          </a:prstGeom>
        </p:spPr>
      </p:pic>
      <p:sp>
        <p:nvSpPr>
          <p:cNvPr id="18" name="h"/>
          <p:cNvSpPr txBox="1"/>
          <p:nvPr/>
        </p:nvSpPr>
        <p:spPr>
          <a:xfrm>
            <a:off x="1207008" y="3008376"/>
            <a:ext cx="1691640" cy="530352"/>
          </a:xfrm>
          <a:prstGeom prst="rect">
            <a:avLst/>
          </a:prstGeom>
          <a:noFill/>
          <a:ln/>
        </p:spPr>
        <p:txBody>
          <a:bodyPr wrap="square" lIns="0" tIns="0" rIns="0" bIns="0" rtlCol="0" anchor="ctr"/>
          <a:lstStyle/>
          <a:p>
            <a:pPr indent="0" marL="0">
              <a:buNone/>
            </a:pPr>
            <a:r>
              <a:rPr lang="en-US" sz="1600" b="1" dirty="0">
                <a:solidFill>
                  <a:srgbClr val="1D1D1F"/>
                </a:solidFill>
                <a:latin typeface="Arial" pitchFamily="34" charset="0"/>
                <a:ea typeface="Arial" pitchFamily="34" charset="-122"/>
                <a:cs typeface="Arial" pitchFamily="34" charset="-120"/>
              </a:rPr>
              <a:t>Senior manager</a:t>
            </a:r>
            <a:endParaRPr lang="en-US" sz="1600" dirty="0"/>
          </a:p>
        </p:txBody>
      </p:sp>
      <p:sp>
        <p:nvSpPr>
          <p:cNvPr id="19" name="t"/>
          <p:cNvSpPr txBox="1"/>
          <p:nvPr/>
        </p:nvSpPr>
        <p:spPr>
          <a:xfrm>
            <a:off x="2926080" y="3008376"/>
            <a:ext cx="3474720" cy="530352"/>
          </a:xfrm>
          <a:prstGeom prst="rect">
            <a:avLst/>
          </a:prstGeom>
          <a:noFill/>
          <a:ln/>
        </p:spPr>
        <p:txBody>
          <a:bodyPr wrap="square" lIns="0" tIns="0" rIns="0" bIns="0" rtlCol="0" anchor="ctr"/>
          <a:lstStyle/>
          <a:p>
            <a:pPr indent="0" marL="0">
              <a:buNone/>
            </a:pPr>
            <a:r>
              <a:rPr lang="en-US" sz="1400" dirty="0">
                <a:solidFill>
                  <a:srgbClr val="58585D"/>
                </a:solidFill>
                <a:latin typeface="Arial" pitchFamily="34" charset="0"/>
                <a:ea typeface="Arial" pitchFamily="34" charset="-122"/>
                <a:cs typeface="Arial" pitchFamily="34" charset="-120"/>
              </a:rPr>
              <a:t>Keeps the rules; finalizes the month</a:t>
            </a:r>
            <a:endParaRPr lang="en-US" sz="1400" dirty="0"/>
          </a:p>
        </p:txBody>
      </p:sp>
      <p:sp>
        <p:nvSpPr>
          <p:cNvPr id="20" name="card"/>
          <p:cNvSpPr/>
          <p:nvPr/>
        </p:nvSpPr>
        <p:spPr>
          <a:xfrm>
            <a:off x="548640" y="3621024"/>
            <a:ext cx="5989320" cy="530352"/>
          </a:xfrm>
          <a:prstGeom prst="roundRect">
            <a:avLst>
              <a:gd name="adj" fmla="val 17241"/>
            </a:avLst>
          </a:prstGeom>
          <a:solidFill>
            <a:srgbClr val="FFFFFF"/>
          </a:solidFill>
          <a:ln w="9525">
            <a:solidFill>
              <a:srgbClr val="E5E5EA"/>
            </a:solidFill>
            <a:prstDash val="solid"/>
          </a:ln>
        </p:spPr>
      </p:sp>
      <p:sp>
        <p:nvSpPr>
          <p:cNvPr id="21" name="dot-team"/>
          <p:cNvSpPr/>
          <p:nvPr/>
        </p:nvSpPr>
        <p:spPr>
          <a:xfrm>
            <a:off x="676656" y="3703320"/>
            <a:ext cx="365760" cy="365760"/>
          </a:xfrm>
          <a:prstGeom prst="ellipse">
            <a:avLst/>
          </a:prstGeom>
          <a:solidFill>
            <a:srgbClr val="1D1D1F"/>
          </a:solidFill>
          <a:ln/>
        </p:spPr>
      </p:sp>
      <p:pic>
        <p:nvPicPr>
          <p:cNvPr id="22" name="icon-team" descr="">    </p:cNvPr>
          <p:cNvPicPr>
            <a:picLocks noChangeAspect="1"/>
          </p:cNvPicPr>
          <p:nvPr/>
        </p:nvPicPr>
        <p:blipFill>
          <a:blip r:embed="rId4"/>
          <a:stretch>
            <a:fillRect/>
          </a:stretch>
        </p:blipFill>
        <p:spPr>
          <a:xfrm>
            <a:off x="764438" y="3791102"/>
            <a:ext cx="190195" cy="190195"/>
          </a:xfrm>
          <a:prstGeom prst="rect">
            <a:avLst/>
          </a:prstGeom>
        </p:spPr>
      </p:pic>
      <p:sp>
        <p:nvSpPr>
          <p:cNvPr id="23" name="h"/>
          <p:cNvSpPr txBox="1"/>
          <p:nvPr/>
        </p:nvSpPr>
        <p:spPr>
          <a:xfrm>
            <a:off x="1207008" y="3621024"/>
            <a:ext cx="1691640" cy="530352"/>
          </a:xfrm>
          <a:prstGeom prst="rect">
            <a:avLst/>
          </a:prstGeom>
          <a:noFill/>
          <a:ln/>
        </p:spPr>
        <p:txBody>
          <a:bodyPr wrap="square" lIns="0" tIns="0" rIns="0" bIns="0" rtlCol="0" anchor="ctr"/>
          <a:lstStyle/>
          <a:p>
            <a:pPr indent="0" marL="0">
              <a:buNone/>
            </a:pPr>
            <a:r>
              <a:rPr lang="en-US" sz="1600" b="1" dirty="0">
                <a:solidFill>
                  <a:srgbClr val="1D1D1F"/>
                </a:solidFill>
                <a:latin typeface="Arial" pitchFamily="34" charset="0"/>
                <a:ea typeface="Arial" pitchFamily="34" charset="-122"/>
                <a:cs typeface="Arial" pitchFamily="34" charset="-120"/>
              </a:rPr>
              <a:t>Supervisor</a:t>
            </a:r>
            <a:endParaRPr lang="en-US" sz="1600" dirty="0"/>
          </a:p>
        </p:txBody>
      </p:sp>
      <p:sp>
        <p:nvSpPr>
          <p:cNvPr id="24" name="t"/>
          <p:cNvSpPr txBox="1"/>
          <p:nvPr/>
        </p:nvSpPr>
        <p:spPr>
          <a:xfrm>
            <a:off x="2926080" y="3621024"/>
            <a:ext cx="3474720" cy="530352"/>
          </a:xfrm>
          <a:prstGeom prst="rect">
            <a:avLst/>
          </a:prstGeom>
          <a:noFill/>
          <a:ln/>
        </p:spPr>
        <p:txBody>
          <a:bodyPr wrap="square" lIns="0" tIns="0" rIns="0" bIns="0" rtlCol="0" anchor="ctr"/>
          <a:lstStyle/>
          <a:p>
            <a:pPr indent="0" marL="0">
              <a:buNone/>
            </a:pPr>
            <a:r>
              <a:rPr lang="en-US" sz="1400" dirty="0">
                <a:solidFill>
                  <a:srgbClr val="58585D"/>
                </a:solidFill>
                <a:latin typeface="Arial" pitchFamily="34" charset="0"/>
                <a:ea typeface="Arial" pitchFamily="34" charset="-122"/>
                <a:cs typeface="Arial" pitchFamily="34" charset="-120"/>
              </a:rPr>
              <a:t>The team, attendance, one-to-ones</a:t>
            </a:r>
            <a:endParaRPr lang="en-US" sz="1400" dirty="0"/>
          </a:p>
        </p:txBody>
      </p:sp>
      <p:sp>
        <p:nvSpPr>
          <p:cNvPr id="25" name="card"/>
          <p:cNvSpPr/>
          <p:nvPr/>
        </p:nvSpPr>
        <p:spPr>
          <a:xfrm>
            <a:off x="548640" y="4233672"/>
            <a:ext cx="5989320" cy="530352"/>
          </a:xfrm>
          <a:prstGeom prst="roundRect">
            <a:avLst>
              <a:gd name="adj" fmla="val 17241"/>
            </a:avLst>
          </a:prstGeom>
          <a:solidFill>
            <a:srgbClr val="FFFFFF"/>
          </a:solidFill>
          <a:ln w="9525">
            <a:solidFill>
              <a:srgbClr val="E5E5EA"/>
            </a:solidFill>
            <a:prstDash val="solid"/>
          </a:ln>
        </p:spPr>
      </p:sp>
      <p:sp>
        <p:nvSpPr>
          <p:cNvPr id="26" name="dot-check"/>
          <p:cNvSpPr/>
          <p:nvPr/>
        </p:nvSpPr>
        <p:spPr>
          <a:xfrm>
            <a:off x="676656" y="4315968"/>
            <a:ext cx="365760" cy="365760"/>
          </a:xfrm>
          <a:prstGeom prst="ellipse">
            <a:avLst/>
          </a:prstGeom>
          <a:solidFill>
            <a:srgbClr val="1D1D1F"/>
          </a:solidFill>
          <a:ln/>
        </p:spPr>
      </p:sp>
      <p:pic>
        <p:nvPicPr>
          <p:cNvPr id="27" name="icon-check" descr="">    </p:cNvPr>
          <p:cNvPicPr>
            <a:picLocks noChangeAspect="1"/>
          </p:cNvPicPr>
          <p:nvPr/>
        </p:nvPicPr>
        <p:blipFill>
          <a:blip r:embed="rId5"/>
          <a:stretch>
            <a:fillRect/>
          </a:stretch>
        </p:blipFill>
        <p:spPr>
          <a:xfrm>
            <a:off x="764438" y="4403750"/>
            <a:ext cx="190195" cy="190195"/>
          </a:xfrm>
          <a:prstGeom prst="rect">
            <a:avLst/>
          </a:prstGeom>
        </p:spPr>
      </p:pic>
      <p:sp>
        <p:nvSpPr>
          <p:cNvPr id="28" name="h"/>
          <p:cNvSpPr txBox="1"/>
          <p:nvPr/>
        </p:nvSpPr>
        <p:spPr>
          <a:xfrm>
            <a:off x="1207008" y="4233672"/>
            <a:ext cx="1691640" cy="530352"/>
          </a:xfrm>
          <a:prstGeom prst="rect">
            <a:avLst/>
          </a:prstGeom>
          <a:noFill/>
          <a:ln/>
        </p:spPr>
        <p:txBody>
          <a:bodyPr wrap="square" lIns="0" tIns="0" rIns="0" bIns="0" rtlCol="0" anchor="ctr"/>
          <a:lstStyle/>
          <a:p>
            <a:pPr indent="0" marL="0">
              <a:buNone/>
            </a:pPr>
            <a:r>
              <a:rPr lang="en-US" sz="1600" b="1" dirty="0">
                <a:solidFill>
                  <a:srgbClr val="1D1D1F"/>
                </a:solidFill>
                <a:latin typeface="Arial" pitchFamily="34" charset="0"/>
                <a:ea typeface="Arial" pitchFamily="34" charset="-122"/>
                <a:cs typeface="Arial" pitchFamily="34" charset="-120"/>
              </a:rPr>
              <a:t>Quality team</a:t>
            </a:r>
            <a:endParaRPr lang="en-US" sz="1600" dirty="0"/>
          </a:p>
        </p:txBody>
      </p:sp>
      <p:sp>
        <p:nvSpPr>
          <p:cNvPr id="29" name="t"/>
          <p:cNvSpPr txBox="1"/>
          <p:nvPr/>
        </p:nvSpPr>
        <p:spPr>
          <a:xfrm>
            <a:off x="2926080" y="4233672"/>
            <a:ext cx="3474720" cy="530352"/>
          </a:xfrm>
          <a:prstGeom prst="rect">
            <a:avLst/>
          </a:prstGeom>
          <a:noFill/>
          <a:ln/>
        </p:spPr>
        <p:txBody>
          <a:bodyPr wrap="square" lIns="0" tIns="0" rIns="0" bIns="0" rtlCol="0" anchor="ctr"/>
          <a:lstStyle/>
          <a:p>
            <a:pPr indent="0" marL="0">
              <a:buNone/>
            </a:pPr>
            <a:r>
              <a:rPr lang="en-US" sz="1400" dirty="0">
                <a:solidFill>
                  <a:srgbClr val="58585D"/>
                </a:solidFill>
                <a:latin typeface="Arial" pitchFamily="34" charset="0"/>
                <a:ea typeface="Arial" pitchFamily="34" charset="-122"/>
                <a:cs typeface="Arial" pitchFamily="34" charset="-120"/>
              </a:rPr>
              <a:t>The Final EVAL and critical errors</a:t>
            </a:r>
            <a:endParaRPr lang="en-US" sz="1400" dirty="0"/>
          </a:p>
        </p:txBody>
      </p:sp>
      <p:sp>
        <p:nvSpPr>
          <p:cNvPr id="30" name="card"/>
          <p:cNvSpPr/>
          <p:nvPr/>
        </p:nvSpPr>
        <p:spPr>
          <a:xfrm>
            <a:off x="548640" y="4846320"/>
            <a:ext cx="5989320" cy="530352"/>
          </a:xfrm>
          <a:prstGeom prst="roundRect">
            <a:avLst>
              <a:gd name="adj" fmla="val 17241"/>
            </a:avLst>
          </a:prstGeom>
          <a:solidFill>
            <a:srgbClr val="FFFFFF"/>
          </a:solidFill>
          <a:ln w="9525">
            <a:solidFill>
              <a:srgbClr val="E5E5EA"/>
            </a:solidFill>
            <a:prstDash val="solid"/>
          </a:ln>
        </p:spPr>
      </p:sp>
      <p:sp>
        <p:nvSpPr>
          <p:cNvPr id="31" name="dot-user"/>
          <p:cNvSpPr/>
          <p:nvPr/>
        </p:nvSpPr>
        <p:spPr>
          <a:xfrm>
            <a:off x="676656" y="4928616"/>
            <a:ext cx="365760" cy="365760"/>
          </a:xfrm>
          <a:prstGeom prst="ellipse">
            <a:avLst/>
          </a:prstGeom>
          <a:solidFill>
            <a:srgbClr val="1D1D1F"/>
          </a:solidFill>
          <a:ln/>
        </p:spPr>
      </p:sp>
      <p:pic>
        <p:nvPicPr>
          <p:cNvPr id="32" name="icon-user" descr="">    </p:cNvPr>
          <p:cNvPicPr>
            <a:picLocks noChangeAspect="1"/>
          </p:cNvPicPr>
          <p:nvPr/>
        </p:nvPicPr>
        <p:blipFill>
          <a:blip r:embed="rId6"/>
          <a:stretch>
            <a:fillRect/>
          </a:stretch>
        </p:blipFill>
        <p:spPr>
          <a:xfrm>
            <a:off x="764438" y="5016398"/>
            <a:ext cx="190195" cy="190195"/>
          </a:xfrm>
          <a:prstGeom prst="rect">
            <a:avLst/>
          </a:prstGeom>
        </p:spPr>
      </p:pic>
      <p:sp>
        <p:nvSpPr>
          <p:cNvPr id="33" name="h"/>
          <p:cNvSpPr txBox="1"/>
          <p:nvPr/>
        </p:nvSpPr>
        <p:spPr>
          <a:xfrm>
            <a:off x="1207008" y="4846320"/>
            <a:ext cx="1691640" cy="530352"/>
          </a:xfrm>
          <a:prstGeom prst="rect">
            <a:avLst/>
          </a:prstGeom>
          <a:noFill/>
          <a:ln/>
        </p:spPr>
        <p:txBody>
          <a:bodyPr wrap="square" lIns="0" tIns="0" rIns="0" bIns="0" rtlCol="0" anchor="ctr"/>
          <a:lstStyle/>
          <a:p>
            <a:pPr indent="0" marL="0">
              <a:buNone/>
            </a:pPr>
            <a:r>
              <a:rPr lang="en-US" sz="1600" b="1" dirty="0">
                <a:solidFill>
                  <a:srgbClr val="1D1D1F"/>
                </a:solidFill>
                <a:latin typeface="Arial" pitchFamily="34" charset="0"/>
                <a:ea typeface="Arial" pitchFamily="34" charset="-122"/>
                <a:cs typeface="Arial" pitchFamily="34" charset="-120"/>
              </a:rPr>
              <a:t>Agent</a:t>
            </a:r>
            <a:endParaRPr lang="en-US" sz="1600" dirty="0"/>
          </a:p>
        </p:txBody>
      </p:sp>
      <p:sp>
        <p:nvSpPr>
          <p:cNvPr id="34" name="t"/>
          <p:cNvSpPr txBox="1"/>
          <p:nvPr/>
        </p:nvSpPr>
        <p:spPr>
          <a:xfrm>
            <a:off x="2926080" y="4846320"/>
            <a:ext cx="3474720" cy="530352"/>
          </a:xfrm>
          <a:prstGeom prst="rect">
            <a:avLst/>
          </a:prstGeom>
          <a:noFill/>
          <a:ln/>
        </p:spPr>
        <p:txBody>
          <a:bodyPr wrap="square" lIns="0" tIns="0" rIns="0" bIns="0" rtlCol="0" anchor="ctr"/>
          <a:lstStyle/>
          <a:p>
            <a:pPr indent="0" marL="0">
              <a:buNone/>
            </a:pPr>
            <a:r>
              <a:rPr lang="en-US" sz="1400" dirty="0">
                <a:solidFill>
                  <a:srgbClr val="58585D"/>
                </a:solidFill>
                <a:latin typeface="Arial" pitchFamily="34" charset="0"/>
                <a:ea typeface="Arial" pitchFamily="34" charset="-122"/>
                <a:cs typeface="Arial" pitchFamily="34" charset="-120"/>
              </a:rPr>
              <a:t>Own results, in English or Arabic</a:t>
            </a:r>
            <a:endParaRPr lang="en-US" sz="1400" dirty="0"/>
          </a:p>
        </p:txBody>
      </p:sp>
      <p:sp>
        <p:nvSpPr>
          <p:cNvPr id="35" name="card"/>
          <p:cNvSpPr/>
          <p:nvPr/>
        </p:nvSpPr>
        <p:spPr>
          <a:xfrm>
            <a:off x="548640" y="5458968"/>
            <a:ext cx="5989320" cy="530352"/>
          </a:xfrm>
          <a:prstGeom prst="roundRect">
            <a:avLst>
              <a:gd name="adj" fmla="val 17241"/>
            </a:avLst>
          </a:prstGeom>
          <a:solidFill>
            <a:srgbClr val="FFFFFF"/>
          </a:solidFill>
          <a:ln w="9525">
            <a:solidFill>
              <a:srgbClr val="E5E5EA"/>
            </a:solidFill>
            <a:prstDash val="solid"/>
          </a:ln>
        </p:spPr>
      </p:sp>
      <p:sp>
        <p:nvSpPr>
          <p:cNvPr id="36" name="dot-lock"/>
          <p:cNvSpPr/>
          <p:nvPr/>
        </p:nvSpPr>
        <p:spPr>
          <a:xfrm>
            <a:off x="676656" y="5541264"/>
            <a:ext cx="365760" cy="365760"/>
          </a:xfrm>
          <a:prstGeom prst="ellipse">
            <a:avLst/>
          </a:prstGeom>
          <a:solidFill>
            <a:srgbClr val="1D1D1F"/>
          </a:solidFill>
          <a:ln/>
        </p:spPr>
      </p:sp>
      <p:pic>
        <p:nvPicPr>
          <p:cNvPr id="37" name="icon-lock" descr="">    </p:cNvPr>
          <p:cNvPicPr>
            <a:picLocks noChangeAspect="1"/>
          </p:cNvPicPr>
          <p:nvPr/>
        </p:nvPicPr>
        <p:blipFill>
          <a:blip r:embed="rId7"/>
          <a:stretch>
            <a:fillRect/>
          </a:stretch>
        </p:blipFill>
        <p:spPr>
          <a:xfrm>
            <a:off x="764438" y="5629046"/>
            <a:ext cx="190195" cy="190195"/>
          </a:xfrm>
          <a:prstGeom prst="rect">
            <a:avLst/>
          </a:prstGeom>
        </p:spPr>
      </p:pic>
      <p:sp>
        <p:nvSpPr>
          <p:cNvPr id="38" name="h"/>
          <p:cNvSpPr txBox="1"/>
          <p:nvPr/>
        </p:nvSpPr>
        <p:spPr>
          <a:xfrm>
            <a:off x="1207008" y="5458968"/>
            <a:ext cx="1691640" cy="530352"/>
          </a:xfrm>
          <a:prstGeom prst="rect">
            <a:avLst/>
          </a:prstGeom>
          <a:noFill/>
          <a:ln/>
        </p:spPr>
        <p:txBody>
          <a:bodyPr wrap="square" lIns="0" tIns="0" rIns="0" bIns="0" rtlCol="0" anchor="ctr"/>
          <a:lstStyle/>
          <a:p>
            <a:pPr indent="0" marL="0">
              <a:buNone/>
            </a:pPr>
            <a:r>
              <a:rPr lang="en-US" sz="1600" b="1" dirty="0">
                <a:solidFill>
                  <a:srgbClr val="1D1D1F"/>
                </a:solidFill>
                <a:latin typeface="Arial" pitchFamily="34" charset="0"/>
                <a:ea typeface="Arial" pitchFamily="34" charset="-122"/>
                <a:cs typeface="Arial" pitchFamily="34" charset="-120"/>
              </a:rPr>
              <a:t>Admin</a:t>
            </a:r>
            <a:endParaRPr lang="en-US" sz="1600" dirty="0"/>
          </a:p>
        </p:txBody>
      </p:sp>
      <p:sp>
        <p:nvSpPr>
          <p:cNvPr id="39" name="t"/>
          <p:cNvSpPr txBox="1"/>
          <p:nvPr/>
        </p:nvSpPr>
        <p:spPr>
          <a:xfrm>
            <a:off x="2926080" y="5458968"/>
            <a:ext cx="3474720" cy="530352"/>
          </a:xfrm>
          <a:prstGeom prst="rect">
            <a:avLst/>
          </a:prstGeom>
          <a:noFill/>
          <a:ln/>
        </p:spPr>
        <p:txBody>
          <a:bodyPr wrap="square" lIns="0" tIns="0" rIns="0" bIns="0" rtlCol="0" anchor="ctr"/>
          <a:lstStyle/>
          <a:p>
            <a:pPr indent="0" marL="0">
              <a:buNone/>
            </a:pPr>
            <a:r>
              <a:rPr lang="en-US" sz="1400" dirty="0">
                <a:solidFill>
                  <a:srgbClr val="58585D"/>
                </a:solidFill>
                <a:latin typeface="Arial" pitchFamily="34" charset="0"/>
                <a:ea typeface="Arial" pitchFamily="34" charset="-122"/>
                <a:cs typeface="Arial" pitchFamily="34" charset="-120"/>
              </a:rPr>
              <a:t>Accounts and roles</a:t>
            </a:r>
            <a:endParaRPr lang="en-US" sz="1400" dirty="0"/>
          </a:p>
        </p:txBody>
      </p:sp>
      <p:pic>
        <p:nvPicPr>
          <p:cNvPr id="40" name="phones" descr="A supervisor's team and an agent's page in English and Arabic, on phones">    </p:cNvPr>
          <p:cNvPicPr>
            <a:picLocks noChangeAspect="1"/>
          </p:cNvPicPr>
          <p:nvPr/>
        </p:nvPicPr>
        <p:blipFill>
          <a:blip r:embed="rId8"/>
          <a:stretch>
            <a:fillRect/>
          </a:stretch>
        </p:blipFill>
        <p:spPr>
          <a:xfrm>
            <a:off x="6346151" y="1237748"/>
            <a:ext cx="5854473" cy="5296904"/>
          </a:xfrm>
          <a:prstGeom prst="rect">
            <a:avLst/>
          </a:prstGeom>
        </p:spPr>
      </p:pic>
      <p:sp>
        <p:nvSpPr>
          <p:cNvPr id="25" name="Slide Number Placeholder 0"/>
          <p:cNvSpPr>
            <a:spLocks noGrp="1"/>
          </p:cNvSpPr>
          <p:nvPr>
            <p:ph type="sldNum" sz="quarter" idx="4294967295"/>
          </p:nvPr>
        </p:nvSpPr>
        <p:spPr>
          <a:xfrm>
            <a:off x="11091672" y="640080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E8E93"/>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42" presetClass="entr" presetSubtype="0" fill="hold" grpId="0" nodeType="withEffect">
                                  <p:stCondLst>
                                    <p:cond delay="3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50"/>
                                        <p:tgtEl>
                                          <p:spTgt spid="5"/>
                                        </p:tgtEl>
                                      </p:cBhvr>
                                    </p:animEffect>
                                    <p:anim calcmode="lin" valueType="num">
                                      <p:cBhvr>
                                        <p:cTn id="11" dur="650" fill="hold"/>
                                        <p:tgtEl>
                                          <p:spTgt spid="5"/>
                                        </p:tgtEl>
                                        <p:attrNameLst>
                                          <p:attrName>ppt_x</p:attrName>
                                        </p:attrNameLst>
                                      </p:cBhvr>
                                      <p:tavLst>
                                        <p:tav tm="0">
                                          <p:val>
                                            <p:strVal val="#ppt_x"/>
                                          </p:val>
                                        </p:tav>
                                        <p:tav tm="100000">
                                          <p:val>
                                            <p:strVal val="#ppt_x"/>
                                          </p:val>
                                        </p:tav>
                                      </p:tavLst>
                                    </p:anim>
                                    <p:anim calcmode="lin" valueType="num">
                                      <p:cBhvr>
                                        <p:cTn id="12" dur="650" fill="hold"/>
                                        <p:tgtEl>
                                          <p:spTgt spid="5"/>
                                        </p:tgtEl>
                                        <p:attrNameLst>
                                          <p:attrName>ppt_y</p:attrName>
                                        </p:attrNameLst>
                                      </p:cBhvr>
                                      <p:tavLst>
                                        <p:tav tm="0">
                                          <p:val>
                                            <p:strVal val="#ppt_y+.05"/>
                                          </p:val>
                                        </p:tav>
                                        <p:tav tm="100000">
                                          <p:val>
                                            <p:strVal val="#ppt_y"/>
                                          </p:val>
                                        </p:tav>
                                      </p:tavLst>
                                    </p:anim>
                                  </p:childTnLst>
                                </p:cTn>
                              </p:par>
                              <p:par>
                                <p:cTn id="13" presetID="42" presetClass="entr" presetSubtype="0" fill="hold" grpId="0" nodeType="withEffect">
                                  <p:stCondLst>
                                    <p:cond delay="3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50"/>
                                        <p:tgtEl>
                                          <p:spTgt spid="6"/>
                                        </p:tgtEl>
                                      </p:cBhvr>
                                    </p:animEffect>
                                    <p:anim calcmode="lin" valueType="num">
                                      <p:cBhvr>
                                        <p:cTn id="16" dur="650" fill="hold"/>
                                        <p:tgtEl>
                                          <p:spTgt spid="6"/>
                                        </p:tgtEl>
                                        <p:attrNameLst>
                                          <p:attrName>ppt_x</p:attrName>
                                        </p:attrNameLst>
                                      </p:cBhvr>
                                      <p:tavLst>
                                        <p:tav tm="0">
                                          <p:val>
                                            <p:strVal val="#ppt_x"/>
                                          </p:val>
                                        </p:tav>
                                        <p:tav tm="100000">
                                          <p:val>
                                            <p:strVal val="#ppt_x"/>
                                          </p:val>
                                        </p:tav>
                                      </p:tavLst>
                                    </p:anim>
                                    <p:anim calcmode="lin" valueType="num">
                                      <p:cBhvr>
                                        <p:cTn id="17" dur="650" fill="hold"/>
                                        <p:tgtEl>
                                          <p:spTgt spid="6"/>
                                        </p:tgtEl>
                                        <p:attrNameLst>
                                          <p:attrName>ppt_y</p:attrName>
                                        </p:attrNameLst>
                                      </p:cBhvr>
                                      <p:tavLst>
                                        <p:tav tm="0">
                                          <p:val>
                                            <p:strVal val="#ppt_y+.05"/>
                                          </p:val>
                                        </p:tav>
                                        <p:tav tm="100000">
                                          <p:val>
                                            <p:strVal val="#ppt_y"/>
                                          </p:val>
                                        </p:tav>
                                      </p:tavLst>
                                    </p:anim>
                                  </p:childTnLst>
                                </p:cTn>
                              </p:par>
                              <p:par>
                                <p:cTn id="18" presetID="42" presetClass="entr" presetSubtype="0" fill="hold" grpId="0" nodeType="withEffect">
                                  <p:stCondLst>
                                    <p:cond delay="30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50"/>
                                        <p:tgtEl>
                                          <p:spTgt spid="7"/>
                                        </p:tgtEl>
                                      </p:cBhvr>
                                    </p:animEffect>
                                    <p:anim calcmode="lin" valueType="num">
                                      <p:cBhvr>
                                        <p:cTn id="21" dur="650" fill="hold"/>
                                        <p:tgtEl>
                                          <p:spTgt spid="7"/>
                                        </p:tgtEl>
                                        <p:attrNameLst>
                                          <p:attrName>ppt_x</p:attrName>
                                        </p:attrNameLst>
                                      </p:cBhvr>
                                      <p:tavLst>
                                        <p:tav tm="0">
                                          <p:val>
                                            <p:strVal val="#ppt_x"/>
                                          </p:val>
                                        </p:tav>
                                        <p:tav tm="100000">
                                          <p:val>
                                            <p:strVal val="#ppt_x"/>
                                          </p:val>
                                        </p:tav>
                                      </p:tavLst>
                                    </p:anim>
                                    <p:anim calcmode="lin" valueType="num">
                                      <p:cBhvr>
                                        <p:cTn id="22" dur="650" fill="hold"/>
                                        <p:tgtEl>
                                          <p:spTgt spid="7"/>
                                        </p:tgtEl>
                                        <p:attrNameLst>
                                          <p:attrName>ppt_y</p:attrName>
                                        </p:attrNameLst>
                                      </p:cBhvr>
                                      <p:tavLst>
                                        <p:tav tm="0">
                                          <p:val>
                                            <p:strVal val="#ppt_y+.05"/>
                                          </p:val>
                                        </p:tav>
                                        <p:tav tm="100000">
                                          <p:val>
                                            <p:strVal val="#ppt_y"/>
                                          </p:val>
                                        </p:tav>
                                      </p:tavLst>
                                    </p:anim>
                                  </p:childTnLst>
                                </p:cTn>
                              </p:par>
                              <p:par>
                                <p:cTn id="23" presetID="42" presetClass="entr" presetSubtype="0" fill="hold" grpId="0" nodeType="withEffect">
                                  <p:stCondLst>
                                    <p:cond delay="30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50"/>
                                        <p:tgtEl>
                                          <p:spTgt spid="8"/>
                                        </p:tgtEl>
                                      </p:cBhvr>
                                    </p:animEffect>
                                    <p:anim calcmode="lin" valueType="num">
                                      <p:cBhvr>
                                        <p:cTn id="26" dur="650" fill="hold"/>
                                        <p:tgtEl>
                                          <p:spTgt spid="8"/>
                                        </p:tgtEl>
                                        <p:attrNameLst>
                                          <p:attrName>ppt_x</p:attrName>
                                        </p:attrNameLst>
                                      </p:cBhvr>
                                      <p:tavLst>
                                        <p:tav tm="0">
                                          <p:val>
                                            <p:strVal val="#ppt_x"/>
                                          </p:val>
                                        </p:tav>
                                        <p:tav tm="100000">
                                          <p:val>
                                            <p:strVal val="#ppt_x"/>
                                          </p:val>
                                        </p:tav>
                                      </p:tavLst>
                                    </p:anim>
                                    <p:anim calcmode="lin" valueType="num">
                                      <p:cBhvr>
                                        <p:cTn id="27" dur="650" fill="hold"/>
                                        <p:tgtEl>
                                          <p:spTgt spid="8"/>
                                        </p:tgtEl>
                                        <p:attrNameLst>
                                          <p:attrName>ppt_y</p:attrName>
                                        </p:attrNameLst>
                                      </p:cBhvr>
                                      <p:tavLst>
                                        <p:tav tm="0">
                                          <p:val>
                                            <p:strVal val="#ppt_y+.05"/>
                                          </p:val>
                                        </p:tav>
                                        <p:tav tm="100000">
                                          <p:val>
                                            <p:strVal val="#ppt_y"/>
                                          </p:val>
                                        </p:tav>
                                      </p:tavLst>
                                    </p:anim>
                                  </p:childTnLst>
                                </p:cTn>
                              </p:par>
                              <p:par>
                                <p:cTn id="28" presetID="42" presetClass="entr" presetSubtype="0" fill="hold" grpId="0" nodeType="withEffect">
                                  <p:stCondLst>
                                    <p:cond delay="30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650"/>
                                        <p:tgtEl>
                                          <p:spTgt spid="9"/>
                                        </p:tgtEl>
                                      </p:cBhvr>
                                    </p:animEffect>
                                    <p:anim calcmode="lin" valueType="num">
                                      <p:cBhvr>
                                        <p:cTn id="31" dur="650" fill="hold"/>
                                        <p:tgtEl>
                                          <p:spTgt spid="9"/>
                                        </p:tgtEl>
                                        <p:attrNameLst>
                                          <p:attrName>ppt_x</p:attrName>
                                        </p:attrNameLst>
                                      </p:cBhvr>
                                      <p:tavLst>
                                        <p:tav tm="0">
                                          <p:val>
                                            <p:strVal val="#ppt_x"/>
                                          </p:val>
                                        </p:tav>
                                        <p:tav tm="100000">
                                          <p:val>
                                            <p:strVal val="#ppt_x"/>
                                          </p:val>
                                        </p:tav>
                                      </p:tavLst>
                                    </p:anim>
                                    <p:anim calcmode="lin" valueType="num">
                                      <p:cBhvr>
                                        <p:cTn id="32" dur="650" fill="hold"/>
                                        <p:tgtEl>
                                          <p:spTgt spid="9"/>
                                        </p:tgtEl>
                                        <p:attrNameLst>
                                          <p:attrName>ppt_y</p:attrName>
                                        </p:attrNameLst>
                                      </p:cBhvr>
                                      <p:tavLst>
                                        <p:tav tm="0">
                                          <p:val>
                                            <p:strVal val="#ppt_y+.05"/>
                                          </p:val>
                                        </p:tav>
                                        <p:tav tm="100000">
                                          <p:val>
                                            <p:strVal val="#ppt_y"/>
                                          </p:val>
                                        </p:tav>
                                      </p:tavLst>
                                    </p:anim>
                                  </p:childTnLst>
                                </p:cTn>
                              </p:par>
                              <p:par>
                                <p:cTn id="33" presetID="42" presetClass="entr" presetSubtype="0" fill="hold" grpId="0" nodeType="withEffect">
                                  <p:stCondLst>
                                    <p:cond delay="39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650"/>
                                        <p:tgtEl>
                                          <p:spTgt spid="10"/>
                                        </p:tgtEl>
                                      </p:cBhvr>
                                    </p:animEffect>
                                    <p:anim calcmode="lin" valueType="num">
                                      <p:cBhvr>
                                        <p:cTn id="36" dur="650" fill="hold"/>
                                        <p:tgtEl>
                                          <p:spTgt spid="10"/>
                                        </p:tgtEl>
                                        <p:attrNameLst>
                                          <p:attrName>ppt_x</p:attrName>
                                        </p:attrNameLst>
                                      </p:cBhvr>
                                      <p:tavLst>
                                        <p:tav tm="0">
                                          <p:val>
                                            <p:strVal val="#ppt_x"/>
                                          </p:val>
                                        </p:tav>
                                        <p:tav tm="100000">
                                          <p:val>
                                            <p:strVal val="#ppt_x"/>
                                          </p:val>
                                        </p:tav>
                                      </p:tavLst>
                                    </p:anim>
                                    <p:anim calcmode="lin" valueType="num">
                                      <p:cBhvr>
                                        <p:cTn id="37" dur="650" fill="hold"/>
                                        <p:tgtEl>
                                          <p:spTgt spid="10"/>
                                        </p:tgtEl>
                                        <p:attrNameLst>
                                          <p:attrName>ppt_y</p:attrName>
                                        </p:attrNameLst>
                                      </p:cBhvr>
                                      <p:tavLst>
                                        <p:tav tm="0">
                                          <p:val>
                                            <p:strVal val="#ppt_y+.05"/>
                                          </p:val>
                                        </p:tav>
                                        <p:tav tm="100000">
                                          <p:val>
                                            <p:strVal val="#ppt_y"/>
                                          </p:val>
                                        </p:tav>
                                      </p:tavLst>
                                    </p:anim>
                                  </p:childTnLst>
                                </p:cTn>
                              </p:par>
                              <p:par>
                                <p:cTn id="38" presetID="42" presetClass="entr" presetSubtype="0" fill="hold" grpId="0" nodeType="withEffect">
                                  <p:stCondLst>
                                    <p:cond delay="39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650"/>
                                        <p:tgtEl>
                                          <p:spTgt spid="11"/>
                                        </p:tgtEl>
                                      </p:cBhvr>
                                    </p:animEffect>
                                    <p:anim calcmode="lin" valueType="num">
                                      <p:cBhvr>
                                        <p:cTn id="41" dur="650" fill="hold"/>
                                        <p:tgtEl>
                                          <p:spTgt spid="11"/>
                                        </p:tgtEl>
                                        <p:attrNameLst>
                                          <p:attrName>ppt_x</p:attrName>
                                        </p:attrNameLst>
                                      </p:cBhvr>
                                      <p:tavLst>
                                        <p:tav tm="0">
                                          <p:val>
                                            <p:strVal val="#ppt_x"/>
                                          </p:val>
                                        </p:tav>
                                        <p:tav tm="100000">
                                          <p:val>
                                            <p:strVal val="#ppt_x"/>
                                          </p:val>
                                        </p:tav>
                                      </p:tavLst>
                                    </p:anim>
                                    <p:anim calcmode="lin" valueType="num">
                                      <p:cBhvr>
                                        <p:cTn id="42" dur="650" fill="hold"/>
                                        <p:tgtEl>
                                          <p:spTgt spid="11"/>
                                        </p:tgtEl>
                                        <p:attrNameLst>
                                          <p:attrName>ppt_y</p:attrName>
                                        </p:attrNameLst>
                                      </p:cBhvr>
                                      <p:tavLst>
                                        <p:tav tm="0">
                                          <p:val>
                                            <p:strVal val="#ppt_y+.05"/>
                                          </p:val>
                                        </p:tav>
                                        <p:tav tm="100000">
                                          <p:val>
                                            <p:strVal val="#ppt_y"/>
                                          </p:val>
                                        </p:tav>
                                      </p:tavLst>
                                    </p:anim>
                                  </p:childTnLst>
                                </p:cTn>
                              </p:par>
                              <p:par>
                                <p:cTn id="43" presetID="42" presetClass="entr" presetSubtype="0" fill="hold" grpId="0" nodeType="withEffect">
                                  <p:stCondLst>
                                    <p:cond delay="39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650"/>
                                        <p:tgtEl>
                                          <p:spTgt spid="12"/>
                                        </p:tgtEl>
                                      </p:cBhvr>
                                    </p:animEffect>
                                    <p:anim calcmode="lin" valueType="num">
                                      <p:cBhvr>
                                        <p:cTn id="46" dur="650" fill="hold"/>
                                        <p:tgtEl>
                                          <p:spTgt spid="12"/>
                                        </p:tgtEl>
                                        <p:attrNameLst>
                                          <p:attrName>ppt_x</p:attrName>
                                        </p:attrNameLst>
                                      </p:cBhvr>
                                      <p:tavLst>
                                        <p:tav tm="0">
                                          <p:val>
                                            <p:strVal val="#ppt_x"/>
                                          </p:val>
                                        </p:tav>
                                        <p:tav tm="100000">
                                          <p:val>
                                            <p:strVal val="#ppt_x"/>
                                          </p:val>
                                        </p:tav>
                                      </p:tavLst>
                                    </p:anim>
                                    <p:anim calcmode="lin" valueType="num">
                                      <p:cBhvr>
                                        <p:cTn id="47" dur="650" fill="hold"/>
                                        <p:tgtEl>
                                          <p:spTgt spid="12"/>
                                        </p:tgtEl>
                                        <p:attrNameLst>
                                          <p:attrName>ppt_y</p:attrName>
                                        </p:attrNameLst>
                                      </p:cBhvr>
                                      <p:tavLst>
                                        <p:tav tm="0">
                                          <p:val>
                                            <p:strVal val="#ppt_y+.05"/>
                                          </p:val>
                                        </p:tav>
                                        <p:tav tm="100000">
                                          <p:val>
                                            <p:strVal val="#ppt_y"/>
                                          </p:val>
                                        </p:tav>
                                      </p:tavLst>
                                    </p:anim>
                                  </p:childTnLst>
                                </p:cTn>
                              </p:par>
                              <p:par>
                                <p:cTn id="48" presetID="42" presetClass="entr" presetSubtype="0" fill="hold" grpId="0" nodeType="withEffect">
                                  <p:stCondLst>
                                    <p:cond delay="39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650"/>
                                        <p:tgtEl>
                                          <p:spTgt spid="13"/>
                                        </p:tgtEl>
                                      </p:cBhvr>
                                    </p:animEffect>
                                    <p:anim calcmode="lin" valueType="num">
                                      <p:cBhvr>
                                        <p:cTn id="51" dur="650" fill="hold"/>
                                        <p:tgtEl>
                                          <p:spTgt spid="13"/>
                                        </p:tgtEl>
                                        <p:attrNameLst>
                                          <p:attrName>ppt_x</p:attrName>
                                        </p:attrNameLst>
                                      </p:cBhvr>
                                      <p:tavLst>
                                        <p:tav tm="0">
                                          <p:val>
                                            <p:strVal val="#ppt_x"/>
                                          </p:val>
                                        </p:tav>
                                        <p:tav tm="100000">
                                          <p:val>
                                            <p:strVal val="#ppt_x"/>
                                          </p:val>
                                        </p:tav>
                                      </p:tavLst>
                                    </p:anim>
                                    <p:anim calcmode="lin" valueType="num">
                                      <p:cBhvr>
                                        <p:cTn id="52" dur="650" fill="hold"/>
                                        <p:tgtEl>
                                          <p:spTgt spid="13"/>
                                        </p:tgtEl>
                                        <p:attrNameLst>
                                          <p:attrName>ppt_y</p:attrName>
                                        </p:attrNameLst>
                                      </p:cBhvr>
                                      <p:tavLst>
                                        <p:tav tm="0">
                                          <p:val>
                                            <p:strVal val="#ppt_y+.05"/>
                                          </p:val>
                                        </p:tav>
                                        <p:tav tm="100000">
                                          <p:val>
                                            <p:strVal val="#ppt_y"/>
                                          </p:val>
                                        </p:tav>
                                      </p:tavLst>
                                    </p:anim>
                                  </p:childTnLst>
                                </p:cTn>
                              </p:par>
                              <p:par>
                                <p:cTn id="53" presetID="42" presetClass="entr" presetSubtype="0" fill="hold" grpId="0" nodeType="withEffect">
                                  <p:stCondLst>
                                    <p:cond delay="39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650"/>
                                        <p:tgtEl>
                                          <p:spTgt spid="14"/>
                                        </p:tgtEl>
                                      </p:cBhvr>
                                    </p:animEffect>
                                    <p:anim calcmode="lin" valueType="num">
                                      <p:cBhvr>
                                        <p:cTn id="56" dur="650" fill="hold"/>
                                        <p:tgtEl>
                                          <p:spTgt spid="14"/>
                                        </p:tgtEl>
                                        <p:attrNameLst>
                                          <p:attrName>ppt_x</p:attrName>
                                        </p:attrNameLst>
                                      </p:cBhvr>
                                      <p:tavLst>
                                        <p:tav tm="0">
                                          <p:val>
                                            <p:strVal val="#ppt_x"/>
                                          </p:val>
                                        </p:tav>
                                        <p:tav tm="100000">
                                          <p:val>
                                            <p:strVal val="#ppt_x"/>
                                          </p:val>
                                        </p:tav>
                                      </p:tavLst>
                                    </p:anim>
                                    <p:anim calcmode="lin" valueType="num">
                                      <p:cBhvr>
                                        <p:cTn id="57" dur="650" fill="hold"/>
                                        <p:tgtEl>
                                          <p:spTgt spid="14"/>
                                        </p:tgtEl>
                                        <p:attrNameLst>
                                          <p:attrName>ppt_y</p:attrName>
                                        </p:attrNameLst>
                                      </p:cBhvr>
                                      <p:tavLst>
                                        <p:tav tm="0">
                                          <p:val>
                                            <p:strVal val="#ppt_y+.05"/>
                                          </p:val>
                                        </p:tav>
                                        <p:tav tm="100000">
                                          <p:val>
                                            <p:strVal val="#ppt_y"/>
                                          </p:val>
                                        </p:tav>
                                      </p:tavLst>
                                    </p:anim>
                                  </p:childTnLst>
                                </p:cTn>
                              </p:par>
                              <p:par>
                                <p:cTn id="58" presetID="42" presetClass="entr" presetSubtype="0" fill="hold" grpId="0" nodeType="withEffect">
                                  <p:stCondLst>
                                    <p:cond delay="450"/>
                                  </p:stCondLst>
                                  <p:childTnLst>
                                    <p:set>
                                      <p:cBhvr>
                                        <p:cTn id="59" dur="1" fill="hold">
                                          <p:stCondLst>
                                            <p:cond delay="0"/>
                                          </p:stCondLst>
                                        </p:cTn>
                                        <p:tgtEl>
                                          <p:spTgt spid="40"/>
                                        </p:tgtEl>
                                        <p:attrNameLst>
                                          <p:attrName>style.visibility</p:attrName>
                                        </p:attrNameLst>
                                      </p:cBhvr>
                                      <p:to>
                                        <p:strVal val="visible"/>
                                      </p:to>
                                    </p:set>
                                    <p:animEffect transition="in" filter="fade">
                                      <p:cBhvr>
                                        <p:cTn id="60" dur="650"/>
                                        <p:tgtEl>
                                          <p:spTgt spid="40"/>
                                        </p:tgtEl>
                                      </p:cBhvr>
                                    </p:animEffect>
                                    <p:anim calcmode="lin" valueType="num">
                                      <p:cBhvr>
                                        <p:cTn id="61" dur="650" fill="hold"/>
                                        <p:tgtEl>
                                          <p:spTgt spid="40"/>
                                        </p:tgtEl>
                                        <p:attrNameLst>
                                          <p:attrName>ppt_x</p:attrName>
                                        </p:attrNameLst>
                                      </p:cBhvr>
                                      <p:tavLst>
                                        <p:tav tm="0">
                                          <p:val>
                                            <p:strVal val="#ppt_x"/>
                                          </p:val>
                                        </p:tav>
                                        <p:tav tm="100000">
                                          <p:val>
                                            <p:strVal val="#ppt_x"/>
                                          </p:val>
                                        </p:tav>
                                      </p:tavLst>
                                    </p:anim>
                                    <p:anim calcmode="lin" valueType="num">
                                      <p:cBhvr>
                                        <p:cTn id="62" dur="650" fill="hold"/>
                                        <p:tgtEl>
                                          <p:spTgt spid="40"/>
                                        </p:tgtEl>
                                        <p:attrNameLst>
                                          <p:attrName>ppt_y</p:attrName>
                                        </p:attrNameLst>
                                      </p:cBhvr>
                                      <p:tavLst>
                                        <p:tav tm="0">
                                          <p:val>
                                            <p:strVal val="#ppt_y+.05"/>
                                          </p:val>
                                        </p:tav>
                                        <p:tav tm="100000">
                                          <p:val>
                                            <p:strVal val="#ppt_y"/>
                                          </p:val>
                                        </p:tav>
                                      </p:tavLst>
                                    </p:anim>
                                  </p:childTnLst>
                                </p:cTn>
                              </p:par>
                              <p:par>
                                <p:cTn id="63" presetID="42" presetClass="entr" presetSubtype="0" fill="hold" grpId="0" nodeType="withEffect">
                                  <p:stCondLst>
                                    <p:cond delay="48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650"/>
                                        <p:tgtEl>
                                          <p:spTgt spid="15"/>
                                        </p:tgtEl>
                                      </p:cBhvr>
                                    </p:animEffect>
                                    <p:anim calcmode="lin" valueType="num">
                                      <p:cBhvr>
                                        <p:cTn id="66" dur="650" fill="hold"/>
                                        <p:tgtEl>
                                          <p:spTgt spid="15"/>
                                        </p:tgtEl>
                                        <p:attrNameLst>
                                          <p:attrName>ppt_x</p:attrName>
                                        </p:attrNameLst>
                                      </p:cBhvr>
                                      <p:tavLst>
                                        <p:tav tm="0">
                                          <p:val>
                                            <p:strVal val="#ppt_x"/>
                                          </p:val>
                                        </p:tav>
                                        <p:tav tm="100000">
                                          <p:val>
                                            <p:strVal val="#ppt_x"/>
                                          </p:val>
                                        </p:tav>
                                      </p:tavLst>
                                    </p:anim>
                                    <p:anim calcmode="lin" valueType="num">
                                      <p:cBhvr>
                                        <p:cTn id="67" dur="650" fill="hold"/>
                                        <p:tgtEl>
                                          <p:spTgt spid="15"/>
                                        </p:tgtEl>
                                        <p:attrNameLst>
                                          <p:attrName>ppt_y</p:attrName>
                                        </p:attrNameLst>
                                      </p:cBhvr>
                                      <p:tavLst>
                                        <p:tav tm="0">
                                          <p:val>
                                            <p:strVal val="#ppt_y+.05"/>
                                          </p:val>
                                        </p:tav>
                                        <p:tav tm="100000">
                                          <p:val>
                                            <p:strVal val="#ppt_y"/>
                                          </p:val>
                                        </p:tav>
                                      </p:tavLst>
                                    </p:anim>
                                  </p:childTnLst>
                                </p:cTn>
                              </p:par>
                              <p:par>
                                <p:cTn id="68" presetID="42" presetClass="entr" presetSubtype="0" fill="hold" grpId="0" nodeType="withEffect">
                                  <p:stCondLst>
                                    <p:cond delay="48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650"/>
                                        <p:tgtEl>
                                          <p:spTgt spid="16"/>
                                        </p:tgtEl>
                                      </p:cBhvr>
                                    </p:animEffect>
                                    <p:anim calcmode="lin" valueType="num">
                                      <p:cBhvr>
                                        <p:cTn id="71" dur="650" fill="hold"/>
                                        <p:tgtEl>
                                          <p:spTgt spid="16"/>
                                        </p:tgtEl>
                                        <p:attrNameLst>
                                          <p:attrName>ppt_x</p:attrName>
                                        </p:attrNameLst>
                                      </p:cBhvr>
                                      <p:tavLst>
                                        <p:tav tm="0">
                                          <p:val>
                                            <p:strVal val="#ppt_x"/>
                                          </p:val>
                                        </p:tav>
                                        <p:tav tm="100000">
                                          <p:val>
                                            <p:strVal val="#ppt_x"/>
                                          </p:val>
                                        </p:tav>
                                      </p:tavLst>
                                    </p:anim>
                                    <p:anim calcmode="lin" valueType="num">
                                      <p:cBhvr>
                                        <p:cTn id="72" dur="650" fill="hold"/>
                                        <p:tgtEl>
                                          <p:spTgt spid="16"/>
                                        </p:tgtEl>
                                        <p:attrNameLst>
                                          <p:attrName>ppt_y</p:attrName>
                                        </p:attrNameLst>
                                      </p:cBhvr>
                                      <p:tavLst>
                                        <p:tav tm="0">
                                          <p:val>
                                            <p:strVal val="#ppt_y+.05"/>
                                          </p:val>
                                        </p:tav>
                                        <p:tav tm="100000">
                                          <p:val>
                                            <p:strVal val="#ppt_y"/>
                                          </p:val>
                                        </p:tav>
                                      </p:tavLst>
                                    </p:anim>
                                  </p:childTnLst>
                                </p:cTn>
                              </p:par>
                              <p:par>
                                <p:cTn id="73" presetID="42" presetClass="entr" presetSubtype="0" fill="hold" grpId="0" nodeType="withEffect">
                                  <p:stCondLst>
                                    <p:cond delay="48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650"/>
                                        <p:tgtEl>
                                          <p:spTgt spid="17"/>
                                        </p:tgtEl>
                                      </p:cBhvr>
                                    </p:animEffect>
                                    <p:anim calcmode="lin" valueType="num">
                                      <p:cBhvr>
                                        <p:cTn id="76" dur="650" fill="hold"/>
                                        <p:tgtEl>
                                          <p:spTgt spid="17"/>
                                        </p:tgtEl>
                                        <p:attrNameLst>
                                          <p:attrName>ppt_x</p:attrName>
                                        </p:attrNameLst>
                                      </p:cBhvr>
                                      <p:tavLst>
                                        <p:tav tm="0">
                                          <p:val>
                                            <p:strVal val="#ppt_x"/>
                                          </p:val>
                                        </p:tav>
                                        <p:tav tm="100000">
                                          <p:val>
                                            <p:strVal val="#ppt_x"/>
                                          </p:val>
                                        </p:tav>
                                      </p:tavLst>
                                    </p:anim>
                                    <p:anim calcmode="lin" valueType="num">
                                      <p:cBhvr>
                                        <p:cTn id="77" dur="650" fill="hold"/>
                                        <p:tgtEl>
                                          <p:spTgt spid="17"/>
                                        </p:tgtEl>
                                        <p:attrNameLst>
                                          <p:attrName>ppt_y</p:attrName>
                                        </p:attrNameLst>
                                      </p:cBhvr>
                                      <p:tavLst>
                                        <p:tav tm="0">
                                          <p:val>
                                            <p:strVal val="#ppt_y+.05"/>
                                          </p:val>
                                        </p:tav>
                                        <p:tav tm="100000">
                                          <p:val>
                                            <p:strVal val="#ppt_y"/>
                                          </p:val>
                                        </p:tav>
                                      </p:tavLst>
                                    </p:anim>
                                  </p:childTnLst>
                                </p:cTn>
                              </p:par>
                              <p:par>
                                <p:cTn id="78" presetID="42" presetClass="entr" presetSubtype="0" fill="hold" grpId="0" nodeType="withEffect">
                                  <p:stCondLst>
                                    <p:cond delay="48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650"/>
                                        <p:tgtEl>
                                          <p:spTgt spid="18"/>
                                        </p:tgtEl>
                                      </p:cBhvr>
                                    </p:animEffect>
                                    <p:anim calcmode="lin" valueType="num">
                                      <p:cBhvr>
                                        <p:cTn id="81" dur="650" fill="hold"/>
                                        <p:tgtEl>
                                          <p:spTgt spid="18"/>
                                        </p:tgtEl>
                                        <p:attrNameLst>
                                          <p:attrName>ppt_x</p:attrName>
                                        </p:attrNameLst>
                                      </p:cBhvr>
                                      <p:tavLst>
                                        <p:tav tm="0">
                                          <p:val>
                                            <p:strVal val="#ppt_x"/>
                                          </p:val>
                                        </p:tav>
                                        <p:tav tm="100000">
                                          <p:val>
                                            <p:strVal val="#ppt_x"/>
                                          </p:val>
                                        </p:tav>
                                      </p:tavLst>
                                    </p:anim>
                                    <p:anim calcmode="lin" valueType="num">
                                      <p:cBhvr>
                                        <p:cTn id="82" dur="650" fill="hold"/>
                                        <p:tgtEl>
                                          <p:spTgt spid="18"/>
                                        </p:tgtEl>
                                        <p:attrNameLst>
                                          <p:attrName>ppt_y</p:attrName>
                                        </p:attrNameLst>
                                      </p:cBhvr>
                                      <p:tavLst>
                                        <p:tav tm="0">
                                          <p:val>
                                            <p:strVal val="#ppt_y+.05"/>
                                          </p:val>
                                        </p:tav>
                                        <p:tav tm="100000">
                                          <p:val>
                                            <p:strVal val="#ppt_y"/>
                                          </p:val>
                                        </p:tav>
                                      </p:tavLst>
                                    </p:anim>
                                  </p:childTnLst>
                                </p:cTn>
                              </p:par>
                              <p:par>
                                <p:cTn id="83" presetID="42" presetClass="entr" presetSubtype="0" fill="hold" grpId="0" nodeType="withEffect">
                                  <p:stCondLst>
                                    <p:cond delay="48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650"/>
                                        <p:tgtEl>
                                          <p:spTgt spid="19"/>
                                        </p:tgtEl>
                                      </p:cBhvr>
                                    </p:animEffect>
                                    <p:anim calcmode="lin" valueType="num">
                                      <p:cBhvr>
                                        <p:cTn id="86" dur="650" fill="hold"/>
                                        <p:tgtEl>
                                          <p:spTgt spid="19"/>
                                        </p:tgtEl>
                                        <p:attrNameLst>
                                          <p:attrName>ppt_x</p:attrName>
                                        </p:attrNameLst>
                                      </p:cBhvr>
                                      <p:tavLst>
                                        <p:tav tm="0">
                                          <p:val>
                                            <p:strVal val="#ppt_x"/>
                                          </p:val>
                                        </p:tav>
                                        <p:tav tm="100000">
                                          <p:val>
                                            <p:strVal val="#ppt_x"/>
                                          </p:val>
                                        </p:tav>
                                      </p:tavLst>
                                    </p:anim>
                                    <p:anim calcmode="lin" valueType="num">
                                      <p:cBhvr>
                                        <p:cTn id="87" dur="650" fill="hold"/>
                                        <p:tgtEl>
                                          <p:spTgt spid="19"/>
                                        </p:tgtEl>
                                        <p:attrNameLst>
                                          <p:attrName>ppt_y</p:attrName>
                                        </p:attrNameLst>
                                      </p:cBhvr>
                                      <p:tavLst>
                                        <p:tav tm="0">
                                          <p:val>
                                            <p:strVal val="#ppt_y+.05"/>
                                          </p:val>
                                        </p:tav>
                                        <p:tav tm="100000">
                                          <p:val>
                                            <p:strVal val="#ppt_y"/>
                                          </p:val>
                                        </p:tav>
                                      </p:tavLst>
                                    </p:anim>
                                  </p:childTnLst>
                                </p:cTn>
                              </p:par>
                              <p:par>
                                <p:cTn id="88" presetID="42" presetClass="entr" presetSubtype="0" fill="hold" grpId="0" nodeType="withEffect">
                                  <p:stCondLst>
                                    <p:cond delay="57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650"/>
                                        <p:tgtEl>
                                          <p:spTgt spid="20"/>
                                        </p:tgtEl>
                                      </p:cBhvr>
                                    </p:animEffect>
                                    <p:anim calcmode="lin" valueType="num">
                                      <p:cBhvr>
                                        <p:cTn id="91" dur="650" fill="hold"/>
                                        <p:tgtEl>
                                          <p:spTgt spid="20"/>
                                        </p:tgtEl>
                                        <p:attrNameLst>
                                          <p:attrName>ppt_x</p:attrName>
                                        </p:attrNameLst>
                                      </p:cBhvr>
                                      <p:tavLst>
                                        <p:tav tm="0">
                                          <p:val>
                                            <p:strVal val="#ppt_x"/>
                                          </p:val>
                                        </p:tav>
                                        <p:tav tm="100000">
                                          <p:val>
                                            <p:strVal val="#ppt_x"/>
                                          </p:val>
                                        </p:tav>
                                      </p:tavLst>
                                    </p:anim>
                                    <p:anim calcmode="lin" valueType="num">
                                      <p:cBhvr>
                                        <p:cTn id="92" dur="650" fill="hold"/>
                                        <p:tgtEl>
                                          <p:spTgt spid="20"/>
                                        </p:tgtEl>
                                        <p:attrNameLst>
                                          <p:attrName>ppt_y</p:attrName>
                                        </p:attrNameLst>
                                      </p:cBhvr>
                                      <p:tavLst>
                                        <p:tav tm="0">
                                          <p:val>
                                            <p:strVal val="#ppt_y+.05"/>
                                          </p:val>
                                        </p:tav>
                                        <p:tav tm="100000">
                                          <p:val>
                                            <p:strVal val="#ppt_y"/>
                                          </p:val>
                                        </p:tav>
                                      </p:tavLst>
                                    </p:anim>
                                  </p:childTnLst>
                                </p:cTn>
                              </p:par>
                              <p:par>
                                <p:cTn id="93" presetID="42" presetClass="entr" presetSubtype="0" fill="hold" grpId="0" nodeType="withEffect">
                                  <p:stCondLst>
                                    <p:cond delay="57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650"/>
                                        <p:tgtEl>
                                          <p:spTgt spid="21"/>
                                        </p:tgtEl>
                                      </p:cBhvr>
                                    </p:animEffect>
                                    <p:anim calcmode="lin" valueType="num">
                                      <p:cBhvr>
                                        <p:cTn id="96" dur="650" fill="hold"/>
                                        <p:tgtEl>
                                          <p:spTgt spid="21"/>
                                        </p:tgtEl>
                                        <p:attrNameLst>
                                          <p:attrName>ppt_x</p:attrName>
                                        </p:attrNameLst>
                                      </p:cBhvr>
                                      <p:tavLst>
                                        <p:tav tm="0">
                                          <p:val>
                                            <p:strVal val="#ppt_x"/>
                                          </p:val>
                                        </p:tav>
                                        <p:tav tm="100000">
                                          <p:val>
                                            <p:strVal val="#ppt_x"/>
                                          </p:val>
                                        </p:tav>
                                      </p:tavLst>
                                    </p:anim>
                                    <p:anim calcmode="lin" valueType="num">
                                      <p:cBhvr>
                                        <p:cTn id="97" dur="650" fill="hold"/>
                                        <p:tgtEl>
                                          <p:spTgt spid="21"/>
                                        </p:tgtEl>
                                        <p:attrNameLst>
                                          <p:attrName>ppt_y</p:attrName>
                                        </p:attrNameLst>
                                      </p:cBhvr>
                                      <p:tavLst>
                                        <p:tav tm="0">
                                          <p:val>
                                            <p:strVal val="#ppt_y+.05"/>
                                          </p:val>
                                        </p:tav>
                                        <p:tav tm="100000">
                                          <p:val>
                                            <p:strVal val="#ppt_y"/>
                                          </p:val>
                                        </p:tav>
                                      </p:tavLst>
                                    </p:anim>
                                  </p:childTnLst>
                                </p:cTn>
                              </p:par>
                              <p:par>
                                <p:cTn id="98" presetID="42" presetClass="entr" presetSubtype="0" fill="hold" grpId="0" nodeType="withEffect">
                                  <p:stCondLst>
                                    <p:cond delay="57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650"/>
                                        <p:tgtEl>
                                          <p:spTgt spid="22"/>
                                        </p:tgtEl>
                                      </p:cBhvr>
                                    </p:animEffect>
                                    <p:anim calcmode="lin" valueType="num">
                                      <p:cBhvr>
                                        <p:cTn id="101" dur="650" fill="hold"/>
                                        <p:tgtEl>
                                          <p:spTgt spid="22"/>
                                        </p:tgtEl>
                                        <p:attrNameLst>
                                          <p:attrName>ppt_x</p:attrName>
                                        </p:attrNameLst>
                                      </p:cBhvr>
                                      <p:tavLst>
                                        <p:tav tm="0">
                                          <p:val>
                                            <p:strVal val="#ppt_x"/>
                                          </p:val>
                                        </p:tav>
                                        <p:tav tm="100000">
                                          <p:val>
                                            <p:strVal val="#ppt_x"/>
                                          </p:val>
                                        </p:tav>
                                      </p:tavLst>
                                    </p:anim>
                                    <p:anim calcmode="lin" valueType="num">
                                      <p:cBhvr>
                                        <p:cTn id="102" dur="650" fill="hold"/>
                                        <p:tgtEl>
                                          <p:spTgt spid="22"/>
                                        </p:tgtEl>
                                        <p:attrNameLst>
                                          <p:attrName>ppt_y</p:attrName>
                                        </p:attrNameLst>
                                      </p:cBhvr>
                                      <p:tavLst>
                                        <p:tav tm="0">
                                          <p:val>
                                            <p:strVal val="#ppt_y+.05"/>
                                          </p:val>
                                        </p:tav>
                                        <p:tav tm="100000">
                                          <p:val>
                                            <p:strVal val="#ppt_y"/>
                                          </p:val>
                                        </p:tav>
                                      </p:tavLst>
                                    </p:anim>
                                  </p:childTnLst>
                                </p:cTn>
                              </p:par>
                              <p:par>
                                <p:cTn id="103" presetID="42" presetClass="entr" presetSubtype="0" fill="hold" grpId="0" nodeType="withEffect">
                                  <p:stCondLst>
                                    <p:cond delay="57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650"/>
                                        <p:tgtEl>
                                          <p:spTgt spid="23"/>
                                        </p:tgtEl>
                                      </p:cBhvr>
                                    </p:animEffect>
                                    <p:anim calcmode="lin" valueType="num">
                                      <p:cBhvr>
                                        <p:cTn id="106" dur="650" fill="hold"/>
                                        <p:tgtEl>
                                          <p:spTgt spid="23"/>
                                        </p:tgtEl>
                                        <p:attrNameLst>
                                          <p:attrName>ppt_x</p:attrName>
                                        </p:attrNameLst>
                                      </p:cBhvr>
                                      <p:tavLst>
                                        <p:tav tm="0">
                                          <p:val>
                                            <p:strVal val="#ppt_x"/>
                                          </p:val>
                                        </p:tav>
                                        <p:tav tm="100000">
                                          <p:val>
                                            <p:strVal val="#ppt_x"/>
                                          </p:val>
                                        </p:tav>
                                      </p:tavLst>
                                    </p:anim>
                                    <p:anim calcmode="lin" valueType="num">
                                      <p:cBhvr>
                                        <p:cTn id="107" dur="650" fill="hold"/>
                                        <p:tgtEl>
                                          <p:spTgt spid="23"/>
                                        </p:tgtEl>
                                        <p:attrNameLst>
                                          <p:attrName>ppt_y</p:attrName>
                                        </p:attrNameLst>
                                      </p:cBhvr>
                                      <p:tavLst>
                                        <p:tav tm="0">
                                          <p:val>
                                            <p:strVal val="#ppt_y+.05"/>
                                          </p:val>
                                        </p:tav>
                                        <p:tav tm="100000">
                                          <p:val>
                                            <p:strVal val="#ppt_y"/>
                                          </p:val>
                                        </p:tav>
                                      </p:tavLst>
                                    </p:anim>
                                  </p:childTnLst>
                                </p:cTn>
                              </p:par>
                              <p:par>
                                <p:cTn id="108" presetID="42" presetClass="entr" presetSubtype="0" fill="hold" grpId="0" nodeType="withEffect">
                                  <p:stCondLst>
                                    <p:cond delay="57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650"/>
                                        <p:tgtEl>
                                          <p:spTgt spid="24"/>
                                        </p:tgtEl>
                                      </p:cBhvr>
                                    </p:animEffect>
                                    <p:anim calcmode="lin" valueType="num">
                                      <p:cBhvr>
                                        <p:cTn id="111" dur="650" fill="hold"/>
                                        <p:tgtEl>
                                          <p:spTgt spid="24"/>
                                        </p:tgtEl>
                                        <p:attrNameLst>
                                          <p:attrName>ppt_x</p:attrName>
                                        </p:attrNameLst>
                                      </p:cBhvr>
                                      <p:tavLst>
                                        <p:tav tm="0">
                                          <p:val>
                                            <p:strVal val="#ppt_x"/>
                                          </p:val>
                                        </p:tav>
                                        <p:tav tm="100000">
                                          <p:val>
                                            <p:strVal val="#ppt_x"/>
                                          </p:val>
                                        </p:tav>
                                      </p:tavLst>
                                    </p:anim>
                                    <p:anim calcmode="lin" valueType="num">
                                      <p:cBhvr>
                                        <p:cTn id="112" dur="650" fill="hold"/>
                                        <p:tgtEl>
                                          <p:spTgt spid="24"/>
                                        </p:tgtEl>
                                        <p:attrNameLst>
                                          <p:attrName>ppt_y</p:attrName>
                                        </p:attrNameLst>
                                      </p:cBhvr>
                                      <p:tavLst>
                                        <p:tav tm="0">
                                          <p:val>
                                            <p:strVal val="#ppt_y+.05"/>
                                          </p:val>
                                        </p:tav>
                                        <p:tav tm="100000">
                                          <p:val>
                                            <p:strVal val="#ppt_y"/>
                                          </p:val>
                                        </p:tav>
                                      </p:tavLst>
                                    </p:anim>
                                  </p:childTnLst>
                                </p:cTn>
                              </p:par>
                              <p:par>
                                <p:cTn id="113" presetID="42" presetClass="entr" presetSubtype="0" fill="hold" grpId="0" nodeType="withEffect">
                                  <p:stCondLst>
                                    <p:cond delay="66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650"/>
                                        <p:tgtEl>
                                          <p:spTgt spid="25"/>
                                        </p:tgtEl>
                                      </p:cBhvr>
                                    </p:animEffect>
                                    <p:anim calcmode="lin" valueType="num">
                                      <p:cBhvr>
                                        <p:cTn id="116" dur="650" fill="hold"/>
                                        <p:tgtEl>
                                          <p:spTgt spid="25"/>
                                        </p:tgtEl>
                                        <p:attrNameLst>
                                          <p:attrName>ppt_x</p:attrName>
                                        </p:attrNameLst>
                                      </p:cBhvr>
                                      <p:tavLst>
                                        <p:tav tm="0">
                                          <p:val>
                                            <p:strVal val="#ppt_x"/>
                                          </p:val>
                                        </p:tav>
                                        <p:tav tm="100000">
                                          <p:val>
                                            <p:strVal val="#ppt_x"/>
                                          </p:val>
                                        </p:tav>
                                      </p:tavLst>
                                    </p:anim>
                                    <p:anim calcmode="lin" valueType="num">
                                      <p:cBhvr>
                                        <p:cTn id="117" dur="650" fill="hold"/>
                                        <p:tgtEl>
                                          <p:spTgt spid="25"/>
                                        </p:tgtEl>
                                        <p:attrNameLst>
                                          <p:attrName>ppt_y</p:attrName>
                                        </p:attrNameLst>
                                      </p:cBhvr>
                                      <p:tavLst>
                                        <p:tav tm="0">
                                          <p:val>
                                            <p:strVal val="#ppt_y+.05"/>
                                          </p:val>
                                        </p:tav>
                                        <p:tav tm="100000">
                                          <p:val>
                                            <p:strVal val="#ppt_y"/>
                                          </p:val>
                                        </p:tav>
                                      </p:tavLst>
                                    </p:anim>
                                  </p:childTnLst>
                                </p:cTn>
                              </p:par>
                              <p:par>
                                <p:cTn id="118" presetID="42" presetClass="entr" presetSubtype="0" fill="hold" grpId="0" nodeType="withEffect">
                                  <p:stCondLst>
                                    <p:cond delay="66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650"/>
                                        <p:tgtEl>
                                          <p:spTgt spid="26"/>
                                        </p:tgtEl>
                                      </p:cBhvr>
                                    </p:animEffect>
                                    <p:anim calcmode="lin" valueType="num">
                                      <p:cBhvr>
                                        <p:cTn id="121" dur="650" fill="hold"/>
                                        <p:tgtEl>
                                          <p:spTgt spid="26"/>
                                        </p:tgtEl>
                                        <p:attrNameLst>
                                          <p:attrName>ppt_x</p:attrName>
                                        </p:attrNameLst>
                                      </p:cBhvr>
                                      <p:tavLst>
                                        <p:tav tm="0">
                                          <p:val>
                                            <p:strVal val="#ppt_x"/>
                                          </p:val>
                                        </p:tav>
                                        <p:tav tm="100000">
                                          <p:val>
                                            <p:strVal val="#ppt_x"/>
                                          </p:val>
                                        </p:tav>
                                      </p:tavLst>
                                    </p:anim>
                                    <p:anim calcmode="lin" valueType="num">
                                      <p:cBhvr>
                                        <p:cTn id="122" dur="650" fill="hold"/>
                                        <p:tgtEl>
                                          <p:spTgt spid="26"/>
                                        </p:tgtEl>
                                        <p:attrNameLst>
                                          <p:attrName>ppt_y</p:attrName>
                                        </p:attrNameLst>
                                      </p:cBhvr>
                                      <p:tavLst>
                                        <p:tav tm="0">
                                          <p:val>
                                            <p:strVal val="#ppt_y+.05"/>
                                          </p:val>
                                        </p:tav>
                                        <p:tav tm="100000">
                                          <p:val>
                                            <p:strVal val="#ppt_y"/>
                                          </p:val>
                                        </p:tav>
                                      </p:tavLst>
                                    </p:anim>
                                  </p:childTnLst>
                                </p:cTn>
                              </p:par>
                              <p:par>
                                <p:cTn id="123" presetID="42" presetClass="entr" presetSubtype="0" fill="hold" grpId="0" nodeType="withEffect">
                                  <p:stCondLst>
                                    <p:cond delay="66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650"/>
                                        <p:tgtEl>
                                          <p:spTgt spid="27"/>
                                        </p:tgtEl>
                                      </p:cBhvr>
                                    </p:animEffect>
                                    <p:anim calcmode="lin" valueType="num">
                                      <p:cBhvr>
                                        <p:cTn id="126" dur="650" fill="hold"/>
                                        <p:tgtEl>
                                          <p:spTgt spid="27"/>
                                        </p:tgtEl>
                                        <p:attrNameLst>
                                          <p:attrName>ppt_x</p:attrName>
                                        </p:attrNameLst>
                                      </p:cBhvr>
                                      <p:tavLst>
                                        <p:tav tm="0">
                                          <p:val>
                                            <p:strVal val="#ppt_x"/>
                                          </p:val>
                                        </p:tav>
                                        <p:tav tm="100000">
                                          <p:val>
                                            <p:strVal val="#ppt_x"/>
                                          </p:val>
                                        </p:tav>
                                      </p:tavLst>
                                    </p:anim>
                                    <p:anim calcmode="lin" valueType="num">
                                      <p:cBhvr>
                                        <p:cTn id="127" dur="650" fill="hold"/>
                                        <p:tgtEl>
                                          <p:spTgt spid="27"/>
                                        </p:tgtEl>
                                        <p:attrNameLst>
                                          <p:attrName>ppt_y</p:attrName>
                                        </p:attrNameLst>
                                      </p:cBhvr>
                                      <p:tavLst>
                                        <p:tav tm="0">
                                          <p:val>
                                            <p:strVal val="#ppt_y+.05"/>
                                          </p:val>
                                        </p:tav>
                                        <p:tav tm="100000">
                                          <p:val>
                                            <p:strVal val="#ppt_y"/>
                                          </p:val>
                                        </p:tav>
                                      </p:tavLst>
                                    </p:anim>
                                  </p:childTnLst>
                                </p:cTn>
                              </p:par>
                              <p:par>
                                <p:cTn id="128" presetID="42" presetClass="entr" presetSubtype="0" fill="hold" grpId="0" nodeType="withEffect">
                                  <p:stCondLst>
                                    <p:cond delay="66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650"/>
                                        <p:tgtEl>
                                          <p:spTgt spid="28"/>
                                        </p:tgtEl>
                                      </p:cBhvr>
                                    </p:animEffect>
                                    <p:anim calcmode="lin" valueType="num">
                                      <p:cBhvr>
                                        <p:cTn id="131" dur="650" fill="hold"/>
                                        <p:tgtEl>
                                          <p:spTgt spid="28"/>
                                        </p:tgtEl>
                                        <p:attrNameLst>
                                          <p:attrName>ppt_x</p:attrName>
                                        </p:attrNameLst>
                                      </p:cBhvr>
                                      <p:tavLst>
                                        <p:tav tm="0">
                                          <p:val>
                                            <p:strVal val="#ppt_x"/>
                                          </p:val>
                                        </p:tav>
                                        <p:tav tm="100000">
                                          <p:val>
                                            <p:strVal val="#ppt_x"/>
                                          </p:val>
                                        </p:tav>
                                      </p:tavLst>
                                    </p:anim>
                                    <p:anim calcmode="lin" valueType="num">
                                      <p:cBhvr>
                                        <p:cTn id="132" dur="650" fill="hold"/>
                                        <p:tgtEl>
                                          <p:spTgt spid="28"/>
                                        </p:tgtEl>
                                        <p:attrNameLst>
                                          <p:attrName>ppt_y</p:attrName>
                                        </p:attrNameLst>
                                      </p:cBhvr>
                                      <p:tavLst>
                                        <p:tav tm="0">
                                          <p:val>
                                            <p:strVal val="#ppt_y+.05"/>
                                          </p:val>
                                        </p:tav>
                                        <p:tav tm="100000">
                                          <p:val>
                                            <p:strVal val="#ppt_y"/>
                                          </p:val>
                                        </p:tav>
                                      </p:tavLst>
                                    </p:anim>
                                  </p:childTnLst>
                                </p:cTn>
                              </p:par>
                              <p:par>
                                <p:cTn id="133" presetID="42" presetClass="entr" presetSubtype="0" fill="hold" grpId="0" nodeType="withEffect">
                                  <p:stCondLst>
                                    <p:cond delay="66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650"/>
                                        <p:tgtEl>
                                          <p:spTgt spid="29"/>
                                        </p:tgtEl>
                                      </p:cBhvr>
                                    </p:animEffect>
                                    <p:anim calcmode="lin" valueType="num">
                                      <p:cBhvr>
                                        <p:cTn id="136" dur="650" fill="hold"/>
                                        <p:tgtEl>
                                          <p:spTgt spid="29"/>
                                        </p:tgtEl>
                                        <p:attrNameLst>
                                          <p:attrName>ppt_x</p:attrName>
                                        </p:attrNameLst>
                                      </p:cBhvr>
                                      <p:tavLst>
                                        <p:tav tm="0">
                                          <p:val>
                                            <p:strVal val="#ppt_x"/>
                                          </p:val>
                                        </p:tav>
                                        <p:tav tm="100000">
                                          <p:val>
                                            <p:strVal val="#ppt_x"/>
                                          </p:val>
                                        </p:tav>
                                      </p:tavLst>
                                    </p:anim>
                                    <p:anim calcmode="lin" valueType="num">
                                      <p:cBhvr>
                                        <p:cTn id="137" dur="650" fill="hold"/>
                                        <p:tgtEl>
                                          <p:spTgt spid="29"/>
                                        </p:tgtEl>
                                        <p:attrNameLst>
                                          <p:attrName>ppt_y</p:attrName>
                                        </p:attrNameLst>
                                      </p:cBhvr>
                                      <p:tavLst>
                                        <p:tav tm="0">
                                          <p:val>
                                            <p:strVal val="#ppt_y+.05"/>
                                          </p:val>
                                        </p:tav>
                                        <p:tav tm="100000">
                                          <p:val>
                                            <p:strVal val="#ppt_y"/>
                                          </p:val>
                                        </p:tav>
                                      </p:tavLst>
                                    </p:anim>
                                  </p:childTnLst>
                                </p:cTn>
                              </p:par>
                              <p:par>
                                <p:cTn id="138" presetID="42" presetClass="entr" presetSubtype="0" fill="hold" grpId="0" nodeType="withEffect">
                                  <p:stCondLst>
                                    <p:cond delay="75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650"/>
                                        <p:tgtEl>
                                          <p:spTgt spid="30"/>
                                        </p:tgtEl>
                                      </p:cBhvr>
                                    </p:animEffect>
                                    <p:anim calcmode="lin" valueType="num">
                                      <p:cBhvr>
                                        <p:cTn id="141" dur="650" fill="hold"/>
                                        <p:tgtEl>
                                          <p:spTgt spid="30"/>
                                        </p:tgtEl>
                                        <p:attrNameLst>
                                          <p:attrName>ppt_x</p:attrName>
                                        </p:attrNameLst>
                                      </p:cBhvr>
                                      <p:tavLst>
                                        <p:tav tm="0">
                                          <p:val>
                                            <p:strVal val="#ppt_x"/>
                                          </p:val>
                                        </p:tav>
                                        <p:tav tm="100000">
                                          <p:val>
                                            <p:strVal val="#ppt_x"/>
                                          </p:val>
                                        </p:tav>
                                      </p:tavLst>
                                    </p:anim>
                                    <p:anim calcmode="lin" valueType="num">
                                      <p:cBhvr>
                                        <p:cTn id="142" dur="650" fill="hold"/>
                                        <p:tgtEl>
                                          <p:spTgt spid="30"/>
                                        </p:tgtEl>
                                        <p:attrNameLst>
                                          <p:attrName>ppt_y</p:attrName>
                                        </p:attrNameLst>
                                      </p:cBhvr>
                                      <p:tavLst>
                                        <p:tav tm="0">
                                          <p:val>
                                            <p:strVal val="#ppt_y+.05"/>
                                          </p:val>
                                        </p:tav>
                                        <p:tav tm="100000">
                                          <p:val>
                                            <p:strVal val="#ppt_y"/>
                                          </p:val>
                                        </p:tav>
                                      </p:tavLst>
                                    </p:anim>
                                  </p:childTnLst>
                                </p:cTn>
                              </p:par>
                              <p:par>
                                <p:cTn id="143" presetID="42" presetClass="entr" presetSubtype="0" fill="hold" grpId="0" nodeType="withEffect">
                                  <p:stCondLst>
                                    <p:cond delay="75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650"/>
                                        <p:tgtEl>
                                          <p:spTgt spid="31"/>
                                        </p:tgtEl>
                                      </p:cBhvr>
                                    </p:animEffect>
                                    <p:anim calcmode="lin" valueType="num">
                                      <p:cBhvr>
                                        <p:cTn id="146" dur="650" fill="hold"/>
                                        <p:tgtEl>
                                          <p:spTgt spid="31"/>
                                        </p:tgtEl>
                                        <p:attrNameLst>
                                          <p:attrName>ppt_x</p:attrName>
                                        </p:attrNameLst>
                                      </p:cBhvr>
                                      <p:tavLst>
                                        <p:tav tm="0">
                                          <p:val>
                                            <p:strVal val="#ppt_x"/>
                                          </p:val>
                                        </p:tav>
                                        <p:tav tm="100000">
                                          <p:val>
                                            <p:strVal val="#ppt_x"/>
                                          </p:val>
                                        </p:tav>
                                      </p:tavLst>
                                    </p:anim>
                                    <p:anim calcmode="lin" valueType="num">
                                      <p:cBhvr>
                                        <p:cTn id="147" dur="650" fill="hold"/>
                                        <p:tgtEl>
                                          <p:spTgt spid="31"/>
                                        </p:tgtEl>
                                        <p:attrNameLst>
                                          <p:attrName>ppt_y</p:attrName>
                                        </p:attrNameLst>
                                      </p:cBhvr>
                                      <p:tavLst>
                                        <p:tav tm="0">
                                          <p:val>
                                            <p:strVal val="#ppt_y+.05"/>
                                          </p:val>
                                        </p:tav>
                                        <p:tav tm="100000">
                                          <p:val>
                                            <p:strVal val="#ppt_y"/>
                                          </p:val>
                                        </p:tav>
                                      </p:tavLst>
                                    </p:anim>
                                  </p:childTnLst>
                                </p:cTn>
                              </p:par>
                              <p:par>
                                <p:cTn id="148" presetID="42" presetClass="entr" presetSubtype="0" fill="hold" grpId="0" nodeType="withEffect">
                                  <p:stCondLst>
                                    <p:cond delay="75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650"/>
                                        <p:tgtEl>
                                          <p:spTgt spid="32"/>
                                        </p:tgtEl>
                                      </p:cBhvr>
                                    </p:animEffect>
                                    <p:anim calcmode="lin" valueType="num">
                                      <p:cBhvr>
                                        <p:cTn id="151" dur="650" fill="hold"/>
                                        <p:tgtEl>
                                          <p:spTgt spid="32"/>
                                        </p:tgtEl>
                                        <p:attrNameLst>
                                          <p:attrName>ppt_x</p:attrName>
                                        </p:attrNameLst>
                                      </p:cBhvr>
                                      <p:tavLst>
                                        <p:tav tm="0">
                                          <p:val>
                                            <p:strVal val="#ppt_x"/>
                                          </p:val>
                                        </p:tav>
                                        <p:tav tm="100000">
                                          <p:val>
                                            <p:strVal val="#ppt_x"/>
                                          </p:val>
                                        </p:tav>
                                      </p:tavLst>
                                    </p:anim>
                                    <p:anim calcmode="lin" valueType="num">
                                      <p:cBhvr>
                                        <p:cTn id="152" dur="650" fill="hold"/>
                                        <p:tgtEl>
                                          <p:spTgt spid="32"/>
                                        </p:tgtEl>
                                        <p:attrNameLst>
                                          <p:attrName>ppt_y</p:attrName>
                                        </p:attrNameLst>
                                      </p:cBhvr>
                                      <p:tavLst>
                                        <p:tav tm="0">
                                          <p:val>
                                            <p:strVal val="#ppt_y+.05"/>
                                          </p:val>
                                        </p:tav>
                                        <p:tav tm="100000">
                                          <p:val>
                                            <p:strVal val="#ppt_y"/>
                                          </p:val>
                                        </p:tav>
                                      </p:tavLst>
                                    </p:anim>
                                  </p:childTnLst>
                                </p:cTn>
                              </p:par>
                              <p:par>
                                <p:cTn id="153" presetID="42" presetClass="entr" presetSubtype="0" fill="hold" grpId="0" nodeType="withEffect">
                                  <p:stCondLst>
                                    <p:cond delay="75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650"/>
                                        <p:tgtEl>
                                          <p:spTgt spid="33"/>
                                        </p:tgtEl>
                                      </p:cBhvr>
                                    </p:animEffect>
                                    <p:anim calcmode="lin" valueType="num">
                                      <p:cBhvr>
                                        <p:cTn id="156" dur="650" fill="hold"/>
                                        <p:tgtEl>
                                          <p:spTgt spid="33"/>
                                        </p:tgtEl>
                                        <p:attrNameLst>
                                          <p:attrName>ppt_x</p:attrName>
                                        </p:attrNameLst>
                                      </p:cBhvr>
                                      <p:tavLst>
                                        <p:tav tm="0">
                                          <p:val>
                                            <p:strVal val="#ppt_x"/>
                                          </p:val>
                                        </p:tav>
                                        <p:tav tm="100000">
                                          <p:val>
                                            <p:strVal val="#ppt_x"/>
                                          </p:val>
                                        </p:tav>
                                      </p:tavLst>
                                    </p:anim>
                                    <p:anim calcmode="lin" valueType="num">
                                      <p:cBhvr>
                                        <p:cTn id="157" dur="650" fill="hold"/>
                                        <p:tgtEl>
                                          <p:spTgt spid="33"/>
                                        </p:tgtEl>
                                        <p:attrNameLst>
                                          <p:attrName>ppt_y</p:attrName>
                                        </p:attrNameLst>
                                      </p:cBhvr>
                                      <p:tavLst>
                                        <p:tav tm="0">
                                          <p:val>
                                            <p:strVal val="#ppt_y+.05"/>
                                          </p:val>
                                        </p:tav>
                                        <p:tav tm="100000">
                                          <p:val>
                                            <p:strVal val="#ppt_y"/>
                                          </p:val>
                                        </p:tav>
                                      </p:tavLst>
                                    </p:anim>
                                  </p:childTnLst>
                                </p:cTn>
                              </p:par>
                              <p:par>
                                <p:cTn id="158" presetID="42" presetClass="entr" presetSubtype="0" fill="hold" grpId="0" nodeType="withEffect">
                                  <p:stCondLst>
                                    <p:cond delay="75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650"/>
                                        <p:tgtEl>
                                          <p:spTgt spid="34"/>
                                        </p:tgtEl>
                                      </p:cBhvr>
                                    </p:animEffect>
                                    <p:anim calcmode="lin" valueType="num">
                                      <p:cBhvr>
                                        <p:cTn id="161" dur="650" fill="hold"/>
                                        <p:tgtEl>
                                          <p:spTgt spid="34"/>
                                        </p:tgtEl>
                                        <p:attrNameLst>
                                          <p:attrName>ppt_x</p:attrName>
                                        </p:attrNameLst>
                                      </p:cBhvr>
                                      <p:tavLst>
                                        <p:tav tm="0">
                                          <p:val>
                                            <p:strVal val="#ppt_x"/>
                                          </p:val>
                                        </p:tav>
                                        <p:tav tm="100000">
                                          <p:val>
                                            <p:strVal val="#ppt_x"/>
                                          </p:val>
                                        </p:tav>
                                      </p:tavLst>
                                    </p:anim>
                                    <p:anim calcmode="lin" valueType="num">
                                      <p:cBhvr>
                                        <p:cTn id="162" dur="650" fill="hold"/>
                                        <p:tgtEl>
                                          <p:spTgt spid="34"/>
                                        </p:tgtEl>
                                        <p:attrNameLst>
                                          <p:attrName>ppt_y</p:attrName>
                                        </p:attrNameLst>
                                      </p:cBhvr>
                                      <p:tavLst>
                                        <p:tav tm="0">
                                          <p:val>
                                            <p:strVal val="#ppt_y+.05"/>
                                          </p:val>
                                        </p:tav>
                                        <p:tav tm="100000">
                                          <p:val>
                                            <p:strVal val="#ppt_y"/>
                                          </p:val>
                                        </p:tav>
                                      </p:tavLst>
                                    </p:anim>
                                  </p:childTnLst>
                                </p:cTn>
                              </p:par>
                              <p:par>
                                <p:cTn id="163" presetID="42" presetClass="entr" presetSubtype="0" fill="hold" grpId="0" nodeType="withEffect">
                                  <p:stCondLst>
                                    <p:cond delay="84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650"/>
                                        <p:tgtEl>
                                          <p:spTgt spid="35"/>
                                        </p:tgtEl>
                                      </p:cBhvr>
                                    </p:animEffect>
                                    <p:anim calcmode="lin" valueType="num">
                                      <p:cBhvr>
                                        <p:cTn id="166" dur="650" fill="hold"/>
                                        <p:tgtEl>
                                          <p:spTgt spid="35"/>
                                        </p:tgtEl>
                                        <p:attrNameLst>
                                          <p:attrName>ppt_x</p:attrName>
                                        </p:attrNameLst>
                                      </p:cBhvr>
                                      <p:tavLst>
                                        <p:tav tm="0">
                                          <p:val>
                                            <p:strVal val="#ppt_x"/>
                                          </p:val>
                                        </p:tav>
                                        <p:tav tm="100000">
                                          <p:val>
                                            <p:strVal val="#ppt_x"/>
                                          </p:val>
                                        </p:tav>
                                      </p:tavLst>
                                    </p:anim>
                                    <p:anim calcmode="lin" valueType="num">
                                      <p:cBhvr>
                                        <p:cTn id="167" dur="650" fill="hold"/>
                                        <p:tgtEl>
                                          <p:spTgt spid="35"/>
                                        </p:tgtEl>
                                        <p:attrNameLst>
                                          <p:attrName>ppt_y</p:attrName>
                                        </p:attrNameLst>
                                      </p:cBhvr>
                                      <p:tavLst>
                                        <p:tav tm="0">
                                          <p:val>
                                            <p:strVal val="#ppt_y+.05"/>
                                          </p:val>
                                        </p:tav>
                                        <p:tav tm="100000">
                                          <p:val>
                                            <p:strVal val="#ppt_y"/>
                                          </p:val>
                                        </p:tav>
                                      </p:tavLst>
                                    </p:anim>
                                  </p:childTnLst>
                                </p:cTn>
                              </p:par>
                              <p:par>
                                <p:cTn id="168" presetID="42" presetClass="entr" presetSubtype="0" fill="hold" grpId="0" nodeType="withEffect">
                                  <p:stCondLst>
                                    <p:cond delay="84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650"/>
                                        <p:tgtEl>
                                          <p:spTgt spid="36"/>
                                        </p:tgtEl>
                                      </p:cBhvr>
                                    </p:animEffect>
                                    <p:anim calcmode="lin" valueType="num">
                                      <p:cBhvr>
                                        <p:cTn id="171" dur="650" fill="hold"/>
                                        <p:tgtEl>
                                          <p:spTgt spid="36"/>
                                        </p:tgtEl>
                                        <p:attrNameLst>
                                          <p:attrName>ppt_x</p:attrName>
                                        </p:attrNameLst>
                                      </p:cBhvr>
                                      <p:tavLst>
                                        <p:tav tm="0">
                                          <p:val>
                                            <p:strVal val="#ppt_x"/>
                                          </p:val>
                                        </p:tav>
                                        <p:tav tm="100000">
                                          <p:val>
                                            <p:strVal val="#ppt_x"/>
                                          </p:val>
                                        </p:tav>
                                      </p:tavLst>
                                    </p:anim>
                                    <p:anim calcmode="lin" valueType="num">
                                      <p:cBhvr>
                                        <p:cTn id="172" dur="650" fill="hold"/>
                                        <p:tgtEl>
                                          <p:spTgt spid="36"/>
                                        </p:tgtEl>
                                        <p:attrNameLst>
                                          <p:attrName>ppt_y</p:attrName>
                                        </p:attrNameLst>
                                      </p:cBhvr>
                                      <p:tavLst>
                                        <p:tav tm="0">
                                          <p:val>
                                            <p:strVal val="#ppt_y+.05"/>
                                          </p:val>
                                        </p:tav>
                                        <p:tav tm="100000">
                                          <p:val>
                                            <p:strVal val="#ppt_y"/>
                                          </p:val>
                                        </p:tav>
                                      </p:tavLst>
                                    </p:anim>
                                  </p:childTnLst>
                                </p:cTn>
                              </p:par>
                              <p:par>
                                <p:cTn id="173" presetID="42" presetClass="entr" presetSubtype="0" fill="hold" grpId="0" nodeType="withEffect">
                                  <p:stCondLst>
                                    <p:cond delay="84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650"/>
                                        <p:tgtEl>
                                          <p:spTgt spid="37"/>
                                        </p:tgtEl>
                                      </p:cBhvr>
                                    </p:animEffect>
                                    <p:anim calcmode="lin" valueType="num">
                                      <p:cBhvr>
                                        <p:cTn id="176" dur="650" fill="hold"/>
                                        <p:tgtEl>
                                          <p:spTgt spid="37"/>
                                        </p:tgtEl>
                                        <p:attrNameLst>
                                          <p:attrName>ppt_x</p:attrName>
                                        </p:attrNameLst>
                                      </p:cBhvr>
                                      <p:tavLst>
                                        <p:tav tm="0">
                                          <p:val>
                                            <p:strVal val="#ppt_x"/>
                                          </p:val>
                                        </p:tav>
                                        <p:tav tm="100000">
                                          <p:val>
                                            <p:strVal val="#ppt_x"/>
                                          </p:val>
                                        </p:tav>
                                      </p:tavLst>
                                    </p:anim>
                                    <p:anim calcmode="lin" valueType="num">
                                      <p:cBhvr>
                                        <p:cTn id="177" dur="650" fill="hold"/>
                                        <p:tgtEl>
                                          <p:spTgt spid="37"/>
                                        </p:tgtEl>
                                        <p:attrNameLst>
                                          <p:attrName>ppt_y</p:attrName>
                                        </p:attrNameLst>
                                      </p:cBhvr>
                                      <p:tavLst>
                                        <p:tav tm="0">
                                          <p:val>
                                            <p:strVal val="#ppt_y+.05"/>
                                          </p:val>
                                        </p:tav>
                                        <p:tav tm="100000">
                                          <p:val>
                                            <p:strVal val="#ppt_y"/>
                                          </p:val>
                                        </p:tav>
                                      </p:tavLst>
                                    </p:anim>
                                  </p:childTnLst>
                                </p:cTn>
                              </p:par>
                              <p:par>
                                <p:cTn id="178" presetID="42" presetClass="entr" presetSubtype="0" fill="hold" grpId="0" nodeType="withEffect">
                                  <p:stCondLst>
                                    <p:cond delay="84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650"/>
                                        <p:tgtEl>
                                          <p:spTgt spid="38"/>
                                        </p:tgtEl>
                                      </p:cBhvr>
                                    </p:animEffect>
                                    <p:anim calcmode="lin" valueType="num">
                                      <p:cBhvr>
                                        <p:cTn id="181" dur="650" fill="hold"/>
                                        <p:tgtEl>
                                          <p:spTgt spid="38"/>
                                        </p:tgtEl>
                                        <p:attrNameLst>
                                          <p:attrName>ppt_x</p:attrName>
                                        </p:attrNameLst>
                                      </p:cBhvr>
                                      <p:tavLst>
                                        <p:tav tm="0">
                                          <p:val>
                                            <p:strVal val="#ppt_x"/>
                                          </p:val>
                                        </p:tav>
                                        <p:tav tm="100000">
                                          <p:val>
                                            <p:strVal val="#ppt_x"/>
                                          </p:val>
                                        </p:tav>
                                      </p:tavLst>
                                    </p:anim>
                                    <p:anim calcmode="lin" valueType="num">
                                      <p:cBhvr>
                                        <p:cTn id="182" dur="650" fill="hold"/>
                                        <p:tgtEl>
                                          <p:spTgt spid="38"/>
                                        </p:tgtEl>
                                        <p:attrNameLst>
                                          <p:attrName>ppt_y</p:attrName>
                                        </p:attrNameLst>
                                      </p:cBhvr>
                                      <p:tavLst>
                                        <p:tav tm="0">
                                          <p:val>
                                            <p:strVal val="#ppt_y+.05"/>
                                          </p:val>
                                        </p:tav>
                                        <p:tav tm="100000">
                                          <p:val>
                                            <p:strVal val="#ppt_y"/>
                                          </p:val>
                                        </p:tav>
                                      </p:tavLst>
                                    </p:anim>
                                  </p:childTnLst>
                                </p:cTn>
                              </p:par>
                              <p:par>
                                <p:cTn id="183" presetID="42" presetClass="entr" presetSubtype="0" fill="hold" grpId="0" nodeType="withEffect">
                                  <p:stCondLst>
                                    <p:cond delay="84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650"/>
                                        <p:tgtEl>
                                          <p:spTgt spid="39"/>
                                        </p:tgtEl>
                                      </p:cBhvr>
                                    </p:animEffect>
                                    <p:anim calcmode="lin" valueType="num">
                                      <p:cBhvr>
                                        <p:cTn id="186" dur="650" fill="hold"/>
                                        <p:tgtEl>
                                          <p:spTgt spid="39"/>
                                        </p:tgtEl>
                                        <p:attrNameLst>
                                          <p:attrName>ppt_x</p:attrName>
                                        </p:attrNameLst>
                                      </p:cBhvr>
                                      <p:tavLst>
                                        <p:tav tm="0">
                                          <p:val>
                                            <p:strVal val="#ppt_x"/>
                                          </p:val>
                                        </p:tav>
                                        <p:tav tm="100000">
                                          <p:val>
                                            <p:strVal val="#ppt_x"/>
                                          </p:val>
                                        </p:tav>
                                      </p:tavLst>
                                    </p:anim>
                                    <p:anim calcmode="lin" valueType="num">
                                      <p:cBhvr>
                                        <p:cTn id="187" dur="650" fill="hold"/>
                                        <p:tgtEl>
                                          <p:spTgt spid="39"/>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28" grpId="0" animBg="1"/>
      <p:bldP spid="29" grpId="0" animBg="1"/>
      <p:bldP spid="30" grpId="0" animBg="1"/>
      <p:bldP spid="31" grpId="0" animBg="1"/>
      <p:bldP spid="33" grpId="0" animBg="1"/>
      <p:bldP spid="34" grpId="0" animBg="1"/>
      <p:bldP spid="35" grpId="0" animBg="1"/>
      <p:bldP spid="36" grpId="0" animBg="1"/>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eyebrow"/>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100" b="1" spc="200" kern="0" dirty="0">
                <a:solidFill>
                  <a:srgbClr val="B3441A"/>
                </a:solidFill>
                <a:latin typeface="Arial" pitchFamily="34" charset="0"/>
                <a:ea typeface="Arial" pitchFamily="34" charset="-122"/>
                <a:cs typeface="Arial" pitchFamily="34" charset="-120"/>
              </a:rPr>
              <a:t>COACHING</a:t>
            </a:r>
            <a:endParaRPr lang="en-US" sz="1100" dirty="0"/>
          </a:p>
        </p:txBody>
      </p:sp>
      <p:sp>
        <p:nvSpPr>
          <p:cNvPr id="4" name="Text 1"/>
          <p:cNvSpPr/>
          <p:nvPr>
            <p:ph idx="101" type="title" hasCustomPrompt="1"/>
          </p:nvPr>
        </p:nvSpPr>
        <p:spPr>
          <a:xfrm>
            <a:off x="548640" y="841248"/>
            <a:ext cx="11094415" cy="731520"/>
          </a:xfrm>
          <a:prstGeom prst="rect">
            <a:avLst/>
          </a:prstGeom>
          <a:noFill/>
          <a:ln/>
        </p:spPr>
        <p:txBody>
          <a:bodyPr wrap="square" lIns="0" tIns="0" rIns="0" bIns="0" rtlCol="0" anchor="t"/>
          <a:lstStyle/>
          <a:p>
            <a:pPr algn="l" indent="0" marL="0">
              <a:buNone/>
            </a:pPr>
            <a:r>
              <a:rPr lang="en-US" sz="3600" b="1" dirty="0">
                <a:solidFill>
                  <a:srgbClr val="1D1D1F"/>
                </a:solidFill>
                <a:latin typeface="Arial" pitchFamily="34" charset="0"/>
                <a:ea typeface="Arial" pitchFamily="34" charset="-122"/>
                <a:cs typeface="Arial" pitchFamily="34" charset="-120"/>
              </a:rPr>
              <a:t>The coaching loop, closed</a:t>
            </a:r>
            <a:endParaRPr lang="en-US" sz="3600" dirty="0"/>
          </a:p>
        </p:txBody>
      </p:sp>
      <p:pic>
        <p:nvPicPr>
          <p:cNvPr id="5" name="form" descr="A one-to-one form on one A4 page">    </p:cNvPr>
          <p:cNvPicPr>
            <a:picLocks noChangeAspect="1"/>
          </p:cNvPicPr>
          <p:nvPr/>
        </p:nvPicPr>
        <p:blipFill>
          <a:blip r:embed="rId1"/>
          <a:stretch>
            <a:fillRect/>
          </a:stretch>
        </p:blipFill>
        <p:spPr>
          <a:xfrm>
            <a:off x="305614" y="1585774"/>
            <a:ext cx="3732736" cy="4966612"/>
          </a:xfrm>
          <a:prstGeom prst="rect">
            <a:avLst/>
          </a:prstGeom>
        </p:spPr>
      </p:pic>
      <p:sp>
        <p:nvSpPr>
          <p:cNvPr id="6" name="card"/>
          <p:cNvSpPr/>
          <p:nvPr/>
        </p:nvSpPr>
        <p:spPr>
          <a:xfrm>
            <a:off x="4754880" y="1874520"/>
            <a:ext cx="3017520" cy="1920240"/>
          </a:xfrm>
          <a:prstGeom prst="roundRect">
            <a:avLst>
              <a:gd name="adj" fmla="val 6667"/>
            </a:avLst>
          </a:prstGeom>
          <a:solidFill>
            <a:srgbClr val="FFFFFF"/>
          </a:solidFill>
          <a:ln w="9525">
            <a:solidFill>
              <a:srgbClr val="E5E5EA"/>
            </a:solidFill>
            <a:prstDash val="solid"/>
          </a:ln>
          <a:effectLst>
            <a:outerShdw sx="100000" sy="100000" kx="0" ky="0" algn="bl" rotWithShape="0" blurRad="203200" dist="38100" dir="5400000">
              <a:srgbClr val="000000">
                <a:alpha val="8000"/>
              </a:srgbClr>
            </a:outerShdw>
          </a:effectLst>
        </p:spPr>
      </p:sp>
      <p:sp>
        <p:nvSpPr>
          <p:cNvPr id="7" name="m1"/>
          <p:cNvSpPr/>
          <p:nvPr/>
        </p:nvSpPr>
        <p:spPr>
          <a:xfrm>
            <a:off x="4946904" y="2093976"/>
            <a:ext cx="384048" cy="384048"/>
          </a:xfrm>
          <a:prstGeom prst="ellipse">
            <a:avLst/>
          </a:prstGeom>
          <a:solidFill>
            <a:srgbClr val="C4511A"/>
          </a:solidFill>
          <a:ln w="25400">
            <a:solidFill>
              <a:srgbClr val="FFFFFF"/>
            </a:solidFill>
            <a:prstDash val="solid"/>
          </a:ln>
        </p:spPr>
      </p:sp>
      <p:sp>
        <p:nvSpPr>
          <p:cNvPr id="8" name="m1t"/>
          <p:cNvSpPr txBox="1"/>
          <p:nvPr/>
        </p:nvSpPr>
        <p:spPr>
          <a:xfrm>
            <a:off x="4946904" y="20939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9" name="dot-chart"/>
          <p:cNvSpPr/>
          <p:nvPr/>
        </p:nvSpPr>
        <p:spPr>
          <a:xfrm>
            <a:off x="7040880" y="2075688"/>
            <a:ext cx="457200" cy="457200"/>
          </a:xfrm>
          <a:prstGeom prst="ellipse">
            <a:avLst/>
          </a:prstGeom>
          <a:solidFill>
            <a:srgbClr val="1D1D1F"/>
          </a:solidFill>
          <a:ln/>
        </p:spPr>
      </p:sp>
      <p:pic>
        <p:nvPicPr>
          <p:cNvPr id="10" name="icon-chart" descr="">    </p:cNvPr>
          <p:cNvPicPr>
            <a:picLocks noChangeAspect="1"/>
          </p:cNvPicPr>
          <p:nvPr/>
        </p:nvPicPr>
        <p:blipFill>
          <a:blip r:embed="rId2"/>
          <a:stretch>
            <a:fillRect/>
          </a:stretch>
        </p:blipFill>
        <p:spPr>
          <a:xfrm>
            <a:off x="7150608" y="2185416"/>
            <a:ext cx="237744" cy="237744"/>
          </a:xfrm>
          <a:prstGeom prst="rect">
            <a:avLst/>
          </a:prstGeom>
        </p:spPr>
      </p:pic>
      <p:sp>
        <p:nvSpPr>
          <p:cNvPr id="11" name="h"/>
          <p:cNvSpPr txBox="1"/>
          <p:nvPr/>
        </p:nvSpPr>
        <p:spPr>
          <a:xfrm>
            <a:off x="5029200" y="2697480"/>
            <a:ext cx="2468880" cy="347472"/>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Results published</a:t>
            </a:r>
            <a:endParaRPr lang="en-US" sz="1700" dirty="0"/>
          </a:p>
        </p:txBody>
      </p:sp>
      <p:sp>
        <p:nvSpPr>
          <p:cNvPr id="12" name="t"/>
          <p:cNvSpPr txBox="1"/>
          <p:nvPr/>
        </p:nvSpPr>
        <p:spPr>
          <a:xfrm>
            <a:off x="5029200" y="3063240"/>
            <a:ext cx="2468880" cy="594360"/>
          </a:xfrm>
          <a:prstGeom prst="rect">
            <a:avLst/>
          </a:prstGeom>
          <a:noFill/>
          <a:ln/>
        </p:spPr>
        <p:txBody>
          <a:bodyPr wrap="square" lIns="0" tIns="0" rIns="0" bIns="0" rtlCol="0" anchor="t"/>
          <a:lstStyle/>
          <a:p>
            <a:pPr indent="0" marL="0">
              <a:buNone/>
            </a:pPr>
            <a:r>
              <a:rPr lang="en-US" sz="1400" dirty="0">
                <a:solidFill>
                  <a:srgbClr val="58585D"/>
                </a:solidFill>
                <a:latin typeface="Arial" pitchFamily="34" charset="0"/>
                <a:ea typeface="Arial" pitchFamily="34" charset="-122"/>
                <a:cs typeface="Arial" pitchFamily="34" charset="-120"/>
              </a:rPr>
              <a:t>Each agent sees the month on their own page.</a:t>
            </a:r>
            <a:endParaRPr lang="en-US" sz="1400" dirty="0"/>
          </a:p>
        </p:txBody>
      </p:sp>
      <p:sp>
        <p:nvSpPr>
          <p:cNvPr id="13" name="card"/>
          <p:cNvSpPr/>
          <p:nvPr/>
        </p:nvSpPr>
        <p:spPr>
          <a:xfrm>
            <a:off x="8622792" y="1874520"/>
            <a:ext cx="3017520" cy="1920240"/>
          </a:xfrm>
          <a:prstGeom prst="roundRect">
            <a:avLst>
              <a:gd name="adj" fmla="val 6667"/>
            </a:avLst>
          </a:prstGeom>
          <a:solidFill>
            <a:srgbClr val="FFFFFF"/>
          </a:solidFill>
          <a:ln w="9525">
            <a:solidFill>
              <a:srgbClr val="E5E5EA"/>
            </a:solidFill>
            <a:prstDash val="solid"/>
          </a:ln>
          <a:effectLst>
            <a:outerShdw sx="100000" sy="100000" kx="0" ky="0" algn="bl" rotWithShape="0" blurRad="203200" dist="38100" dir="5400000">
              <a:srgbClr val="000000">
                <a:alpha val="8000"/>
              </a:srgbClr>
            </a:outerShdw>
          </a:effectLst>
        </p:spPr>
      </p:sp>
      <p:sp>
        <p:nvSpPr>
          <p:cNvPr id="14" name="m2"/>
          <p:cNvSpPr/>
          <p:nvPr/>
        </p:nvSpPr>
        <p:spPr>
          <a:xfrm>
            <a:off x="8814816" y="2093976"/>
            <a:ext cx="384048" cy="384048"/>
          </a:xfrm>
          <a:prstGeom prst="ellipse">
            <a:avLst/>
          </a:prstGeom>
          <a:solidFill>
            <a:srgbClr val="C4511A"/>
          </a:solidFill>
          <a:ln w="25400">
            <a:solidFill>
              <a:srgbClr val="FFFFFF"/>
            </a:solidFill>
            <a:prstDash val="solid"/>
          </a:ln>
        </p:spPr>
      </p:sp>
      <p:sp>
        <p:nvSpPr>
          <p:cNvPr id="15" name="m2t"/>
          <p:cNvSpPr txBox="1"/>
          <p:nvPr/>
        </p:nvSpPr>
        <p:spPr>
          <a:xfrm>
            <a:off x="8814816" y="20939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dot-pen"/>
          <p:cNvSpPr/>
          <p:nvPr/>
        </p:nvSpPr>
        <p:spPr>
          <a:xfrm>
            <a:off x="10908792" y="2075688"/>
            <a:ext cx="457200" cy="457200"/>
          </a:xfrm>
          <a:prstGeom prst="ellipse">
            <a:avLst/>
          </a:prstGeom>
          <a:solidFill>
            <a:srgbClr val="1D1D1F"/>
          </a:solidFill>
          <a:ln/>
        </p:spPr>
      </p:sp>
      <p:pic>
        <p:nvPicPr>
          <p:cNvPr id="17" name="icon-pen" descr="">    </p:cNvPr>
          <p:cNvPicPr>
            <a:picLocks noChangeAspect="1"/>
          </p:cNvPicPr>
          <p:nvPr/>
        </p:nvPicPr>
        <p:blipFill>
          <a:blip r:embed="rId3"/>
          <a:stretch>
            <a:fillRect/>
          </a:stretch>
        </p:blipFill>
        <p:spPr>
          <a:xfrm>
            <a:off x="11018520" y="2185416"/>
            <a:ext cx="237744" cy="237744"/>
          </a:xfrm>
          <a:prstGeom prst="rect">
            <a:avLst/>
          </a:prstGeom>
        </p:spPr>
      </p:pic>
      <p:sp>
        <p:nvSpPr>
          <p:cNvPr id="18" name="h"/>
          <p:cNvSpPr txBox="1"/>
          <p:nvPr/>
        </p:nvSpPr>
        <p:spPr>
          <a:xfrm>
            <a:off x="8897112" y="2697480"/>
            <a:ext cx="2468880" cy="347472"/>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One-to-one</a:t>
            </a:r>
            <a:endParaRPr lang="en-US" sz="1700" dirty="0"/>
          </a:p>
        </p:txBody>
      </p:sp>
      <p:sp>
        <p:nvSpPr>
          <p:cNvPr id="19" name="t"/>
          <p:cNvSpPr txBox="1"/>
          <p:nvPr/>
        </p:nvSpPr>
        <p:spPr>
          <a:xfrm>
            <a:off x="8897112" y="3063240"/>
            <a:ext cx="2468880" cy="594360"/>
          </a:xfrm>
          <a:prstGeom prst="rect">
            <a:avLst/>
          </a:prstGeom>
          <a:noFill/>
          <a:ln/>
        </p:spPr>
        <p:txBody>
          <a:bodyPr wrap="square" lIns="0" tIns="0" rIns="0" bIns="0" rtlCol="0" anchor="t"/>
          <a:lstStyle/>
          <a:p>
            <a:pPr indent="0" marL="0">
              <a:buNone/>
            </a:pPr>
            <a:r>
              <a:rPr lang="en-US" sz="1400" dirty="0">
                <a:solidFill>
                  <a:srgbClr val="58585D"/>
                </a:solidFill>
                <a:latin typeface="Arial" pitchFamily="34" charset="0"/>
                <a:ea typeface="Arial" pitchFamily="34" charset="-122"/>
                <a:cs typeface="Arial" pitchFamily="34" charset="-120"/>
              </a:rPr>
              <a:t>Filled from the numbers, on one A4 page.</a:t>
            </a:r>
            <a:endParaRPr lang="en-US" sz="1400" dirty="0"/>
          </a:p>
        </p:txBody>
      </p:sp>
      <p:sp>
        <p:nvSpPr>
          <p:cNvPr id="20" name="card"/>
          <p:cNvSpPr/>
          <p:nvPr/>
        </p:nvSpPr>
        <p:spPr>
          <a:xfrm>
            <a:off x="8622792" y="4206240"/>
            <a:ext cx="3017520" cy="1920240"/>
          </a:xfrm>
          <a:prstGeom prst="roundRect">
            <a:avLst>
              <a:gd name="adj" fmla="val 6667"/>
            </a:avLst>
          </a:prstGeom>
          <a:solidFill>
            <a:srgbClr val="FFFFFF"/>
          </a:solidFill>
          <a:ln w="9525">
            <a:solidFill>
              <a:srgbClr val="E5E5EA"/>
            </a:solidFill>
            <a:prstDash val="solid"/>
          </a:ln>
          <a:effectLst>
            <a:outerShdw sx="100000" sy="100000" kx="0" ky="0" algn="bl" rotWithShape="0" blurRad="203200" dist="38100" dir="5400000">
              <a:srgbClr val="000000">
                <a:alpha val="8000"/>
              </a:srgbClr>
            </a:outerShdw>
          </a:effectLst>
        </p:spPr>
      </p:sp>
      <p:sp>
        <p:nvSpPr>
          <p:cNvPr id="21" name="m3"/>
          <p:cNvSpPr/>
          <p:nvPr/>
        </p:nvSpPr>
        <p:spPr>
          <a:xfrm>
            <a:off x="8814816" y="4425696"/>
            <a:ext cx="384048" cy="384048"/>
          </a:xfrm>
          <a:prstGeom prst="ellipse">
            <a:avLst/>
          </a:prstGeom>
          <a:solidFill>
            <a:srgbClr val="C4511A"/>
          </a:solidFill>
          <a:ln w="25400">
            <a:solidFill>
              <a:srgbClr val="FFFFFF"/>
            </a:solidFill>
            <a:prstDash val="solid"/>
          </a:ln>
        </p:spPr>
      </p:sp>
      <p:sp>
        <p:nvSpPr>
          <p:cNvPr id="22" name="m3t"/>
          <p:cNvSpPr txBox="1"/>
          <p:nvPr/>
        </p:nvSpPr>
        <p:spPr>
          <a:xfrm>
            <a:off x="8814816" y="44256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3" name="dot-check"/>
          <p:cNvSpPr/>
          <p:nvPr/>
        </p:nvSpPr>
        <p:spPr>
          <a:xfrm>
            <a:off x="10908792" y="4407408"/>
            <a:ext cx="457200" cy="457200"/>
          </a:xfrm>
          <a:prstGeom prst="ellipse">
            <a:avLst/>
          </a:prstGeom>
          <a:solidFill>
            <a:srgbClr val="1D1D1F"/>
          </a:solidFill>
          <a:ln/>
        </p:spPr>
      </p:sp>
      <p:pic>
        <p:nvPicPr>
          <p:cNvPr id="24" name="icon-check" descr="">    </p:cNvPr>
          <p:cNvPicPr>
            <a:picLocks noChangeAspect="1"/>
          </p:cNvPicPr>
          <p:nvPr/>
        </p:nvPicPr>
        <p:blipFill>
          <a:blip r:embed="rId4"/>
          <a:stretch>
            <a:fillRect/>
          </a:stretch>
        </p:blipFill>
        <p:spPr>
          <a:xfrm>
            <a:off x="11018520" y="4517136"/>
            <a:ext cx="237744" cy="237744"/>
          </a:xfrm>
          <a:prstGeom prst="rect">
            <a:avLst/>
          </a:prstGeom>
        </p:spPr>
      </p:pic>
      <p:sp>
        <p:nvSpPr>
          <p:cNvPr id="25" name="h"/>
          <p:cNvSpPr txBox="1"/>
          <p:nvPr/>
        </p:nvSpPr>
        <p:spPr>
          <a:xfrm>
            <a:off x="8897112" y="5029200"/>
            <a:ext cx="2468880" cy="347472"/>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Signed in the tool</a:t>
            </a:r>
            <a:endParaRPr lang="en-US" sz="1700" dirty="0"/>
          </a:p>
        </p:txBody>
      </p:sp>
      <p:sp>
        <p:nvSpPr>
          <p:cNvPr id="26" name="t"/>
          <p:cNvSpPr txBox="1"/>
          <p:nvPr/>
        </p:nvSpPr>
        <p:spPr>
          <a:xfrm>
            <a:off x="8897112" y="5394960"/>
            <a:ext cx="2468880" cy="594360"/>
          </a:xfrm>
          <a:prstGeom prst="rect">
            <a:avLst/>
          </a:prstGeom>
          <a:noFill/>
          <a:ln/>
        </p:spPr>
        <p:txBody>
          <a:bodyPr wrap="square" lIns="0" tIns="0" rIns="0" bIns="0" rtlCol="0" anchor="t"/>
          <a:lstStyle/>
          <a:p>
            <a:pPr indent="0" marL="0">
              <a:buNone/>
            </a:pPr>
            <a:r>
              <a:rPr lang="en-US" sz="1400" dirty="0">
                <a:solidFill>
                  <a:srgbClr val="58585D"/>
                </a:solidFill>
                <a:latin typeface="Arial" pitchFamily="34" charset="0"/>
                <a:ea typeface="Arial" pitchFamily="34" charset="-122"/>
                <a:cs typeface="Arial" pitchFamily="34" charset="-120"/>
              </a:rPr>
              <a:t>The agent comments and signs after the supervisor.</a:t>
            </a:r>
            <a:endParaRPr lang="en-US" sz="1400" dirty="0"/>
          </a:p>
        </p:txBody>
      </p:sp>
      <p:sp>
        <p:nvSpPr>
          <p:cNvPr id="27" name="card"/>
          <p:cNvSpPr/>
          <p:nvPr/>
        </p:nvSpPr>
        <p:spPr>
          <a:xfrm>
            <a:off x="4754880" y="4206240"/>
            <a:ext cx="3017520" cy="1920240"/>
          </a:xfrm>
          <a:prstGeom prst="roundRect">
            <a:avLst>
              <a:gd name="adj" fmla="val 6667"/>
            </a:avLst>
          </a:prstGeom>
          <a:solidFill>
            <a:srgbClr val="FFFFFF"/>
          </a:solidFill>
          <a:ln w="9525">
            <a:solidFill>
              <a:srgbClr val="E5E5EA"/>
            </a:solidFill>
            <a:prstDash val="solid"/>
          </a:ln>
          <a:effectLst>
            <a:outerShdw sx="100000" sy="100000" kx="0" ky="0" algn="bl" rotWithShape="0" blurRad="203200" dist="38100" dir="5400000">
              <a:srgbClr val="000000">
                <a:alpha val="8000"/>
              </a:srgbClr>
            </a:outerShdw>
          </a:effectLst>
        </p:spPr>
      </p:sp>
      <p:sp>
        <p:nvSpPr>
          <p:cNvPr id="28" name="m4"/>
          <p:cNvSpPr/>
          <p:nvPr/>
        </p:nvSpPr>
        <p:spPr>
          <a:xfrm>
            <a:off x="4946904" y="4425696"/>
            <a:ext cx="384048" cy="384048"/>
          </a:xfrm>
          <a:prstGeom prst="ellipse">
            <a:avLst/>
          </a:prstGeom>
          <a:solidFill>
            <a:srgbClr val="C4511A"/>
          </a:solidFill>
          <a:ln w="25400">
            <a:solidFill>
              <a:srgbClr val="FFFFFF"/>
            </a:solidFill>
            <a:prstDash val="solid"/>
          </a:ln>
        </p:spPr>
      </p:sp>
      <p:sp>
        <p:nvSpPr>
          <p:cNvPr id="29" name="m4t"/>
          <p:cNvSpPr txBox="1"/>
          <p:nvPr/>
        </p:nvSpPr>
        <p:spPr>
          <a:xfrm>
            <a:off x="4946904" y="44256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0" name="dot-handshake"/>
          <p:cNvSpPr/>
          <p:nvPr/>
        </p:nvSpPr>
        <p:spPr>
          <a:xfrm>
            <a:off x="7040880" y="4407408"/>
            <a:ext cx="457200" cy="457200"/>
          </a:xfrm>
          <a:prstGeom prst="ellipse">
            <a:avLst/>
          </a:prstGeom>
          <a:solidFill>
            <a:srgbClr val="1D1D1F"/>
          </a:solidFill>
          <a:ln/>
        </p:spPr>
      </p:sp>
      <p:pic>
        <p:nvPicPr>
          <p:cNvPr id="31" name="icon-handshake" descr="">    </p:cNvPr>
          <p:cNvPicPr>
            <a:picLocks noChangeAspect="1"/>
          </p:cNvPicPr>
          <p:nvPr/>
        </p:nvPicPr>
        <p:blipFill>
          <a:blip r:embed="rId5"/>
          <a:stretch>
            <a:fillRect/>
          </a:stretch>
        </p:blipFill>
        <p:spPr>
          <a:xfrm>
            <a:off x="7150608" y="4517136"/>
            <a:ext cx="237744" cy="237744"/>
          </a:xfrm>
          <a:prstGeom prst="rect">
            <a:avLst/>
          </a:prstGeom>
        </p:spPr>
      </p:pic>
      <p:sp>
        <p:nvSpPr>
          <p:cNvPr id="32" name="h"/>
          <p:cNvSpPr txBox="1"/>
          <p:nvPr/>
        </p:nvSpPr>
        <p:spPr>
          <a:xfrm>
            <a:off x="5029200" y="5029200"/>
            <a:ext cx="2468880" cy="347472"/>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Objections answered</a:t>
            </a:r>
            <a:endParaRPr lang="en-US" sz="1700" dirty="0"/>
          </a:p>
        </p:txBody>
      </p:sp>
      <p:sp>
        <p:nvSpPr>
          <p:cNvPr id="33" name="t"/>
          <p:cNvSpPr txBox="1"/>
          <p:nvPr/>
        </p:nvSpPr>
        <p:spPr>
          <a:xfrm>
            <a:off x="5029200" y="5394960"/>
            <a:ext cx="2468880" cy="594360"/>
          </a:xfrm>
          <a:prstGeom prst="rect">
            <a:avLst/>
          </a:prstGeom>
          <a:noFill/>
          <a:ln/>
        </p:spPr>
        <p:txBody>
          <a:bodyPr wrap="square" lIns="0" tIns="0" rIns="0" bIns="0" rtlCol="0" anchor="t"/>
          <a:lstStyle/>
          <a:p>
            <a:pPr indent="0" marL="0">
              <a:buNone/>
            </a:pPr>
            <a:r>
              <a:rPr lang="en-US" sz="1400" dirty="0">
                <a:solidFill>
                  <a:srgbClr val="58585D"/>
                </a:solidFill>
                <a:latin typeface="Arial" pitchFamily="34" charset="0"/>
                <a:ea typeface="Arial" pitchFamily="34" charset="-122"/>
                <a:cs typeface="Arial" pitchFamily="34" charset="-120"/>
              </a:rPr>
              <a:t>Supervisor first; the senior manager decides.</a:t>
            </a:r>
            <a:endParaRPr lang="en-US" sz="1400" dirty="0"/>
          </a:p>
        </p:txBody>
      </p:sp>
      <p:sp>
        <p:nvSpPr>
          <p:cNvPr id="34" name="arrow"/>
          <p:cNvSpPr/>
          <p:nvPr/>
        </p:nvSpPr>
        <p:spPr>
          <a:xfrm>
            <a:off x="7827264" y="2834640"/>
            <a:ext cx="740664" cy="0"/>
          </a:xfrm>
          <a:prstGeom prst="line">
            <a:avLst/>
          </a:prstGeom>
          <a:noFill/>
          <a:ln w="28575">
            <a:solidFill>
              <a:srgbClr val="F26722"/>
            </a:solidFill>
            <a:prstDash val="solid"/>
            <a:tailEnd type="triangle"/>
          </a:ln>
        </p:spPr>
      </p:sp>
      <p:sp>
        <p:nvSpPr>
          <p:cNvPr id="35" name="arrow"/>
          <p:cNvSpPr/>
          <p:nvPr/>
        </p:nvSpPr>
        <p:spPr>
          <a:xfrm>
            <a:off x="10131552" y="3849624"/>
            <a:ext cx="0" cy="301752"/>
          </a:xfrm>
          <a:prstGeom prst="line">
            <a:avLst/>
          </a:prstGeom>
          <a:noFill/>
          <a:ln w="28575">
            <a:solidFill>
              <a:srgbClr val="F26722"/>
            </a:solidFill>
            <a:prstDash val="solid"/>
            <a:tailEnd type="triangle"/>
          </a:ln>
        </p:spPr>
      </p:sp>
      <p:sp>
        <p:nvSpPr>
          <p:cNvPr id="36" name="arrow"/>
          <p:cNvSpPr/>
          <p:nvPr/>
        </p:nvSpPr>
        <p:spPr>
          <a:xfrm flipH="1">
            <a:off x="7827264" y="5166360"/>
            <a:ext cx="740664" cy="0"/>
          </a:xfrm>
          <a:prstGeom prst="line">
            <a:avLst/>
          </a:prstGeom>
          <a:noFill/>
          <a:ln w="28575">
            <a:solidFill>
              <a:srgbClr val="F26722"/>
            </a:solidFill>
            <a:prstDash val="solid"/>
            <a:tailEnd type="triangle"/>
          </a:ln>
        </p:spPr>
      </p:sp>
      <p:sp>
        <p:nvSpPr>
          <p:cNvPr id="37" name="arrow"/>
          <p:cNvSpPr/>
          <p:nvPr/>
        </p:nvSpPr>
        <p:spPr>
          <a:xfrm flipV="1">
            <a:off x="6263640" y="3849624"/>
            <a:ext cx="0" cy="301752"/>
          </a:xfrm>
          <a:prstGeom prst="line">
            <a:avLst/>
          </a:prstGeom>
          <a:noFill/>
          <a:ln w="28575">
            <a:solidFill>
              <a:srgbClr val="F26722"/>
            </a:solidFill>
            <a:prstDash val="solid"/>
            <a:tailEnd type="triangle"/>
          </a:ln>
        </p:spPr>
      </p:sp>
      <p:sp>
        <p:nvSpPr>
          <p:cNvPr id="25" name="Slide Number Placeholder 0"/>
          <p:cNvSpPr>
            <a:spLocks noGrp="1"/>
          </p:cNvSpPr>
          <p:nvPr>
            <p:ph type="sldNum" sz="quarter" idx="4294967295"/>
          </p:nvPr>
        </p:nvSpPr>
        <p:spPr>
          <a:xfrm>
            <a:off x="11091672" y="640080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E8E93"/>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42" presetClass="entr" presetSubtype="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50"/>
                                        <p:tgtEl>
                                          <p:spTgt spid="5"/>
                                        </p:tgtEl>
                                      </p:cBhvr>
                                    </p:animEffect>
                                    <p:anim calcmode="lin" valueType="num">
                                      <p:cBhvr>
                                        <p:cTn id="11" dur="650" fill="hold"/>
                                        <p:tgtEl>
                                          <p:spTgt spid="5"/>
                                        </p:tgtEl>
                                        <p:attrNameLst>
                                          <p:attrName>ppt_x</p:attrName>
                                        </p:attrNameLst>
                                      </p:cBhvr>
                                      <p:tavLst>
                                        <p:tav tm="0">
                                          <p:val>
                                            <p:strVal val="#ppt_x"/>
                                          </p:val>
                                        </p:tav>
                                        <p:tav tm="100000">
                                          <p:val>
                                            <p:strVal val="#ppt_x"/>
                                          </p:val>
                                        </p:tav>
                                      </p:tavLst>
                                    </p:anim>
                                    <p:anim calcmode="lin" valueType="num">
                                      <p:cBhvr>
                                        <p:cTn id="12" dur="650" fill="hold"/>
                                        <p:tgtEl>
                                          <p:spTgt spid="5"/>
                                        </p:tgtEl>
                                        <p:attrNameLst>
                                          <p:attrName>ppt_y</p:attrName>
                                        </p:attrNameLst>
                                      </p:cBhvr>
                                      <p:tavLst>
                                        <p:tav tm="0">
                                          <p:val>
                                            <p:strVal val="#ppt_y+.05"/>
                                          </p:val>
                                        </p:tav>
                                        <p:tav tm="100000">
                                          <p:val>
                                            <p:strVal val="#ppt_y"/>
                                          </p:val>
                                        </p:tav>
                                      </p:tavLst>
                                    </p:anim>
                                  </p:childTnLst>
                                </p:cTn>
                              </p:par>
                              <p:par>
                                <p:cTn id="13" presetID="42" presetClass="entr" presetSubtype="0" fill="hold" grpId="0" nodeType="withEffect">
                                  <p:stCondLst>
                                    <p:cond delay="45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50"/>
                                        <p:tgtEl>
                                          <p:spTgt spid="6"/>
                                        </p:tgtEl>
                                      </p:cBhvr>
                                    </p:animEffect>
                                    <p:anim calcmode="lin" valueType="num">
                                      <p:cBhvr>
                                        <p:cTn id="16" dur="650" fill="hold"/>
                                        <p:tgtEl>
                                          <p:spTgt spid="6"/>
                                        </p:tgtEl>
                                        <p:attrNameLst>
                                          <p:attrName>ppt_x</p:attrName>
                                        </p:attrNameLst>
                                      </p:cBhvr>
                                      <p:tavLst>
                                        <p:tav tm="0">
                                          <p:val>
                                            <p:strVal val="#ppt_x"/>
                                          </p:val>
                                        </p:tav>
                                        <p:tav tm="100000">
                                          <p:val>
                                            <p:strVal val="#ppt_x"/>
                                          </p:val>
                                        </p:tav>
                                      </p:tavLst>
                                    </p:anim>
                                    <p:anim calcmode="lin" valueType="num">
                                      <p:cBhvr>
                                        <p:cTn id="17" dur="650" fill="hold"/>
                                        <p:tgtEl>
                                          <p:spTgt spid="6"/>
                                        </p:tgtEl>
                                        <p:attrNameLst>
                                          <p:attrName>ppt_y</p:attrName>
                                        </p:attrNameLst>
                                      </p:cBhvr>
                                      <p:tavLst>
                                        <p:tav tm="0">
                                          <p:val>
                                            <p:strVal val="#ppt_y+.05"/>
                                          </p:val>
                                        </p:tav>
                                        <p:tav tm="100000">
                                          <p:val>
                                            <p:strVal val="#ppt_y"/>
                                          </p:val>
                                        </p:tav>
                                      </p:tavLst>
                                    </p:anim>
                                  </p:childTnLst>
                                </p:cTn>
                              </p:par>
                              <p:par>
                                <p:cTn id="18" presetID="42" presetClass="entr" presetSubtype="0" fill="hold" grpId="0" nodeType="withEffect">
                                  <p:stCondLst>
                                    <p:cond delay="45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50"/>
                                        <p:tgtEl>
                                          <p:spTgt spid="7"/>
                                        </p:tgtEl>
                                      </p:cBhvr>
                                    </p:animEffect>
                                    <p:anim calcmode="lin" valueType="num">
                                      <p:cBhvr>
                                        <p:cTn id="21" dur="650" fill="hold"/>
                                        <p:tgtEl>
                                          <p:spTgt spid="7"/>
                                        </p:tgtEl>
                                        <p:attrNameLst>
                                          <p:attrName>ppt_x</p:attrName>
                                        </p:attrNameLst>
                                      </p:cBhvr>
                                      <p:tavLst>
                                        <p:tav tm="0">
                                          <p:val>
                                            <p:strVal val="#ppt_x"/>
                                          </p:val>
                                        </p:tav>
                                        <p:tav tm="100000">
                                          <p:val>
                                            <p:strVal val="#ppt_x"/>
                                          </p:val>
                                        </p:tav>
                                      </p:tavLst>
                                    </p:anim>
                                    <p:anim calcmode="lin" valueType="num">
                                      <p:cBhvr>
                                        <p:cTn id="22" dur="650" fill="hold"/>
                                        <p:tgtEl>
                                          <p:spTgt spid="7"/>
                                        </p:tgtEl>
                                        <p:attrNameLst>
                                          <p:attrName>ppt_y</p:attrName>
                                        </p:attrNameLst>
                                      </p:cBhvr>
                                      <p:tavLst>
                                        <p:tav tm="0">
                                          <p:val>
                                            <p:strVal val="#ppt_y+.05"/>
                                          </p:val>
                                        </p:tav>
                                        <p:tav tm="100000">
                                          <p:val>
                                            <p:strVal val="#ppt_y"/>
                                          </p:val>
                                        </p:tav>
                                      </p:tavLst>
                                    </p:anim>
                                  </p:childTnLst>
                                </p:cTn>
                              </p:par>
                              <p:par>
                                <p:cTn id="23" presetID="42" presetClass="entr" presetSubtype="0" fill="hold" grpId="0" nodeType="withEffect">
                                  <p:stCondLst>
                                    <p:cond delay="4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50"/>
                                        <p:tgtEl>
                                          <p:spTgt spid="8"/>
                                        </p:tgtEl>
                                      </p:cBhvr>
                                    </p:animEffect>
                                    <p:anim calcmode="lin" valueType="num">
                                      <p:cBhvr>
                                        <p:cTn id="26" dur="650" fill="hold"/>
                                        <p:tgtEl>
                                          <p:spTgt spid="8"/>
                                        </p:tgtEl>
                                        <p:attrNameLst>
                                          <p:attrName>ppt_x</p:attrName>
                                        </p:attrNameLst>
                                      </p:cBhvr>
                                      <p:tavLst>
                                        <p:tav tm="0">
                                          <p:val>
                                            <p:strVal val="#ppt_x"/>
                                          </p:val>
                                        </p:tav>
                                        <p:tav tm="100000">
                                          <p:val>
                                            <p:strVal val="#ppt_x"/>
                                          </p:val>
                                        </p:tav>
                                      </p:tavLst>
                                    </p:anim>
                                    <p:anim calcmode="lin" valueType="num">
                                      <p:cBhvr>
                                        <p:cTn id="27" dur="650" fill="hold"/>
                                        <p:tgtEl>
                                          <p:spTgt spid="8"/>
                                        </p:tgtEl>
                                        <p:attrNameLst>
                                          <p:attrName>ppt_y</p:attrName>
                                        </p:attrNameLst>
                                      </p:cBhvr>
                                      <p:tavLst>
                                        <p:tav tm="0">
                                          <p:val>
                                            <p:strVal val="#ppt_y+.05"/>
                                          </p:val>
                                        </p:tav>
                                        <p:tav tm="100000">
                                          <p:val>
                                            <p:strVal val="#ppt_y"/>
                                          </p:val>
                                        </p:tav>
                                      </p:tavLst>
                                    </p:anim>
                                  </p:childTnLst>
                                </p:cTn>
                              </p:par>
                              <p:par>
                                <p:cTn id="28" presetID="42" presetClass="entr" presetSubtype="0" fill="hold" grpId="0" nodeType="withEffect">
                                  <p:stCondLst>
                                    <p:cond delay="45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650"/>
                                        <p:tgtEl>
                                          <p:spTgt spid="9"/>
                                        </p:tgtEl>
                                      </p:cBhvr>
                                    </p:animEffect>
                                    <p:anim calcmode="lin" valueType="num">
                                      <p:cBhvr>
                                        <p:cTn id="31" dur="650" fill="hold"/>
                                        <p:tgtEl>
                                          <p:spTgt spid="9"/>
                                        </p:tgtEl>
                                        <p:attrNameLst>
                                          <p:attrName>ppt_x</p:attrName>
                                        </p:attrNameLst>
                                      </p:cBhvr>
                                      <p:tavLst>
                                        <p:tav tm="0">
                                          <p:val>
                                            <p:strVal val="#ppt_x"/>
                                          </p:val>
                                        </p:tav>
                                        <p:tav tm="100000">
                                          <p:val>
                                            <p:strVal val="#ppt_x"/>
                                          </p:val>
                                        </p:tav>
                                      </p:tavLst>
                                    </p:anim>
                                    <p:anim calcmode="lin" valueType="num">
                                      <p:cBhvr>
                                        <p:cTn id="32" dur="650" fill="hold"/>
                                        <p:tgtEl>
                                          <p:spTgt spid="9"/>
                                        </p:tgtEl>
                                        <p:attrNameLst>
                                          <p:attrName>ppt_y</p:attrName>
                                        </p:attrNameLst>
                                      </p:cBhvr>
                                      <p:tavLst>
                                        <p:tav tm="0">
                                          <p:val>
                                            <p:strVal val="#ppt_y+.05"/>
                                          </p:val>
                                        </p:tav>
                                        <p:tav tm="100000">
                                          <p:val>
                                            <p:strVal val="#ppt_y"/>
                                          </p:val>
                                        </p:tav>
                                      </p:tavLst>
                                    </p:anim>
                                  </p:childTnLst>
                                </p:cTn>
                              </p:par>
                              <p:par>
                                <p:cTn id="33" presetID="42" presetClass="entr" presetSubtype="0" fill="hold" grpId="0" nodeType="withEffect">
                                  <p:stCondLst>
                                    <p:cond delay="45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650"/>
                                        <p:tgtEl>
                                          <p:spTgt spid="10"/>
                                        </p:tgtEl>
                                      </p:cBhvr>
                                    </p:animEffect>
                                    <p:anim calcmode="lin" valueType="num">
                                      <p:cBhvr>
                                        <p:cTn id="36" dur="650" fill="hold"/>
                                        <p:tgtEl>
                                          <p:spTgt spid="10"/>
                                        </p:tgtEl>
                                        <p:attrNameLst>
                                          <p:attrName>ppt_x</p:attrName>
                                        </p:attrNameLst>
                                      </p:cBhvr>
                                      <p:tavLst>
                                        <p:tav tm="0">
                                          <p:val>
                                            <p:strVal val="#ppt_x"/>
                                          </p:val>
                                        </p:tav>
                                        <p:tav tm="100000">
                                          <p:val>
                                            <p:strVal val="#ppt_x"/>
                                          </p:val>
                                        </p:tav>
                                      </p:tavLst>
                                    </p:anim>
                                    <p:anim calcmode="lin" valueType="num">
                                      <p:cBhvr>
                                        <p:cTn id="37" dur="650" fill="hold"/>
                                        <p:tgtEl>
                                          <p:spTgt spid="10"/>
                                        </p:tgtEl>
                                        <p:attrNameLst>
                                          <p:attrName>ppt_y</p:attrName>
                                        </p:attrNameLst>
                                      </p:cBhvr>
                                      <p:tavLst>
                                        <p:tav tm="0">
                                          <p:val>
                                            <p:strVal val="#ppt_y+.05"/>
                                          </p:val>
                                        </p:tav>
                                        <p:tav tm="100000">
                                          <p:val>
                                            <p:strVal val="#ppt_y"/>
                                          </p:val>
                                        </p:tav>
                                      </p:tavLst>
                                    </p:anim>
                                  </p:childTnLst>
                                </p:cTn>
                              </p:par>
                              <p:par>
                                <p:cTn id="38" presetID="42" presetClass="entr" presetSubtype="0" fill="hold" grpId="0" nodeType="withEffect">
                                  <p:stCondLst>
                                    <p:cond delay="45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650"/>
                                        <p:tgtEl>
                                          <p:spTgt spid="11"/>
                                        </p:tgtEl>
                                      </p:cBhvr>
                                    </p:animEffect>
                                    <p:anim calcmode="lin" valueType="num">
                                      <p:cBhvr>
                                        <p:cTn id="41" dur="650" fill="hold"/>
                                        <p:tgtEl>
                                          <p:spTgt spid="11"/>
                                        </p:tgtEl>
                                        <p:attrNameLst>
                                          <p:attrName>ppt_x</p:attrName>
                                        </p:attrNameLst>
                                      </p:cBhvr>
                                      <p:tavLst>
                                        <p:tav tm="0">
                                          <p:val>
                                            <p:strVal val="#ppt_x"/>
                                          </p:val>
                                        </p:tav>
                                        <p:tav tm="100000">
                                          <p:val>
                                            <p:strVal val="#ppt_x"/>
                                          </p:val>
                                        </p:tav>
                                      </p:tavLst>
                                    </p:anim>
                                    <p:anim calcmode="lin" valueType="num">
                                      <p:cBhvr>
                                        <p:cTn id="42" dur="650" fill="hold"/>
                                        <p:tgtEl>
                                          <p:spTgt spid="11"/>
                                        </p:tgtEl>
                                        <p:attrNameLst>
                                          <p:attrName>ppt_y</p:attrName>
                                        </p:attrNameLst>
                                      </p:cBhvr>
                                      <p:tavLst>
                                        <p:tav tm="0">
                                          <p:val>
                                            <p:strVal val="#ppt_y+.05"/>
                                          </p:val>
                                        </p:tav>
                                        <p:tav tm="100000">
                                          <p:val>
                                            <p:strVal val="#ppt_y"/>
                                          </p:val>
                                        </p:tav>
                                      </p:tavLst>
                                    </p:anim>
                                  </p:childTnLst>
                                </p:cTn>
                              </p:par>
                              <p:par>
                                <p:cTn id="43" presetID="42" presetClass="entr" presetSubtype="0" fill="hold" grpId="0" nodeType="withEffect">
                                  <p:stCondLst>
                                    <p:cond delay="45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650"/>
                                        <p:tgtEl>
                                          <p:spTgt spid="12"/>
                                        </p:tgtEl>
                                      </p:cBhvr>
                                    </p:animEffect>
                                    <p:anim calcmode="lin" valueType="num">
                                      <p:cBhvr>
                                        <p:cTn id="46" dur="650" fill="hold"/>
                                        <p:tgtEl>
                                          <p:spTgt spid="12"/>
                                        </p:tgtEl>
                                        <p:attrNameLst>
                                          <p:attrName>ppt_x</p:attrName>
                                        </p:attrNameLst>
                                      </p:cBhvr>
                                      <p:tavLst>
                                        <p:tav tm="0">
                                          <p:val>
                                            <p:strVal val="#ppt_x"/>
                                          </p:val>
                                        </p:tav>
                                        <p:tav tm="100000">
                                          <p:val>
                                            <p:strVal val="#ppt_x"/>
                                          </p:val>
                                        </p:tav>
                                      </p:tavLst>
                                    </p:anim>
                                    <p:anim calcmode="lin" valueType="num">
                                      <p:cBhvr>
                                        <p:cTn id="47" dur="650" fill="hold"/>
                                        <p:tgtEl>
                                          <p:spTgt spid="12"/>
                                        </p:tgtEl>
                                        <p:attrNameLst>
                                          <p:attrName>ppt_y</p:attrName>
                                        </p:attrNameLst>
                                      </p:cBhvr>
                                      <p:tavLst>
                                        <p:tav tm="0">
                                          <p:val>
                                            <p:strVal val="#ppt_y+.05"/>
                                          </p:val>
                                        </p:tav>
                                        <p:tav tm="100000">
                                          <p:val>
                                            <p:strVal val="#ppt_y"/>
                                          </p:val>
                                        </p:tav>
                                      </p:tavLst>
                                    </p:anim>
                                  </p:childTnLst>
                                </p:cTn>
                              </p:par>
                              <p:par>
                                <p:cTn id="48" presetID="10" presetClass="entr" presetSubtype="0" fill="hold" grpId="0" nodeType="withEffect">
                                  <p:stCondLst>
                                    <p:cond delay="65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500"/>
                                        <p:tgtEl>
                                          <p:spTgt spid="34"/>
                                        </p:tgtEl>
                                      </p:cBhvr>
                                    </p:animEffect>
                                  </p:childTnLst>
                                </p:cTn>
                              </p:par>
                              <p:par>
                                <p:cTn id="51" presetID="42" presetClass="entr" presetSubtype="0" fill="hold" grpId="0" nodeType="withEffect">
                                  <p:stCondLst>
                                    <p:cond delay="67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650"/>
                                        <p:tgtEl>
                                          <p:spTgt spid="13"/>
                                        </p:tgtEl>
                                      </p:cBhvr>
                                    </p:animEffect>
                                    <p:anim calcmode="lin" valueType="num">
                                      <p:cBhvr>
                                        <p:cTn id="54" dur="650" fill="hold"/>
                                        <p:tgtEl>
                                          <p:spTgt spid="13"/>
                                        </p:tgtEl>
                                        <p:attrNameLst>
                                          <p:attrName>ppt_x</p:attrName>
                                        </p:attrNameLst>
                                      </p:cBhvr>
                                      <p:tavLst>
                                        <p:tav tm="0">
                                          <p:val>
                                            <p:strVal val="#ppt_x"/>
                                          </p:val>
                                        </p:tav>
                                        <p:tav tm="100000">
                                          <p:val>
                                            <p:strVal val="#ppt_x"/>
                                          </p:val>
                                        </p:tav>
                                      </p:tavLst>
                                    </p:anim>
                                    <p:anim calcmode="lin" valueType="num">
                                      <p:cBhvr>
                                        <p:cTn id="55" dur="650" fill="hold"/>
                                        <p:tgtEl>
                                          <p:spTgt spid="13"/>
                                        </p:tgtEl>
                                        <p:attrNameLst>
                                          <p:attrName>ppt_y</p:attrName>
                                        </p:attrNameLst>
                                      </p:cBhvr>
                                      <p:tavLst>
                                        <p:tav tm="0">
                                          <p:val>
                                            <p:strVal val="#ppt_y+.05"/>
                                          </p:val>
                                        </p:tav>
                                        <p:tav tm="100000">
                                          <p:val>
                                            <p:strVal val="#ppt_y"/>
                                          </p:val>
                                        </p:tav>
                                      </p:tavLst>
                                    </p:anim>
                                  </p:childTnLst>
                                </p:cTn>
                              </p:par>
                              <p:par>
                                <p:cTn id="56" presetID="42" presetClass="entr" presetSubtype="0" fill="hold" grpId="0" nodeType="withEffect">
                                  <p:stCondLst>
                                    <p:cond delay="67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650"/>
                                        <p:tgtEl>
                                          <p:spTgt spid="14"/>
                                        </p:tgtEl>
                                      </p:cBhvr>
                                    </p:animEffect>
                                    <p:anim calcmode="lin" valueType="num">
                                      <p:cBhvr>
                                        <p:cTn id="59" dur="650" fill="hold"/>
                                        <p:tgtEl>
                                          <p:spTgt spid="14"/>
                                        </p:tgtEl>
                                        <p:attrNameLst>
                                          <p:attrName>ppt_x</p:attrName>
                                        </p:attrNameLst>
                                      </p:cBhvr>
                                      <p:tavLst>
                                        <p:tav tm="0">
                                          <p:val>
                                            <p:strVal val="#ppt_x"/>
                                          </p:val>
                                        </p:tav>
                                        <p:tav tm="100000">
                                          <p:val>
                                            <p:strVal val="#ppt_x"/>
                                          </p:val>
                                        </p:tav>
                                      </p:tavLst>
                                    </p:anim>
                                    <p:anim calcmode="lin" valueType="num">
                                      <p:cBhvr>
                                        <p:cTn id="60" dur="650" fill="hold"/>
                                        <p:tgtEl>
                                          <p:spTgt spid="14"/>
                                        </p:tgtEl>
                                        <p:attrNameLst>
                                          <p:attrName>ppt_y</p:attrName>
                                        </p:attrNameLst>
                                      </p:cBhvr>
                                      <p:tavLst>
                                        <p:tav tm="0">
                                          <p:val>
                                            <p:strVal val="#ppt_y+.05"/>
                                          </p:val>
                                        </p:tav>
                                        <p:tav tm="100000">
                                          <p:val>
                                            <p:strVal val="#ppt_y"/>
                                          </p:val>
                                        </p:tav>
                                      </p:tavLst>
                                    </p:anim>
                                  </p:childTnLst>
                                </p:cTn>
                              </p:par>
                              <p:par>
                                <p:cTn id="61" presetID="42" presetClass="entr" presetSubtype="0" fill="hold" grpId="0" nodeType="withEffect">
                                  <p:stCondLst>
                                    <p:cond delay="67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650"/>
                                        <p:tgtEl>
                                          <p:spTgt spid="15"/>
                                        </p:tgtEl>
                                      </p:cBhvr>
                                    </p:animEffect>
                                    <p:anim calcmode="lin" valueType="num">
                                      <p:cBhvr>
                                        <p:cTn id="64" dur="650" fill="hold"/>
                                        <p:tgtEl>
                                          <p:spTgt spid="15"/>
                                        </p:tgtEl>
                                        <p:attrNameLst>
                                          <p:attrName>ppt_x</p:attrName>
                                        </p:attrNameLst>
                                      </p:cBhvr>
                                      <p:tavLst>
                                        <p:tav tm="0">
                                          <p:val>
                                            <p:strVal val="#ppt_x"/>
                                          </p:val>
                                        </p:tav>
                                        <p:tav tm="100000">
                                          <p:val>
                                            <p:strVal val="#ppt_x"/>
                                          </p:val>
                                        </p:tav>
                                      </p:tavLst>
                                    </p:anim>
                                    <p:anim calcmode="lin" valueType="num">
                                      <p:cBhvr>
                                        <p:cTn id="65" dur="650" fill="hold"/>
                                        <p:tgtEl>
                                          <p:spTgt spid="15"/>
                                        </p:tgtEl>
                                        <p:attrNameLst>
                                          <p:attrName>ppt_y</p:attrName>
                                        </p:attrNameLst>
                                      </p:cBhvr>
                                      <p:tavLst>
                                        <p:tav tm="0">
                                          <p:val>
                                            <p:strVal val="#ppt_y+.05"/>
                                          </p:val>
                                        </p:tav>
                                        <p:tav tm="100000">
                                          <p:val>
                                            <p:strVal val="#ppt_y"/>
                                          </p:val>
                                        </p:tav>
                                      </p:tavLst>
                                    </p:anim>
                                  </p:childTnLst>
                                </p:cTn>
                              </p:par>
                              <p:par>
                                <p:cTn id="66" presetID="42" presetClass="entr" presetSubtype="0" fill="hold" grpId="0" nodeType="withEffect">
                                  <p:stCondLst>
                                    <p:cond delay="67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650"/>
                                        <p:tgtEl>
                                          <p:spTgt spid="16"/>
                                        </p:tgtEl>
                                      </p:cBhvr>
                                    </p:animEffect>
                                    <p:anim calcmode="lin" valueType="num">
                                      <p:cBhvr>
                                        <p:cTn id="69" dur="650" fill="hold"/>
                                        <p:tgtEl>
                                          <p:spTgt spid="16"/>
                                        </p:tgtEl>
                                        <p:attrNameLst>
                                          <p:attrName>ppt_x</p:attrName>
                                        </p:attrNameLst>
                                      </p:cBhvr>
                                      <p:tavLst>
                                        <p:tav tm="0">
                                          <p:val>
                                            <p:strVal val="#ppt_x"/>
                                          </p:val>
                                        </p:tav>
                                        <p:tav tm="100000">
                                          <p:val>
                                            <p:strVal val="#ppt_x"/>
                                          </p:val>
                                        </p:tav>
                                      </p:tavLst>
                                    </p:anim>
                                    <p:anim calcmode="lin" valueType="num">
                                      <p:cBhvr>
                                        <p:cTn id="70" dur="650" fill="hold"/>
                                        <p:tgtEl>
                                          <p:spTgt spid="16"/>
                                        </p:tgtEl>
                                        <p:attrNameLst>
                                          <p:attrName>ppt_y</p:attrName>
                                        </p:attrNameLst>
                                      </p:cBhvr>
                                      <p:tavLst>
                                        <p:tav tm="0">
                                          <p:val>
                                            <p:strVal val="#ppt_y+.05"/>
                                          </p:val>
                                        </p:tav>
                                        <p:tav tm="100000">
                                          <p:val>
                                            <p:strVal val="#ppt_y"/>
                                          </p:val>
                                        </p:tav>
                                      </p:tavLst>
                                    </p:anim>
                                  </p:childTnLst>
                                </p:cTn>
                              </p:par>
                              <p:par>
                                <p:cTn id="71" presetID="42" presetClass="entr" presetSubtype="0" fill="hold" grpId="0" nodeType="withEffect">
                                  <p:stCondLst>
                                    <p:cond delay="670"/>
                                  </p:stCondLst>
                                  <p:childTnLst>
                                    <p:set>
                                      <p:cBhvr>
                                        <p:cTn id="72" dur="1" fill="hold">
                                          <p:stCondLst>
                                            <p:cond delay="0"/>
                                          </p:stCondLst>
                                        </p:cTn>
                                        <p:tgtEl>
                                          <p:spTgt spid="17"/>
                                        </p:tgtEl>
                                        <p:attrNameLst>
                                          <p:attrName>style.visibility</p:attrName>
                                        </p:attrNameLst>
                                      </p:cBhvr>
                                      <p:to>
                                        <p:strVal val="visible"/>
                                      </p:to>
                                    </p:set>
                                    <p:animEffect transition="in" filter="fade">
                                      <p:cBhvr>
                                        <p:cTn id="73" dur="650"/>
                                        <p:tgtEl>
                                          <p:spTgt spid="17"/>
                                        </p:tgtEl>
                                      </p:cBhvr>
                                    </p:animEffect>
                                    <p:anim calcmode="lin" valueType="num">
                                      <p:cBhvr>
                                        <p:cTn id="74" dur="650" fill="hold"/>
                                        <p:tgtEl>
                                          <p:spTgt spid="17"/>
                                        </p:tgtEl>
                                        <p:attrNameLst>
                                          <p:attrName>ppt_x</p:attrName>
                                        </p:attrNameLst>
                                      </p:cBhvr>
                                      <p:tavLst>
                                        <p:tav tm="0">
                                          <p:val>
                                            <p:strVal val="#ppt_x"/>
                                          </p:val>
                                        </p:tav>
                                        <p:tav tm="100000">
                                          <p:val>
                                            <p:strVal val="#ppt_x"/>
                                          </p:val>
                                        </p:tav>
                                      </p:tavLst>
                                    </p:anim>
                                    <p:anim calcmode="lin" valueType="num">
                                      <p:cBhvr>
                                        <p:cTn id="75" dur="650" fill="hold"/>
                                        <p:tgtEl>
                                          <p:spTgt spid="17"/>
                                        </p:tgtEl>
                                        <p:attrNameLst>
                                          <p:attrName>ppt_y</p:attrName>
                                        </p:attrNameLst>
                                      </p:cBhvr>
                                      <p:tavLst>
                                        <p:tav tm="0">
                                          <p:val>
                                            <p:strVal val="#ppt_y+.05"/>
                                          </p:val>
                                        </p:tav>
                                        <p:tav tm="100000">
                                          <p:val>
                                            <p:strVal val="#ppt_y"/>
                                          </p:val>
                                        </p:tav>
                                      </p:tavLst>
                                    </p:anim>
                                  </p:childTnLst>
                                </p:cTn>
                              </p:par>
                              <p:par>
                                <p:cTn id="76" presetID="42" presetClass="entr" presetSubtype="0" fill="hold" grpId="0" nodeType="withEffect">
                                  <p:stCondLst>
                                    <p:cond delay="670"/>
                                  </p:stCondLst>
                                  <p:childTnLst>
                                    <p:set>
                                      <p:cBhvr>
                                        <p:cTn id="77" dur="1" fill="hold">
                                          <p:stCondLst>
                                            <p:cond delay="0"/>
                                          </p:stCondLst>
                                        </p:cTn>
                                        <p:tgtEl>
                                          <p:spTgt spid="18"/>
                                        </p:tgtEl>
                                        <p:attrNameLst>
                                          <p:attrName>style.visibility</p:attrName>
                                        </p:attrNameLst>
                                      </p:cBhvr>
                                      <p:to>
                                        <p:strVal val="visible"/>
                                      </p:to>
                                    </p:set>
                                    <p:animEffect transition="in" filter="fade">
                                      <p:cBhvr>
                                        <p:cTn id="78" dur="650"/>
                                        <p:tgtEl>
                                          <p:spTgt spid="18"/>
                                        </p:tgtEl>
                                      </p:cBhvr>
                                    </p:animEffect>
                                    <p:anim calcmode="lin" valueType="num">
                                      <p:cBhvr>
                                        <p:cTn id="79" dur="650" fill="hold"/>
                                        <p:tgtEl>
                                          <p:spTgt spid="18"/>
                                        </p:tgtEl>
                                        <p:attrNameLst>
                                          <p:attrName>ppt_x</p:attrName>
                                        </p:attrNameLst>
                                      </p:cBhvr>
                                      <p:tavLst>
                                        <p:tav tm="0">
                                          <p:val>
                                            <p:strVal val="#ppt_x"/>
                                          </p:val>
                                        </p:tav>
                                        <p:tav tm="100000">
                                          <p:val>
                                            <p:strVal val="#ppt_x"/>
                                          </p:val>
                                        </p:tav>
                                      </p:tavLst>
                                    </p:anim>
                                    <p:anim calcmode="lin" valueType="num">
                                      <p:cBhvr>
                                        <p:cTn id="80" dur="650" fill="hold"/>
                                        <p:tgtEl>
                                          <p:spTgt spid="18"/>
                                        </p:tgtEl>
                                        <p:attrNameLst>
                                          <p:attrName>ppt_y</p:attrName>
                                        </p:attrNameLst>
                                      </p:cBhvr>
                                      <p:tavLst>
                                        <p:tav tm="0">
                                          <p:val>
                                            <p:strVal val="#ppt_y+.05"/>
                                          </p:val>
                                        </p:tav>
                                        <p:tav tm="100000">
                                          <p:val>
                                            <p:strVal val="#ppt_y"/>
                                          </p:val>
                                        </p:tav>
                                      </p:tavLst>
                                    </p:anim>
                                  </p:childTnLst>
                                </p:cTn>
                              </p:par>
                              <p:par>
                                <p:cTn id="81" presetID="42" presetClass="entr" presetSubtype="0" fill="hold" grpId="0" nodeType="withEffect">
                                  <p:stCondLst>
                                    <p:cond delay="670"/>
                                  </p:stCondLst>
                                  <p:childTnLst>
                                    <p:set>
                                      <p:cBhvr>
                                        <p:cTn id="82" dur="1" fill="hold">
                                          <p:stCondLst>
                                            <p:cond delay="0"/>
                                          </p:stCondLst>
                                        </p:cTn>
                                        <p:tgtEl>
                                          <p:spTgt spid="19"/>
                                        </p:tgtEl>
                                        <p:attrNameLst>
                                          <p:attrName>style.visibility</p:attrName>
                                        </p:attrNameLst>
                                      </p:cBhvr>
                                      <p:to>
                                        <p:strVal val="visible"/>
                                      </p:to>
                                    </p:set>
                                    <p:animEffect transition="in" filter="fade">
                                      <p:cBhvr>
                                        <p:cTn id="83" dur="650"/>
                                        <p:tgtEl>
                                          <p:spTgt spid="19"/>
                                        </p:tgtEl>
                                      </p:cBhvr>
                                    </p:animEffect>
                                    <p:anim calcmode="lin" valueType="num">
                                      <p:cBhvr>
                                        <p:cTn id="84" dur="650" fill="hold"/>
                                        <p:tgtEl>
                                          <p:spTgt spid="19"/>
                                        </p:tgtEl>
                                        <p:attrNameLst>
                                          <p:attrName>ppt_x</p:attrName>
                                        </p:attrNameLst>
                                      </p:cBhvr>
                                      <p:tavLst>
                                        <p:tav tm="0">
                                          <p:val>
                                            <p:strVal val="#ppt_x"/>
                                          </p:val>
                                        </p:tav>
                                        <p:tav tm="100000">
                                          <p:val>
                                            <p:strVal val="#ppt_x"/>
                                          </p:val>
                                        </p:tav>
                                      </p:tavLst>
                                    </p:anim>
                                    <p:anim calcmode="lin" valueType="num">
                                      <p:cBhvr>
                                        <p:cTn id="85" dur="650" fill="hold"/>
                                        <p:tgtEl>
                                          <p:spTgt spid="19"/>
                                        </p:tgtEl>
                                        <p:attrNameLst>
                                          <p:attrName>ppt_y</p:attrName>
                                        </p:attrNameLst>
                                      </p:cBhvr>
                                      <p:tavLst>
                                        <p:tav tm="0">
                                          <p:val>
                                            <p:strVal val="#ppt_y+.05"/>
                                          </p:val>
                                        </p:tav>
                                        <p:tav tm="100000">
                                          <p:val>
                                            <p:strVal val="#ppt_y"/>
                                          </p:val>
                                        </p:tav>
                                      </p:tavLst>
                                    </p:anim>
                                  </p:childTnLst>
                                </p:cTn>
                              </p:par>
                              <p:par>
                                <p:cTn id="86" presetID="10" presetClass="entr" presetSubtype="0" fill="hold" grpId="0" nodeType="withEffect">
                                  <p:stCondLst>
                                    <p:cond delay="87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500"/>
                                        <p:tgtEl>
                                          <p:spTgt spid="35"/>
                                        </p:tgtEl>
                                      </p:cBhvr>
                                    </p:animEffect>
                                  </p:childTnLst>
                                </p:cTn>
                              </p:par>
                              <p:par>
                                <p:cTn id="89" presetID="42" presetClass="entr" presetSubtype="0" fill="hold" grpId="0" nodeType="withEffect">
                                  <p:stCondLst>
                                    <p:cond delay="89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650"/>
                                        <p:tgtEl>
                                          <p:spTgt spid="20"/>
                                        </p:tgtEl>
                                      </p:cBhvr>
                                    </p:animEffect>
                                    <p:anim calcmode="lin" valueType="num">
                                      <p:cBhvr>
                                        <p:cTn id="92" dur="650" fill="hold"/>
                                        <p:tgtEl>
                                          <p:spTgt spid="20"/>
                                        </p:tgtEl>
                                        <p:attrNameLst>
                                          <p:attrName>ppt_x</p:attrName>
                                        </p:attrNameLst>
                                      </p:cBhvr>
                                      <p:tavLst>
                                        <p:tav tm="0">
                                          <p:val>
                                            <p:strVal val="#ppt_x"/>
                                          </p:val>
                                        </p:tav>
                                        <p:tav tm="100000">
                                          <p:val>
                                            <p:strVal val="#ppt_x"/>
                                          </p:val>
                                        </p:tav>
                                      </p:tavLst>
                                    </p:anim>
                                    <p:anim calcmode="lin" valueType="num">
                                      <p:cBhvr>
                                        <p:cTn id="93" dur="650" fill="hold"/>
                                        <p:tgtEl>
                                          <p:spTgt spid="20"/>
                                        </p:tgtEl>
                                        <p:attrNameLst>
                                          <p:attrName>ppt_y</p:attrName>
                                        </p:attrNameLst>
                                      </p:cBhvr>
                                      <p:tavLst>
                                        <p:tav tm="0">
                                          <p:val>
                                            <p:strVal val="#ppt_y+.05"/>
                                          </p:val>
                                        </p:tav>
                                        <p:tav tm="100000">
                                          <p:val>
                                            <p:strVal val="#ppt_y"/>
                                          </p:val>
                                        </p:tav>
                                      </p:tavLst>
                                    </p:anim>
                                  </p:childTnLst>
                                </p:cTn>
                              </p:par>
                              <p:par>
                                <p:cTn id="94" presetID="42" presetClass="entr" presetSubtype="0" fill="hold" grpId="0" nodeType="withEffect">
                                  <p:stCondLst>
                                    <p:cond delay="890"/>
                                  </p:stCondLst>
                                  <p:childTnLst>
                                    <p:set>
                                      <p:cBhvr>
                                        <p:cTn id="95" dur="1" fill="hold">
                                          <p:stCondLst>
                                            <p:cond delay="0"/>
                                          </p:stCondLst>
                                        </p:cTn>
                                        <p:tgtEl>
                                          <p:spTgt spid="21"/>
                                        </p:tgtEl>
                                        <p:attrNameLst>
                                          <p:attrName>style.visibility</p:attrName>
                                        </p:attrNameLst>
                                      </p:cBhvr>
                                      <p:to>
                                        <p:strVal val="visible"/>
                                      </p:to>
                                    </p:set>
                                    <p:animEffect transition="in" filter="fade">
                                      <p:cBhvr>
                                        <p:cTn id="96" dur="650"/>
                                        <p:tgtEl>
                                          <p:spTgt spid="21"/>
                                        </p:tgtEl>
                                      </p:cBhvr>
                                    </p:animEffect>
                                    <p:anim calcmode="lin" valueType="num">
                                      <p:cBhvr>
                                        <p:cTn id="97" dur="650" fill="hold"/>
                                        <p:tgtEl>
                                          <p:spTgt spid="21"/>
                                        </p:tgtEl>
                                        <p:attrNameLst>
                                          <p:attrName>ppt_x</p:attrName>
                                        </p:attrNameLst>
                                      </p:cBhvr>
                                      <p:tavLst>
                                        <p:tav tm="0">
                                          <p:val>
                                            <p:strVal val="#ppt_x"/>
                                          </p:val>
                                        </p:tav>
                                        <p:tav tm="100000">
                                          <p:val>
                                            <p:strVal val="#ppt_x"/>
                                          </p:val>
                                        </p:tav>
                                      </p:tavLst>
                                    </p:anim>
                                    <p:anim calcmode="lin" valueType="num">
                                      <p:cBhvr>
                                        <p:cTn id="98" dur="650" fill="hold"/>
                                        <p:tgtEl>
                                          <p:spTgt spid="21"/>
                                        </p:tgtEl>
                                        <p:attrNameLst>
                                          <p:attrName>ppt_y</p:attrName>
                                        </p:attrNameLst>
                                      </p:cBhvr>
                                      <p:tavLst>
                                        <p:tav tm="0">
                                          <p:val>
                                            <p:strVal val="#ppt_y+.05"/>
                                          </p:val>
                                        </p:tav>
                                        <p:tav tm="100000">
                                          <p:val>
                                            <p:strVal val="#ppt_y"/>
                                          </p:val>
                                        </p:tav>
                                      </p:tavLst>
                                    </p:anim>
                                  </p:childTnLst>
                                </p:cTn>
                              </p:par>
                              <p:par>
                                <p:cTn id="99" presetID="42" presetClass="entr" presetSubtype="0" fill="hold" grpId="0" nodeType="withEffect">
                                  <p:stCondLst>
                                    <p:cond delay="890"/>
                                  </p:stCondLst>
                                  <p:childTnLst>
                                    <p:set>
                                      <p:cBhvr>
                                        <p:cTn id="100" dur="1" fill="hold">
                                          <p:stCondLst>
                                            <p:cond delay="0"/>
                                          </p:stCondLst>
                                        </p:cTn>
                                        <p:tgtEl>
                                          <p:spTgt spid="22"/>
                                        </p:tgtEl>
                                        <p:attrNameLst>
                                          <p:attrName>style.visibility</p:attrName>
                                        </p:attrNameLst>
                                      </p:cBhvr>
                                      <p:to>
                                        <p:strVal val="visible"/>
                                      </p:to>
                                    </p:set>
                                    <p:animEffect transition="in" filter="fade">
                                      <p:cBhvr>
                                        <p:cTn id="101" dur="650"/>
                                        <p:tgtEl>
                                          <p:spTgt spid="22"/>
                                        </p:tgtEl>
                                      </p:cBhvr>
                                    </p:animEffect>
                                    <p:anim calcmode="lin" valueType="num">
                                      <p:cBhvr>
                                        <p:cTn id="102" dur="650" fill="hold"/>
                                        <p:tgtEl>
                                          <p:spTgt spid="22"/>
                                        </p:tgtEl>
                                        <p:attrNameLst>
                                          <p:attrName>ppt_x</p:attrName>
                                        </p:attrNameLst>
                                      </p:cBhvr>
                                      <p:tavLst>
                                        <p:tav tm="0">
                                          <p:val>
                                            <p:strVal val="#ppt_x"/>
                                          </p:val>
                                        </p:tav>
                                        <p:tav tm="100000">
                                          <p:val>
                                            <p:strVal val="#ppt_x"/>
                                          </p:val>
                                        </p:tav>
                                      </p:tavLst>
                                    </p:anim>
                                    <p:anim calcmode="lin" valueType="num">
                                      <p:cBhvr>
                                        <p:cTn id="103" dur="650" fill="hold"/>
                                        <p:tgtEl>
                                          <p:spTgt spid="22"/>
                                        </p:tgtEl>
                                        <p:attrNameLst>
                                          <p:attrName>ppt_y</p:attrName>
                                        </p:attrNameLst>
                                      </p:cBhvr>
                                      <p:tavLst>
                                        <p:tav tm="0">
                                          <p:val>
                                            <p:strVal val="#ppt_y+.05"/>
                                          </p:val>
                                        </p:tav>
                                        <p:tav tm="100000">
                                          <p:val>
                                            <p:strVal val="#ppt_y"/>
                                          </p:val>
                                        </p:tav>
                                      </p:tavLst>
                                    </p:anim>
                                  </p:childTnLst>
                                </p:cTn>
                              </p:par>
                              <p:par>
                                <p:cTn id="104" presetID="42" presetClass="entr" presetSubtype="0" fill="hold" grpId="0" nodeType="withEffect">
                                  <p:stCondLst>
                                    <p:cond delay="89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650"/>
                                        <p:tgtEl>
                                          <p:spTgt spid="23"/>
                                        </p:tgtEl>
                                      </p:cBhvr>
                                    </p:animEffect>
                                    <p:anim calcmode="lin" valueType="num">
                                      <p:cBhvr>
                                        <p:cTn id="107" dur="650" fill="hold"/>
                                        <p:tgtEl>
                                          <p:spTgt spid="23"/>
                                        </p:tgtEl>
                                        <p:attrNameLst>
                                          <p:attrName>ppt_x</p:attrName>
                                        </p:attrNameLst>
                                      </p:cBhvr>
                                      <p:tavLst>
                                        <p:tav tm="0">
                                          <p:val>
                                            <p:strVal val="#ppt_x"/>
                                          </p:val>
                                        </p:tav>
                                        <p:tav tm="100000">
                                          <p:val>
                                            <p:strVal val="#ppt_x"/>
                                          </p:val>
                                        </p:tav>
                                      </p:tavLst>
                                    </p:anim>
                                    <p:anim calcmode="lin" valueType="num">
                                      <p:cBhvr>
                                        <p:cTn id="108" dur="650" fill="hold"/>
                                        <p:tgtEl>
                                          <p:spTgt spid="23"/>
                                        </p:tgtEl>
                                        <p:attrNameLst>
                                          <p:attrName>ppt_y</p:attrName>
                                        </p:attrNameLst>
                                      </p:cBhvr>
                                      <p:tavLst>
                                        <p:tav tm="0">
                                          <p:val>
                                            <p:strVal val="#ppt_y+.05"/>
                                          </p:val>
                                        </p:tav>
                                        <p:tav tm="100000">
                                          <p:val>
                                            <p:strVal val="#ppt_y"/>
                                          </p:val>
                                        </p:tav>
                                      </p:tavLst>
                                    </p:anim>
                                  </p:childTnLst>
                                </p:cTn>
                              </p:par>
                              <p:par>
                                <p:cTn id="109" presetID="42" presetClass="entr" presetSubtype="0" fill="hold" grpId="0" nodeType="withEffect">
                                  <p:stCondLst>
                                    <p:cond delay="890"/>
                                  </p:stCondLst>
                                  <p:childTnLst>
                                    <p:set>
                                      <p:cBhvr>
                                        <p:cTn id="110" dur="1" fill="hold">
                                          <p:stCondLst>
                                            <p:cond delay="0"/>
                                          </p:stCondLst>
                                        </p:cTn>
                                        <p:tgtEl>
                                          <p:spTgt spid="24"/>
                                        </p:tgtEl>
                                        <p:attrNameLst>
                                          <p:attrName>style.visibility</p:attrName>
                                        </p:attrNameLst>
                                      </p:cBhvr>
                                      <p:to>
                                        <p:strVal val="visible"/>
                                      </p:to>
                                    </p:set>
                                    <p:animEffect transition="in" filter="fade">
                                      <p:cBhvr>
                                        <p:cTn id="111" dur="650"/>
                                        <p:tgtEl>
                                          <p:spTgt spid="24"/>
                                        </p:tgtEl>
                                      </p:cBhvr>
                                    </p:animEffect>
                                    <p:anim calcmode="lin" valueType="num">
                                      <p:cBhvr>
                                        <p:cTn id="112" dur="650" fill="hold"/>
                                        <p:tgtEl>
                                          <p:spTgt spid="24"/>
                                        </p:tgtEl>
                                        <p:attrNameLst>
                                          <p:attrName>ppt_x</p:attrName>
                                        </p:attrNameLst>
                                      </p:cBhvr>
                                      <p:tavLst>
                                        <p:tav tm="0">
                                          <p:val>
                                            <p:strVal val="#ppt_x"/>
                                          </p:val>
                                        </p:tav>
                                        <p:tav tm="100000">
                                          <p:val>
                                            <p:strVal val="#ppt_x"/>
                                          </p:val>
                                        </p:tav>
                                      </p:tavLst>
                                    </p:anim>
                                    <p:anim calcmode="lin" valueType="num">
                                      <p:cBhvr>
                                        <p:cTn id="113" dur="650" fill="hold"/>
                                        <p:tgtEl>
                                          <p:spTgt spid="24"/>
                                        </p:tgtEl>
                                        <p:attrNameLst>
                                          <p:attrName>ppt_y</p:attrName>
                                        </p:attrNameLst>
                                      </p:cBhvr>
                                      <p:tavLst>
                                        <p:tav tm="0">
                                          <p:val>
                                            <p:strVal val="#ppt_y+.05"/>
                                          </p:val>
                                        </p:tav>
                                        <p:tav tm="100000">
                                          <p:val>
                                            <p:strVal val="#ppt_y"/>
                                          </p:val>
                                        </p:tav>
                                      </p:tavLst>
                                    </p:anim>
                                  </p:childTnLst>
                                </p:cTn>
                              </p:par>
                              <p:par>
                                <p:cTn id="114" presetID="42" presetClass="entr" presetSubtype="0" fill="hold" grpId="0" nodeType="withEffect">
                                  <p:stCondLst>
                                    <p:cond delay="890"/>
                                  </p:stCondLst>
                                  <p:childTnLst>
                                    <p:set>
                                      <p:cBhvr>
                                        <p:cTn id="115" dur="1" fill="hold">
                                          <p:stCondLst>
                                            <p:cond delay="0"/>
                                          </p:stCondLst>
                                        </p:cTn>
                                        <p:tgtEl>
                                          <p:spTgt spid="25"/>
                                        </p:tgtEl>
                                        <p:attrNameLst>
                                          <p:attrName>style.visibility</p:attrName>
                                        </p:attrNameLst>
                                      </p:cBhvr>
                                      <p:to>
                                        <p:strVal val="visible"/>
                                      </p:to>
                                    </p:set>
                                    <p:animEffect transition="in" filter="fade">
                                      <p:cBhvr>
                                        <p:cTn id="116" dur="650"/>
                                        <p:tgtEl>
                                          <p:spTgt spid="25"/>
                                        </p:tgtEl>
                                      </p:cBhvr>
                                    </p:animEffect>
                                    <p:anim calcmode="lin" valueType="num">
                                      <p:cBhvr>
                                        <p:cTn id="117" dur="650" fill="hold"/>
                                        <p:tgtEl>
                                          <p:spTgt spid="25"/>
                                        </p:tgtEl>
                                        <p:attrNameLst>
                                          <p:attrName>ppt_x</p:attrName>
                                        </p:attrNameLst>
                                      </p:cBhvr>
                                      <p:tavLst>
                                        <p:tav tm="0">
                                          <p:val>
                                            <p:strVal val="#ppt_x"/>
                                          </p:val>
                                        </p:tav>
                                        <p:tav tm="100000">
                                          <p:val>
                                            <p:strVal val="#ppt_x"/>
                                          </p:val>
                                        </p:tav>
                                      </p:tavLst>
                                    </p:anim>
                                    <p:anim calcmode="lin" valueType="num">
                                      <p:cBhvr>
                                        <p:cTn id="118" dur="650" fill="hold"/>
                                        <p:tgtEl>
                                          <p:spTgt spid="25"/>
                                        </p:tgtEl>
                                        <p:attrNameLst>
                                          <p:attrName>ppt_y</p:attrName>
                                        </p:attrNameLst>
                                      </p:cBhvr>
                                      <p:tavLst>
                                        <p:tav tm="0">
                                          <p:val>
                                            <p:strVal val="#ppt_y+.05"/>
                                          </p:val>
                                        </p:tav>
                                        <p:tav tm="100000">
                                          <p:val>
                                            <p:strVal val="#ppt_y"/>
                                          </p:val>
                                        </p:tav>
                                      </p:tavLst>
                                    </p:anim>
                                  </p:childTnLst>
                                </p:cTn>
                              </p:par>
                              <p:par>
                                <p:cTn id="119" presetID="42" presetClass="entr" presetSubtype="0" fill="hold" grpId="0" nodeType="withEffect">
                                  <p:stCondLst>
                                    <p:cond delay="890"/>
                                  </p:stCondLst>
                                  <p:childTnLst>
                                    <p:set>
                                      <p:cBhvr>
                                        <p:cTn id="120" dur="1" fill="hold">
                                          <p:stCondLst>
                                            <p:cond delay="0"/>
                                          </p:stCondLst>
                                        </p:cTn>
                                        <p:tgtEl>
                                          <p:spTgt spid="26"/>
                                        </p:tgtEl>
                                        <p:attrNameLst>
                                          <p:attrName>style.visibility</p:attrName>
                                        </p:attrNameLst>
                                      </p:cBhvr>
                                      <p:to>
                                        <p:strVal val="visible"/>
                                      </p:to>
                                    </p:set>
                                    <p:animEffect transition="in" filter="fade">
                                      <p:cBhvr>
                                        <p:cTn id="121" dur="650"/>
                                        <p:tgtEl>
                                          <p:spTgt spid="26"/>
                                        </p:tgtEl>
                                      </p:cBhvr>
                                    </p:animEffect>
                                    <p:anim calcmode="lin" valueType="num">
                                      <p:cBhvr>
                                        <p:cTn id="122" dur="650" fill="hold"/>
                                        <p:tgtEl>
                                          <p:spTgt spid="26"/>
                                        </p:tgtEl>
                                        <p:attrNameLst>
                                          <p:attrName>ppt_x</p:attrName>
                                        </p:attrNameLst>
                                      </p:cBhvr>
                                      <p:tavLst>
                                        <p:tav tm="0">
                                          <p:val>
                                            <p:strVal val="#ppt_x"/>
                                          </p:val>
                                        </p:tav>
                                        <p:tav tm="100000">
                                          <p:val>
                                            <p:strVal val="#ppt_x"/>
                                          </p:val>
                                        </p:tav>
                                      </p:tavLst>
                                    </p:anim>
                                    <p:anim calcmode="lin" valueType="num">
                                      <p:cBhvr>
                                        <p:cTn id="123" dur="650" fill="hold"/>
                                        <p:tgtEl>
                                          <p:spTgt spid="26"/>
                                        </p:tgtEl>
                                        <p:attrNameLst>
                                          <p:attrName>ppt_y</p:attrName>
                                        </p:attrNameLst>
                                      </p:cBhvr>
                                      <p:tavLst>
                                        <p:tav tm="0">
                                          <p:val>
                                            <p:strVal val="#ppt_y+.05"/>
                                          </p:val>
                                        </p:tav>
                                        <p:tav tm="100000">
                                          <p:val>
                                            <p:strVal val="#ppt_y"/>
                                          </p:val>
                                        </p:tav>
                                      </p:tavLst>
                                    </p:anim>
                                  </p:childTnLst>
                                </p:cTn>
                              </p:par>
                              <p:par>
                                <p:cTn id="124" presetID="10" presetClass="entr" presetSubtype="0" fill="hold" grpId="0" nodeType="withEffect">
                                  <p:stCondLst>
                                    <p:cond delay="1090"/>
                                  </p:stCondLst>
                                  <p:childTnLst>
                                    <p:set>
                                      <p:cBhvr>
                                        <p:cTn id="125" dur="1" fill="hold">
                                          <p:stCondLst>
                                            <p:cond delay="0"/>
                                          </p:stCondLst>
                                        </p:cTn>
                                        <p:tgtEl>
                                          <p:spTgt spid="36"/>
                                        </p:tgtEl>
                                        <p:attrNameLst>
                                          <p:attrName>style.visibility</p:attrName>
                                        </p:attrNameLst>
                                      </p:cBhvr>
                                      <p:to>
                                        <p:strVal val="visible"/>
                                      </p:to>
                                    </p:set>
                                    <p:animEffect transition="in" filter="fade">
                                      <p:cBhvr>
                                        <p:cTn id="126" dur="500"/>
                                        <p:tgtEl>
                                          <p:spTgt spid="36"/>
                                        </p:tgtEl>
                                      </p:cBhvr>
                                    </p:animEffect>
                                  </p:childTnLst>
                                </p:cTn>
                              </p:par>
                              <p:par>
                                <p:cTn id="127" presetID="42" presetClass="entr" presetSubtype="0" fill="hold" grpId="0" nodeType="withEffect">
                                  <p:stCondLst>
                                    <p:cond delay="1110"/>
                                  </p:stCondLst>
                                  <p:childTnLst>
                                    <p:set>
                                      <p:cBhvr>
                                        <p:cTn id="128" dur="1" fill="hold">
                                          <p:stCondLst>
                                            <p:cond delay="0"/>
                                          </p:stCondLst>
                                        </p:cTn>
                                        <p:tgtEl>
                                          <p:spTgt spid="27"/>
                                        </p:tgtEl>
                                        <p:attrNameLst>
                                          <p:attrName>style.visibility</p:attrName>
                                        </p:attrNameLst>
                                      </p:cBhvr>
                                      <p:to>
                                        <p:strVal val="visible"/>
                                      </p:to>
                                    </p:set>
                                    <p:animEffect transition="in" filter="fade">
                                      <p:cBhvr>
                                        <p:cTn id="129" dur="650"/>
                                        <p:tgtEl>
                                          <p:spTgt spid="27"/>
                                        </p:tgtEl>
                                      </p:cBhvr>
                                    </p:animEffect>
                                    <p:anim calcmode="lin" valueType="num">
                                      <p:cBhvr>
                                        <p:cTn id="130" dur="650" fill="hold"/>
                                        <p:tgtEl>
                                          <p:spTgt spid="27"/>
                                        </p:tgtEl>
                                        <p:attrNameLst>
                                          <p:attrName>ppt_x</p:attrName>
                                        </p:attrNameLst>
                                      </p:cBhvr>
                                      <p:tavLst>
                                        <p:tav tm="0">
                                          <p:val>
                                            <p:strVal val="#ppt_x"/>
                                          </p:val>
                                        </p:tav>
                                        <p:tav tm="100000">
                                          <p:val>
                                            <p:strVal val="#ppt_x"/>
                                          </p:val>
                                        </p:tav>
                                      </p:tavLst>
                                    </p:anim>
                                    <p:anim calcmode="lin" valueType="num">
                                      <p:cBhvr>
                                        <p:cTn id="131" dur="650" fill="hold"/>
                                        <p:tgtEl>
                                          <p:spTgt spid="27"/>
                                        </p:tgtEl>
                                        <p:attrNameLst>
                                          <p:attrName>ppt_y</p:attrName>
                                        </p:attrNameLst>
                                      </p:cBhvr>
                                      <p:tavLst>
                                        <p:tav tm="0">
                                          <p:val>
                                            <p:strVal val="#ppt_y+.05"/>
                                          </p:val>
                                        </p:tav>
                                        <p:tav tm="100000">
                                          <p:val>
                                            <p:strVal val="#ppt_y"/>
                                          </p:val>
                                        </p:tav>
                                      </p:tavLst>
                                    </p:anim>
                                  </p:childTnLst>
                                </p:cTn>
                              </p:par>
                              <p:par>
                                <p:cTn id="132" presetID="42" presetClass="entr" presetSubtype="0" fill="hold" grpId="0" nodeType="withEffect">
                                  <p:stCondLst>
                                    <p:cond delay="1110"/>
                                  </p:stCondLst>
                                  <p:childTnLst>
                                    <p:set>
                                      <p:cBhvr>
                                        <p:cTn id="133" dur="1" fill="hold">
                                          <p:stCondLst>
                                            <p:cond delay="0"/>
                                          </p:stCondLst>
                                        </p:cTn>
                                        <p:tgtEl>
                                          <p:spTgt spid="28"/>
                                        </p:tgtEl>
                                        <p:attrNameLst>
                                          <p:attrName>style.visibility</p:attrName>
                                        </p:attrNameLst>
                                      </p:cBhvr>
                                      <p:to>
                                        <p:strVal val="visible"/>
                                      </p:to>
                                    </p:set>
                                    <p:animEffect transition="in" filter="fade">
                                      <p:cBhvr>
                                        <p:cTn id="134" dur="650"/>
                                        <p:tgtEl>
                                          <p:spTgt spid="28"/>
                                        </p:tgtEl>
                                      </p:cBhvr>
                                    </p:animEffect>
                                    <p:anim calcmode="lin" valueType="num">
                                      <p:cBhvr>
                                        <p:cTn id="135" dur="650" fill="hold"/>
                                        <p:tgtEl>
                                          <p:spTgt spid="28"/>
                                        </p:tgtEl>
                                        <p:attrNameLst>
                                          <p:attrName>ppt_x</p:attrName>
                                        </p:attrNameLst>
                                      </p:cBhvr>
                                      <p:tavLst>
                                        <p:tav tm="0">
                                          <p:val>
                                            <p:strVal val="#ppt_x"/>
                                          </p:val>
                                        </p:tav>
                                        <p:tav tm="100000">
                                          <p:val>
                                            <p:strVal val="#ppt_x"/>
                                          </p:val>
                                        </p:tav>
                                      </p:tavLst>
                                    </p:anim>
                                    <p:anim calcmode="lin" valueType="num">
                                      <p:cBhvr>
                                        <p:cTn id="136" dur="650" fill="hold"/>
                                        <p:tgtEl>
                                          <p:spTgt spid="28"/>
                                        </p:tgtEl>
                                        <p:attrNameLst>
                                          <p:attrName>ppt_y</p:attrName>
                                        </p:attrNameLst>
                                      </p:cBhvr>
                                      <p:tavLst>
                                        <p:tav tm="0">
                                          <p:val>
                                            <p:strVal val="#ppt_y+.05"/>
                                          </p:val>
                                        </p:tav>
                                        <p:tav tm="100000">
                                          <p:val>
                                            <p:strVal val="#ppt_y"/>
                                          </p:val>
                                        </p:tav>
                                      </p:tavLst>
                                    </p:anim>
                                  </p:childTnLst>
                                </p:cTn>
                              </p:par>
                              <p:par>
                                <p:cTn id="137" presetID="42" presetClass="entr" presetSubtype="0" fill="hold" grpId="0" nodeType="withEffect">
                                  <p:stCondLst>
                                    <p:cond delay="1110"/>
                                  </p:stCondLst>
                                  <p:childTnLst>
                                    <p:set>
                                      <p:cBhvr>
                                        <p:cTn id="138" dur="1" fill="hold">
                                          <p:stCondLst>
                                            <p:cond delay="0"/>
                                          </p:stCondLst>
                                        </p:cTn>
                                        <p:tgtEl>
                                          <p:spTgt spid="29"/>
                                        </p:tgtEl>
                                        <p:attrNameLst>
                                          <p:attrName>style.visibility</p:attrName>
                                        </p:attrNameLst>
                                      </p:cBhvr>
                                      <p:to>
                                        <p:strVal val="visible"/>
                                      </p:to>
                                    </p:set>
                                    <p:animEffect transition="in" filter="fade">
                                      <p:cBhvr>
                                        <p:cTn id="139" dur="650"/>
                                        <p:tgtEl>
                                          <p:spTgt spid="29"/>
                                        </p:tgtEl>
                                      </p:cBhvr>
                                    </p:animEffect>
                                    <p:anim calcmode="lin" valueType="num">
                                      <p:cBhvr>
                                        <p:cTn id="140" dur="650" fill="hold"/>
                                        <p:tgtEl>
                                          <p:spTgt spid="29"/>
                                        </p:tgtEl>
                                        <p:attrNameLst>
                                          <p:attrName>ppt_x</p:attrName>
                                        </p:attrNameLst>
                                      </p:cBhvr>
                                      <p:tavLst>
                                        <p:tav tm="0">
                                          <p:val>
                                            <p:strVal val="#ppt_x"/>
                                          </p:val>
                                        </p:tav>
                                        <p:tav tm="100000">
                                          <p:val>
                                            <p:strVal val="#ppt_x"/>
                                          </p:val>
                                        </p:tav>
                                      </p:tavLst>
                                    </p:anim>
                                    <p:anim calcmode="lin" valueType="num">
                                      <p:cBhvr>
                                        <p:cTn id="141" dur="650" fill="hold"/>
                                        <p:tgtEl>
                                          <p:spTgt spid="29"/>
                                        </p:tgtEl>
                                        <p:attrNameLst>
                                          <p:attrName>ppt_y</p:attrName>
                                        </p:attrNameLst>
                                      </p:cBhvr>
                                      <p:tavLst>
                                        <p:tav tm="0">
                                          <p:val>
                                            <p:strVal val="#ppt_y+.05"/>
                                          </p:val>
                                        </p:tav>
                                        <p:tav tm="100000">
                                          <p:val>
                                            <p:strVal val="#ppt_y"/>
                                          </p:val>
                                        </p:tav>
                                      </p:tavLst>
                                    </p:anim>
                                  </p:childTnLst>
                                </p:cTn>
                              </p:par>
                              <p:par>
                                <p:cTn id="142" presetID="42" presetClass="entr" presetSubtype="0" fill="hold" grpId="0" nodeType="withEffect">
                                  <p:stCondLst>
                                    <p:cond delay="1110"/>
                                  </p:stCondLst>
                                  <p:childTnLst>
                                    <p:set>
                                      <p:cBhvr>
                                        <p:cTn id="143" dur="1" fill="hold">
                                          <p:stCondLst>
                                            <p:cond delay="0"/>
                                          </p:stCondLst>
                                        </p:cTn>
                                        <p:tgtEl>
                                          <p:spTgt spid="30"/>
                                        </p:tgtEl>
                                        <p:attrNameLst>
                                          <p:attrName>style.visibility</p:attrName>
                                        </p:attrNameLst>
                                      </p:cBhvr>
                                      <p:to>
                                        <p:strVal val="visible"/>
                                      </p:to>
                                    </p:set>
                                    <p:animEffect transition="in" filter="fade">
                                      <p:cBhvr>
                                        <p:cTn id="144" dur="650"/>
                                        <p:tgtEl>
                                          <p:spTgt spid="30"/>
                                        </p:tgtEl>
                                      </p:cBhvr>
                                    </p:animEffect>
                                    <p:anim calcmode="lin" valueType="num">
                                      <p:cBhvr>
                                        <p:cTn id="145" dur="650" fill="hold"/>
                                        <p:tgtEl>
                                          <p:spTgt spid="30"/>
                                        </p:tgtEl>
                                        <p:attrNameLst>
                                          <p:attrName>ppt_x</p:attrName>
                                        </p:attrNameLst>
                                      </p:cBhvr>
                                      <p:tavLst>
                                        <p:tav tm="0">
                                          <p:val>
                                            <p:strVal val="#ppt_x"/>
                                          </p:val>
                                        </p:tav>
                                        <p:tav tm="100000">
                                          <p:val>
                                            <p:strVal val="#ppt_x"/>
                                          </p:val>
                                        </p:tav>
                                      </p:tavLst>
                                    </p:anim>
                                    <p:anim calcmode="lin" valueType="num">
                                      <p:cBhvr>
                                        <p:cTn id="146" dur="650" fill="hold"/>
                                        <p:tgtEl>
                                          <p:spTgt spid="30"/>
                                        </p:tgtEl>
                                        <p:attrNameLst>
                                          <p:attrName>ppt_y</p:attrName>
                                        </p:attrNameLst>
                                      </p:cBhvr>
                                      <p:tavLst>
                                        <p:tav tm="0">
                                          <p:val>
                                            <p:strVal val="#ppt_y+.05"/>
                                          </p:val>
                                        </p:tav>
                                        <p:tav tm="100000">
                                          <p:val>
                                            <p:strVal val="#ppt_y"/>
                                          </p:val>
                                        </p:tav>
                                      </p:tavLst>
                                    </p:anim>
                                  </p:childTnLst>
                                </p:cTn>
                              </p:par>
                              <p:par>
                                <p:cTn id="147" presetID="42" presetClass="entr" presetSubtype="0" fill="hold" grpId="0" nodeType="withEffect">
                                  <p:stCondLst>
                                    <p:cond delay="1110"/>
                                  </p:stCondLst>
                                  <p:childTnLst>
                                    <p:set>
                                      <p:cBhvr>
                                        <p:cTn id="148" dur="1" fill="hold">
                                          <p:stCondLst>
                                            <p:cond delay="0"/>
                                          </p:stCondLst>
                                        </p:cTn>
                                        <p:tgtEl>
                                          <p:spTgt spid="31"/>
                                        </p:tgtEl>
                                        <p:attrNameLst>
                                          <p:attrName>style.visibility</p:attrName>
                                        </p:attrNameLst>
                                      </p:cBhvr>
                                      <p:to>
                                        <p:strVal val="visible"/>
                                      </p:to>
                                    </p:set>
                                    <p:animEffect transition="in" filter="fade">
                                      <p:cBhvr>
                                        <p:cTn id="149" dur="650"/>
                                        <p:tgtEl>
                                          <p:spTgt spid="31"/>
                                        </p:tgtEl>
                                      </p:cBhvr>
                                    </p:animEffect>
                                    <p:anim calcmode="lin" valueType="num">
                                      <p:cBhvr>
                                        <p:cTn id="150" dur="650" fill="hold"/>
                                        <p:tgtEl>
                                          <p:spTgt spid="31"/>
                                        </p:tgtEl>
                                        <p:attrNameLst>
                                          <p:attrName>ppt_x</p:attrName>
                                        </p:attrNameLst>
                                      </p:cBhvr>
                                      <p:tavLst>
                                        <p:tav tm="0">
                                          <p:val>
                                            <p:strVal val="#ppt_x"/>
                                          </p:val>
                                        </p:tav>
                                        <p:tav tm="100000">
                                          <p:val>
                                            <p:strVal val="#ppt_x"/>
                                          </p:val>
                                        </p:tav>
                                      </p:tavLst>
                                    </p:anim>
                                    <p:anim calcmode="lin" valueType="num">
                                      <p:cBhvr>
                                        <p:cTn id="151" dur="650" fill="hold"/>
                                        <p:tgtEl>
                                          <p:spTgt spid="31"/>
                                        </p:tgtEl>
                                        <p:attrNameLst>
                                          <p:attrName>ppt_y</p:attrName>
                                        </p:attrNameLst>
                                      </p:cBhvr>
                                      <p:tavLst>
                                        <p:tav tm="0">
                                          <p:val>
                                            <p:strVal val="#ppt_y+.05"/>
                                          </p:val>
                                        </p:tav>
                                        <p:tav tm="100000">
                                          <p:val>
                                            <p:strVal val="#ppt_y"/>
                                          </p:val>
                                        </p:tav>
                                      </p:tavLst>
                                    </p:anim>
                                  </p:childTnLst>
                                </p:cTn>
                              </p:par>
                              <p:par>
                                <p:cTn id="152" presetID="42" presetClass="entr" presetSubtype="0" fill="hold" grpId="0" nodeType="withEffect">
                                  <p:stCondLst>
                                    <p:cond delay="1110"/>
                                  </p:stCondLst>
                                  <p:childTnLst>
                                    <p:set>
                                      <p:cBhvr>
                                        <p:cTn id="153" dur="1" fill="hold">
                                          <p:stCondLst>
                                            <p:cond delay="0"/>
                                          </p:stCondLst>
                                        </p:cTn>
                                        <p:tgtEl>
                                          <p:spTgt spid="32"/>
                                        </p:tgtEl>
                                        <p:attrNameLst>
                                          <p:attrName>style.visibility</p:attrName>
                                        </p:attrNameLst>
                                      </p:cBhvr>
                                      <p:to>
                                        <p:strVal val="visible"/>
                                      </p:to>
                                    </p:set>
                                    <p:animEffect transition="in" filter="fade">
                                      <p:cBhvr>
                                        <p:cTn id="154" dur="650"/>
                                        <p:tgtEl>
                                          <p:spTgt spid="32"/>
                                        </p:tgtEl>
                                      </p:cBhvr>
                                    </p:animEffect>
                                    <p:anim calcmode="lin" valueType="num">
                                      <p:cBhvr>
                                        <p:cTn id="155" dur="650" fill="hold"/>
                                        <p:tgtEl>
                                          <p:spTgt spid="32"/>
                                        </p:tgtEl>
                                        <p:attrNameLst>
                                          <p:attrName>ppt_x</p:attrName>
                                        </p:attrNameLst>
                                      </p:cBhvr>
                                      <p:tavLst>
                                        <p:tav tm="0">
                                          <p:val>
                                            <p:strVal val="#ppt_x"/>
                                          </p:val>
                                        </p:tav>
                                        <p:tav tm="100000">
                                          <p:val>
                                            <p:strVal val="#ppt_x"/>
                                          </p:val>
                                        </p:tav>
                                      </p:tavLst>
                                    </p:anim>
                                    <p:anim calcmode="lin" valueType="num">
                                      <p:cBhvr>
                                        <p:cTn id="156" dur="650" fill="hold"/>
                                        <p:tgtEl>
                                          <p:spTgt spid="32"/>
                                        </p:tgtEl>
                                        <p:attrNameLst>
                                          <p:attrName>ppt_y</p:attrName>
                                        </p:attrNameLst>
                                      </p:cBhvr>
                                      <p:tavLst>
                                        <p:tav tm="0">
                                          <p:val>
                                            <p:strVal val="#ppt_y+.05"/>
                                          </p:val>
                                        </p:tav>
                                        <p:tav tm="100000">
                                          <p:val>
                                            <p:strVal val="#ppt_y"/>
                                          </p:val>
                                        </p:tav>
                                      </p:tavLst>
                                    </p:anim>
                                  </p:childTnLst>
                                </p:cTn>
                              </p:par>
                              <p:par>
                                <p:cTn id="157" presetID="42" presetClass="entr" presetSubtype="0" fill="hold" grpId="0" nodeType="withEffect">
                                  <p:stCondLst>
                                    <p:cond delay="1110"/>
                                  </p:stCondLst>
                                  <p:childTnLst>
                                    <p:set>
                                      <p:cBhvr>
                                        <p:cTn id="158" dur="1" fill="hold">
                                          <p:stCondLst>
                                            <p:cond delay="0"/>
                                          </p:stCondLst>
                                        </p:cTn>
                                        <p:tgtEl>
                                          <p:spTgt spid="33"/>
                                        </p:tgtEl>
                                        <p:attrNameLst>
                                          <p:attrName>style.visibility</p:attrName>
                                        </p:attrNameLst>
                                      </p:cBhvr>
                                      <p:to>
                                        <p:strVal val="visible"/>
                                      </p:to>
                                    </p:set>
                                    <p:animEffect transition="in" filter="fade">
                                      <p:cBhvr>
                                        <p:cTn id="159" dur="650"/>
                                        <p:tgtEl>
                                          <p:spTgt spid="33"/>
                                        </p:tgtEl>
                                      </p:cBhvr>
                                    </p:animEffect>
                                    <p:anim calcmode="lin" valueType="num">
                                      <p:cBhvr>
                                        <p:cTn id="160" dur="650" fill="hold"/>
                                        <p:tgtEl>
                                          <p:spTgt spid="33"/>
                                        </p:tgtEl>
                                        <p:attrNameLst>
                                          <p:attrName>ppt_x</p:attrName>
                                        </p:attrNameLst>
                                      </p:cBhvr>
                                      <p:tavLst>
                                        <p:tav tm="0">
                                          <p:val>
                                            <p:strVal val="#ppt_x"/>
                                          </p:val>
                                        </p:tav>
                                        <p:tav tm="100000">
                                          <p:val>
                                            <p:strVal val="#ppt_x"/>
                                          </p:val>
                                        </p:tav>
                                      </p:tavLst>
                                    </p:anim>
                                    <p:anim calcmode="lin" valueType="num">
                                      <p:cBhvr>
                                        <p:cTn id="161" dur="650" fill="hold"/>
                                        <p:tgtEl>
                                          <p:spTgt spid="33"/>
                                        </p:tgtEl>
                                        <p:attrNameLst>
                                          <p:attrName>ppt_y</p:attrName>
                                        </p:attrNameLst>
                                      </p:cBhvr>
                                      <p:tavLst>
                                        <p:tav tm="0">
                                          <p:val>
                                            <p:strVal val="#ppt_y+.05"/>
                                          </p:val>
                                        </p:tav>
                                        <p:tav tm="100000">
                                          <p:val>
                                            <p:strVal val="#ppt_y"/>
                                          </p:val>
                                        </p:tav>
                                      </p:tavLst>
                                    </p:anim>
                                  </p:childTnLst>
                                </p:cTn>
                              </p:par>
                              <p:par>
                                <p:cTn id="162" presetID="10" presetClass="entr" presetSubtype="0" fill="hold" grpId="0" nodeType="withEffect">
                                  <p:stCondLst>
                                    <p:cond delay="1310"/>
                                  </p:stCondLst>
                                  <p:childTnLst>
                                    <p:set>
                                      <p:cBhvr>
                                        <p:cTn id="163" dur="1" fill="hold">
                                          <p:stCondLst>
                                            <p:cond delay="0"/>
                                          </p:stCondLst>
                                        </p:cTn>
                                        <p:tgtEl>
                                          <p:spTgt spid="37"/>
                                        </p:tgtEl>
                                        <p:attrNameLst>
                                          <p:attrName>style.visibility</p:attrName>
                                        </p:attrNameLst>
                                      </p:cBhvr>
                                      <p:to>
                                        <p:strVal val="visible"/>
                                      </p:to>
                                    </p:set>
                                    <p:animEffect transition="in" filter="fade">
                                      <p:cBhvr>
                                        <p:cTn id="164"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P spid="8" grpId="0" animBg="1"/>
      <p:bldP spid="9" grpId="0" animBg="1"/>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2" grpId="0" animBg="1"/>
      <p:bldP spid="23" grpId="0" animBg="1"/>
      <p:bldP spid="25" grpId="0" animBg="1"/>
      <p:bldP spid="26" grpId="0" animBg="1"/>
      <p:bldP spid="27" grpId="0" animBg="1"/>
      <p:bldP spid="28" grpId="0" animBg="1"/>
      <p:bldP spid="29" grpId="0" animBg="1"/>
      <p:bldP spid="30" grpId="0" animBg="1"/>
      <p:bldP spid="32" grpId="0" animBg="1"/>
      <p:bldP spid="33" grpId="0" animBg="1"/>
      <p:bldP spid="34" grpId="0" animBg="1"/>
      <p:bldP spid="35" grpId="0" animBg="1"/>
      <p:bldP spid="36" grpId="0" animBg="1"/>
      <p:bldP spid="3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eyebrow"/>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100" b="1" spc="200" kern="0" dirty="0">
                <a:solidFill>
                  <a:srgbClr val="B3441A"/>
                </a:solidFill>
                <a:latin typeface="Arial" pitchFamily="34" charset="0"/>
                <a:ea typeface="Arial" pitchFamily="34" charset="-122"/>
                <a:cs typeface="Arial" pitchFamily="34" charset="-120"/>
              </a:rPr>
              <a:t>EVERY DAY</a:t>
            </a:r>
            <a:endParaRPr lang="en-US" sz="1100" dirty="0"/>
          </a:p>
        </p:txBody>
      </p:sp>
      <p:sp>
        <p:nvSpPr>
          <p:cNvPr id="4" name="Text 1"/>
          <p:cNvSpPr/>
          <p:nvPr>
            <p:ph idx="101" type="title" hasCustomPrompt="1"/>
          </p:nvPr>
        </p:nvSpPr>
        <p:spPr>
          <a:xfrm>
            <a:off x="548640" y="841248"/>
            <a:ext cx="11094415" cy="731520"/>
          </a:xfrm>
          <a:prstGeom prst="rect">
            <a:avLst/>
          </a:prstGeom>
          <a:noFill/>
          <a:ln/>
        </p:spPr>
        <p:txBody>
          <a:bodyPr wrap="square" lIns="0" tIns="0" rIns="0" bIns="0" rtlCol="0" anchor="t"/>
          <a:lstStyle/>
          <a:p>
            <a:pPr algn="l" indent="0" marL="0">
              <a:buNone/>
            </a:pPr>
            <a:r>
              <a:rPr lang="en-US" sz="3600" b="1" dirty="0">
                <a:solidFill>
                  <a:srgbClr val="1D1D1F"/>
                </a:solidFill>
                <a:latin typeface="Arial" pitchFamily="34" charset="0"/>
                <a:ea typeface="Arial" pitchFamily="34" charset="-122"/>
                <a:cs typeface="Arial" pitchFamily="34" charset="-120"/>
              </a:rPr>
              <a:t>Daily reporting, built in</a:t>
            </a:r>
            <a:endParaRPr lang="en-US" sz="3600" dirty="0"/>
          </a:p>
        </p:txBody>
      </p:sp>
      <p:sp>
        <p:nvSpPr>
          <p:cNvPr id="5" name="rail"/>
          <p:cNvSpPr/>
          <p:nvPr/>
        </p:nvSpPr>
        <p:spPr>
          <a:xfrm>
            <a:off x="804672" y="2331720"/>
            <a:ext cx="0" cy="2743200"/>
          </a:xfrm>
          <a:prstGeom prst="line">
            <a:avLst/>
          </a:prstGeom>
          <a:noFill/>
          <a:ln w="25400">
            <a:solidFill>
              <a:srgbClr val="E5E5EA"/>
            </a:solidFill>
            <a:prstDash val="solid"/>
          </a:ln>
        </p:spPr>
      </p:sp>
      <p:sp>
        <p:nvSpPr>
          <p:cNvPr id="6" name="dot-up"/>
          <p:cNvSpPr/>
          <p:nvPr/>
        </p:nvSpPr>
        <p:spPr>
          <a:xfrm>
            <a:off x="548640" y="1920240"/>
            <a:ext cx="512064" cy="512064"/>
          </a:xfrm>
          <a:prstGeom prst="ellipse">
            <a:avLst/>
          </a:prstGeom>
          <a:solidFill>
            <a:srgbClr val="C4511A"/>
          </a:solidFill>
          <a:ln/>
        </p:spPr>
      </p:sp>
      <p:pic>
        <p:nvPicPr>
          <p:cNvPr id="7" name="icon-up" descr="">    </p:cNvPr>
          <p:cNvPicPr>
            <a:picLocks noChangeAspect="1"/>
          </p:cNvPicPr>
          <p:nvPr/>
        </p:nvPicPr>
        <p:blipFill>
          <a:blip r:embed="rId1"/>
          <a:stretch>
            <a:fillRect/>
          </a:stretch>
        </p:blipFill>
        <p:spPr>
          <a:xfrm>
            <a:off x="671535" y="2043135"/>
            <a:ext cx="266273" cy="266273"/>
          </a:xfrm>
          <a:prstGeom prst="rect">
            <a:avLst/>
          </a:prstGeom>
        </p:spPr>
      </p:pic>
      <p:sp>
        <p:nvSpPr>
          <p:cNvPr id="8" name="h"/>
          <p:cNvSpPr txBox="1"/>
          <p:nvPr/>
        </p:nvSpPr>
        <p:spPr>
          <a:xfrm>
            <a:off x="1280160" y="1892808"/>
            <a:ext cx="3840480" cy="329184"/>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Drop yesterday's exports</a:t>
            </a:r>
            <a:endParaRPr lang="en-US" sz="1700" dirty="0"/>
          </a:p>
        </p:txBody>
      </p:sp>
      <p:sp>
        <p:nvSpPr>
          <p:cNvPr id="9" name="t"/>
          <p:cNvSpPr txBox="1"/>
          <p:nvPr/>
        </p:nvSpPr>
        <p:spPr>
          <a:xfrm>
            <a:off x="1280160" y="2249424"/>
            <a:ext cx="3840480" cy="731520"/>
          </a:xfrm>
          <a:prstGeom prst="rect">
            <a:avLst/>
          </a:prstGeom>
          <a:noFill/>
          <a:ln/>
        </p:spPr>
        <p:txBody>
          <a:bodyPr wrap="square" lIns="0" tIns="0" rIns="0" bIns="0" rtlCol="0" anchor="t"/>
          <a:lstStyle/>
          <a:p>
            <a:pPr indent="0" marL="0">
              <a:lnSpc>
                <a:spcPct val="105000"/>
              </a:lnSpc>
              <a:buNone/>
            </a:pPr>
            <a:r>
              <a:rPr lang="en-US" sz="1400" dirty="0">
                <a:solidFill>
                  <a:srgbClr val="58585D"/>
                </a:solidFill>
                <a:latin typeface="Arial" pitchFamily="34" charset="0"/>
                <a:ea typeface="Arial" pitchFamily="34" charset="-122"/>
                <a:cs typeface="Arial" pitchFamily="34" charset="-120"/>
              </a:rPr>
              <a:t>MC Leaders and the WFM Daily Review are made in the tool.</a:t>
            </a:r>
            <a:endParaRPr lang="en-US" sz="1400" dirty="0"/>
          </a:p>
        </p:txBody>
      </p:sp>
      <p:sp>
        <p:nvSpPr>
          <p:cNvPr id="10" name="dot-mail"/>
          <p:cNvSpPr/>
          <p:nvPr/>
        </p:nvSpPr>
        <p:spPr>
          <a:xfrm>
            <a:off x="548640" y="3291840"/>
            <a:ext cx="512064" cy="512064"/>
          </a:xfrm>
          <a:prstGeom prst="ellipse">
            <a:avLst/>
          </a:prstGeom>
          <a:solidFill>
            <a:srgbClr val="1D1D1F"/>
          </a:solidFill>
          <a:ln/>
        </p:spPr>
      </p:sp>
      <p:pic>
        <p:nvPicPr>
          <p:cNvPr id="11" name="icon-mail" descr="">    </p:cNvPr>
          <p:cNvPicPr>
            <a:picLocks noChangeAspect="1"/>
          </p:cNvPicPr>
          <p:nvPr/>
        </p:nvPicPr>
        <p:blipFill>
          <a:blip r:embed="rId2"/>
          <a:stretch>
            <a:fillRect/>
          </a:stretch>
        </p:blipFill>
        <p:spPr>
          <a:xfrm>
            <a:off x="671535" y="3414735"/>
            <a:ext cx="266273" cy="266273"/>
          </a:xfrm>
          <a:prstGeom prst="rect">
            <a:avLst/>
          </a:prstGeom>
        </p:spPr>
      </p:pic>
      <p:sp>
        <p:nvSpPr>
          <p:cNvPr id="12" name="h"/>
          <p:cNvSpPr txBox="1"/>
          <p:nvPr/>
        </p:nvSpPr>
        <p:spPr>
          <a:xfrm>
            <a:off x="1280160" y="3264408"/>
            <a:ext cx="3840480" cy="329184"/>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Four brand emails to send</a:t>
            </a:r>
            <a:endParaRPr lang="en-US" sz="1700" dirty="0"/>
          </a:p>
        </p:txBody>
      </p:sp>
      <p:sp>
        <p:nvSpPr>
          <p:cNvPr id="13" name="t"/>
          <p:cNvSpPr txBox="1"/>
          <p:nvPr/>
        </p:nvSpPr>
        <p:spPr>
          <a:xfrm>
            <a:off x="1280160" y="3621024"/>
            <a:ext cx="3840480" cy="731520"/>
          </a:xfrm>
          <a:prstGeom prst="rect">
            <a:avLst/>
          </a:prstGeom>
          <a:noFill/>
          <a:ln/>
        </p:spPr>
        <p:txBody>
          <a:bodyPr wrap="square" lIns="0" tIns="0" rIns="0" bIns="0" rtlCol="0" anchor="t"/>
          <a:lstStyle/>
          <a:p>
            <a:pPr indent="0" marL="0">
              <a:lnSpc>
                <a:spcPct val="105000"/>
              </a:lnSpc>
              <a:buNone/>
            </a:pPr>
            <a:r>
              <a:rPr lang="en-US" sz="1400" dirty="0">
                <a:solidFill>
                  <a:srgbClr val="58585D"/>
                </a:solidFill>
                <a:latin typeface="Arial" pitchFamily="34" charset="0"/>
                <a:ea typeface="Arial" pitchFamily="34" charset="-122"/>
                <a:cs typeface="Arial" pitchFamily="34" charset="-120"/>
              </a:rPr>
              <a:t>Virgin Postpaid, Virgin Mobile, FRiENDi Mobile and FRiENDi Pay, checked and ready for Outlook.</a:t>
            </a:r>
            <a:endParaRPr lang="en-US" sz="1400" dirty="0"/>
          </a:p>
        </p:txBody>
      </p:sp>
      <p:sp>
        <p:nvSpPr>
          <p:cNvPr id="14" name="dot-database"/>
          <p:cNvSpPr/>
          <p:nvPr/>
        </p:nvSpPr>
        <p:spPr>
          <a:xfrm>
            <a:off x="548640" y="4663440"/>
            <a:ext cx="512064" cy="512064"/>
          </a:xfrm>
          <a:prstGeom prst="ellipse">
            <a:avLst/>
          </a:prstGeom>
          <a:solidFill>
            <a:srgbClr val="1D1D1F"/>
          </a:solidFill>
          <a:ln/>
        </p:spPr>
      </p:sp>
      <p:pic>
        <p:nvPicPr>
          <p:cNvPr id="15" name="icon-database" descr="">    </p:cNvPr>
          <p:cNvPicPr>
            <a:picLocks noChangeAspect="1"/>
          </p:cNvPicPr>
          <p:nvPr/>
        </p:nvPicPr>
        <p:blipFill>
          <a:blip r:embed="rId3"/>
          <a:stretch>
            <a:fillRect/>
          </a:stretch>
        </p:blipFill>
        <p:spPr>
          <a:xfrm>
            <a:off x="671535" y="4786335"/>
            <a:ext cx="266273" cy="266273"/>
          </a:xfrm>
          <a:prstGeom prst="rect">
            <a:avLst/>
          </a:prstGeom>
        </p:spPr>
      </p:pic>
      <p:sp>
        <p:nvSpPr>
          <p:cNvPr id="16" name="h"/>
          <p:cNvSpPr txBox="1"/>
          <p:nvPr/>
        </p:nvSpPr>
        <p:spPr>
          <a:xfrm>
            <a:off x="1280160" y="4636008"/>
            <a:ext cx="3840480" cy="329184"/>
          </a:xfrm>
          <a:prstGeom prst="rect">
            <a:avLst/>
          </a:prstGeom>
          <a:noFill/>
          <a:ln/>
        </p:spPr>
        <p:txBody>
          <a:bodyPr wrap="square" lIns="0" tIns="0" rIns="0" bIns="0" rtlCol="0" anchor="ctr"/>
          <a:lstStyle/>
          <a:p>
            <a:pPr indent="0" marL="0">
              <a:buNone/>
            </a:pPr>
            <a:r>
              <a:rPr lang="en-US" sz="1700" b="1" dirty="0">
                <a:solidFill>
                  <a:srgbClr val="1D1D1F"/>
                </a:solidFill>
                <a:latin typeface="Arial" pitchFamily="34" charset="0"/>
                <a:ea typeface="Arial" pitchFamily="34" charset="-122"/>
                <a:cs typeface="Arial" pitchFamily="34" charset="-120"/>
              </a:rPr>
              <a:t>A history that builds itself</a:t>
            </a:r>
            <a:endParaRPr lang="en-US" sz="1700" dirty="0"/>
          </a:p>
        </p:txBody>
      </p:sp>
      <p:sp>
        <p:nvSpPr>
          <p:cNvPr id="17" name="t"/>
          <p:cNvSpPr txBox="1"/>
          <p:nvPr/>
        </p:nvSpPr>
        <p:spPr>
          <a:xfrm>
            <a:off x="1280160" y="4992624"/>
            <a:ext cx="3840480" cy="731520"/>
          </a:xfrm>
          <a:prstGeom prst="rect">
            <a:avLst/>
          </a:prstGeom>
          <a:noFill/>
          <a:ln/>
        </p:spPr>
        <p:txBody>
          <a:bodyPr wrap="square" lIns="0" tIns="0" rIns="0" bIns="0" rtlCol="0" anchor="t"/>
          <a:lstStyle/>
          <a:p>
            <a:pPr indent="0" marL="0">
              <a:lnSpc>
                <a:spcPct val="105000"/>
              </a:lnSpc>
              <a:buNone/>
            </a:pPr>
            <a:r>
              <a:rPr lang="en-US" sz="1400" dirty="0">
                <a:solidFill>
                  <a:srgbClr val="58585D"/>
                </a:solidFill>
                <a:latin typeface="Arial" pitchFamily="34" charset="0"/>
                <a:ea typeface="Arial" pitchFamily="34" charset="-122"/>
                <a:cs typeface="Arial" pitchFamily="34" charset="-120"/>
              </a:rPr>
              <a:t>Every day kept for the month to date and the monthly tables; out to a file and back.</a:t>
            </a:r>
            <a:endParaRPr lang="en-US" sz="1400" dirty="0"/>
          </a:p>
        </p:txBody>
      </p:sp>
      <p:pic>
        <p:nvPicPr>
          <p:cNvPr id="18" name="shot" descr="WFM team, Report builder">    </p:cNvPr>
          <p:cNvPicPr>
            <a:picLocks noChangeAspect="1"/>
          </p:cNvPicPr>
          <p:nvPr/>
        </p:nvPicPr>
        <p:blipFill>
          <a:blip r:embed="rId4"/>
          <a:stretch>
            <a:fillRect/>
          </a:stretch>
        </p:blipFill>
        <p:spPr>
          <a:xfrm>
            <a:off x="5117001" y="1459401"/>
            <a:ext cx="6895454" cy="4777564"/>
          </a:xfrm>
          <a:prstGeom prst="rect">
            <a:avLst/>
          </a:prstGeom>
        </p:spPr>
      </p:pic>
      <p:sp>
        <p:nvSpPr>
          <p:cNvPr id="25" name="Slide Number Placeholder 0"/>
          <p:cNvSpPr>
            <a:spLocks noGrp="1"/>
          </p:cNvSpPr>
          <p:nvPr>
            <p:ph type="sldNum" sz="quarter" idx="4294967295"/>
          </p:nvPr>
        </p:nvSpPr>
        <p:spPr>
          <a:xfrm>
            <a:off x="11091672" y="640080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E8E93"/>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42" presetClass="entr" presetSubtype="0" fill="hold" grpId="0" nodeType="withEffect">
                                  <p:stCondLst>
                                    <p:cond delay="25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650"/>
                                        <p:tgtEl>
                                          <p:spTgt spid="18"/>
                                        </p:tgtEl>
                                      </p:cBhvr>
                                    </p:animEffect>
                                    <p:anim calcmode="lin" valueType="num">
                                      <p:cBhvr>
                                        <p:cTn id="11" dur="650" fill="hold"/>
                                        <p:tgtEl>
                                          <p:spTgt spid="18"/>
                                        </p:tgtEl>
                                        <p:attrNameLst>
                                          <p:attrName>ppt_x</p:attrName>
                                        </p:attrNameLst>
                                      </p:cBhvr>
                                      <p:tavLst>
                                        <p:tav tm="0">
                                          <p:val>
                                            <p:strVal val="#ppt_x"/>
                                          </p:val>
                                        </p:tav>
                                        <p:tav tm="100000">
                                          <p:val>
                                            <p:strVal val="#ppt_x"/>
                                          </p:val>
                                        </p:tav>
                                      </p:tavLst>
                                    </p:anim>
                                    <p:anim calcmode="lin" valueType="num">
                                      <p:cBhvr>
                                        <p:cTn id="12" dur="650" fill="hold"/>
                                        <p:tgtEl>
                                          <p:spTgt spid="18"/>
                                        </p:tgtEl>
                                        <p:attrNameLst>
                                          <p:attrName>ppt_y</p:attrName>
                                        </p:attrNameLst>
                                      </p:cBhvr>
                                      <p:tavLst>
                                        <p:tav tm="0">
                                          <p:val>
                                            <p:strVal val="#ppt_y+.05"/>
                                          </p:val>
                                        </p:tav>
                                        <p:tav tm="100000">
                                          <p:val>
                                            <p:strVal val="#ppt_y"/>
                                          </p:val>
                                        </p:tav>
                                      </p:tavLst>
                                    </p:anim>
                                  </p:childTnLst>
                                </p:cTn>
                              </p:par>
                              <p:par>
                                <p:cTn id="13" presetID="10" presetClass="entr" presetSubtype="0" fill="hold" grpId="0" nodeType="withEffect">
                                  <p:stCondLst>
                                    <p:cond delay="3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42" presetClass="entr" presetSubtype="0" fill="hold" grpId="0" nodeType="withEffect">
                                  <p:stCondLst>
                                    <p:cond delay="35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650"/>
                                        <p:tgtEl>
                                          <p:spTgt spid="6"/>
                                        </p:tgtEl>
                                      </p:cBhvr>
                                    </p:animEffect>
                                    <p:anim calcmode="lin" valueType="num">
                                      <p:cBhvr>
                                        <p:cTn id="19" dur="650" fill="hold"/>
                                        <p:tgtEl>
                                          <p:spTgt spid="6"/>
                                        </p:tgtEl>
                                        <p:attrNameLst>
                                          <p:attrName>ppt_x</p:attrName>
                                        </p:attrNameLst>
                                      </p:cBhvr>
                                      <p:tavLst>
                                        <p:tav tm="0">
                                          <p:val>
                                            <p:strVal val="#ppt_x"/>
                                          </p:val>
                                        </p:tav>
                                        <p:tav tm="100000">
                                          <p:val>
                                            <p:strVal val="#ppt_x"/>
                                          </p:val>
                                        </p:tav>
                                      </p:tavLst>
                                    </p:anim>
                                    <p:anim calcmode="lin" valueType="num">
                                      <p:cBhvr>
                                        <p:cTn id="20" dur="650" fill="hold"/>
                                        <p:tgtEl>
                                          <p:spTgt spid="6"/>
                                        </p:tgtEl>
                                        <p:attrNameLst>
                                          <p:attrName>ppt_y</p:attrName>
                                        </p:attrNameLst>
                                      </p:cBhvr>
                                      <p:tavLst>
                                        <p:tav tm="0">
                                          <p:val>
                                            <p:strVal val="#ppt_y+.05"/>
                                          </p:val>
                                        </p:tav>
                                        <p:tav tm="100000">
                                          <p:val>
                                            <p:strVal val="#ppt_y"/>
                                          </p:val>
                                        </p:tav>
                                      </p:tavLst>
                                    </p:anim>
                                  </p:childTnLst>
                                </p:cTn>
                              </p:par>
                              <p:par>
                                <p:cTn id="21" presetID="42" presetClass="entr" presetSubtype="0" fill="hold" grpId="0" nodeType="withEffect">
                                  <p:stCondLst>
                                    <p:cond delay="35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650"/>
                                        <p:tgtEl>
                                          <p:spTgt spid="7"/>
                                        </p:tgtEl>
                                      </p:cBhvr>
                                    </p:animEffect>
                                    <p:anim calcmode="lin" valueType="num">
                                      <p:cBhvr>
                                        <p:cTn id="24" dur="650" fill="hold"/>
                                        <p:tgtEl>
                                          <p:spTgt spid="7"/>
                                        </p:tgtEl>
                                        <p:attrNameLst>
                                          <p:attrName>ppt_x</p:attrName>
                                        </p:attrNameLst>
                                      </p:cBhvr>
                                      <p:tavLst>
                                        <p:tav tm="0">
                                          <p:val>
                                            <p:strVal val="#ppt_x"/>
                                          </p:val>
                                        </p:tav>
                                        <p:tav tm="100000">
                                          <p:val>
                                            <p:strVal val="#ppt_x"/>
                                          </p:val>
                                        </p:tav>
                                      </p:tavLst>
                                    </p:anim>
                                    <p:anim calcmode="lin" valueType="num">
                                      <p:cBhvr>
                                        <p:cTn id="25" dur="650" fill="hold"/>
                                        <p:tgtEl>
                                          <p:spTgt spid="7"/>
                                        </p:tgtEl>
                                        <p:attrNameLst>
                                          <p:attrName>ppt_y</p:attrName>
                                        </p:attrNameLst>
                                      </p:cBhvr>
                                      <p:tavLst>
                                        <p:tav tm="0">
                                          <p:val>
                                            <p:strVal val="#ppt_y+.05"/>
                                          </p:val>
                                        </p:tav>
                                        <p:tav tm="100000">
                                          <p:val>
                                            <p:strVal val="#ppt_y"/>
                                          </p:val>
                                        </p:tav>
                                      </p:tavLst>
                                    </p:anim>
                                  </p:childTnLst>
                                </p:cTn>
                              </p:par>
                              <p:par>
                                <p:cTn id="26" presetID="42" presetClass="entr" presetSubtype="0" fill="hold" grpId="0" nodeType="withEffect">
                                  <p:stCondLst>
                                    <p:cond delay="35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650"/>
                                        <p:tgtEl>
                                          <p:spTgt spid="8"/>
                                        </p:tgtEl>
                                      </p:cBhvr>
                                    </p:animEffect>
                                    <p:anim calcmode="lin" valueType="num">
                                      <p:cBhvr>
                                        <p:cTn id="29" dur="650" fill="hold"/>
                                        <p:tgtEl>
                                          <p:spTgt spid="8"/>
                                        </p:tgtEl>
                                        <p:attrNameLst>
                                          <p:attrName>ppt_x</p:attrName>
                                        </p:attrNameLst>
                                      </p:cBhvr>
                                      <p:tavLst>
                                        <p:tav tm="0">
                                          <p:val>
                                            <p:strVal val="#ppt_x"/>
                                          </p:val>
                                        </p:tav>
                                        <p:tav tm="100000">
                                          <p:val>
                                            <p:strVal val="#ppt_x"/>
                                          </p:val>
                                        </p:tav>
                                      </p:tavLst>
                                    </p:anim>
                                    <p:anim calcmode="lin" valueType="num">
                                      <p:cBhvr>
                                        <p:cTn id="30" dur="650" fill="hold"/>
                                        <p:tgtEl>
                                          <p:spTgt spid="8"/>
                                        </p:tgtEl>
                                        <p:attrNameLst>
                                          <p:attrName>ppt_y</p:attrName>
                                        </p:attrNameLst>
                                      </p:cBhvr>
                                      <p:tavLst>
                                        <p:tav tm="0">
                                          <p:val>
                                            <p:strVal val="#ppt_y+.05"/>
                                          </p:val>
                                        </p:tav>
                                        <p:tav tm="100000">
                                          <p:val>
                                            <p:strVal val="#ppt_y"/>
                                          </p:val>
                                        </p:tav>
                                      </p:tavLst>
                                    </p:anim>
                                  </p:childTnLst>
                                </p:cTn>
                              </p:par>
                              <p:par>
                                <p:cTn id="31" presetID="42" presetClass="entr" presetSubtype="0" fill="hold" grpId="0" nodeType="withEffect">
                                  <p:stCondLst>
                                    <p:cond delay="35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650"/>
                                        <p:tgtEl>
                                          <p:spTgt spid="9"/>
                                        </p:tgtEl>
                                      </p:cBhvr>
                                    </p:animEffect>
                                    <p:anim calcmode="lin" valueType="num">
                                      <p:cBhvr>
                                        <p:cTn id="34" dur="650" fill="hold"/>
                                        <p:tgtEl>
                                          <p:spTgt spid="9"/>
                                        </p:tgtEl>
                                        <p:attrNameLst>
                                          <p:attrName>ppt_x</p:attrName>
                                        </p:attrNameLst>
                                      </p:cBhvr>
                                      <p:tavLst>
                                        <p:tav tm="0">
                                          <p:val>
                                            <p:strVal val="#ppt_x"/>
                                          </p:val>
                                        </p:tav>
                                        <p:tav tm="100000">
                                          <p:val>
                                            <p:strVal val="#ppt_x"/>
                                          </p:val>
                                        </p:tav>
                                      </p:tavLst>
                                    </p:anim>
                                    <p:anim calcmode="lin" valueType="num">
                                      <p:cBhvr>
                                        <p:cTn id="35" dur="650" fill="hold"/>
                                        <p:tgtEl>
                                          <p:spTgt spid="9"/>
                                        </p:tgtEl>
                                        <p:attrNameLst>
                                          <p:attrName>ppt_y</p:attrName>
                                        </p:attrNameLst>
                                      </p:cBhvr>
                                      <p:tavLst>
                                        <p:tav tm="0">
                                          <p:val>
                                            <p:strVal val="#ppt_y+.05"/>
                                          </p:val>
                                        </p:tav>
                                        <p:tav tm="100000">
                                          <p:val>
                                            <p:strVal val="#ppt_y"/>
                                          </p:val>
                                        </p:tav>
                                      </p:tavLst>
                                    </p:anim>
                                  </p:childTnLst>
                                </p:cTn>
                              </p:par>
                              <p:par>
                                <p:cTn id="36" presetID="42" presetClass="entr" presetSubtype="0" fill="hold" grpId="0" nodeType="withEffect">
                                  <p:stCondLst>
                                    <p:cond delay="53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650"/>
                                        <p:tgtEl>
                                          <p:spTgt spid="10"/>
                                        </p:tgtEl>
                                      </p:cBhvr>
                                    </p:animEffect>
                                    <p:anim calcmode="lin" valueType="num">
                                      <p:cBhvr>
                                        <p:cTn id="39" dur="650" fill="hold"/>
                                        <p:tgtEl>
                                          <p:spTgt spid="10"/>
                                        </p:tgtEl>
                                        <p:attrNameLst>
                                          <p:attrName>ppt_x</p:attrName>
                                        </p:attrNameLst>
                                      </p:cBhvr>
                                      <p:tavLst>
                                        <p:tav tm="0">
                                          <p:val>
                                            <p:strVal val="#ppt_x"/>
                                          </p:val>
                                        </p:tav>
                                        <p:tav tm="100000">
                                          <p:val>
                                            <p:strVal val="#ppt_x"/>
                                          </p:val>
                                        </p:tav>
                                      </p:tavLst>
                                    </p:anim>
                                    <p:anim calcmode="lin" valueType="num">
                                      <p:cBhvr>
                                        <p:cTn id="40" dur="650" fill="hold"/>
                                        <p:tgtEl>
                                          <p:spTgt spid="10"/>
                                        </p:tgtEl>
                                        <p:attrNameLst>
                                          <p:attrName>ppt_y</p:attrName>
                                        </p:attrNameLst>
                                      </p:cBhvr>
                                      <p:tavLst>
                                        <p:tav tm="0">
                                          <p:val>
                                            <p:strVal val="#ppt_y+.05"/>
                                          </p:val>
                                        </p:tav>
                                        <p:tav tm="100000">
                                          <p:val>
                                            <p:strVal val="#ppt_y"/>
                                          </p:val>
                                        </p:tav>
                                      </p:tavLst>
                                    </p:anim>
                                  </p:childTnLst>
                                </p:cTn>
                              </p:par>
                              <p:par>
                                <p:cTn id="41" presetID="42" presetClass="entr" presetSubtype="0" fill="hold" grpId="0" nodeType="withEffect">
                                  <p:stCondLst>
                                    <p:cond delay="53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50"/>
                                        <p:tgtEl>
                                          <p:spTgt spid="11"/>
                                        </p:tgtEl>
                                      </p:cBhvr>
                                    </p:animEffect>
                                    <p:anim calcmode="lin" valueType="num">
                                      <p:cBhvr>
                                        <p:cTn id="44" dur="650" fill="hold"/>
                                        <p:tgtEl>
                                          <p:spTgt spid="11"/>
                                        </p:tgtEl>
                                        <p:attrNameLst>
                                          <p:attrName>ppt_x</p:attrName>
                                        </p:attrNameLst>
                                      </p:cBhvr>
                                      <p:tavLst>
                                        <p:tav tm="0">
                                          <p:val>
                                            <p:strVal val="#ppt_x"/>
                                          </p:val>
                                        </p:tav>
                                        <p:tav tm="100000">
                                          <p:val>
                                            <p:strVal val="#ppt_x"/>
                                          </p:val>
                                        </p:tav>
                                      </p:tavLst>
                                    </p:anim>
                                    <p:anim calcmode="lin" valueType="num">
                                      <p:cBhvr>
                                        <p:cTn id="45" dur="650" fill="hold"/>
                                        <p:tgtEl>
                                          <p:spTgt spid="11"/>
                                        </p:tgtEl>
                                        <p:attrNameLst>
                                          <p:attrName>ppt_y</p:attrName>
                                        </p:attrNameLst>
                                      </p:cBhvr>
                                      <p:tavLst>
                                        <p:tav tm="0">
                                          <p:val>
                                            <p:strVal val="#ppt_y+.05"/>
                                          </p:val>
                                        </p:tav>
                                        <p:tav tm="100000">
                                          <p:val>
                                            <p:strVal val="#ppt_y"/>
                                          </p:val>
                                        </p:tav>
                                      </p:tavLst>
                                    </p:anim>
                                  </p:childTnLst>
                                </p:cTn>
                              </p:par>
                              <p:par>
                                <p:cTn id="46" presetID="42" presetClass="entr" presetSubtype="0" fill="hold" grpId="0" nodeType="withEffect">
                                  <p:stCondLst>
                                    <p:cond delay="53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650"/>
                                        <p:tgtEl>
                                          <p:spTgt spid="12"/>
                                        </p:tgtEl>
                                      </p:cBhvr>
                                    </p:animEffect>
                                    <p:anim calcmode="lin" valueType="num">
                                      <p:cBhvr>
                                        <p:cTn id="49" dur="650" fill="hold"/>
                                        <p:tgtEl>
                                          <p:spTgt spid="12"/>
                                        </p:tgtEl>
                                        <p:attrNameLst>
                                          <p:attrName>ppt_x</p:attrName>
                                        </p:attrNameLst>
                                      </p:cBhvr>
                                      <p:tavLst>
                                        <p:tav tm="0">
                                          <p:val>
                                            <p:strVal val="#ppt_x"/>
                                          </p:val>
                                        </p:tav>
                                        <p:tav tm="100000">
                                          <p:val>
                                            <p:strVal val="#ppt_x"/>
                                          </p:val>
                                        </p:tav>
                                      </p:tavLst>
                                    </p:anim>
                                    <p:anim calcmode="lin" valueType="num">
                                      <p:cBhvr>
                                        <p:cTn id="50" dur="650" fill="hold"/>
                                        <p:tgtEl>
                                          <p:spTgt spid="12"/>
                                        </p:tgtEl>
                                        <p:attrNameLst>
                                          <p:attrName>ppt_y</p:attrName>
                                        </p:attrNameLst>
                                      </p:cBhvr>
                                      <p:tavLst>
                                        <p:tav tm="0">
                                          <p:val>
                                            <p:strVal val="#ppt_y+.05"/>
                                          </p:val>
                                        </p:tav>
                                        <p:tav tm="100000">
                                          <p:val>
                                            <p:strVal val="#ppt_y"/>
                                          </p:val>
                                        </p:tav>
                                      </p:tavLst>
                                    </p:anim>
                                  </p:childTnLst>
                                </p:cTn>
                              </p:par>
                              <p:par>
                                <p:cTn id="51" presetID="42" presetClass="entr" presetSubtype="0" fill="hold" grpId="0" nodeType="withEffect">
                                  <p:stCondLst>
                                    <p:cond delay="53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650"/>
                                        <p:tgtEl>
                                          <p:spTgt spid="13"/>
                                        </p:tgtEl>
                                      </p:cBhvr>
                                    </p:animEffect>
                                    <p:anim calcmode="lin" valueType="num">
                                      <p:cBhvr>
                                        <p:cTn id="54" dur="650" fill="hold"/>
                                        <p:tgtEl>
                                          <p:spTgt spid="13"/>
                                        </p:tgtEl>
                                        <p:attrNameLst>
                                          <p:attrName>ppt_x</p:attrName>
                                        </p:attrNameLst>
                                      </p:cBhvr>
                                      <p:tavLst>
                                        <p:tav tm="0">
                                          <p:val>
                                            <p:strVal val="#ppt_x"/>
                                          </p:val>
                                        </p:tav>
                                        <p:tav tm="100000">
                                          <p:val>
                                            <p:strVal val="#ppt_x"/>
                                          </p:val>
                                        </p:tav>
                                      </p:tavLst>
                                    </p:anim>
                                    <p:anim calcmode="lin" valueType="num">
                                      <p:cBhvr>
                                        <p:cTn id="55" dur="650" fill="hold"/>
                                        <p:tgtEl>
                                          <p:spTgt spid="13"/>
                                        </p:tgtEl>
                                        <p:attrNameLst>
                                          <p:attrName>ppt_y</p:attrName>
                                        </p:attrNameLst>
                                      </p:cBhvr>
                                      <p:tavLst>
                                        <p:tav tm="0">
                                          <p:val>
                                            <p:strVal val="#ppt_y+.05"/>
                                          </p:val>
                                        </p:tav>
                                        <p:tav tm="100000">
                                          <p:val>
                                            <p:strVal val="#ppt_y"/>
                                          </p:val>
                                        </p:tav>
                                      </p:tavLst>
                                    </p:anim>
                                  </p:childTnLst>
                                </p:cTn>
                              </p:par>
                              <p:par>
                                <p:cTn id="56" presetID="42" presetClass="entr" presetSubtype="0" fill="hold" grpId="0" nodeType="withEffect">
                                  <p:stCondLst>
                                    <p:cond delay="71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650"/>
                                        <p:tgtEl>
                                          <p:spTgt spid="14"/>
                                        </p:tgtEl>
                                      </p:cBhvr>
                                    </p:animEffect>
                                    <p:anim calcmode="lin" valueType="num">
                                      <p:cBhvr>
                                        <p:cTn id="59" dur="650" fill="hold"/>
                                        <p:tgtEl>
                                          <p:spTgt spid="14"/>
                                        </p:tgtEl>
                                        <p:attrNameLst>
                                          <p:attrName>ppt_x</p:attrName>
                                        </p:attrNameLst>
                                      </p:cBhvr>
                                      <p:tavLst>
                                        <p:tav tm="0">
                                          <p:val>
                                            <p:strVal val="#ppt_x"/>
                                          </p:val>
                                        </p:tav>
                                        <p:tav tm="100000">
                                          <p:val>
                                            <p:strVal val="#ppt_x"/>
                                          </p:val>
                                        </p:tav>
                                      </p:tavLst>
                                    </p:anim>
                                    <p:anim calcmode="lin" valueType="num">
                                      <p:cBhvr>
                                        <p:cTn id="60" dur="650" fill="hold"/>
                                        <p:tgtEl>
                                          <p:spTgt spid="14"/>
                                        </p:tgtEl>
                                        <p:attrNameLst>
                                          <p:attrName>ppt_y</p:attrName>
                                        </p:attrNameLst>
                                      </p:cBhvr>
                                      <p:tavLst>
                                        <p:tav tm="0">
                                          <p:val>
                                            <p:strVal val="#ppt_y+.05"/>
                                          </p:val>
                                        </p:tav>
                                        <p:tav tm="100000">
                                          <p:val>
                                            <p:strVal val="#ppt_y"/>
                                          </p:val>
                                        </p:tav>
                                      </p:tavLst>
                                    </p:anim>
                                  </p:childTnLst>
                                </p:cTn>
                              </p:par>
                              <p:par>
                                <p:cTn id="61" presetID="42" presetClass="entr" presetSubtype="0" fill="hold" grpId="0" nodeType="withEffect">
                                  <p:stCondLst>
                                    <p:cond delay="71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650"/>
                                        <p:tgtEl>
                                          <p:spTgt spid="15"/>
                                        </p:tgtEl>
                                      </p:cBhvr>
                                    </p:animEffect>
                                    <p:anim calcmode="lin" valueType="num">
                                      <p:cBhvr>
                                        <p:cTn id="64" dur="650" fill="hold"/>
                                        <p:tgtEl>
                                          <p:spTgt spid="15"/>
                                        </p:tgtEl>
                                        <p:attrNameLst>
                                          <p:attrName>ppt_x</p:attrName>
                                        </p:attrNameLst>
                                      </p:cBhvr>
                                      <p:tavLst>
                                        <p:tav tm="0">
                                          <p:val>
                                            <p:strVal val="#ppt_x"/>
                                          </p:val>
                                        </p:tav>
                                        <p:tav tm="100000">
                                          <p:val>
                                            <p:strVal val="#ppt_x"/>
                                          </p:val>
                                        </p:tav>
                                      </p:tavLst>
                                    </p:anim>
                                    <p:anim calcmode="lin" valueType="num">
                                      <p:cBhvr>
                                        <p:cTn id="65" dur="650" fill="hold"/>
                                        <p:tgtEl>
                                          <p:spTgt spid="15"/>
                                        </p:tgtEl>
                                        <p:attrNameLst>
                                          <p:attrName>ppt_y</p:attrName>
                                        </p:attrNameLst>
                                      </p:cBhvr>
                                      <p:tavLst>
                                        <p:tav tm="0">
                                          <p:val>
                                            <p:strVal val="#ppt_y+.05"/>
                                          </p:val>
                                        </p:tav>
                                        <p:tav tm="100000">
                                          <p:val>
                                            <p:strVal val="#ppt_y"/>
                                          </p:val>
                                        </p:tav>
                                      </p:tavLst>
                                    </p:anim>
                                  </p:childTnLst>
                                </p:cTn>
                              </p:par>
                              <p:par>
                                <p:cTn id="66" presetID="42" presetClass="entr" presetSubtype="0" fill="hold" grpId="0" nodeType="withEffect">
                                  <p:stCondLst>
                                    <p:cond delay="71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650"/>
                                        <p:tgtEl>
                                          <p:spTgt spid="16"/>
                                        </p:tgtEl>
                                      </p:cBhvr>
                                    </p:animEffect>
                                    <p:anim calcmode="lin" valueType="num">
                                      <p:cBhvr>
                                        <p:cTn id="69" dur="650" fill="hold"/>
                                        <p:tgtEl>
                                          <p:spTgt spid="16"/>
                                        </p:tgtEl>
                                        <p:attrNameLst>
                                          <p:attrName>ppt_x</p:attrName>
                                        </p:attrNameLst>
                                      </p:cBhvr>
                                      <p:tavLst>
                                        <p:tav tm="0">
                                          <p:val>
                                            <p:strVal val="#ppt_x"/>
                                          </p:val>
                                        </p:tav>
                                        <p:tav tm="100000">
                                          <p:val>
                                            <p:strVal val="#ppt_x"/>
                                          </p:val>
                                        </p:tav>
                                      </p:tavLst>
                                    </p:anim>
                                    <p:anim calcmode="lin" valueType="num">
                                      <p:cBhvr>
                                        <p:cTn id="70" dur="650" fill="hold"/>
                                        <p:tgtEl>
                                          <p:spTgt spid="16"/>
                                        </p:tgtEl>
                                        <p:attrNameLst>
                                          <p:attrName>ppt_y</p:attrName>
                                        </p:attrNameLst>
                                      </p:cBhvr>
                                      <p:tavLst>
                                        <p:tav tm="0">
                                          <p:val>
                                            <p:strVal val="#ppt_y+.05"/>
                                          </p:val>
                                        </p:tav>
                                        <p:tav tm="100000">
                                          <p:val>
                                            <p:strVal val="#ppt_y"/>
                                          </p:val>
                                        </p:tav>
                                      </p:tavLst>
                                    </p:anim>
                                  </p:childTnLst>
                                </p:cTn>
                              </p:par>
                              <p:par>
                                <p:cTn id="71" presetID="42" presetClass="entr" presetSubtype="0" fill="hold" grpId="0" nodeType="withEffect">
                                  <p:stCondLst>
                                    <p:cond delay="710"/>
                                  </p:stCondLst>
                                  <p:childTnLst>
                                    <p:set>
                                      <p:cBhvr>
                                        <p:cTn id="72" dur="1" fill="hold">
                                          <p:stCondLst>
                                            <p:cond delay="0"/>
                                          </p:stCondLst>
                                        </p:cTn>
                                        <p:tgtEl>
                                          <p:spTgt spid="17"/>
                                        </p:tgtEl>
                                        <p:attrNameLst>
                                          <p:attrName>style.visibility</p:attrName>
                                        </p:attrNameLst>
                                      </p:cBhvr>
                                      <p:to>
                                        <p:strVal val="visible"/>
                                      </p:to>
                                    </p:set>
                                    <p:animEffect transition="in" filter="fade">
                                      <p:cBhvr>
                                        <p:cTn id="73" dur="650"/>
                                        <p:tgtEl>
                                          <p:spTgt spid="17"/>
                                        </p:tgtEl>
                                      </p:cBhvr>
                                    </p:animEffect>
                                    <p:anim calcmode="lin" valueType="num">
                                      <p:cBhvr>
                                        <p:cTn id="74" dur="650" fill="hold"/>
                                        <p:tgtEl>
                                          <p:spTgt spid="17"/>
                                        </p:tgtEl>
                                        <p:attrNameLst>
                                          <p:attrName>ppt_x</p:attrName>
                                        </p:attrNameLst>
                                      </p:cBhvr>
                                      <p:tavLst>
                                        <p:tav tm="0">
                                          <p:val>
                                            <p:strVal val="#ppt_x"/>
                                          </p:val>
                                        </p:tav>
                                        <p:tav tm="100000">
                                          <p:val>
                                            <p:strVal val="#ppt_x"/>
                                          </p:val>
                                        </p:tav>
                                      </p:tavLst>
                                    </p:anim>
                                    <p:anim calcmode="lin" valueType="num">
                                      <p:cBhvr>
                                        <p:cTn id="75" dur="650" fill="hold"/>
                                        <p:tgtEl>
                                          <p:spTgt spid="17"/>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8" grpId="0" animBg="1"/>
      <p:bldP spid="9" grpId="0" animBg="1"/>
      <p:bldP spid="10" grpId="0" animBg="1"/>
      <p:bldP spid="12" grpId="0" animBg="1"/>
      <p:bldP spid="13" grpId="0" animBg="1"/>
      <p:bldP spid="14"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eyebrow"/>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100" b="1" spc="200" kern="0" dirty="0">
                <a:solidFill>
                  <a:srgbClr val="F26722"/>
                </a:solidFill>
                <a:latin typeface="Arial" pitchFamily="34" charset="0"/>
                <a:ea typeface="Arial" pitchFamily="34" charset="-122"/>
                <a:cs typeface="Arial" pitchFamily="34" charset="-120"/>
              </a:rPr>
              <a:t>PRIVATE BY DESIGN</a:t>
            </a:r>
            <a:endParaRPr lang="en-US" sz="1100" dirty="0"/>
          </a:p>
        </p:txBody>
      </p:sp>
      <p:sp>
        <p:nvSpPr>
          <p:cNvPr id="4" name="Text 1"/>
          <p:cNvSpPr/>
          <p:nvPr>
            <p:ph idx="101" type="title" hasCustomPrompt="1"/>
          </p:nvPr>
        </p:nvSpPr>
        <p:spPr>
          <a:xfrm>
            <a:off x="548640" y="841248"/>
            <a:ext cx="11094415" cy="73152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Your data stays yours</a:t>
            </a:r>
            <a:endParaRPr lang="en-US" sz="3600" dirty="0"/>
          </a:p>
        </p:txBody>
      </p:sp>
      <p:sp>
        <p:nvSpPr>
          <p:cNvPr id="5" name="card"/>
          <p:cNvSpPr/>
          <p:nvPr/>
        </p:nvSpPr>
        <p:spPr>
          <a:xfrm>
            <a:off x="548640" y="1783080"/>
            <a:ext cx="5468112" cy="1938528"/>
          </a:xfrm>
          <a:prstGeom prst="roundRect">
            <a:avLst>
              <a:gd name="adj" fmla="val 6604"/>
            </a:avLst>
          </a:prstGeom>
          <a:solidFill>
            <a:srgbClr val="1C1C1E"/>
          </a:solidFill>
          <a:ln w="9525">
            <a:solidFill>
              <a:srgbClr val="2C2C2E"/>
            </a:solidFill>
            <a:prstDash val="solid"/>
          </a:ln>
        </p:spPr>
      </p:sp>
      <p:sp>
        <p:nvSpPr>
          <p:cNvPr id="6" name="big"/>
          <p:cNvSpPr txBox="1"/>
          <p:nvPr/>
        </p:nvSpPr>
        <p:spPr>
          <a:xfrm>
            <a:off x="914400" y="2002536"/>
            <a:ext cx="4754880" cy="713232"/>
          </a:xfrm>
          <a:prstGeom prst="rect">
            <a:avLst/>
          </a:prstGeom>
          <a:noFill/>
          <a:ln/>
        </p:spPr>
        <p:txBody>
          <a:bodyPr wrap="square" lIns="0" tIns="0" rIns="0" bIns="0" rtlCol="0" anchor="t"/>
          <a:lstStyle/>
          <a:p>
            <a:pPr indent="0" marL="0">
              <a:buNone/>
            </a:pPr>
            <a:r>
              <a:rPr lang="en-US" sz="4400" b="1" dirty="0">
                <a:solidFill>
                  <a:srgbClr val="F26722"/>
                </a:solidFill>
                <a:latin typeface="Arial" pitchFamily="34" charset="0"/>
                <a:ea typeface="Arial" pitchFamily="34" charset="-122"/>
                <a:cs typeface="Arial" pitchFamily="34" charset="-120"/>
              </a:rPr>
              <a:t>0</a:t>
            </a:r>
            <a:endParaRPr lang="en-US" sz="4400" dirty="0"/>
          </a:p>
        </p:txBody>
      </p:sp>
      <p:sp>
        <p:nvSpPr>
          <p:cNvPr id="7" name="small"/>
          <p:cNvSpPr txBox="1"/>
          <p:nvPr/>
        </p:nvSpPr>
        <p:spPr>
          <a:xfrm>
            <a:off x="914400" y="2715768"/>
            <a:ext cx="4754880" cy="292608"/>
          </a:xfrm>
          <a:prstGeom prst="rect">
            <a:avLst/>
          </a:prstGeom>
          <a:noFill/>
          <a:ln/>
        </p:spPr>
        <p:txBody>
          <a:bodyPr wrap="square" lIns="0" tIns="0" rIns="0" bIns="0" rtlCol="0" anchor="ctr"/>
          <a:lstStyle/>
          <a:p>
            <a:pPr indent="0" marL="0">
              <a:buNone/>
            </a:pPr>
            <a:r>
              <a:rPr lang="en-US" sz="1500" b="1" dirty="0">
                <a:solidFill>
                  <a:srgbClr val="F5F5F7"/>
                </a:solidFill>
                <a:latin typeface="Arial" pitchFamily="34" charset="0"/>
                <a:ea typeface="Arial" pitchFamily="34" charset="-122"/>
                <a:cs typeface="Arial" pitchFamily="34" charset="-120"/>
              </a:rPr>
              <a:t>web requests</a:t>
            </a:r>
            <a:endParaRPr lang="en-US" sz="1500" dirty="0"/>
          </a:p>
        </p:txBody>
      </p:sp>
      <p:sp>
        <p:nvSpPr>
          <p:cNvPr id="8" name="t"/>
          <p:cNvSpPr txBox="1"/>
          <p:nvPr/>
        </p:nvSpPr>
        <p:spPr>
          <a:xfrm>
            <a:off x="914400" y="3026664"/>
            <a:ext cx="4754880" cy="502920"/>
          </a:xfrm>
          <a:prstGeom prst="rect">
            <a:avLst/>
          </a:prstGeom>
          <a:noFill/>
          <a:ln/>
        </p:spPr>
        <p:txBody>
          <a:bodyPr wrap="square" lIns="0" tIns="0" rIns="0" bIns="0" rtlCol="0" anchor="t"/>
          <a:lstStyle/>
          <a:p>
            <a:pPr indent="0" marL="0">
              <a:buNone/>
            </a:pPr>
            <a:r>
              <a:rPr lang="en-US" sz="1400" dirty="0">
                <a:solidFill>
                  <a:srgbClr val="AEAEB2"/>
                </a:solidFill>
                <a:latin typeface="Arial" pitchFamily="34" charset="0"/>
                <a:ea typeface="Arial" pitchFamily="34" charset="-122"/>
                <a:cs typeface="Arial" pitchFamily="34" charset="-120"/>
              </a:rPr>
              <a:t>Opened as a file, the browser itself refuses every web address.</a:t>
            </a:r>
            <a:endParaRPr lang="en-US" sz="1400" dirty="0"/>
          </a:p>
        </p:txBody>
      </p:sp>
      <p:sp>
        <p:nvSpPr>
          <p:cNvPr id="9" name="card"/>
          <p:cNvSpPr/>
          <p:nvPr/>
        </p:nvSpPr>
        <p:spPr>
          <a:xfrm>
            <a:off x="6172200" y="1783080"/>
            <a:ext cx="5468112" cy="1938528"/>
          </a:xfrm>
          <a:prstGeom prst="roundRect">
            <a:avLst>
              <a:gd name="adj" fmla="val 6604"/>
            </a:avLst>
          </a:prstGeom>
          <a:solidFill>
            <a:srgbClr val="1C1C1E"/>
          </a:solidFill>
          <a:ln w="9525">
            <a:solidFill>
              <a:srgbClr val="2C2C2E"/>
            </a:solidFill>
            <a:prstDash val="solid"/>
          </a:ln>
        </p:spPr>
      </p:sp>
      <p:sp>
        <p:nvSpPr>
          <p:cNvPr id="10" name="big"/>
          <p:cNvSpPr txBox="1"/>
          <p:nvPr/>
        </p:nvSpPr>
        <p:spPr>
          <a:xfrm>
            <a:off x="6537960" y="2002536"/>
            <a:ext cx="4754880" cy="713232"/>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AES-256</a:t>
            </a:r>
            <a:endParaRPr lang="en-US" sz="4400" dirty="0"/>
          </a:p>
        </p:txBody>
      </p:sp>
      <p:sp>
        <p:nvSpPr>
          <p:cNvPr id="11" name="small"/>
          <p:cNvSpPr txBox="1"/>
          <p:nvPr/>
        </p:nvSpPr>
        <p:spPr>
          <a:xfrm>
            <a:off x="6537960" y="2715768"/>
            <a:ext cx="4754880" cy="292608"/>
          </a:xfrm>
          <a:prstGeom prst="rect">
            <a:avLst/>
          </a:prstGeom>
          <a:noFill/>
          <a:ln/>
        </p:spPr>
        <p:txBody>
          <a:bodyPr wrap="square" lIns="0" tIns="0" rIns="0" bIns="0" rtlCol="0" anchor="ctr"/>
          <a:lstStyle/>
          <a:p>
            <a:pPr indent="0" marL="0">
              <a:buNone/>
            </a:pPr>
            <a:r>
              <a:rPr lang="en-US" sz="1500" b="1" dirty="0">
                <a:solidFill>
                  <a:srgbClr val="F5F5F7"/>
                </a:solidFill>
                <a:latin typeface="Arial" pitchFamily="34" charset="0"/>
                <a:ea typeface="Arial" pitchFamily="34" charset="-122"/>
                <a:cs typeface="Arial" pitchFamily="34" charset="-120"/>
              </a:rPr>
              <a:t>encrypted shared data</a:t>
            </a:r>
            <a:endParaRPr lang="en-US" sz="1500" dirty="0"/>
          </a:p>
        </p:txBody>
      </p:sp>
      <p:sp>
        <p:nvSpPr>
          <p:cNvPr id="12" name="t"/>
          <p:cNvSpPr txBox="1"/>
          <p:nvPr/>
        </p:nvSpPr>
        <p:spPr>
          <a:xfrm>
            <a:off x="6537960" y="3026664"/>
            <a:ext cx="4754880" cy="502920"/>
          </a:xfrm>
          <a:prstGeom prst="rect">
            <a:avLst/>
          </a:prstGeom>
          <a:noFill/>
          <a:ln/>
        </p:spPr>
        <p:txBody>
          <a:bodyPr wrap="square" lIns="0" tIns="0" rIns="0" bIns="0" rtlCol="0" anchor="t"/>
          <a:lstStyle/>
          <a:p>
            <a:pPr indent="0" marL="0">
              <a:buNone/>
            </a:pPr>
            <a:r>
              <a:rPr lang="en-US" sz="1400" dirty="0">
                <a:solidFill>
                  <a:srgbClr val="AEAEB2"/>
                </a:solidFill>
                <a:latin typeface="Arial" pitchFamily="34" charset="0"/>
                <a:ea typeface="Arial" pitchFamily="34" charset="-122"/>
                <a:cs typeface="Arial" pitchFamily="34" charset="-120"/>
              </a:rPr>
              <a:t>Only accounts made in the tool can open the files in the folder.</a:t>
            </a:r>
            <a:endParaRPr lang="en-US" sz="1400" dirty="0"/>
          </a:p>
        </p:txBody>
      </p:sp>
      <p:sp>
        <p:nvSpPr>
          <p:cNvPr id="13" name="card"/>
          <p:cNvSpPr/>
          <p:nvPr/>
        </p:nvSpPr>
        <p:spPr>
          <a:xfrm>
            <a:off x="548640" y="3886200"/>
            <a:ext cx="5468112" cy="1938528"/>
          </a:xfrm>
          <a:prstGeom prst="roundRect">
            <a:avLst>
              <a:gd name="adj" fmla="val 6604"/>
            </a:avLst>
          </a:prstGeom>
          <a:solidFill>
            <a:srgbClr val="1C1C1E"/>
          </a:solidFill>
          <a:ln w="9525">
            <a:solidFill>
              <a:srgbClr val="2C2C2E"/>
            </a:solidFill>
            <a:prstDash val="solid"/>
          </a:ln>
        </p:spPr>
      </p:sp>
      <p:sp>
        <p:nvSpPr>
          <p:cNvPr id="14" name="big"/>
          <p:cNvSpPr txBox="1"/>
          <p:nvPr/>
        </p:nvSpPr>
        <p:spPr>
          <a:xfrm>
            <a:off x="914400" y="4105656"/>
            <a:ext cx="4754880" cy="713232"/>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No IDs</a:t>
            </a:r>
            <a:endParaRPr lang="en-US" sz="4400" dirty="0"/>
          </a:p>
        </p:txBody>
      </p:sp>
      <p:sp>
        <p:nvSpPr>
          <p:cNvPr id="15" name="small"/>
          <p:cNvSpPr txBox="1"/>
          <p:nvPr/>
        </p:nvSpPr>
        <p:spPr>
          <a:xfrm>
            <a:off x="914400" y="4818888"/>
            <a:ext cx="4754880" cy="292608"/>
          </a:xfrm>
          <a:prstGeom prst="rect">
            <a:avLst/>
          </a:prstGeom>
          <a:noFill/>
          <a:ln/>
        </p:spPr>
        <p:txBody>
          <a:bodyPr wrap="square" lIns="0" tIns="0" rIns="0" bIns="0" rtlCol="0" anchor="ctr"/>
          <a:lstStyle/>
          <a:p>
            <a:pPr indent="0" marL="0">
              <a:buNone/>
            </a:pPr>
            <a:r>
              <a:rPr lang="en-US" sz="1500" b="1" dirty="0">
                <a:solidFill>
                  <a:srgbClr val="F5F5F7"/>
                </a:solidFill>
                <a:latin typeface="Arial" pitchFamily="34" charset="0"/>
                <a:ea typeface="Arial" pitchFamily="34" charset="-122"/>
                <a:cs typeface="Arial" pitchFamily="34" charset="-120"/>
              </a:rPr>
              <a:t>in email attachments</a:t>
            </a:r>
            <a:endParaRPr lang="en-US" sz="1500" dirty="0"/>
          </a:p>
        </p:txBody>
      </p:sp>
      <p:sp>
        <p:nvSpPr>
          <p:cNvPr id="16" name="t"/>
          <p:cNvSpPr txBox="1"/>
          <p:nvPr/>
        </p:nvSpPr>
        <p:spPr>
          <a:xfrm>
            <a:off x="914400" y="5129784"/>
            <a:ext cx="4754880" cy="502920"/>
          </a:xfrm>
          <a:prstGeom prst="rect">
            <a:avLst/>
          </a:prstGeom>
          <a:noFill/>
          <a:ln/>
        </p:spPr>
        <p:txBody>
          <a:bodyPr wrap="square" lIns="0" tIns="0" rIns="0" bIns="0" rtlCol="0" anchor="t"/>
          <a:lstStyle/>
          <a:p>
            <a:pPr indent="0" marL="0">
              <a:buNone/>
            </a:pPr>
            <a:r>
              <a:rPr lang="en-US" sz="1400" dirty="0">
                <a:solidFill>
                  <a:srgbClr val="AEAEB2"/>
                </a:solidFill>
                <a:latin typeface="Arial" pitchFamily="34" charset="0"/>
                <a:ea typeface="Arial" pitchFamily="34" charset="-122"/>
                <a:cs typeface="Arial" pitchFamily="34" charset="-120"/>
              </a:rPr>
              <a:t>National IDs never leave the tool in an email.</a:t>
            </a:r>
            <a:endParaRPr lang="en-US" sz="1400" dirty="0"/>
          </a:p>
        </p:txBody>
      </p:sp>
      <p:sp>
        <p:nvSpPr>
          <p:cNvPr id="17" name="card"/>
          <p:cNvSpPr/>
          <p:nvPr/>
        </p:nvSpPr>
        <p:spPr>
          <a:xfrm>
            <a:off x="6172200" y="3886200"/>
            <a:ext cx="5468112" cy="1938528"/>
          </a:xfrm>
          <a:prstGeom prst="roundRect">
            <a:avLst>
              <a:gd name="adj" fmla="val 6604"/>
            </a:avLst>
          </a:prstGeom>
          <a:solidFill>
            <a:srgbClr val="1C1C1E"/>
          </a:solidFill>
          <a:ln w="9525">
            <a:solidFill>
              <a:srgbClr val="2C2C2E"/>
            </a:solidFill>
            <a:prstDash val="solid"/>
          </a:ln>
        </p:spPr>
      </p:sp>
      <p:sp>
        <p:nvSpPr>
          <p:cNvPr id="18" name="big"/>
          <p:cNvSpPr txBox="1"/>
          <p:nvPr/>
        </p:nvSpPr>
        <p:spPr>
          <a:xfrm>
            <a:off x="6537960" y="4105656"/>
            <a:ext cx="4754880" cy="713232"/>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Reviewed</a:t>
            </a:r>
            <a:endParaRPr lang="en-US" sz="4400" dirty="0"/>
          </a:p>
        </p:txBody>
      </p:sp>
      <p:sp>
        <p:nvSpPr>
          <p:cNvPr id="19" name="small"/>
          <p:cNvSpPr txBox="1"/>
          <p:nvPr/>
        </p:nvSpPr>
        <p:spPr>
          <a:xfrm>
            <a:off x="6537960" y="4818888"/>
            <a:ext cx="4754880" cy="292608"/>
          </a:xfrm>
          <a:prstGeom prst="rect">
            <a:avLst/>
          </a:prstGeom>
          <a:noFill/>
          <a:ln/>
        </p:spPr>
        <p:txBody>
          <a:bodyPr wrap="square" lIns="0" tIns="0" rIns="0" bIns="0" rtlCol="0" anchor="ctr"/>
          <a:lstStyle/>
          <a:p>
            <a:pPr indent="0" marL="0">
              <a:buNone/>
            </a:pPr>
            <a:r>
              <a:rPr lang="en-US" sz="1500" b="1" dirty="0">
                <a:solidFill>
                  <a:srgbClr val="F5F5F7"/>
                </a:solidFill>
                <a:latin typeface="Arial" pitchFamily="34" charset="0"/>
                <a:ea typeface="Arial" pitchFamily="34" charset="-122"/>
                <a:cs typeface="Arial" pitchFamily="34" charset="-120"/>
              </a:rPr>
              <a:t>October 2026</a:t>
            </a:r>
            <a:endParaRPr lang="en-US" sz="1500" dirty="0"/>
          </a:p>
        </p:txBody>
      </p:sp>
      <p:sp>
        <p:nvSpPr>
          <p:cNvPr id="20" name="t"/>
          <p:cNvSpPr txBox="1"/>
          <p:nvPr/>
        </p:nvSpPr>
        <p:spPr>
          <a:xfrm>
            <a:off x="6537960" y="5129784"/>
            <a:ext cx="4754880" cy="502920"/>
          </a:xfrm>
          <a:prstGeom prst="rect">
            <a:avLst/>
          </a:prstGeom>
          <a:noFill/>
          <a:ln/>
        </p:spPr>
        <p:txBody>
          <a:bodyPr wrap="square" lIns="0" tIns="0" rIns="0" bIns="0" rtlCol="0" anchor="t"/>
          <a:lstStyle/>
          <a:p>
            <a:pPr indent="0" marL="0">
              <a:buNone/>
            </a:pPr>
            <a:r>
              <a:rPr lang="en-US" sz="1400" dirty="0">
                <a:solidFill>
                  <a:srgbClr val="AEAEB2"/>
                </a:solidFill>
                <a:latin typeface="Arial" pitchFamily="34" charset="0"/>
                <a:ea typeface="Arial" pitchFamily="34" charset="-122"/>
                <a:cs typeface="Arial" pitchFamily="34" charset="-120"/>
              </a:rPr>
              <a:t>A security review: the issues found were fixed and are tested.</a:t>
            </a:r>
            <a:endParaRPr lang="en-US" sz="1400" dirty="0"/>
          </a:p>
        </p:txBody>
      </p:sp>
      <p:sp>
        <p:nvSpPr>
          <p:cNvPr id="21" name="log"/>
          <p:cNvSpPr txBox="1"/>
          <p:nvPr/>
        </p:nvSpPr>
        <p:spPr>
          <a:xfrm>
            <a:off x="548640" y="5989320"/>
            <a:ext cx="8229600" cy="274320"/>
          </a:xfrm>
          <a:prstGeom prst="rect">
            <a:avLst/>
          </a:prstGeom>
          <a:noFill/>
          <a:ln/>
        </p:spPr>
        <p:txBody>
          <a:bodyPr wrap="square" lIns="0" tIns="0" rIns="0" bIns="0" rtlCol="0" anchor="ctr"/>
          <a:lstStyle/>
          <a:p>
            <a:pPr indent="0" marL="0">
              <a:buNone/>
            </a:pPr>
            <a:r>
              <a:rPr lang="en-US" sz="1400" dirty="0">
                <a:solidFill>
                  <a:srgbClr val="AEAEB2"/>
                </a:solidFill>
                <a:latin typeface="Arial" pitchFamily="34" charset="0"/>
                <a:ea typeface="Arial" pitchFamily="34" charset="-122"/>
                <a:cs typeface="Arial" pitchFamily="34" charset="-120"/>
              </a:rPr>
              <a:t>Every change to results, rules and roles is logged with a name and a time.</a:t>
            </a:r>
            <a:endParaRPr lang="en-US" sz="1400" dirty="0"/>
          </a:p>
        </p:txBody>
      </p:sp>
      <p:sp>
        <p:nvSpPr>
          <p:cNvPr id="25" name="Slide Number Placeholder 0"/>
          <p:cNvSpPr>
            <a:spLocks noGrp="1"/>
          </p:cNvSpPr>
          <p:nvPr>
            <p:ph type="sldNum" sz="quarter" idx="4294967295"/>
          </p:nvPr>
        </p:nvSpPr>
        <p:spPr>
          <a:xfrm>
            <a:off x="11091672" y="640080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6E73"/>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42" presetClass="entr" presetSubtype="0" fill="hold" grpId="0" nodeType="withEffect">
                                  <p:stCondLst>
                                    <p:cond delay="3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50"/>
                                        <p:tgtEl>
                                          <p:spTgt spid="5"/>
                                        </p:tgtEl>
                                      </p:cBhvr>
                                    </p:animEffect>
                                    <p:anim calcmode="lin" valueType="num">
                                      <p:cBhvr>
                                        <p:cTn id="11" dur="650" fill="hold"/>
                                        <p:tgtEl>
                                          <p:spTgt spid="5"/>
                                        </p:tgtEl>
                                        <p:attrNameLst>
                                          <p:attrName>ppt_x</p:attrName>
                                        </p:attrNameLst>
                                      </p:cBhvr>
                                      <p:tavLst>
                                        <p:tav tm="0">
                                          <p:val>
                                            <p:strVal val="#ppt_x"/>
                                          </p:val>
                                        </p:tav>
                                        <p:tav tm="100000">
                                          <p:val>
                                            <p:strVal val="#ppt_x"/>
                                          </p:val>
                                        </p:tav>
                                      </p:tavLst>
                                    </p:anim>
                                    <p:anim calcmode="lin" valueType="num">
                                      <p:cBhvr>
                                        <p:cTn id="12" dur="650" fill="hold"/>
                                        <p:tgtEl>
                                          <p:spTgt spid="5"/>
                                        </p:tgtEl>
                                        <p:attrNameLst>
                                          <p:attrName>ppt_y</p:attrName>
                                        </p:attrNameLst>
                                      </p:cBhvr>
                                      <p:tavLst>
                                        <p:tav tm="0">
                                          <p:val>
                                            <p:strVal val="#ppt_y+.05"/>
                                          </p:val>
                                        </p:tav>
                                        <p:tav tm="100000">
                                          <p:val>
                                            <p:strVal val="#ppt_y"/>
                                          </p:val>
                                        </p:tav>
                                      </p:tavLst>
                                    </p:anim>
                                  </p:childTnLst>
                                </p:cTn>
                              </p:par>
                              <p:par>
                                <p:cTn id="13" presetID="42" presetClass="entr" presetSubtype="0" fill="hold" grpId="0" nodeType="withEffect">
                                  <p:stCondLst>
                                    <p:cond delay="3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50"/>
                                        <p:tgtEl>
                                          <p:spTgt spid="6"/>
                                        </p:tgtEl>
                                      </p:cBhvr>
                                    </p:animEffect>
                                    <p:anim calcmode="lin" valueType="num">
                                      <p:cBhvr>
                                        <p:cTn id="16" dur="650" fill="hold"/>
                                        <p:tgtEl>
                                          <p:spTgt spid="6"/>
                                        </p:tgtEl>
                                        <p:attrNameLst>
                                          <p:attrName>ppt_x</p:attrName>
                                        </p:attrNameLst>
                                      </p:cBhvr>
                                      <p:tavLst>
                                        <p:tav tm="0">
                                          <p:val>
                                            <p:strVal val="#ppt_x"/>
                                          </p:val>
                                        </p:tav>
                                        <p:tav tm="100000">
                                          <p:val>
                                            <p:strVal val="#ppt_x"/>
                                          </p:val>
                                        </p:tav>
                                      </p:tavLst>
                                    </p:anim>
                                    <p:anim calcmode="lin" valueType="num">
                                      <p:cBhvr>
                                        <p:cTn id="17" dur="650" fill="hold"/>
                                        <p:tgtEl>
                                          <p:spTgt spid="6"/>
                                        </p:tgtEl>
                                        <p:attrNameLst>
                                          <p:attrName>ppt_y</p:attrName>
                                        </p:attrNameLst>
                                      </p:cBhvr>
                                      <p:tavLst>
                                        <p:tav tm="0">
                                          <p:val>
                                            <p:strVal val="#ppt_y+.05"/>
                                          </p:val>
                                        </p:tav>
                                        <p:tav tm="100000">
                                          <p:val>
                                            <p:strVal val="#ppt_y"/>
                                          </p:val>
                                        </p:tav>
                                      </p:tavLst>
                                    </p:anim>
                                  </p:childTnLst>
                                </p:cTn>
                              </p:par>
                              <p:par>
                                <p:cTn id="18" presetID="42" presetClass="entr" presetSubtype="0" fill="hold" grpId="0" nodeType="withEffect">
                                  <p:stCondLst>
                                    <p:cond delay="30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50"/>
                                        <p:tgtEl>
                                          <p:spTgt spid="7"/>
                                        </p:tgtEl>
                                      </p:cBhvr>
                                    </p:animEffect>
                                    <p:anim calcmode="lin" valueType="num">
                                      <p:cBhvr>
                                        <p:cTn id="21" dur="650" fill="hold"/>
                                        <p:tgtEl>
                                          <p:spTgt spid="7"/>
                                        </p:tgtEl>
                                        <p:attrNameLst>
                                          <p:attrName>ppt_x</p:attrName>
                                        </p:attrNameLst>
                                      </p:cBhvr>
                                      <p:tavLst>
                                        <p:tav tm="0">
                                          <p:val>
                                            <p:strVal val="#ppt_x"/>
                                          </p:val>
                                        </p:tav>
                                        <p:tav tm="100000">
                                          <p:val>
                                            <p:strVal val="#ppt_x"/>
                                          </p:val>
                                        </p:tav>
                                      </p:tavLst>
                                    </p:anim>
                                    <p:anim calcmode="lin" valueType="num">
                                      <p:cBhvr>
                                        <p:cTn id="22" dur="650" fill="hold"/>
                                        <p:tgtEl>
                                          <p:spTgt spid="7"/>
                                        </p:tgtEl>
                                        <p:attrNameLst>
                                          <p:attrName>ppt_y</p:attrName>
                                        </p:attrNameLst>
                                      </p:cBhvr>
                                      <p:tavLst>
                                        <p:tav tm="0">
                                          <p:val>
                                            <p:strVal val="#ppt_y+.05"/>
                                          </p:val>
                                        </p:tav>
                                        <p:tav tm="100000">
                                          <p:val>
                                            <p:strVal val="#ppt_y"/>
                                          </p:val>
                                        </p:tav>
                                      </p:tavLst>
                                    </p:anim>
                                  </p:childTnLst>
                                </p:cTn>
                              </p:par>
                              <p:par>
                                <p:cTn id="23" presetID="42" presetClass="entr" presetSubtype="0" fill="hold" grpId="0" nodeType="withEffect">
                                  <p:stCondLst>
                                    <p:cond delay="30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50"/>
                                        <p:tgtEl>
                                          <p:spTgt spid="8"/>
                                        </p:tgtEl>
                                      </p:cBhvr>
                                    </p:animEffect>
                                    <p:anim calcmode="lin" valueType="num">
                                      <p:cBhvr>
                                        <p:cTn id="26" dur="650" fill="hold"/>
                                        <p:tgtEl>
                                          <p:spTgt spid="8"/>
                                        </p:tgtEl>
                                        <p:attrNameLst>
                                          <p:attrName>ppt_x</p:attrName>
                                        </p:attrNameLst>
                                      </p:cBhvr>
                                      <p:tavLst>
                                        <p:tav tm="0">
                                          <p:val>
                                            <p:strVal val="#ppt_x"/>
                                          </p:val>
                                        </p:tav>
                                        <p:tav tm="100000">
                                          <p:val>
                                            <p:strVal val="#ppt_x"/>
                                          </p:val>
                                        </p:tav>
                                      </p:tavLst>
                                    </p:anim>
                                    <p:anim calcmode="lin" valueType="num">
                                      <p:cBhvr>
                                        <p:cTn id="27" dur="650" fill="hold"/>
                                        <p:tgtEl>
                                          <p:spTgt spid="8"/>
                                        </p:tgtEl>
                                        <p:attrNameLst>
                                          <p:attrName>ppt_y</p:attrName>
                                        </p:attrNameLst>
                                      </p:cBhvr>
                                      <p:tavLst>
                                        <p:tav tm="0">
                                          <p:val>
                                            <p:strVal val="#ppt_y+.05"/>
                                          </p:val>
                                        </p:tav>
                                        <p:tav tm="100000">
                                          <p:val>
                                            <p:strVal val="#ppt_y"/>
                                          </p:val>
                                        </p:tav>
                                      </p:tavLst>
                                    </p:anim>
                                  </p:childTnLst>
                                </p:cTn>
                              </p:par>
                              <p:par>
                                <p:cTn id="28" presetID="42" presetClass="entr" presetSubtype="0" fill="hold" grpId="0" nodeType="withEffect">
                                  <p:stCondLst>
                                    <p:cond delay="48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650"/>
                                        <p:tgtEl>
                                          <p:spTgt spid="9"/>
                                        </p:tgtEl>
                                      </p:cBhvr>
                                    </p:animEffect>
                                    <p:anim calcmode="lin" valueType="num">
                                      <p:cBhvr>
                                        <p:cTn id="31" dur="650" fill="hold"/>
                                        <p:tgtEl>
                                          <p:spTgt spid="9"/>
                                        </p:tgtEl>
                                        <p:attrNameLst>
                                          <p:attrName>ppt_x</p:attrName>
                                        </p:attrNameLst>
                                      </p:cBhvr>
                                      <p:tavLst>
                                        <p:tav tm="0">
                                          <p:val>
                                            <p:strVal val="#ppt_x"/>
                                          </p:val>
                                        </p:tav>
                                        <p:tav tm="100000">
                                          <p:val>
                                            <p:strVal val="#ppt_x"/>
                                          </p:val>
                                        </p:tav>
                                      </p:tavLst>
                                    </p:anim>
                                    <p:anim calcmode="lin" valueType="num">
                                      <p:cBhvr>
                                        <p:cTn id="32" dur="650" fill="hold"/>
                                        <p:tgtEl>
                                          <p:spTgt spid="9"/>
                                        </p:tgtEl>
                                        <p:attrNameLst>
                                          <p:attrName>ppt_y</p:attrName>
                                        </p:attrNameLst>
                                      </p:cBhvr>
                                      <p:tavLst>
                                        <p:tav tm="0">
                                          <p:val>
                                            <p:strVal val="#ppt_y+.05"/>
                                          </p:val>
                                        </p:tav>
                                        <p:tav tm="100000">
                                          <p:val>
                                            <p:strVal val="#ppt_y"/>
                                          </p:val>
                                        </p:tav>
                                      </p:tavLst>
                                    </p:anim>
                                  </p:childTnLst>
                                </p:cTn>
                              </p:par>
                              <p:par>
                                <p:cTn id="33" presetID="42" presetClass="entr" presetSubtype="0" fill="hold" grpId="0" nodeType="withEffect">
                                  <p:stCondLst>
                                    <p:cond delay="48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650"/>
                                        <p:tgtEl>
                                          <p:spTgt spid="10"/>
                                        </p:tgtEl>
                                      </p:cBhvr>
                                    </p:animEffect>
                                    <p:anim calcmode="lin" valueType="num">
                                      <p:cBhvr>
                                        <p:cTn id="36" dur="650" fill="hold"/>
                                        <p:tgtEl>
                                          <p:spTgt spid="10"/>
                                        </p:tgtEl>
                                        <p:attrNameLst>
                                          <p:attrName>ppt_x</p:attrName>
                                        </p:attrNameLst>
                                      </p:cBhvr>
                                      <p:tavLst>
                                        <p:tav tm="0">
                                          <p:val>
                                            <p:strVal val="#ppt_x"/>
                                          </p:val>
                                        </p:tav>
                                        <p:tav tm="100000">
                                          <p:val>
                                            <p:strVal val="#ppt_x"/>
                                          </p:val>
                                        </p:tav>
                                      </p:tavLst>
                                    </p:anim>
                                    <p:anim calcmode="lin" valueType="num">
                                      <p:cBhvr>
                                        <p:cTn id="37" dur="650" fill="hold"/>
                                        <p:tgtEl>
                                          <p:spTgt spid="10"/>
                                        </p:tgtEl>
                                        <p:attrNameLst>
                                          <p:attrName>ppt_y</p:attrName>
                                        </p:attrNameLst>
                                      </p:cBhvr>
                                      <p:tavLst>
                                        <p:tav tm="0">
                                          <p:val>
                                            <p:strVal val="#ppt_y+.05"/>
                                          </p:val>
                                        </p:tav>
                                        <p:tav tm="100000">
                                          <p:val>
                                            <p:strVal val="#ppt_y"/>
                                          </p:val>
                                        </p:tav>
                                      </p:tavLst>
                                    </p:anim>
                                  </p:childTnLst>
                                </p:cTn>
                              </p:par>
                              <p:par>
                                <p:cTn id="38" presetID="42" presetClass="entr" presetSubtype="0" fill="hold" grpId="0" nodeType="withEffect">
                                  <p:stCondLst>
                                    <p:cond delay="48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650"/>
                                        <p:tgtEl>
                                          <p:spTgt spid="11"/>
                                        </p:tgtEl>
                                      </p:cBhvr>
                                    </p:animEffect>
                                    <p:anim calcmode="lin" valueType="num">
                                      <p:cBhvr>
                                        <p:cTn id="41" dur="650" fill="hold"/>
                                        <p:tgtEl>
                                          <p:spTgt spid="11"/>
                                        </p:tgtEl>
                                        <p:attrNameLst>
                                          <p:attrName>ppt_x</p:attrName>
                                        </p:attrNameLst>
                                      </p:cBhvr>
                                      <p:tavLst>
                                        <p:tav tm="0">
                                          <p:val>
                                            <p:strVal val="#ppt_x"/>
                                          </p:val>
                                        </p:tav>
                                        <p:tav tm="100000">
                                          <p:val>
                                            <p:strVal val="#ppt_x"/>
                                          </p:val>
                                        </p:tav>
                                      </p:tavLst>
                                    </p:anim>
                                    <p:anim calcmode="lin" valueType="num">
                                      <p:cBhvr>
                                        <p:cTn id="42" dur="650" fill="hold"/>
                                        <p:tgtEl>
                                          <p:spTgt spid="11"/>
                                        </p:tgtEl>
                                        <p:attrNameLst>
                                          <p:attrName>ppt_y</p:attrName>
                                        </p:attrNameLst>
                                      </p:cBhvr>
                                      <p:tavLst>
                                        <p:tav tm="0">
                                          <p:val>
                                            <p:strVal val="#ppt_y+.05"/>
                                          </p:val>
                                        </p:tav>
                                        <p:tav tm="100000">
                                          <p:val>
                                            <p:strVal val="#ppt_y"/>
                                          </p:val>
                                        </p:tav>
                                      </p:tavLst>
                                    </p:anim>
                                  </p:childTnLst>
                                </p:cTn>
                              </p:par>
                              <p:par>
                                <p:cTn id="43" presetID="42" presetClass="entr" presetSubtype="0" fill="hold" grpId="0" nodeType="withEffect">
                                  <p:stCondLst>
                                    <p:cond delay="48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650"/>
                                        <p:tgtEl>
                                          <p:spTgt spid="12"/>
                                        </p:tgtEl>
                                      </p:cBhvr>
                                    </p:animEffect>
                                    <p:anim calcmode="lin" valueType="num">
                                      <p:cBhvr>
                                        <p:cTn id="46" dur="650" fill="hold"/>
                                        <p:tgtEl>
                                          <p:spTgt spid="12"/>
                                        </p:tgtEl>
                                        <p:attrNameLst>
                                          <p:attrName>ppt_x</p:attrName>
                                        </p:attrNameLst>
                                      </p:cBhvr>
                                      <p:tavLst>
                                        <p:tav tm="0">
                                          <p:val>
                                            <p:strVal val="#ppt_x"/>
                                          </p:val>
                                        </p:tav>
                                        <p:tav tm="100000">
                                          <p:val>
                                            <p:strVal val="#ppt_x"/>
                                          </p:val>
                                        </p:tav>
                                      </p:tavLst>
                                    </p:anim>
                                    <p:anim calcmode="lin" valueType="num">
                                      <p:cBhvr>
                                        <p:cTn id="47" dur="650" fill="hold"/>
                                        <p:tgtEl>
                                          <p:spTgt spid="12"/>
                                        </p:tgtEl>
                                        <p:attrNameLst>
                                          <p:attrName>ppt_y</p:attrName>
                                        </p:attrNameLst>
                                      </p:cBhvr>
                                      <p:tavLst>
                                        <p:tav tm="0">
                                          <p:val>
                                            <p:strVal val="#ppt_y+.05"/>
                                          </p:val>
                                        </p:tav>
                                        <p:tav tm="100000">
                                          <p:val>
                                            <p:strVal val="#ppt_y"/>
                                          </p:val>
                                        </p:tav>
                                      </p:tavLst>
                                    </p:anim>
                                  </p:childTnLst>
                                </p:cTn>
                              </p:par>
                              <p:par>
                                <p:cTn id="48" presetID="42" presetClass="entr" presetSubtype="0" fill="hold" grpId="0" nodeType="withEffect">
                                  <p:stCondLst>
                                    <p:cond delay="66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650"/>
                                        <p:tgtEl>
                                          <p:spTgt spid="13"/>
                                        </p:tgtEl>
                                      </p:cBhvr>
                                    </p:animEffect>
                                    <p:anim calcmode="lin" valueType="num">
                                      <p:cBhvr>
                                        <p:cTn id="51" dur="650" fill="hold"/>
                                        <p:tgtEl>
                                          <p:spTgt spid="13"/>
                                        </p:tgtEl>
                                        <p:attrNameLst>
                                          <p:attrName>ppt_x</p:attrName>
                                        </p:attrNameLst>
                                      </p:cBhvr>
                                      <p:tavLst>
                                        <p:tav tm="0">
                                          <p:val>
                                            <p:strVal val="#ppt_x"/>
                                          </p:val>
                                        </p:tav>
                                        <p:tav tm="100000">
                                          <p:val>
                                            <p:strVal val="#ppt_x"/>
                                          </p:val>
                                        </p:tav>
                                      </p:tavLst>
                                    </p:anim>
                                    <p:anim calcmode="lin" valueType="num">
                                      <p:cBhvr>
                                        <p:cTn id="52" dur="650" fill="hold"/>
                                        <p:tgtEl>
                                          <p:spTgt spid="13"/>
                                        </p:tgtEl>
                                        <p:attrNameLst>
                                          <p:attrName>ppt_y</p:attrName>
                                        </p:attrNameLst>
                                      </p:cBhvr>
                                      <p:tavLst>
                                        <p:tav tm="0">
                                          <p:val>
                                            <p:strVal val="#ppt_y+.05"/>
                                          </p:val>
                                        </p:tav>
                                        <p:tav tm="100000">
                                          <p:val>
                                            <p:strVal val="#ppt_y"/>
                                          </p:val>
                                        </p:tav>
                                      </p:tavLst>
                                    </p:anim>
                                  </p:childTnLst>
                                </p:cTn>
                              </p:par>
                              <p:par>
                                <p:cTn id="53" presetID="42" presetClass="entr" presetSubtype="0" fill="hold" grpId="0" nodeType="withEffect">
                                  <p:stCondLst>
                                    <p:cond delay="66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650"/>
                                        <p:tgtEl>
                                          <p:spTgt spid="14"/>
                                        </p:tgtEl>
                                      </p:cBhvr>
                                    </p:animEffect>
                                    <p:anim calcmode="lin" valueType="num">
                                      <p:cBhvr>
                                        <p:cTn id="56" dur="650" fill="hold"/>
                                        <p:tgtEl>
                                          <p:spTgt spid="14"/>
                                        </p:tgtEl>
                                        <p:attrNameLst>
                                          <p:attrName>ppt_x</p:attrName>
                                        </p:attrNameLst>
                                      </p:cBhvr>
                                      <p:tavLst>
                                        <p:tav tm="0">
                                          <p:val>
                                            <p:strVal val="#ppt_x"/>
                                          </p:val>
                                        </p:tav>
                                        <p:tav tm="100000">
                                          <p:val>
                                            <p:strVal val="#ppt_x"/>
                                          </p:val>
                                        </p:tav>
                                      </p:tavLst>
                                    </p:anim>
                                    <p:anim calcmode="lin" valueType="num">
                                      <p:cBhvr>
                                        <p:cTn id="57" dur="650" fill="hold"/>
                                        <p:tgtEl>
                                          <p:spTgt spid="14"/>
                                        </p:tgtEl>
                                        <p:attrNameLst>
                                          <p:attrName>ppt_y</p:attrName>
                                        </p:attrNameLst>
                                      </p:cBhvr>
                                      <p:tavLst>
                                        <p:tav tm="0">
                                          <p:val>
                                            <p:strVal val="#ppt_y+.05"/>
                                          </p:val>
                                        </p:tav>
                                        <p:tav tm="100000">
                                          <p:val>
                                            <p:strVal val="#ppt_y"/>
                                          </p:val>
                                        </p:tav>
                                      </p:tavLst>
                                    </p:anim>
                                  </p:childTnLst>
                                </p:cTn>
                              </p:par>
                              <p:par>
                                <p:cTn id="58" presetID="42" presetClass="entr" presetSubtype="0" fill="hold" grpId="0" nodeType="withEffect">
                                  <p:stCondLst>
                                    <p:cond delay="66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650"/>
                                        <p:tgtEl>
                                          <p:spTgt spid="15"/>
                                        </p:tgtEl>
                                      </p:cBhvr>
                                    </p:animEffect>
                                    <p:anim calcmode="lin" valueType="num">
                                      <p:cBhvr>
                                        <p:cTn id="61" dur="650" fill="hold"/>
                                        <p:tgtEl>
                                          <p:spTgt spid="15"/>
                                        </p:tgtEl>
                                        <p:attrNameLst>
                                          <p:attrName>ppt_x</p:attrName>
                                        </p:attrNameLst>
                                      </p:cBhvr>
                                      <p:tavLst>
                                        <p:tav tm="0">
                                          <p:val>
                                            <p:strVal val="#ppt_x"/>
                                          </p:val>
                                        </p:tav>
                                        <p:tav tm="100000">
                                          <p:val>
                                            <p:strVal val="#ppt_x"/>
                                          </p:val>
                                        </p:tav>
                                      </p:tavLst>
                                    </p:anim>
                                    <p:anim calcmode="lin" valueType="num">
                                      <p:cBhvr>
                                        <p:cTn id="62" dur="650" fill="hold"/>
                                        <p:tgtEl>
                                          <p:spTgt spid="15"/>
                                        </p:tgtEl>
                                        <p:attrNameLst>
                                          <p:attrName>ppt_y</p:attrName>
                                        </p:attrNameLst>
                                      </p:cBhvr>
                                      <p:tavLst>
                                        <p:tav tm="0">
                                          <p:val>
                                            <p:strVal val="#ppt_y+.05"/>
                                          </p:val>
                                        </p:tav>
                                        <p:tav tm="100000">
                                          <p:val>
                                            <p:strVal val="#ppt_y"/>
                                          </p:val>
                                        </p:tav>
                                      </p:tavLst>
                                    </p:anim>
                                  </p:childTnLst>
                                </p:cTn>
                              </p:par>
                              <p:par>
                                <p:cTn id="63" presetID="42" presetClass="entr" presetSubtype="0" fill="hold" grpId="0" nodeType="withEffect">
                                  <p:stCondLst>
                                    <p:cond delay="660"/>
                                  </p:stCondLst>
                                  <p:childTnLst>
                                    <p:set>
                                      <p:cBhvr>
                                        <p:cTn id="64" dur="1" fill="hold">
                                          <p:stCondLst>
                                            <p:cond delay="0"/>
                                          </p:stCondLst>
                                        </p:cTn>
                                        <p:tgtEl>
                                          <p:spTgt spid="16"/>
                                        </p:tgtEl>
                                        <p:attrNameLst>
                                          <p:attrName>style.visibility</p:attrName>
                                        </p:attrNameLst>
                                      </p:cBhvr>
                                      <p:to>
                                        <p:strVal val="visible"/>
                                      </p:to>
                                    </p:set>
                                    <p:animEffect transition="in" filter="fade">
                                      <p:cBhvr>
                                        <p:cTn id="65" dur="650"/>
                                        <p:tgtEl>
                                          <p:spTgt spid="16"/>
                                        </p:tgtEl>
                                      </p:cBhvr>
                                    </p:animEffect>
                                    <p:anim calcmode="lin" valueType="num">
                                      <p:cBhvr>
                                        <p:cTn id="66" dur="650" fill="hold"/>
                                        <p:tgtEl>
                                          <p:spTgt spid="16"/>
                                        </p:tgtEl>
                                        <p:attrNameLst>
                                          <p:attrName>ppt_x</p:attrName>
                                        </p:attrNameLst>
                                      </p:cBhvr>
                                      <p:tavLst>
                                        <p:tav tm="0">
                                          <p:val>
                                            <p:strVal val="#ppt_x"/>
                                          </p:val>
                                        </p:tav>
                                        <p:tav tm="100000">
                                          <p:val>
                                            <p:strVal val="#ppt_x"/>
                                          </p:val>
                                        </p:tav>
                                      </p:tavLst>
                                    </p:anim>
                                    <p:anim calcmode="lin" valueType="num">
                                      <p:cBhvr>
                                        <p:cTn id="67" dur="650" fill="hold"/>
                                        <p:tgtEl>
                                          <p:spTgt spid="16"/>
                                        </p:tgtEl>
                                        <p:attrNameLst>
                                          <p:attrName>ppt_y</p:attrName>
                                        </p:attrNameLst>
                                      </p:cBhvr>
                                      <p:tavLst>
                                        <p:tav tm="0">
                                          <p:val>
                                            <p:strVal val="#ppt_y+.05"/>
                                          </p:val>
                                        </p:tav>
                                        <p:tav tm="100000">
                                          <p:val>
                                            <p:strVal val="#ppt_y"/>
                                          </p:val>
                                        </p:tav>
                                      </p:tavLst>
                                    </p:anim>
                                  </p:childTnLst>
                                </p:cTn>
                              </p:par>
                              <p:par>
                                <p:cTn id="68" presetID="42" presetClass="entr" presetSubtype="0" fill="hold" grpId="0" nodeType="withEffect">
                                  <p:stCondLst>
                                    <p:cond delay="840"/>
                                  </p:stCondLst>
                                  <p:childTnLst>
                                    <p:set>
                                      <p:cBhvr>
                                        <p:cTn id="69" dur="1" fill="hold">
                                          <p:stCondLst>
                                            <p:cond delay="0"/>
                                          </p:stCondLst>
                                        </p:cTn>
                                        <p:tgtEl>
                                          <p:spTgt spid="17"/>
                                        </p:tgtEl>
                                        <p:attrNameLst>
                                          <p:attrName>style.visibility</p:attrName>
                                        </p:attrNameLst>
                                      </p:cBhvr>
                                      <p:to>
                                        <p:strVal val="visible"/>
                                      </p:to>
                                    </p:set>
                                    <p:animEffect transition="in" filter="fade">
                                      <p:cBhvr>
                                        <p:cTn id="70" dur="650"/>
                                        <p:tgtEl>
                                          <p:spTgt spid="17"/>
                                        </p:tgtEl>
                                      </p:cBhvr>
                                    </p:animEffect>
                                    <p:anim calcmode="lin" valueType="num">
                                      <p:cBhvr>
                                        <p:cTn id="71" dur="650" fill="hold"/>
                                        <p:tgtEl>
                                          <p:spTgt spid="17"/>
                                        </p:tgtEl>
                                        <p:attrNameLst>
                                          <p:attrName>ppt_x</p:attrName>
                                        </p:attrNameLst>
                                      </p:cBhvr>
                                      <p:tavLst>
                                        <p:tav tm="0">
                                          <p:val>
                                            <p:strVal val="#ppt_x"/>
                                          </p:val>
                                        </p:tav>
                                        <p:tav tm="100000">
                                          <p:val>
                                            <p:strVal val="#ppt_x"/>
                                          </p:val>
                                        </p:tav>
                                      </p:tavLst>
                                    </p:anim>
                                    <p:anim calcmode="lin" valueType="num">
                                      <p:cBhvr>
                                        <p:cTn id="72" dur="650" fill="hold"/>
                                        <p:tgtEl>
                                          <p:spTgt spid="17"/>
                                        </p:tgtEl>
                                        <p:attrNameLst>
                                          <p:attrName>ppt_y</p:attrName>
                                        </p:attrNameLst>
                                      </p:cBhvr>
                                      <p:tavLst>
                                        <p:tav tm="0">
                                          <p:val>
                                            <p:strVal val="#ppt_y+.05"/>
                                          </p:val>
                                        </p:tav>
                                        <p:tav tm="100000">
                                          <p:val>
                                            <p:strVal val="#ppt_y"/>
                                          </p:val>
                                        </p:tav>
                                      </p:tavLst>
                                    </p:anim>
                                  </p:childTnLst>
                                </p:cTn>
                              </p:par>
                              <p:par>
                                <p:cTn id="73" presetID="42" presetClass="entr" presetSubtype="0" fill="hold" grpId="0" nodeType="withEffect">
                                  <p:stCondLst>
                                    <p:cond delay="840"/>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650"/>
                                        <p:tgtEl>
                                          <p:spTgt spid="18"/>
                                        </p:tgtEl>
                                      </p:cBhvr>
                                    </p:animEffect>
                                    <p:anim calcmode="lin" valueType="num">
                                      <p:cBhvr>
                                        <p:cTn id="76" dur="650" fill="hold"/>
                                        <p:tgtEl>
                                          <p:spTgt spid="18"/>
                                        </p:tgtEl>
                                        <p:attrNameLst>
                                          <p:attrName>ppt_x</p:attrName>
                                        </p:attrNameLst>
                                      </p:cBhvr>
                                      <p:tavLst>
                                        <p:tav tm="0">
                                          <p:val>
                                            <p:strVal val="#ppt_x"/>
                                          </p:val>
                                        </p:tav>
                                        <p:tav tm="100000">
                                          <p:val>
                                            <p:strVal val="#ppt_x"/>
                                          </p:val>
                                        </p:tav>
                                      </p:tavLst>
                                    </p:anim>
                                    <p:anim calcmode="lin" valueType="num">
                                      <p:cBhvr>
                                        <p:cTn id="77" dur="650" fill="hold"/>
                                        <p:tgtEl>
                                          <p:spTgt spid="18"/>
                                        </p:tgtEl>
                                        <p:attrNameLst>
                                          <p:attrName>ppt_y</p:attrName>
                                        </p:attrNameLst>
                                      </p:cBhvr>
                                      <p:tavLst>
                                        <p:tav tm="0">
                                          <p:val>
                                            <p:strVal val="#ppt_y+.05"/>
                                          </p:val>
                                        </p:tav>
                                        <p:tav tm="100000">
                                          <p:val>
                                            <p:strVal val="#ppt_y"/>
                                          </p:val>
                                        </p:tav>
                                      </p:tavLst>
                                    </p:anim>
                                  </p:childTnLst>
                                </p:cTn>
                              </p:par>
                              <p:par>
                                <p:cTn id="78" presetID="42" presetClass="entr" presetSubtype="0" fill="hold" grpId="0" nodeType="withEffect">
                                  <p:stCondLst>
                                    <p:cond delay="84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650"/>
                                        <p:tgtEl>
                                          <p:spTgt spid="19"/>
                                        </p:tgtEl>
                                      </p:cBhvr>
                                    </p:animEffect>
                                    <p:anim calcmode="lin" valueType="num">
                                      <p:cBhvr>
                                        <p:cTn id="81" dur="650" fill="hold"/>
                                        <p:tgtEl>
                                          <p:spTgt spid="19"/>
                                        </p:tgtEl>
                                        <p:attrNameLst>
                                          <p:attrName>ppt_x</p:attrName>
                                        </p:attrNameLst>
                                      </p:cBhvr>
                                      <p:tavLst>
                                        <p:tav tm="0">
                                          <p:val>
                                            <p:strVal val="#ppt_x"/>
                                          </p:val>
                                        </p:tav>
                                        <p:tav tm="100000">
                                          <p:val>
                                            <p:strVal val="#ppt_x"/>
                                          </p:val>
                                        </p:tav>
                                      </p:tavLst>
                                    </p:anim>
                                    <p:anim calcmode="lin" valueType="num">
                                      <p:cBhvr>
                                        <p:cTn id="82" dur="650" fill="hold"/>
                                        <p:tgtEl>
                                          <p:spTgt spid="19"/>
                                        </p:tgtEl>
                                        <p:attrNameLst>
                                          <p:attrName>ppt_y</p:attrName>
                                        </p:attrNameLst>
                                      </p:cBhvr>
                                      <p:tavLst>
                                        <p:tav tm="0">
                                          <p:val>
                                            <p:strVal val="#ppt_y+.05"/>
                                          </p:val>
                                        </p:tav>
                                        <p:tav tm="100000">
                                          <p:val>
                                            <p:strVal val="#ppt_y"/>
                                          </p:val>
                                        </p:tav>
                                      </p:tavLst>
                                    </p:anim>
                                  </p:childTnLst>
                                </p:cTn>
                              </p:par>
                              <p:par>
                                <p:cTn id="83" presetID="42" presetClass="entr" presetSubtype="0" fill="hold" grpId="0" nodeType="withEffect">
                                  <p:stCondLst>
                                    <p:cond delay="840"/>
                                  </p:stCondLst>
                                  <p:childTnLst>
                                    <p:set>
                                      <p:cBhvr>
                                        <p:cTn id="84" dur="1" fill="hold">
                                          <p:stCondLst>
                                            <p:cond delay="0"/>
                                          </p:stCondLst>
                                        </p:cTn>
                                        <p:tgtEl>
                                          <p:spTgt spid="20"/>
                                        </p:tgtEl>
                                        <p:attrNameLst>
                                          <p:attrName>style.visibility</p:attrName>
                                        </p:attrNameLst>
                                      </p:cBhvr>
                                      <p:to>
                                        <p:strVal val="visible"/>
                                      </p:to>
                                    </p:set>
                                    <p:animEffect transition="in" filter="fade">
                                      <p:cBhvr>
                                        <p:cTn id="85" dur="650"/>
                                        <p:tgtEl>
                                          <p:spTgt spid="20"/>
                                        </p:tgtEl>
                                      </p:cBhvr>
                                    </p:animEffect>
                                    <p:anim calcmode="lin" valueType="num">
                                      <p:cBhvr>
                                        <p:cTn id="86" dur="650" fill="hold"/>
                                        <p:tgtEl>
                                          <p:spTgt spid="20"/>
                                        </p:tgtEl>
                                        <p:attrNameLst>
                                          <p:attrName>ppt_x</p:attrName>
                                        </p:attrNameLst>
                                      </p:cBhvr>
                                      <p:tavLst>
                                        <p:tav tm="0">
                                          <p:val>
                                            <p:strVal val="#ppt_x"/>
                                          </p:val>
                                        </p:tav>
                                        <p:tav tm="100000">
                                          <p:val>
                                            <p:strVal val="#ppt_x"/>
                                          </p:val>
                                        </p:tav>
                                      </p:tavLst>
                                    </p:anim>
                                    <p:anim calcmode="lin" valueType="num">
                                      <p:cBhvr>
                                        <p:cTn id="87" dur="650" fill="hold"/>
                                        <p:tgtEl>
                                          <p:spTgt spid="20"/>
                                        </p:tgtEl>
                                        <p:attrNameLst>
                                          <p:attrName>ppt_y</p:attrName>
                                        </p:attrNameLst>
                                      </p:cBhvr>
                                      <p:tavLst>
                                        <p:tav tm="0">
                                          <p:val>
                                            <p:strVal val="#ppt_y+.05"/>
                                          </p:val>
                                        </p:tav>
                                        <p:tav tm="100000">
                                          <p:val>
                                            <p:strVal val="#ppt_y"/>
                                          </p:val>
                                        </p:tav>
                                      </p:tavLst>
                                    </p:anim>
                                  </p:childTnLst>
                                </p:cTn>
                              </p:par>
                              <p:par>
                                <p:cTn id="88" presetID="10" presetClass="entr" presetSubtype="0" fill="hold" grpId="0" nodeType="withEffect">
                                  <p:stCondLst>
                                    <p:cond delay="1100"/>
                                  </p:stCondLst>
                                  <p:childTnLst>
                                    <p:set>
                                      <p:cBhvr>
                                        <p:cTn id="89" dur="1" fill="hold">
                                          <p:stCondLst>
                                            <p:cond delay="0"/>
                                          </p:stCondLst>
                                        </p:cTn>
                                        <p:tgtEl>
                                          <p:spTgt spid="21"/>
                                        </p:tgtEl>
                                        <p:attrNameLst>
                                          <p:attrName>style.visibility</p:attrName>
                                        </p:attrNameLst>
                                      </p:cBhvr>
                                      <p:to>
                                        <p:strVal val="visible"/>
                                      </p:to>
                                    </p:set>
                                    <p:animEffect transition="in" filter="fade">
                                      <p:cBhvr>
                                        <p:cTn id="90"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eyebrow"/>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100" b="1" spc="200" kern="0" dirty="0">
                <a:solidFill>
                  <a:srgbClr val="B3441A"/>
                </a:solidFill>
                <a:latin typeface="Arial" pitchFamily="34" charset="0"/>
                <a:ea typeface="Arial" pitchFamily="34" charset="-122"/>
                <a:cs typeface="Arial" pitchFamily="34" charset="-120"/>
              </a:rPr>
              <a:t>BUILT TO BE RIGHT</a:t>
            </a:r>
            <a:endParaRPr lang="en-US" sz="1100" dirty="0"/>
          </a:p>
        </p:txBody>
      </p:sp>
      <p:sp>
        <p:nvSpPr>
          <p:cNvPr id="4" name="Text 1"/>
          <p:cNvSpPr/>
          <p:nvPr>
            <p:ph idx="101" type="title" hasCustomPrompt="1"/>
          </p:nvPr>
        </p:nvSpPr>
        <p:spPr>
          <a:xfrm>
            <a:off x="548640" y="841248"/>
            <a:ext cx="11094415" cy="731520"/>
          </a:xfrm>
          <a:prstGeom prst="rect">
            <a:avLst/>
          </a:prstGeom>
          <a:noFill/>
          <a:ln/>
        </p:spPr>
        <p:txBody>
          <a:bodyPr wrap="square" lIns="0" tIns="0" rIns="0" bIns="0" rtlCol="0" anchor="t"/>
          <a:lstStyle/>
          <a:p>
            <a:pPr algn="l" indent="0" marL="0">
              <a:buNone/>
            </a:pPr>
            <a:r>
              <a:rPr lang="en-US" sz="3600" b="1" dirty="0">
                <a:solidFill>
                  <a:srgbClr val="1D1D1F"/>
                </a:solidFill>
                <a:latin typeface="Arial" pitchFamily="34" charset="0"/>
                <a:ea typeface="Arial" pitchFamily="34" charset="-122"/>
                <a:cs typeface="Arial" pitchFamily="34" charset="-120"/>
              </a:rPr>
              <a:t>Tested like a product</a:t>
            </a:r>
            <a:endParaRPr lang="en-US" sz="3600" dirty="0"/>
          </a:p>
        </p:txBody>
      </p:sp>
      <p:sp>
        <p:nvSpPr>
          <p:cNvPr id="5" name="card"/>
          <p:cNvSpPr/>
          <p:nvPr/>
        </p:nvSpPr>
        <p:spPr>
          <a:xfrm>
            <a:off x="548640" y="1965960"/>
            <a:ext cx="3484778" cy="3246120"/>
          </a:xfrm>
          <a:prstGeom prst="roundRect">
            <a:avLst>
              <a:gd name="adj" fmla="val 3944"/>
            </a:avLst>
          </a:prstGeom>
          <a:solidFill>
            <a:srgbClr val="FFFFFF"/>
          </a:solidFill>
          <a:ln w="9525">
            <a:solidFill>
              <a:srgbClr val="E5E5EA"/>
            </a:solidFill>
            <a:prstDash val="solid"/>
          </a:ln>
          <a:effectLst>
            <a:outerShdw sx="100000" sy="100000" kx="0" ky="0" algn="bl" rotWithShape="0" blurRad="203200" dist="38100" dir="5400000">
              <a:srgbClr val="000000">
                <a:alpha val="8000"/>
              </a:srgbClr>
            </a:outerShdw>
          </a:effectLst>
        </p:spPr>
      </p:sp>
      <p:sp>
        <p:nvSpPr>
          <p:cNvPr id="6" name="n"/>
          <p:cNvSpPr txBox="1"/>
          <p:nvPr/>
        </p:nvSpPr>
        <p:spPr>
          <a:xfrm>
            <a:off x="914400" y="2286000"/>
            <a:ext cx="2753258" cy="1097280"/>
          </a:xfrm>
          <a:prstGeom prst="rect">
            <a:avLst/>
          </a:prstGeom>
          <a:noFill/>
          <a:ln/>
        </p:spPr>
        <p:txBody>
          <a:bodyPr wrap="square" lIns="0" tIns="0" rIns="0" bIns="0" rtlCol="0" anchor="ctr"/>
          <a:lstStyle/>
          <a:p>
            <a:pPr indent="0" marL="0">
              <a:buNone/>
            </a:pPr>
            <a:r>
              <a:rPr lang="en-US" sz="6600" b="1" dirty="0">
                <a:solidFill>
                  <a:srgbClr val="B3441A"/>
                </a:solidFill>
                <a:latin typeface="Arial" pitchFamily="34" charset="0"/>
                <a:ea typeface="Arial" pitchFamily="34" charset="-122"/>
                <a:cs typeface="Arial" pitchFamily="34" charset="-120"/>
              </a:rPr>
              <a:t>10,000</a:t>
            </a:r>
            <a:endParaRPr lang="en-US" sz="6600" dirty="0"/>
          </a:p>
        </p:txBody>
      </p:sp>
      <p:sp>
        <p:nvSpPr>
          <p:cNvPr id="7" name="h"/>
          <p:cNvSpPr txBox="1"/>
          <p:nvPr/>
        </p:nvSpPr>
        <p:spPr>
          <a:xfrm>
            <a:off x="914400" y="3520440"/>
            <a:ext cx="2753258" cy="365760"/>
          </a:xfrm>
          <a:prstGeom prst="rect">
            <a:avLst/>
          </a:prstGeom>
          <a:noFill/>
          <a:ln/>
        </p:spPr>
        <p:txBody>
          <a:bodyPr wrap="square" lIns="0" tIns="0" rIns="0" bIns="0" rtlCol="0" anchor="ctr"/>
          <a:lstStyle/>
          <a:p>
            <a:pPr indent="0" marL="0">
              <a:buNone/>
            </a:pPr>
            <a:r>
              <a:rPr lang="en-US" sz="1800" b="1" dirty="0">
                <a:solidFill>
                  <a:srgbClr val="1D1D1F"/>
                </a:solidFill>
                <a:latin typeface="Arial" pitchFamily="34" charset="0"/>
                <a:ea typeface="Arial" pitchFamily="34" charset="-122"/>
                <a:cs typeface="Arial" pitchFamily="34" charset="-120"/>
              </a:rPr>
              <a:t>synthetic people</a:t>
            </a:r>
            <a:endParaRPr lang="en-US" sz="1800" dirty="0"/>
          </a:p>
        </p:txBody>
      </p:sp>
      <p:sp>
        <p:nvSpPr>
          <p:cNvPr id="8" name="t"/>
          <p:cNvSpPr txBox="1"/>
          <p:nvPr/>
        </p:nvSpPr>
        <p:spPr>
          <a:xfrm>
            <a:off x="914400" y="3931920"/>
            <a:ext cx="2753258" cy="914400"/>
          </a:xfrm>
          <a:prstGeom prst="rect">
            <a:avLst/>
          </a:prstGeom>
          <a:noFill/>
          <a:ln/>
        </p:spPr>
        <p:txBody>
          <a:bodyPr wrap="square" lIns="0" tIns="0" rIns="0" bIns="0" rtlCol="0" anchor="t"/>
          <a:lstStyle/>
          <a:p>
            <a:pPr indent="0" marL="0">
              <a:buNone/>
            </a:pPr>
            <a:r>
              <a:rPr lang="en-US" sz="1400" dirty="0">
                <a:solidFill>
                  <a:srgbClr val="58585D"/>
                </a:solidFill>
                <a:latin typeface="Arial" pitchFamily="34" charset="0"/>
                <a:ea typeface="Arial" pitchFamily="34" charset="-122"/>
                <a:cs typeface="Arial" pitchFamily="34" charset="-120"/>
              </a:rPr>
              <a:t>checked against the previous engine, with the same results</a:t>
            </a:r>
            <a:endParaRPr lang="en-US" sz="1400" dirty="0"/>
          </a:p>
        </p:txBody>
      </p:sp>
      <p:sp>
        <p:nvSpPr>
          <p:cNvPr id="9" name="card"/>
          <p:cNvSpPr/>
          <p:nvPr/>
        </p:nvSpPr>
        <p:spPr>
          <a:xfrm>
            <a:off x="4353458" y="1965960"/>
            <a:ext cx="3484778" cy="3246120"/>
          </a:xfrm>
          <a:prstGeom prst="roundRect">
            <a:avLst>
              <a:gd name="adj" fmla="val 3944"/>
            </a:avLst>
          </a:prstGeom>
          <a:solidFill>
            <a:srgbClr val="FFFFFF"/>
          </a:solidFill>
          <a:ln w="9525">
            <a:solidFill>
              <a:srgbClr val="E5E5EA"/>
            </a:solidFill>
            <a:prstDash val="solid"/>
          </a:ln>
          <a:effectLst>
            <a:outerShdw sx="100000" sy="100000" kx="0" ky="0" algn="bl" rotWithShape="0" blurRad="203200" dist="38100" dir="5400000">
              <a:srgbClr val="000000">
                <a:alpha val="8000"/>
              </a:srgbClr>
            </a:outerShdw>
          </a:effectLst>
        </p:spPr>
      </p:sp>
      <p:sp>
        <p:nvSpPr>
          <p:cNvPr id="10" name="n"/>
          <p:cNvSpPr txBox="1"/>
          <p:nvPr/>
        </p:nvSpPr>
        <p:spPr>
          <a:xfrm>
            <a:off x="4719218" y="2286000"/>
            <a:ext cx="2753258" cy="1097280"/>
          </a:xfrm>
          <a:prstGeom prst="rect">
            <a:avLst/>
          </a:prstGeom>
          <a:noFill/>
          <a:ln/>
        </p:spPr>
        <p:txBody>
          <a:bodyPr wrap="square" lIns="0" tIns="0" rIns="0" bIns="0" rtlCol="0" anchor="ctr"/>
          <a:lstStyle/>
          <a:p>
            <a:pPr indent="0" marL="0">
              <a:buNone/>
            </a:pPr>
            <a:r>
              <a:rPr lang="en-US" sz="6600" b="1" dirty="0">
                <a:solidFill>
                  <a:srgbClr val="1D1D1F"/>
                </a:solidFill>
                <a:latin typeface="Arial" pitchFamily="34" charset="0"/>
                <a:ea typeface="Arial" pitchFamily="34" charset="-122"/>
                <a:cs typeface="Arial" pitchFamily="34" charset="-120"/>
              </a:rPr>
              <a:t>24</a:t>
            </a:r>
            <a:endParaRPr lang="en-US" sz="6600" dirty="0"/>
          </a:p>
        </p:txBody>
      </p:sp>
      <p:sp>
        <p:nvSpPr>
          <p:cNvPr id="11" name="h"/>
          <p:cNvSpPr txBox="1"/>
          <p:nvPr/>
        </p:nvSpPr>
        <p:spPr>
          <a:xfrm>
            <a:off x="4719218" y="3520440"/>
            <a:ext cx="2753258" cy="365760"/>
          </a:xfrm>
          <a:prstGeom prst="rect">
            <a:avLst/>
          </a:prstGeom>
          <a:noFill/>
          <a:ln/>
        </p:spPr>
        <p:txBody>
          <a:bodyPr wrap="square" lIns="0" tIns="0" rIns="0" bIns="0" rtlCol="0" anchor="ctr"/>
          <a:lstStyle/>
          <a:p>
            <a:pPr indent="0" marL="0">
              <a:buNone/>
            </a:pPr>
            <a:r>
              <a:rPr lang="en-US" sz="1800" b="1" dirty="0">
                <a:solidFill>
                  <a:srgbClr val="1D1D1F"/>
                </a:solidFill>
                <a:latin typeface="Arial" pitchFamily="34" charset="0"/>
                <a:ea typeface="Arial" pitchFamily="34" charset="-122"/>
                <a:cs typeface="Arial" pitchFamily="34" charset="-120"/>
              </a:rPr>
              <a:t>browser test suites</a:t>
            </a:r>
            <a:endParaRPr lang="en-US" sz="1800" dirty="0"/>
          </a:p>
        </p:txBody>
      </p:sp>
      <p:sp>
        <p:nvSpPr>
          <p:cNvPr id="12" name="t"/>
          <p:cNvSpPr txBox="1"/>
          <p:nvPr/>
        </p:nvSpPr>
        <p:spPr>
          <a:xfrm>
            <a:off x="4719218" y="3931920"/>
            <a:ext cx="2753258" cy="914400"/>
          </a:xfrm>
          <a:prstGeom prst="rect">
            <a:avLst/>
          </a:prstGeom>
          <a:noFill/>
          <a:ln/>
        </p:spPr>
        <p:txBody>
          <a:bodyPr wrap="square" lIns="0" tIns="0" rIns="0" bIns="0" rtlCol="0" anchor="t"/>
          <a:lstStyle/>
          <a:p>
            <a:pPr indent="0" marL="0">
              <a:buNone/>
            </a:pPr>
            <a:r>
              <a:rPr lang="en-US" sz="1400" dirty="0">
                <a:solidFill>
                  <a:srgbClr val="58585D"/>
                </a:solidFill>
                <a:latin typeface="Arial" pitchFamily="34" charset="0"/>
                <a:ea typeface="Arial" pitchFamily="34" charset="-122"/>
                <a:cs typeface="Arial" pitchFamily="34" charset="-120"/>
              </a:rPr>
              <a:t>run on every change before it ships</a:t>
            </a:r>
            <a:endParaRPr lang="en-US" sz="1400" dirty="0"/>
          </a:p>
        </p:txBody>
      </p:sp>
      <p:sp>
        <p:nvSpPr>
          <p:cNvPr id="13" name="card"/>
          <p:cNvSpPr/>
          <p:nvPr/>
        </p:nvSpPr>
        <p:spPr>
          <a:xfrm>
            <a:off x="8158277" y="1965960"/>
            <a:ext cx="3484778" cy="3246120"/>
          </a:xfrm>
          <a:prstGeom prst="roundRect">
            <a:avLst>
              <a:gd name="adj" fmla="val 3944"/>
            </a:avLst>
          </a:prstGeom>
          <a:solidFill>
            <a:srgbClr val="FFFFFF"/>
          </a:solidFill>
          <a:ln w="9525">
            <a:solidFill>
              <a:srgbClr val="E5E5EA"/>
            </a:solidFill>
            <a:prstDash val="solid"/>
          </a:ln>
          <a:effectLst>
            <a:outerShdw sx="100000" sy="100000" kx="0" ky="0" algn="bl" rotWithShape="0" blurRad="203200" dist="38100" dir="5400000">
              <a:srgbClr val="000000">
                <a:alpha val="8000"/>
              </a:srgbClr>
            </a:outerShdw>
          </a:effectLst>
        </p:spPr>
      </p:sp>
      <p:sp>
        <p:nvSpPr>
          <p:cNvPr id="14" name="n"/>
          <p:cNvSpPr txBox="1"/>
          <p:nvPr/>
        </p:nvSpPr>
        <p:spPr>
          <a:xfrm>
            <a:off x="8524037" y="2286000"/>
            <a:ext cx="2753258" cy="1097280"/>
          </a:xfrm>
          <a:prstGeom prst="rect">
            <a:avLst/>
          </a:prstGeom>
          <a:noFill/>
          <a:ln/>
        </p:spPr>
        <p:txBody>
          <a:bodyPr wrap="square" lIns="0" tIns="0" rIns="0" bIns="0" rtlCol="0" anchor="ctr"/>
          <a:lstStyle/>
          <a:p>
            <a:pPr indent="0" marL="0">
              <a:buNone/>
            </a:pPr>
            <a:r>
              <a:rPr lang="en-US" sz="6600" b="1" dirty="0">
                <a:solidFill>
                  <a:srgbClr val="1D1D1F"/>
                </a:solidFill>
                <a:latin typeface="Arial" pitchFamily="34" charset="0"/>
                <a:ea typeface="Arial" pitchFamily="34" charset="-122"/>
                <a:cs typeface="Arial" pitchFamily="34" charset="-120"/>
              </a:rPr>
              <a:t>7</a:t>
            </a:r>
            <a:endParaRPr lang="en-US" sz="6600" dirty="0"/>
          </a:p>
        </p:txBody>
      </p:sp>
      <p:sp>
        <p:nvSpPr>
          <p:cNvPr id="15" name="h"/>
          <p:cNvSpPr txBox="1"/>
          <p:nvPr/>
        </p:nvSpPr>
        <p:spPr>
          <a:xfrm>
            <a:off x="8524037" y="3520440"/>
            <a:ext cx="2753258" cy="365760"/>
          </a:xfrm>
          <a:prstGeom prst="rect">
            <a:avLst/>
          </a:prstGeom>
          <a:noFill/>
          <a:ln/>
        </p:spPr>
        <p:txBody>
          <a:bodyPr wrap="square" lIns="0" tIns="0" rIns="0" bIns="0" rtlCol="0" anchor="ctr"/>
          <a:lstStyle/>
          <a:p>
            <a:pPr indent="0" marL="0">
              <a:buNone/>
            </a:pPr>
            <a:r>
              <a:rPr lang="en-US" sz="1800" b="1" dirty="0">
                <a:solidFill>
                  <a:srgbClr val="1D1D1F"/>
                </a:solidFill>
                <a:latin typeface="Arial" pitchFamily="34" charset="0"/>
                <a:ea typeface="Arial" pitchFamily="34" charset="-122"/>
                <a:cs typeface="Arial" pitchFamily="34" charset="-120"/>
              </a:rPr>
              <a:t>roles</a:t>
            </a:r>
            <a:endParaRPr lang="en-US" sz="1800" dirty="0"/>
          </a:p>
        </p:txBody>
      </p:sp>
      <p:sp>
        <p:nvSpPr>
          <p:cNvPr id="16" name="t"/>
          <p:cNvSpPr txBox="1"/>
          <p:nvPr/>
        </p:nvSpPr>
        <p:spPr>
          <a:xfrm>
            <a:off x="8524037" y="3931920"/>
            <a:ext cx="2753258" cy="914400"/>
          </a:xfrm>
          <a:prstGeom prst="rect">
            <a:avLst/>
          </a:prstGeom>
          <a:noFill/>
          <a:ln/>
        </p:spPr>
        <p:txBody>
          <a:bodyPr wrap="square" lIns="0" tIns="0" rIns="0" bIns="0" rtlCol="0" anchor="t"/>
          <a:lstStyle/>
          <a:p>
            <a:pPr indent="0" marL="0">
              <a:buNone/>
            </a:pPr>
            <a:r>
              <a:rPr lang="en-US" sz="1400" dirty="0">
                <a:solidFill>
                  <a:srgbClr val="58585D"/>
                </a:solidFill>
                <a:latin typeface="Arial" pitchFamily="34" charset="0"/>
                <a:ea typeface="Arial" pitchFamily="34" charset="-122"/>
                <a:cs typeface="Arial" pitchFamily="34" charset="-120"/>
              </a:rPr>
              <a:t>checked on desktop and phone, light and dark</a:t>
            </a:r>
            <a:endParaRPr lang="en-US" sz="1400" dirty="0"/>
          </a:p>
        </p:txBody>
      </p:sp>
      <p:sp>
        <p:nvSpPr>
          <p:cNvPr id="17" name="dot-shield"/>
          <p:cNvSpPr/>
          <p:nvPr/>
        </p:nvSpPr>
        <p:spPr>
          <a:xfrm>
            <a:off x="548640" y="5559552"/>
            <a:ext cx="457200" cy="457200"/>
          </a:xfrm>
          <a:prstGeom prst="ellipse">
            <a:avLst/>
          </a:prstGeom>
          <a:solidFill>
            <a:srgbClr val="1D1D1F"/>
          </a:solidFill>
          <a:ln/>
        </p:spPr>
      </p:sp>
      <p:pic>
        <p:nvPicPr>
          <p:cNvPr id="18" name="icon-shield" descr="">    </p:cNvPr>
          <p:cNvPicPr>
            <a:picLocks noChangeAspect="1"/>
          </p:cNvPicPr>
          <p:nvPr/>
        </p:nvPicPr>
        <p:blipFill>
          <a:blip r:embed="rId1"/>
          <a:stretch>
            <a:fillRect/>
          </a:stretch>
        </p:blipFill>
        <p:spPr>
          <a:xfrm>
            <a:off x="658368" y="5669280"/>
            <a:ext cx="237744" cy="237744"/>
          </a:xfrm>
          <a:prstGeom prst="rect">
            <a:avLst/>
          </a:prstGeom>
        </p:spPr>
      </p:pic>
      <p:sp>
        <p:nvSpPr>
          <p:cNvPr id="19" name="same"/>
          <p:cNvSpPr txBox="1"/>
          <p:nvPr/>
        </p:nvSpPr>
        <p:spPr>
          <a:xfrm>
            <a:off x="1188720" y="5577840"/>
            <a:ext cx="9601200" cy="420624"/>
          </a:xfrm>
          <a:prstGeom prst="rect">
            <a:avLst/>
          </a:prstGeom>
          <a:noFill/>
          <a:ln/>
        </p:spPr>
        <p:txBody>
          <a:bodyPr wrap="square" lIns="0" tIns="0" rIns="0" bIns="0" rtlCol="0" anchor="ctr"/>
          <a:lstStyle/>
          <a:p>
            <a:pPr indent="0" marL="0">
              <a:buNone/>
            </a:pPr>
            <a:r>
              <a:rPr lang="en-US" sz="1500" dirty="0">
                <a:solidFill>
                  <a:srgbClr val="3A3A3C"/>
                </a:solidFill>
                <a:latin typeface="Arial" pitchFamily="34" charset="0"/>
                <a:ea typeface="Arial" pitchFamily="34" charset="-122"/>
                <a:cs typeface="Arial" pitchFamily="34" charset="-120"/>
              </a:rPr>
              <a:t>Every calculation, email template and permission is the same as before, unless a setting is changed.</a:t>
            </a:r>
            <a:endParaRPr lang="en-US" sz="1500" dirty="0"/>
          </a:p>
        </p:txBody>
      </p:sp>
      <p:sp>
        <p:nvSpPr>
          <p:cNvPr id="25" name="Slide Number Placeholder 0"/>
          <p:cNvSpPr>
            <a:spLocks noGrp="1"/>
          </p:cNvSpPr>
          <p:nvPr>
            <p:ph type="sldNum" sz="quarter" idx="4294967295"/>
          </p:nvPr>
        </p:nvSpPr>
        <p:spPr>
          <a:xfrm>
            <a:off x="11091672" y="640080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E8E93"/>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42" presetClass="entr" presetSubtype="0" fill="hold" grpId="0" nodeType="withEffect">
                                  <p:stCondLst>
                                    <p:cond delay="3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50"/>
                                        <p:tgtEl>
                                          <p:spTgt spid="5"/>
                                        </p:tgtEl>
                                      </p:cBhvr>
                                    </p:animEffect>
                                    <p:anim calcmode="lin" valueType="num">
                                      <p:cBhvr>
                                        <p:cTn id="11" dur="650" fill="hold"/>
                                        <p:tgtEl>
                                          <p:spTgt spid="5"/>
                                        </p:tgtEl>
                                        <p:attrNameLst>
                                          <p:attrName>ppt_x</p:attrName>
                                        </p:attrNameLst>
                                      </p:cBhvr>
                                      <p:tavLst>
                                        <p:tav tm="0">
                                          <p:val>
                                            <p:strVal val="#ppt_x"/>
                                          </p:val>
                                        </p:tav>
                                        <p:tav tm="100000">
                                          <p:val>
                                            <p:strVal val="#ppt_x"/>
                                          </p:val>
                                        </p:tav>
                                      </p:tavLst>
                                    </p:anim>
                                    <p:anim calcmode="lin" valueType="num">
                                      <p:cBhvr>
                                        <p:cTn id="12" dur="650" fill="hold"/>
                                        <p:tgtEl>
                                          <p:spTgt spid="5"/>
                                        </p:tgtEl>
                                        <p:attrNameLst>
                                          <p:attrName>ppt_y</p:attrName>
                                        </p:attrNameLst>
                                      </p:cBhvr>
                                      <p:tavLst>
                                        <p:tav tm="0">
                                          <p:val>
                                            <p:strVal val="#ppt_y+.05"/>
                                          </p:val>
                                        </p:tav>
                                        <p:tav tm="100000">
                                          <p:val>
                                            <p:strVal val="#ppt_y"/>
                                          </p:val>
                                        </p:tav>
                                      </p:tavLst>
                                    </p:anim>
                                  </p:childTnLst>
                                </p:cTn>
                              </p:par>
                              <p:par>
                                <p:cTn id="13" presetID="42" presetClass="entr" presetSubtype="0" fill="hold" grpId="0" nodeType="withEffect">
                                  <p:stCondLst>
                                    <p:cond delay="3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50"/>
                                        <p:tgtEl>
                                          <p:spTgt spid="6"/>
                                        </p:tgtEl>
                                      </p:cBhvr>
                                    </p:animEffect>
                                    <p:anim calcmode="lin" valueType="num">
                                      <p:cBhvr>
                                        <p:cTn id="16" dur="650" fill="hold"/>
                                        <p:tgtEl>
                                          <p:spTgt spid="6"/>
                                        </p:tgtEl>
                                        <p:attrNameLst>
                                          <p:attrName>ppt_x</p:attrName>
                                        </p:attrNameLst>
                                      </p:cBhvr>
                                      <p:tavLst>
                                        <p:tav tm="0">
                                          <p:val>
                                            <p:strVal val="#ppt_x"/>
                                          </p:val>
                                        </p:tav>
                                        <p:tav tm="100000">
                                          <p:val>
                                            <p:strVal val="#ppt_x"/>
                                          </p:val>
                                        </p:tav>
                                      </p:tavLst>
                                    </p:anim>
                                    <p:anim calcmode="lin" valueType="num">
                                      <p:cBhvr>
                                        <p:cTn id="17" dur="650" fill="hold"/>
                                        <p:tgtEl>
                                          <p:spTgt spid="6"/>
                                        </p:tgtEl>
                                        <p:attrNameLst>
                                          <p:attrName>ppt_y</p:attrName>
                                        </p:attrNameLst>
                                      </p:cBhvr>
                                      <p:tavLst>
                                        <p:tav tm="0">
                                          <p:val>
                                            <p:strVal val="#ppt_y+.05"/>
                                          </p:val>
                                        </p:tav>
                                        <p:tav tm="100000">
                                          <p:val>
                                            <p:strVal val="#ppt_y"/>
                                          </p:val>
                                        </p:tav>
                                      </p:tavLst>
                                    </p:anim>
                                  </p:childTnLst>
                                </p:cTn>
                              </p:par>
                              <p:par>
                                <p:cTn id="18" presetID="42" presetClass="entr" presetSubtype="0" fill="hold" grpId="0" nodeType="withEffect">
                                  <p:stCondLst>
                                    <p:cond delay="30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50"/>
                                        <p:tgtEl>
                                          <p:spTgt spid="7"/>
                                        </p:tgtEl>
                                      </p:cBhvr>
                                    </p:animEffect>
                                    <p:anim calcmode="lin" valueType="num">
                                      <p:cBhvr>
                                        <p:cTn id="21" dur="650" fill="hold"/>
                                        <p:tgtEl>
                                          <p:spTgt spid="7"/>
                                        </p:tgtEl>
                                        <p:attrNameLst>
                                          <p:attrName>ppt_x</p:attrName>
                                        </p:attrNameLst>
                                      </p:cBhvr>
                                      <p:tavLst>
                                        <p:tav tm="0">
                                          <p:val>
                                            <p:strVal val="#ppt_x"/>
                                          </p:val>
                                        </p:tav>
                                        <p:tav tm="100000">
                                          <p:val>
                                            <p:strVal val="#ppt_x"/>
                                          </p:val>
                                        </p:tav>
                                      </p:tavLst>
                                    </p:anim>
                                    <p:anim calcmode="lin" valueType="num">
                                      <p:cBhvr>
                                        <p:cTn id="22" dur="650" fill="hold"/>
                                        <p:tgtEl>
                                          <p:spTgt spid="7"/>
                                        </p:tgtEl>
                                        <p:attrNameLst>
                                          <p:attrName>ppt_y</p:attrName>
                                        </p:attrNameLst>
                                      </p:cBhvr>
                                      <p:tavLst>
                                        <p:tav tm="0">
                                          <p:val>
                                            <p:strVal val="#ppt_y+.05"/>
                                          </p:val>
                                        </p:tav>
                                        <p:tav tm="100000">
                                          <p:val>
                                            <p:strVal val="#ppt_y"/>
                                          </p:val>
                                        </p:tav>
                                      </p:tavLst>
                                    </p:anim>
                                  </p:childTnLst>
                                </p:cTn>
                              </p:par>
                              <p:par>
                                <p:cTn id="23" presetID="42" presetClass="entr" presetSubtype="0" fill="hold" grpId="0" nodeType="withEffect">
                                  <p:stCondLst>
                                    <p:cond delay="30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50"/>
                                        <p:tgtEl>
                                          <p:spTgt spid="8"/>
                                        </p:tgtEl>
                                      </p:cBhvr>
                                    </p:animEffect>
                                    <p:anim calcmode="lin" valueType="num">
                                      <p:cBhvr>
                                        <p:cTn id="26" dur="650" fill="hold"/>
                                        <p:tgtEl>
                                          <p:spTgt spid="8"/>
                                        </p:tgtEl>
                                        <p:attrNameLst>
                                          <p:attrName>ppt_x</p:attrName>
                                        </p:attrNameLst>
                                      </p:cBhvr>
                                      <p:tavLst>
                                        <p:tav tm="0">
                                          <p:val>
                                            <p:strVal val="#ppt_x"/>
                                          </p:val>
                                        </p:tav>
                                        <p:tav tm="100000">
                                          <p:val>
                                            <p:strVal val="#ppt_x"/>
                                          </p:val>
                                        </p:tav>
                                      </p:tavLst>
                                    </p:anim>
                                    <p:anim calcmode="lin" valueType="num">
                                      <p:cBhvr>
                                        <p:cTn id="27" dur="650" fill="hold"/>
                                        <p:tgtEl>
                                          <p:spTgt spid="8"/>
                                        </p:tgtEl>
                                        <p:attrNameLst>
                                          <p:attrName>ppt_y</p:attrName>
                                        </p:attrNameLst>
                                      </p:cBhvr>
                                      <p:tavLst>
                                        <p:tav tm="0">
                                          <p:val>
                                            <p:strVal val="#ppt_y+.05"/>
                                          </p:val>
                                        </p:tav>
                                        <p:tav tm="100000">
                                          <p:val>
                                            <p:strVal val="#ppt_y"/>
                                          </p:val>
                                        </p:tav>
                                      </p:tavLst>
                                    </p:anim>
                                  </p:childTnLst>
                                </p:cTn>
                              </p:par>
                              <p:par>
                                <p:cTn id="28" presetID="42" presetClass="entr" presetSubtype="0" fill="hold" grpId="0" nodeType="withEffect">
                                  <p:stCondLst>
                                    <p:cond delay="50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650"/>
                                        <p:tgtEl>
                                          <p:spTgt spid="9"/>
                                        </p:tgtEl>
                                      </p:cBhvr>
                                    </p:animEffect>
                                    <p:anim calcmode="lin" valueType="num">
                                      <p:cBhvr>
                                        <p:cTn id="31" dur="650" fill="hold"/>
                                        <p:tgtEl>
                                          <p:spTgt spid="9"/>
                                        </p:tgtEl>
                                        <p:attrNameLst>
                                          <p:attrName>ppt_x</p:attrName>
                                        </p:attrNameLst>
                                      </p:cBhvr>
                                      <p:tavLst>
                                        <p:tav tm="0">
                                          <p:val>
                                            <p:strVal val="#ppt_x"/>
                                          </p:val>
                                        </p:tav>
                                        <p:tav tm="100000">
                                          <p:val>
                                            <p:strVal val="#ppt_x"/>
                                          </p:val>
                                        </p:tav>
                                      </p:tavLst>
                                    </p:anim>
                                    <p:anim calcmode="lin" valueType="num">
                                      <p:cBhvr>
                                        <p:cTn id="32" dur="650" fill="hold"/>
                                        <p:tgtEl>
                                          <p:spTgt spid="9"/>
                                        </p:tgtEl>
                                        <p:attrNameLst>
                                          <p:attrName>ppt_y</p:attrName>
                                        </p:attrNameLst>
                                      </p:cBhvr>
                                      <p:tavLst>
                                        <p:tav tm="0">
                                          <p:val>
                                            <p:strVal val="#ppt_y+.05"/>
                                          </p:val>
                                        </p:tav>
                                        <p:tav tm="100000">
                                          <p:val>
                                            <p:strVal val="#ppt_y"/>
                                          </p:val>
                                        </p:tav>
                                      </p:tavLst>
                                    </p:anim>
                                  </p:childTnLst>
                                </p:cTn>
                              </p:par>
                              <p:par>
                                <p:cTn id="33" presetID="42" presetClass="entr" presetSubtype="0" fill="hold" grpId="0" nodeType="withEffect">
                                  <p:stCondLst>
                                    <p:cond delay="50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650"/>
                                        <p:tgtEl>
                                          <p:spTgt spid="10"/>
                                        </p:tgtEl>
                                      </p:cBhvr>
                                    </p:animEffect>
                                    <p:anim calcmode="lin" valueType="num">
                                      <p:cBhvr>
                                        <p:cTn id="36" dur="650" fill="hold"/>
                                        <p:tgtEl>
                                          <p:spTgt spid="10"/>
                                        </p:tgtEl>
                                        <p:attrNameLst>
                                          <p:attrName>ppt_x</p:attrName>
                                        </p:attrNameLst>
                                      </p:cBhvr>
                                      <p:tavLst>
                                        <p:tav tm="0">
                                          <p:val>
                                            <p:strVal val="#ppt_x"/>
                                          </p:val>
                                        </p:tav>
                                        <p:tav tm="100000">
                                          <p:val>
                                            <p:strVal val="#ppt_x"/>
                                          </p:val>
                                        </p:tav>
                                      </p:tavLst>
                                    </p:anim>
                                    <p:anim calcmode="lin" valueType="num">
                                      <p:cBhvr>
                                        <p:cTn id="37" dur="650" fill="hold"/>
                                        <p:tgtEl>
                                          <p:spTgt spid="10"/>
                                        </p:tgtEl>
                                        <p:attrNameLst>
                                          <p:attrName>ppt_y</p:attrName>
                                        </p:attrNameLst>
                                      </p:cBhvr>
                                      <p:tavLst>
                                        <p:tav tm="0">
                                          <p:val>
                                            <p:strVal val="#ppt_y+.05"/>
                                          </p:val>
                                        </p:tav>
                                        <p:tav tm="100000">
                                          <p:val>
                                            <p:strVal val="#ppt_y"/>
                                          </p:val>
                                        </p:tav>
                                      </p:tavLst>
                                    </p:anim>
                                  </p:childTnLst>
                                </p:cTn>
                              </p:par>
                              <p:par>
                                <p:cTn id="38" presetID="42" presetClass="entr" presetSubtype="0" fill="hold" grpId="0" nodeType="withEffect">
                                  <p:stCondLst>
                                    <p:cond delay="50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650"/>
                                        <p:tgtEl>
                                          <p:spTgt spid="11"/>
                                        </p:tgtEl>
                                      </p:cBhvr>
                                    </p:animEffect>
                                    <p:anim calcmode="lin" valueType="num">
                                      <p:cBhvr>
                                        <p:cTn id="41" dur="650" fill="hold"/>
                                        <p:tgtEl>
                                          <p:spTgt spid="11"/>
                                        </p:tgtEl>
                                        <p:attrNameLst>
                                          <p:attrName>ppt_x</p:attrName>
                                        </p:attrNameLst>
                                      </p:cBhvr>
                                      <p:tavLst>
                                        <p:tav tm="0">
                                          <p:val>
                                            <p:strVal val="#ppt_x"/>
                                          </p:val>
                                        </p:tav>
                                        <p:tav tm="100000">
                                          <p:val>
                                            <p:strVal val="#ppt_x"/>
                                          </p:val>
                                        </p:tav>
                                      </p:tavLst>
                                    </p:anim>
                                    <p:anim calcmode="lin" valueType="num">
                                      <p:cBhvr>
                                        <p:cTn id="42" dur="650" fill="hold"/>
                                        <p:tgtEl>
                                          <p:spTgt spid="11"/>
                                        </p:tgtEl>
                                        <p:attrNameLst>
                                          <p:attrName>ppt_y</p:attrName>
                                        </p:attrNameLst>
                                      </p:cBhvr>
                                      <p:tavLst>
                                        <p:tav tm="0">
                                          <p:val>
                                            <p:strVal val="#ppt_y+.05"/>
                                          </p:val>
                                        </p:tav>
                                        <p:tav tm="100000">
                                          <p:val>
                                            <p:strVal val="#ppt_y"/>
                                          </p:val>
                                        </p:tav>
                                      </p:tavLst>
                                    </p:anim>
                                  </p:childTnLst>
                                </p:cTn>
                              </p:par>
                              <p:par>
                                <p:cTn id="43" presetID="42" presetClass="entr" presetSubtype="0" fill="hold" grpId="0" nodeType="withEffect">
                                  <p:stCondLst>
                                    <p:cond delay="50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650"/>
                                        <p:tgtEl>
                                          <p:spTgt spid="12"/>
                                        </p:tgtEl>
                                      </p:cBhvr>
                                    </p:animEffect>
                                    <p:anim calcmode="lin" valueType="num">
                                      <p:cBhvr>
                                        <p:cTn id="46" dur="650" fill="hold"/>
                                        <p:tgtEl>
                                          <p:spTgt spid="12"/>
                                        </p:tgtEl>
                                        <p:attrNameLst>
                                          <p:attrName>ppt_x</p:attrName>
                                        </p:attrNameLst>
                                      </p:cBhvr>
                                      <p:tavLst>
                                        <p:tav tm="0">
                                          <p:val>
                                            <p:strVal val="#ppt_x"/>
                                          </p:val>
                                        </p:tav>
                                        <p:tav tm="100000">
                                          <p:val>
                                            <p:strVal val="#ppt_x"/>
                                          </p:val>
                                        </p:tav>
                                      </p:tavLst>
                                    </p:anim>
                                    <p:anim calcmode="lin" valueType="num">
                                      <p:cBhvr>
                                        <p:cTn id="47" dur="650" fill="hold"/>
                                        <p:tgtEl>
                                          <p:spTgt spid="12"/>
                                        </p:tgtEl>
                                        <p:attrNameLst>
                                          <p:attrName>ppt_y</p:attrName>
                                        </p:attrNameLst>
                                      </p:cBhvr>
                                      <p:tavLst>
                                        <p:tav tm="0">
                                          <p:val>
                                            <p:strVal val="#ppt_y+.05"/>
                                          </p:val>
                                        </p:tav>
                                        <p:tav tm="100000">
                                          <p:val>
                                            <p:strVal val="#ppt_y"/>
                                          </p:val>
                                        </p:tav>
                                      </p:tavLst>
                                    </p:anim>
                                  </p:childTnLst>
                                </p:cTn>
                              </p:par>
                              <p:par>
                                <p:cTn id="48" presetID="42" presetClass="entr" presetSubtype="0" fill="hold" grpId="0" nodeType="withEffect">
                                  <p:stCondLst>
                                    <p:cond delay="70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650"/>
                                        <p:tgtEl>
                                          <p:spTgt spid="13"/>
                                        </p:tgtEl>
                                      </p:cBhvr>
                                    </p:animEffect>
                                    <p:anim calcmode="lin" valueType="num">
                                      <p:cBhvr>
                                        <p:cTn id="51" dur="650" fill="hold"/>
                                        <p:tgtEl>
                                          <p:spTgt spid="13"/>
                                        </p:tgtEl>
                                        <p:attrNameLst>
                                          <p:attrName>ppt_x</p:attrName>
                                        </p:attrNameLst>
                                      </p:cBhvr>
                                      <p:tavLst>
                                        <p:tav tm="0">
                                          <p:val>
                                            <p:strVal val="#ppt_x"/>
                                          </p:val>
                                        </p:tav>
                                        <p:tav tm="100000">
                                          <p:val>
                                            <p:strVal val="#ppt_x"/>
                                          </p:val>
                                        </p:tav>
                                      </p:tavLst>
                                    </p:anim>
                                    <p:anim calcmode="lin" valueType="num">
                                      <p:cBhvr>
                                        <p:cTn id="52" dur="650" fill="hold"/>
                                        <p:tgtEl>
                                          <p:spTgt spid="13"/>
                                        </p:tgtEl>
                                        <p:attrNameLst>
                                          <p:attrName>ppt_y</p:attrName>
                                        </p:attrNameLst>
                                      </p:cBhvr>
                                      <p:tavLst>
                                        <p:tav tm="0">
                                          <p:val>
                                            <p:strVal val="#ppt_y+.05"/>
                                          </p:val>
                                        </p:tav>
                                        <p:tav tm="100000">
                                          <p:val>
                                            <p:strVal val="#ppt_y"/>
                                          </p:val>
                                        </p:tav>
                                      </p:tavLst>
                                    </p:anim>
                                  </p:childTnLst>
                                </p:cTn>
                              </p:par>
                              <p:par>
                                <p:cTn id="53" presetID="42" presetClass="entr" presetSubtype="0" fill="hold" grpId="0" nodeType="withEffect">
                                  <p:stCondLst>
                                    <p:cond delay="70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650"/>
                                        <p:tgtEl>
                                          <p:spTgt spid="14"/>
                                        </p:tgtEl>
                                      </p:cBhvr>
                                    </p:animEffect>
                                    <p:anim calcmode="lin" valueType="num">
                                      <p:cBhvr>
                                        <p:cTn id="56" dur="650" fill="hold"/>
                                        <p:tgtEl>
                                          <p:spTgt spid="14"/>
                                        </p:tgtEl>
                                        <p:attrNameLst>
                                          <p:attrName>ppt_x</p:attrName>
                                        </p:attrNameLst>
                                      </p:cBhvr>
                                      <p:tavLst>
                                        <p:tav tm="0">
                                          <p:val>
                                            <p:strVal val="#ppt_x"/>
                                          </p:val>
                                        </p:tav>
                                        <p:tav tm="100000">
                                          <p:val>
                                            <p:strVal val="#ppt_x"/>
                                          </p:val>
                                        </p:tav>
                                      </p:tavLst>
                                    </p:anim>
                                    <p:anim calcmode="lin" valueType="num">
                                      <p:cBhvr>
                                        <p:cTn id="57" dur="650" fill="hold"/>
                                        <p:tgtEl>
                                          <p:spTgt spid="14"/>
                                        </p:tgtEl>
                                        <p:attrNameLst>
                                          <p:attrName>ppt_y</p:attrName>
                                        </p:attrNameLst>
                                      </p:cBhvr>
                                      <p:tavLst>
                                        <p:tav tm="0">
                                          <p:val>
                                            <p:strVal val="#ppt_y+.05"/>
                                          </p:val>
                                        </p:tav>
                                        <p:tav tm="100000">
                                          <p:val>
                                            <p:strVal val="#ppt_y"/>
                                          </p:val>
                                        </p:tav>
                                      </p:tavLst>
                                    </p:anim>
                                  </p:childTnLst>
                                </p:cTn>
                              </p:par>
                              <p:par>
                                <p:cTn id="58" presetID="42" presetClass="entr" presetSubtype="0" fill="hold" grpId="0" nodeType="withEffect">
                                  <p:stCondLst>
                                    <p:cond delay="70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650"/>
                                        <p:tgtEl>
                                          <p:spTgt spid="15"/>
                                        </p:tgtEl>
                                      </p:cBhvr>
                                    </p:animEffect>
                                    <p:anim calcmode="lin" valueType="num">
                                      <p:cBhvr>
                                        <p:cTn id="61" dur="650" fill="hold"/>
                                        <p:tgtEl>
                                          <p:spTgt spid="15"/>
                                        </p:tgtEl>
                                        <p:attrNameLst>
                                          <p:attrName>ppt_x</p:attrName>
                                        </p:attrNameLst>
                                      </p:cBhvr>
                                      <p:tavLst>
                                        <p:tav tm="0">
                                          <p:val>
                                            <p:strVal val="#ppt_x"/>
                                          </p:val>
                                        </p:tav>
                                        <p:tav tm="100000">
                                          <p:val>
                                            <p:strVal val="#ppt_x"/>
                                          </p:val>
                                        </p:tav>
                                      </p:tavLst>
                                    </p:anim>
                                    <p:anim calcmode="lin" valueType="num">
                                      <p:cBhvr>
                                        <p:cTn id="62" dur="650" fill="hold"/>
                                        <p:tgtEl>
                                          <p:spTgt spid="15"/>
                                        </p:tgtEl>
                                        <p:attrNameLst>
                                          <p:attrName>ppt_y</p:attrName>
                                        </p:attrNameLst>
                                      </p:cBhvr>
                                      <p:tavLst>
                                        <p:tav tm="0">
                                          <p:val>
                                            <p:strVal val="#ppt_y+.05"/>
                                          </p:val>
                                        </p:tav>
                                        <p:tav tm="100000">
                                          <p:val>
                                            <p:strVal val="#ppt_y"/>
                                          </p:val>
                                        </p:tav>
                                      </p:tavLst>
                                    </p:anim>
                                  </p:childTnLst>
                                </p:cTn>
                              </p:par>
                              <p:par>
                                <p:cTn id="63" presetID="42" presetClass="entr" presetSubtype="0" fill="hold" grpId="0" nodeType="withEffect">
                                  <p:stCondLst>
                                    <p:cond delay="700"/>
                                  </p:stCondLst>
                                  <p:childTnLst>
                                    <p:set>
                                      <p:cBhvr>
                                        <p:cTn id="64" dur="1" fill="hold">
                                          <p:stCondLst>
                                            <p:cond delay="0"/>
                                          </p:stCondLst>
                                        </p:cTn>
                                        <p:tgtEl>
                                          <p:spTgt spid="16"/>
                                        </p:tgtEl>
                                        <p:attrNameLst>
                                          <p:attrName>style.visibility</p:attrName>
                                        </p:attrNameLst>
                                      </p:cBhvr>
                                      <p:to>
                                        <p:strVal val="visible"/>
                                      </p:to>
                                    </p:set>
                                    <p:animEffect transition="in" filter="fade">
                                      <p:cBhvr>
                                        <p:cTn id="65" dur="650"/>
                                        <p:tgtEl>
                                          <p:spTgt spid="16"/>
                                        </p:tgtEl>
                                      </p:cBhvr>
                                    </p:animEffect>
                                    <p:anim calcmode="lin" valueType="num">
                                      <p:cBhvr>
                                        <p:cTn id="66" dur="650" fill="hold"/>
                                        <p:tgtEl>
                                          <p:spTgt spid="16"/>
                                        </p:tgtEl>
                                        <p:attrNameLst>
                                          <p:attrName>ppt_x</p:attrName>
                                        </p:attrNameLst>
                                      </p:cBhvr>
                                      <p:tavLst>
                                        <p:tav tm="0">
                                          <p:val>
                                            <p:strVal val="#ppt_x"/>
                                          </p:val>
                                        </p:tav>
                                        <p:tav tm="100000">
                                          <p:val>
                                            <p:strVal val="#ppt_x"/>
                                          </p:val>
                                        </p:tav>
                                      </p:tavLst>
                                    </p:anim>
                                    <p:anim calcmode="lin" valueType="num">
                                      <p:cBhvr>
                                        <p:cTn id="67" dur="650" fill="hold"/>
                                        <p:tgtEl>
                                          <p:spTgt spid="16"/>
                                        </p:tgtEl>
                                        <p:attrNameLst>
                                          <p:attrName>ppt_y</p:attrName>
                                        </p:attrNameLst>
                                      </p:cBhvr>
                                      <p:tavLst>
                                        <p:tav tm="0">
                                          <p:val>
                                            <p:strVal val="#ppt_y+.05"/>
                                          </p:val>
                                        </p:tav>
                                        <p:tav tm="100000">
                                          <p:val>
                                            <p:strVal val="#ppt_y"/>
                                          </p:val>
                                        </p:tav>
                                      </p:tavLst>
                                    </p:anim>
                                  </p:childTnLst>
                                </p:cTn>
                              </p:par>
                              <p:par>
                                <p:cTn id="68" presetID="42" presetClass="entr" presetSubtype="0" fill="hold" grpId="0" nodeType="withEffect">
                                  <p:stCondLst>
                                    <p:cond delay="900"/>
                                  </p:stCondLst>
                                  <p:childTnLst>
                                    <p:set>
                                      <p:cBhvr>
                                        <p:cTn id="69" dur="1" fill="hold">
                                          <p:stCondLst>
                                            <p:cond delay="0"/>
                                          </p:stCondLst>
                                        </p:cTn>
                                        <p:tgtEl>
                                          <p:spTgt spid="17"/>
                                        </p:tgtEl>
                                        <p:attrNameLst>
                                          <p:attrName>style.visibility</p:attrName>
                                        </p:attrNameLst>
                                      </p:cBhvr>
                                      <p:to>
                                        <p:strVal val="visible"/>
                                      </p:to>
                                    </p:set>
                                    <p:animEffect transition="in" filter="fade">
                                      <p:cBhvr>
                                        <p:cTn id="70" dur="650"/>
                                        <p:tgtEl>
                                          <p:spTgt spid="17"/>
                                        </p:tgtEl>
                                      </p:cBhvr>
                                    </p:animEffect>
                                    <p:anim calcmode="lin" valueType="num">
                                      <p:cBhvr>
                                        <p:cTn id="71" dur="650" fill="hold"/>
                                        <p:tgtEl>
                                          <p:spTgt spid="17"/>
                                        </p:tgtEl>
                                        <p:attrNameLst>
                                          <p:attrName>ppt_x</p:attrName>
                                        </p:attrNameLst>
                                      </p:cBhvr>
                                      <p:tavLst>
                                        <p:tav tm="0">
                                          <p:val>
                                            <p:strVal val="#ppt_x"/>
                                          </p:val>
                                        </p:tav>
                                        <p:tav tm="100000">
                                          <p:val>
                                            <p:strVal val="#ppt_x"/>
                                          </p:val>
                                        </p:tav>
                                      </p:tavLst>
                                    </p:anim>
                                    <p:anim calcmode="lin" valueType="num">
                                      <p:cBhvr>
                                        <p:cTn id="72" dur="650" fill="hold"/>
                                        <p:tgtEl>
                                          <p:spTgt spid="17"/>
                                        </p:tgtEl>
                                        <p:attrNameLst>
                                          <p:attrName>ppt_y</p:attrName>
                                        </p:attrNameLst>
                                      </p:cBhvr>
                                      <p:tavLst>
                                        <p:tav tm="0">
                                          <p:val>
                                            <p:strVal val="#ppt_y+.05"/>
                                          </p:val>
                                        </p:tav>
                                        <p:tav tm="100000">
                                          <p:val>
                                            <p:strVal val="#ppt_y"/>
                                          </p:val>
                                        </p:tav>
                                      </p:tavLst>
                                    </p:anim>
                                  </p:childTnLst>
                                </p:cTn>
                              </p:par>
                              <p:par>
                                <p:cTn id="73" presetID="42" presetClass="entr" presetSubtype="0" fill="hold" grpId="0" nodeType="withEffect">
                                  <p:stCondLst>
                                    <p:cond delay="900"/>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650"/>
                                        <p:tgtEl>
                                          <p:spTgt spid="18"/>
                                        </p:tgtEl>
                                      </p:cBhvr>
                                    </p:animEffect>
                                    <p:anim calcmode="lin" valueType="num">
                                      <p:cBhvr>
                                        <p:cTn id="76" dur="650" fill="hold"/>
                                        <p:tgtEl>
                                          <p:spTgt spid="18"/>
                                        </p:tgtEl>
                                        <p:attrNameLst>
                                          <p:attrName>ppt_x</p:attrName>
                                        </p:attrNameLst>
                                      </p:cBhvr>
                                      <p:tavLst>
                                        <p:tav tm="0">
                                          <p:val>
                                            <p:strVal val="#ppt_x"/>
                                          </p:val>
                                        </p:tav>
                                        <p:tav tm="100000">
                                          <p:val>
                                            <p:strVal val="#ppt_x"/>
                                          </p:val>
                                        </p:tav>
                                      </p:tavLst>
                                    </p:anim>
                                    <p:anim calcmode="lin" valueType="num">
                                      <p:cBhvr>
                                        <p:cTn id="77" dur="650" fill="hold"/>
                                        <p:tgtEl>
                                          <p:spTgt spid="18"/>
                                        </p:tgtEl>
                                        <p:attrNameLst>
                                          <p:attrName>ppt_y</p:attrName>
                                        </p:attrNameLst>
                                      </p:cBhvr>
                                      <p:tavLst>
                                        <p:tav tm="0">
                                          <p:val>
                                            <p:strVal val="#ppt_y+.05"/>
                                          </p:val>
                                        </p:tav>
                                        <p:tav tm="100000">
                                          <p:val>
                                            <p:strVal val="#ppt_y"/>
                                          </p:val>
                                        </p:tav>
                                      </p:tavLst>
                                    </p:anim>
                                  </p:childTnLst>
                                </p:cTn>
                              </p:par>
                              <p:par>
                                <p:cTn id="78" presetID="42" presetClass="entr" presetSubtype="0" fill="hold" grpId="0" nodeType="withEffect">
                                  <p:stCondLst>
                                    <p:cond delay="900"/>
                                  </p:stCondLst>
                                  <p:childTnLst>
                                    <p:set>
                                      <p:cBhvr>
                                        <p:cTn id="79" dur="1" fill="hold">
                                          <p:stCondLst>
                                            <p:cond delay="0"/>
                                          </p:stCondLst>
                                        </p:cTn>
                                        <p:tgtEl>
                                          <p:spTgt spid="19"/>
                                        </p:tgtEl>
                                        <p:attrNameLst>
                                          <p:attrName>style.visibility</p:attrName>
                                        </p:attrNameLst>
                                      </p:cBhvr>
                                      <p:to>
                                        <p:strVal val="visible"/>
                                      </p:to>
                                    </p:set>
                                    <p:animEffect transition="in" filter="fade">
                                      <p:cBhvr>
                                        <p:cTn id="80" dur="650"/>
                                        <p:tgtEl>
                                          <p:spTgt spid="19"/>
                                        </p:tgtEl>
                                      </p:cBhvr>
                                    </p:animEffect>
                                    <p:anim calcmode="lin" valueType="num">
                                      <p:cBhvr>
                                        <p:cTn id="81" dur="650" fill="hold"/>
                                        <p:tgtEl>
                                          <p:spTgt spid="19"/>
                                        </p:tgtEl>
                                        <p:attrNameLst>
                                          <p:attrName>ppt_x</p:attrName>
                                        </p:attrNameLst>
                                      </p:cBhvr>
                                      <p:tavLst>
                                        <p:tav tm="0">
                                          <p:val>
                                            <p:strVal val="#ppt_x"/>
                                          </p:val>
                                        </p:tav>
                                        <p:tav tm="100000">
                                          <p:val>
                                            <p:strVal val="#ppt_x"/>
                                          </p:val>
                                        </p:tav>
                                      </p:tavLst>
                                    </p:anim>
                                    <p:anim calcmode="lin" valueType="num">
                                      <p:cBhvr>
                                        <p:cTn id="82" dur="650" fill="hold"/>
                                        <p:tgtEl>
                                          <p:spTgt spid="19"/>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eyebrow"/>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100" b="1" spc="200" kern="0" dirty="0">
                <a:solidFill>
                  <a:srgbClr val="B3441A"/>
                </a:solidFill>
                <a:latin typeface="Arial" pitchFamily="34" charset="0"/>
                <a:ea typeface="Arial" pitchFamily="34" charset="-122"/>
                <a:cs typeface="Arial" pitchFamily="34" charset="-120"/>
              </a:rPr>
              <a:t>WHAT IT MEANS</a:t>
            </a:r>
            <a:endParaRPr lang="en-US" sz="1100" dirty="0"/>
          </a:p>
        </p:txBody>
      </p:sp>
      <p:sp>
        <p:nvSpPr>
          <p:cNvPr id="4" name="Text 1"/>
          <p:cNvSpPr/>
          <p:nvPr>
            <p:ph idx="101" type="title" hasCustomPrompt="1"/>
          </p:nvPr>
        </p:nvSpPr>
        <p:spPr>
          <a:xfrm>
            <a:off x="548640" y="841248"/>
            <a:ext cx="11094415" cy="731520"/>
          </a:xfrm>
          <a:prstGeom prst="rect">
            <a:avLst/>
          </a:prstGeom>
          <a:noFill/>
          <a:ln/>
        </p:spPr>
        <p:txBody>
          <a:bodyPr wrap="square" lIns="0" tIns="0" rIns="0" bIns="0" rtlCol="0" anchor="t"/>
          <a:lstStyle/>
          <a:p>
            <a:pPr algn="l" indent="0" marL="0">
              <a:buNone/>
            </a:pPr>
            <a:r>
              <a:rPr lang="en-US" sz="3600" b="1" dirty="0">
                <a:solidFill>
                  <a:srgbClr val="1D1D1F"/>
                </a:solidFill>
                <a:latin typeface="Arial" pitchFamily="34" charset="0"/>
                <a:ea typeface="Arial" pitchFamily="34" charset="-122"/>
                <a:cs typeface="Arial" pitchFamily="34" charset="-120"/>
              </a:rPr>
              <a:t>What changes for Member Care</a:t>
            </a:r>
            <a:endParaRPr lang="en-US" sz="36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2651760"/>
                <a:gridCol w="4114800"/>
                <a:gridCol w="4327855"/>
              </a:tblGrid>
              <a:tr h="502920">
                <a:tc>
                  <a:txBody>
                    <a:bodyPr/>
                    <a:lstStyle/>
                    <a:p>
                      <a:pPr indent="0" marL="0">
                        <a:buNone/>
                      </a:pPr>
                      <a:endParaRPr lang="en-US" sz="1400" dirty="0">
                        <a:latin typeface="Arial" charset="0"/>
                        <a:ea typeface="Arial" charset="0"/>
                        <a:cs typeface="Arial" charset="0"/>
                      </a:endParaRPr>
                    </a:p>
                  </a:txBody>
                  <a:tcPr marL="182880" marR="182880" marT="73152" marB="73152"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1D1D1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Before</a:t>
                      </a:r>
                      <a:endParaRPr lang="en-US" sz="1400" dirty="0">
                        <a:latin typeface="Arial" charset="0"/>
                        <a:ea typeface="Arial" charset="0"/>
                        <a:cs typeface="Arial" charset="0"/>
                      </a:endParaRPr>
                    </a:p>
                  </a:txBody>
                  <a:tcPr marL="182880" marR="182880" marT="73152" marB="73152"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1D1D1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With the tool</a:t>
                      </a:r>
                      <a:endParaRPr lang="en-US" sz="1400" dirty="0">
                        <a:latin typeface="Arial" charset="0"/>
                        <a:ea typeface="Arial" charset="0"/>
                        <a:cs typeface="Arial" charset="0"/>
                      </a:endParaRPr>
                    </a:p>
                  </a:txBody>
                  <a:tcPr marL="182880" marR="182880" marT="73152" marB="73152"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C4511A"/>
                    </a:solidFill>
                  </a:tcPr>
                </a:tc>
              </a:tr>
              <a:tr h="713232">
                <a:tc>
                  <a:txBody>
                    <a:bodyPr/>
                    <a:lstStyle/>
                    <a:p>
                      <a:pPr indent="0" marL="0">
                        <a:buNone/>
                      </a:pPr>
                      <a:r>
                        <a:rPr lang="en-US" sz="1400" b="1" dirty="0">
                          <a:solidFill>
                            <a:srgbClr val="1D1D1F"/>
                          </a:solidFill>
                          <a:latin typeface="Arial" pitchFamily="34" charset="0"/>
                          <a:ea typeface="Arial" pitchFamily="34" charset="-122"/>
                          <a:cs typeface="Arial" pitchFamily="34" charset="-120"/>
                        </a:rPr>
                        <a:t>Gathering the files</a:t>
                      </a:r>
                      <a:endParaRPr lang="en-US" sz="1400" dirty="0">
                        <a:latin typeface="Arial" charset="0"/>
                        <a:ea typeface="Arial" charset="0"/>
                        <a:cs typeface="Arial" charset="0"/>
                      </a:endParaRPr>
                    </a:p>
                  </a:txBody>
                  <a:tcPr marL="182880" marR="182880" marT="73152" marB="73152"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8F8FA"/>
                    </a:solidFill>
                  </a:tcPr>
                </a:tc>
                <a:tc>
                  <a:txBody>
                    <a:bodyPr/>
                    <a:lstStyle/>
                    <a:p>
                      <a:pPr indent="0" marL="0">
                        <a:buNone/>
                      </a:pPr>
                      <a:r>
                        <a:rPr lang="en-US" sz="1400" dirty="0">
                          <a:solidFill>
                            <a:srgbClr val="58585D"/>
                          </a:solidFill>
                          <a:latin typeface="Arial" pitchFamily="34" charset="0"/>
                          <a:ea typeface="Arial" pitchFamily="34" charset="-122"/>
                          <a:cs typeface="Arial" pitchFamily="34" charset="-120"/>
                        </a:rPr>
                        <a:t>Each file found and joined by hand</a:t>
                      </a:r>
                      <a:endParaRPr lang="en-US" sz="1400" dirty="0">
                        <a:latin typeface="Arial" charset="0"/>
                        <a:ea typeface="Arial" charset="0"/>
                        <a:cs typeface="Arial" charset="0"/>
                      </a:endParaRPr>
                    </a:p>
                  </a:txBody>
                  <a:tcPr marL="182880" marR="182880" marT="73152" marB="73152"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8F8FA"/>
                    </a:solidFill>
                  </a:tcPr>
                </a:tc>
                <a:tc>
                  <a:txBody>
                    <a:bodyPr/>
                    <a:lstStyle/>
                    <a:p>
                      <a:pPr indent="0" marL="0">
                        <a:buNone/>
                      </a:pPr>
                      <a:r>
                        <a:rPr lang="en-US" sz="1400" b="1" dirty="0">
                          <a:solidFill>
                            <a:srgbClr val="1D1D1F"/>
                          </a:solidFill>
                          <a:latin typeface="Arial" pitchFamily="34" charset="0"/>
                          <a:ea typeface="Arial" pitchFamily="34" charset="-122"/>
                          <a:cs typeface="Arial" pitchFamily="34" charset="-120"/>
                        </a:rPr>
                        <a:t>One drop, each file recognised</a:t>
                      </a:r>
                      <a:endParaRPr lang="en-US" sz="1400" dirty="0">
                        <a:latin typeface="Arial" charset="0"/>
                        <a:ea typeface="Arial" charset="0"/>
                        <a:cs typeface="Arial" charset="0"/>
                      </a:endParaRPr>
                    </a:p>
                  </a:txBody>
                  <a:tcPr marL="182880" marR="182880" marT="73152" marB="73152"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8F8FA"/>
                    </a:solidFill>
                  </a:tcPr>
                </a:tc>
              </a:tr>
              <a:tr h="713232">
                <a:tc>
                  <a:txBody>
                    <a:bodyPr/>
                    <a:lstStyle/>
                    <a:p>
                      <a:pPr indent="0" marL="0">
                        <a:buNone/>
                      </a:pPr>
                      <a:r>
                        <a:rPr lang="en-US" sz="1400" b="1" dirty="0">
                          <a:solidFill>
                            <a:srgbClr val="1D1D1F"/>
                          </a:solidFill>
                          <a:latin typeface="Arial" pitchFamily="34" charset="0"/>
                          <a:ea typeface="Arial" pitchFamily="34" charset="-122"/>
                          <a:cs typeface="Arial" pitchFamily="34" charset="-120"/>
                        </a:rPr>
                        <a:t>Checking</a:t>
                      </a:r>
                      <a:endParaRPr lang="en-US" sz="1400" dirty="0">
                        <a:latin typeface="Arial" charset="0"/>
                        <a:ea typeface="Arial" charset="0"/>
                        <a:cs typeface="Arial" charset="0"/>
                      </a:endParaRPr>
                    </a:p>
                  </a:txBody>
                  <a:tcPr marL="182880" marR="182880" marT="73152" marB="73152"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indent="0" marL="0">
                        <a:buNone/>
                      </a:pPr>
                      <a:r>
                        <a:rPr lang="en-US" sz="1400" dirty="0">
                          <a:solidFill>
                            <a:srgbClr val="58585D"/>
                          </a:solidFill>
                          <a:latin typeface="Arial" pitchFamily="34" charset="0"/>
                          <a:ea typeface="Arial" pitchFamily="34" charset="-122"/>
                          <a:cs typeface="Arial" pitchFamily="34" charset="-120"/>
                        </a:rPr>
                        <a:t>Mistakes found after the emails went out</a:t>
                      </a:r>
                      <a:endParaRPr lang="en-US" sz="1400" dirty="0">
                        <a:latin typeface="Arial" charset="0"/>
                        <a:ea typeface="Arial" charset="0"/>
                        <a:cs typeface="Arial" charset="0"/>
                      </a:endParaRPr>
                    </a:p>
                  </a:txBody>
                  <a:tcPr marL="182880" marR="182880" marT="73152" marB="73152"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indent="0" marL="0">
                        <a:buNone/>
                      </a:pPr>
                      <a:r>
                        <a:rPr lang="en-US" sz="1400" b="1" dirty="0">
                          <a:solidFill>
                            <a:srgbClr val="1D1D1F"/>
                          </a:solidFill>
                          <a:latin typeface="Arial" pitchFamily="34" charset="0"/>
                          <a:ea typeface="Arial" pitchFamily="34" charset="-122"/>
                          <a:cs typeface="Arial" pitchFamily="34" charset="-120"/>
                        </a:rPr>
                        <a:t>Checks before anything is built</a:t>
                      </a:r>
                      <a:endParaRPr lang="en-US" sz="1400" dirty="0">
                        <a:latin typeface="Arial" charset="0"/>
                        <a:ea typeface="Arial" charset="0"/>
                        <a:cs typeface="Arial" charset="0"/>
                      </a:endParaRPr>
                    </a:p>
                  </a:txBody>
                  <a:tcPr marL="182880" marR="182880" marT="73152" marB="73152"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rgbClr val="1D1D1F"/>
                          </a:solidFill>
                          <a:latin typeface="Arial" pitchFamily="34" charset="0"/>
                          <a:ea typeface="Arial" pitchFamily="34" charset="-122"/>
                          <a:cs typeface="Arial" pitchFamily="34" charset="-120"/>
                        </a:rPr>
                        <a:t>Explaining a bonus</a:t>
                      </a:r>
                      <a:endParaRPr lang="en-US" sz="1400" dirty="0">
                        <a:latin typeface="Arial" charset="0"/>
                        <a:ea typeface="Arial" charset="0"/>
                        <a:cs typeface="Arial" charset="0"/>
                      </a:endParaRPr>
                    </a:p>
                  </a:txBody>
                  <a:tcPr marL="182880" marR="182880" marT="73152" marB="73152"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8F8FA"/>
                    </a:solidFill>
                  </a:tcPr>
                </a:tc>
                <a:tc>
                  <a:txBody>
                    <a:bodyPr/>
                    <a:lstStyle/>
                    <a:p>
                      <a:pPr indent="0" marL="0">
                        <a:buNone/>
                      </a:pPr>
                      <a:r>
                        <a:rPr lang="en-US" sz="1400" dirty="0">
                          <a:solidFill>
                            <a:srgbClr val="58585D"/>
                          </a:solidFill>
                          <a:latin typeface="Arial" pitchFamily="34" charset="0"/>
                          <a:ea typeface="Arial" pitchFamily="34" charset="-122"/>
                          <a:cs typeface="Arial" pitchFamily="34" charset="-120"/>
                        </a:rPr>
                        <a:t>Worked out again on request</a:t>
                      </a:r>
                      <a:endParaRPr lang="en-US" sz="1400" dirty="0">
                        <a:latin typeface="Arial" charset="0"/>
                        <a:ea typeface="Arial" charset="0"/>
                        <a:cs typeface="Arial" charset="0"/>
                      </a:endParaRPr>
                    </a:p>
                  </a:txBody>
                  <a:tcPr marL="182880" marR="182880" marT="73152" marB="73152"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8F8FA"/>
                    </a:solidFill>
                  </a:tcPr>
                </a:tc>
                <a:tc>
                  <a:txBody>
                    <a:bodyPr/>
                    <a:lstStyle/>
                    <a:p>
                      <a:pPr indent="0" marL="0">
                        <a:buNone/>
                      </a:pPr>
                      <a:r>
                        <a:rPr lang="en-US" sz="1400" b="1" dirty="0">
                          <a:solidFill>
                            <a:srgbClr val="1D1D1F"/>
                          </a:solidFill>
                          <a:latin typeface="Arial" pitchFamily="34" charset="0"/>
                          <a:ea typeface="Arial" pitchFamily="34" charset="-122"/>
                          <a:cs typeface="Arial" pitchFamily="34" charset="-120"/>
                        </a:rPr>
                        <a:t>Every person's breakdown in one click</a:t>
                      </a:r>
                      <a:endParaRPr lang="en-US" sz="1400" dirty="0">
                        <a:latin typeface="Arial" charset="0"/>
                        <a:ea typeface="Arial" charset="0"/>
                        <a:cs typeface="Arial" charset="0"/>
                      </a:endParaRPr>
                    </a:p>
                  </a:txBody>
                  <a:tcPr marL="182880" marR="182880" marT="73152" marB="73152"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8F8FA"/>
                    </a:solidFill>
                  </a:tcPr>
                </a:tc>
              </a:tr>
              <a:tr h="713232">
                <a:tc>
                  <a:txBody>
                    <a:bodyPr/>
                    <a:lstStyle/>
                    <a:p>
                      <a:pPr indent="0" marL="0">
                        <a:buNone/>
                      </a:pPr>
                      <a:r>
                        <a:rPr lang="en-US" sz="1400" b="1" dirty="0">
                          <a:solidFill>
                            <a:srgbClr val="1D1D1F"/>
                          </a:solidFill>
                          <a:latin typeface="Arial" pitchFamily="34" charset="0"/>
                          <a:ea typeface="Arial" pitchFamily="34" charset="-122"/>
                          <a:cs typeface="Arial" pitchFamily="34" charset="-120"/>
                        </a:rPr>
                        <a:t>Emails</a:t>
                      </a:r>
                      <a:endParaRPr lang="en-US" sz="1400" dirty="0">
                        <a:latin typeface="Arial" charset="0"/>
                        <a:ea typeface="Arial" charset="0"/>
                        <a:cs typeface="Arial" charset="0"/>
                      </a:endParaRPr>
                    </a:p>
                  </a:txBody>
                  <a:tcPr marL="182880" marR="182880" marT="73152" marB="73152"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indent="0" marL="0">
                        <a:buNone/>
                      </a:pPr>
                      <a:r>
                        <a:rPr lang="en-US" sz="1400" dirty="0">
                          <a:solidFill>
                            <a:srgbClr val="58585D"/>
                          </a:solidFill>
                          <a:latin typeface="Arial" pitchFamily="34" charset="0"/>
                          <a:ea typeface="Arial" pitchFamily="34" charset="-122"/>
                          <a:cs typeface="Arial" pitchFamily="34" charset="-120"/>
                        </a:rPr>
                        <a:t>Tables and attachments put together by hand</a:t>
                      </a:r>
                      <a:endParaRPr lang="en-US" sz="1400" dirty="0">
                        <a:latin typeface="Arial" charset="0"/>
                        <a:ea typeface="Arial" charset="0"/>
                        <a:cs typeface="Arial" charset="0"/>
                      </a:endParaRPr>
                    </a:p>
                  </a:txBody>
                  <a:tcPr marL="182880" marR="182880" marT="73152" marB="73152"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indent="0" marL="0">
                        <a:buNone/>
                      </a:pPr>
                      <a:r>
                        <a:rPr lang="en-US" sz="1400" b="1" dirty="0">
                          <a:solidFill>
                            <a:srgbClr val="1D1D1F"/>
                          </a:solidFill>
                          <a:latin typeface="Arial" pitchFamily="34" charset="0"/>
                          <a:ea typeface="Arial" pitchFamily="34" charset="-122"/>
                          <a:cs typeface="Arial" pitchFamily="34" charset="-120"/>
                        </a:rPr>
                        <a:t>Ready drafts, no National IDs</a:t>
                      </a:r>
                      <a:endParaRPr lang="en-US" sz="1400" dirty="0">
                        <a:latin typeface="Arial" charset="0"/>
                        <a:ea typeface="Arial" charset="0"/>
                        <a:cs typeface="Arial" charset="0"/>
                      </a:endParaRPr>
                    </a:p>
                  </a:txBody>
                  <a:tcPr marL="182880" marR="182880" marT="73152" marB="73152"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rgbClr val="1D1D1F"/>
                          </a:solidFill>
                          <a:latin typeface="Arial" pitchFamily="34" charset="0"/>
                          <a:ea typeface="Arial" pitchFamily="34" charset="-122"/>
                          <a:cs typeface="Arial" pitchFamily="34" charset="-120"/>
                        </a:rPr>
                        <a:t>Continuity</a:t>
                      </a:r>
                      <a:endParaRPr lang="en-US" sz="1400" dirty="0">
                        <a:latin typeface="Arial" charset="0"/>
                        <a:ea typeface="Arial" charset="0"/>
                        <a:cs typeface="Arial" charset="0"/>
                      </a:endParaRPr>
                    </a:p>
                  </a:txBody>
                  <a:tcPr marL="182880" marR="182880" marT="73152" marB="73152"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8F8FA"/>
                    </a:solidFill>
                  </a:tcPr>
                </a:tc>
                <a:tc>
                  <a:txBody>
                    <a:bodyPr/>
                    <a:lstStyle/>
                    <a:p>
                      <a:pPr indent="0" marL="0">
                        <a:buNone/>
                      </a:pPr>
                      <a:r>
                        <a:rPr lang="en-US" sz="1400" dirty="0">
                          <a:solidFill>
                            <a:srgbClr val="58585D"/>
                          </a:solidFill>
                          <a:latin typeface="Arial" pitchFamily="34" charset="0"/>
                          <a:ea typeface="Arial" pitchFamily="34" charset="-122"/>
                          <a:cs typeface="Arial" pitchFamily="34" charset="-120"/>
                        </a:rPr>
                        <a:t>The month lived in one person's files</a:t>
                      </a:r>
                      <a:endParaRPr lang="en-US" sz="1400" dirty="0">
                        <a:latin typeface="Arial" charset="0"/>
                        <a:ea typeface="Arial" charset="0"/>
                        <a:cs typeface="Arial" charset="0"/>
                      </a:endParaRPr>
                    </a:p>
                  </a:txBody>
                  <a:tcPr marL="182880" marR="182880" marT="73152" marB="73152"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8F8FA"/>
                    </a:solidFill>
                  </a:tcPr>
                </a:tc>
                <a:tc>
                  <a:txBody>
                    <a:bodyPr/>
                    <a:lstStyle/>
                    <a:p>
                      <a:pPr indent="0" marL="0">
                        <a:buNone/>
                      </a:pPr>
                      <a:r>
                        <a:rPr lang="en-US" sz="1400" b="1" dirty="0">
                          <a:solidFill>
                            <a:srgbClr val="1D1D1F"/>
                          </a:solidFill>
                          <a:latin typeface="Arial" pitchFamily="34" charset="0"/>
                          <a:ea typeface="Arial" pitchFamily="34" charset="-122"/>
                          <a:cs typeface="Arial" pitchFamily="34" charset="-120"/>
                        </a:rPr>
                        <a:t>Shared, locked, backed up, vacation cover</a:t>
                      </a:r>
                      <a:endParaRPr lang="en-US" sz="1400" dirty="0">
                        <a:latin typeface="Arial" charset="0"/>
                        <a:ea typeface="Arial" charset="0"/>
                        <a:cs typeface="Arial" charset="0"/>
                      </a:endParaRPr>
                    </a:p>
                  </a:txBody>
                  <a:tcPr marL="182880" marR="182880" marT="73152" marB="73152"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8F8FA"/>
                    </a:solidFill>
                  </a:tcPr>
                </a:tc>
              </a:tr>
            </a:tbl>
          </a:graphicData>
        </a:graphic>
      </p:graphicFrame>
      <p:sp>
        <p:nvSpPr>
          <p:cNvPr id="25" name="Slide Number Placeholder 0"/>
          <p:cNvSpPr>
            <a:spLocks noGrp="1"/>
          </p:cNvSpPr>
          <p:nvPr>
            <p:ph type="sldNum" sz="quarter" idx="4294967295"/>
          </p:nvPr>
        </p:nvSpPr>
        <p:spPr>
          <a:xfrm>
            <a:off x="11091672" y="6400800"/>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8E8E93"/>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42" presetClass="entr" presetSubtype="0" fill="hold" grpId="0" nodeType="withEffect">
                                  <p:stCondLst>
                                    <p:cond delay="30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50"/>
                                        <p:tgtEl>
                                          <p:spTgt spid="16"/>
                                        </p:tgtEl>
                                      </p:cBhvr>
                                    </p:animEffect>
                                    <p:anim calcmode="lin" valueType="num">
                                      <p:cBhvr>
                                        <p:cTn id="11" dur="650" fill="hold"/>
                                        <p:tgtEl>
                                          <p:spTgt spid="16"/>
                                        </p:tgtEl>
                                        <p:attrNameLst>
                                          <p:attrName>ppt_x</p:attrName>
                                        </p:attrNameLst>
                                      </p:cBhvr>
                                      <p:tavLst>
                                        <p:tav tm="0">
                                          <p:val>
                                            <p:strVal val="#ppt_x"/>
                                          </p:val>
                                        </p:tav>
                                        <p:tav tm="100000">
                                          <p:val>
                                            <p:strVal val="#ppt_x"/>
                                          </p:val>
                                        </p:tav>
                                      </p:tavLst>
                                    </p:anim>
                                    <p:anim calcmode="lin" valueType="num">
                                      <p:cBhvr>
                                        <p:cTn id="12" dur="650" fill="hold"/>
                                        <p:tgtEl>
                                          <p:spTgt spid="16"/>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3" name="glow" descr="">    </p:cNvPr>
          <p:cNvPicPr>
            <a:picLocks noChangeAspect="1"/>
          </p:cNvPicPr>
          <p:nvPr/>
        </p:nvPicPr>
        <p:blipFill>
          <a:blip r:embed="rId1"/>
          <a:stretch>
            <a:fillRect/>
          </a:stretch>
        </p:blipFill>
        <p:spPr>
          <a:xfrm>
            <a:off x="5120640" y="-182880"/>
            <a:ext cx="7132320" cy="7132320"/>
          </a:xfrm>
          <a:prstGeom prst="rect">
            <a:avLst/>
          </a:prstGeom>
        </p:spPr>
      </p:pic>
      <p:pic>
        <p:nvPicPr>
          <p:cNvPr id="4" name="laptop" descr="The dashboard, in dark, on a laptop">    </p:cNvPr>
          <p:cNvPicPr>
            <a:picLocks noChangeAspect="1"/>
          </p:cNvPicPr>
          <p:nvPr/>
        </p:nvPicPr>
        <p:blipFill>
          <a:blip r:embed="rId2"/>
          <a:stretch>
            <a:fillRect/>
          </a:stretch>
        </p:blipFill>
        <p:spPr>
          <a:xfrm>
            <a:off x="6093562" y="1155802"/>
            <a:ext cx="5735117" cy="4000927"/>
          </a:xfrm>
          <a:prstGeom prst="rect">
            <a:avLst/>
          </a:prstGeom>
        </p:spPr>
      </p:pic>
      <p:sp>
        <p:nvSpPr>
          <p:cNvPr id="5" name="eyebrow"/>
          <p:cNvSpPr txBox="1"/>
          <p:nvPr/>
        </p:nvSpPr>
        <p:spPr>
          <a:xfrm>
            <a:off x="777240" y="868680"/>
            <a:ext cx="4572000" cy="274320"/>
          </a:xfrm>
          <a:prstGeom prst="rect">
            <a:avLst/>
          </a:prstGeom>
          <a:noFill/>
          <a:ln/>
        </p:spPr>
        <p:txBody>
          <a:bodyPr wrap="square" lIns="0" tIns="0" rIns="0" bIns="0" rtlCol="0" anchor="ctr"/>
          <a:lstStyle/>
          <a:p>
            <a:pPr indent="0" marL="0">
              <a:buNone/>
            </a:pPr>
            <a:r>
              <a:rPr lang="en-US" sz="1100" b="1" spc="200" kern="0" dirty="0">
                <a:solidFill>
                  <a:srgbClr val="F26722"/>
                </a:solidFill>
                <a:latin typeface="Arial" pitchFamily="34" charset="0"/>
                <a:ea typeface="Arial" pitchFamily="34" charset="-122"/>
                <a:cs typeface="Arial" pitchFamily="34" charset="-120"/>
              </a:rPr>
              <a:t>NEXT STEPS</a:t>
            </a:r>
            <a:endParaRPr lang="en-US" sz="1100" dirty="0"/>
          </a:p>
        </p:txBody>
      </p:sp>
      <p:sp>
        <p:nvSpPr>
          <p:cNvPr id="6" name="title"/>
          <p:cNvSpPr txBox="1"/>
          <p:nvPr/>
        </p:nvSpPr>
        <p:spPr>
          <a:xfrm>
            <a:off x="777240" y="1234440"/>
            <a:ext cx="5394960" cy="1463040"/>
          </a:xfrm>
          <a:prstGeom prst="rect">
            <a:avLst/>
          </a:prstGeom>
          <a:noFill/>
          <a:ln/>
        </p:spPr>
        <p:txBody>
          <a:bodyPr wrap="square" lIns="0" tIns="0" rIns="0" bIns="0" rtlCol="0" anchor="t"/>
          <a:lstStyle/>
          <a:p>
            <a:pPr indent="0" marL="0">
              <a:lnSpc>
                <a:spcPct val="92000"/>
              </a:lnSpc>
              <a:buNone/>
            </a:pPr>
            <a:r>
              <a:rPr lang="en-US" sz="4400" b="1" dirty="0">
                <a:solidFill>
                  <a:srgbClr val="FFFFFF"/>
                </a:solidFill>
                <a:latin typeface="Arial" pitchFamily="34" charset="0"/>
                <a:ea typeface="Arial" pitchFamily="34" charset="-122"/>
                <a:cs typeface="Arial" pitchFamily="34" charset="-120"/>
              </a:rPr>
              <a:t>Ready for the</a:t>
            </a:r>
            <a:endParaRPr lang="en-US" sz="4400" dirty="0"/>
          </a:p>
          <a:p>
            <a:pPr indent="0" marL="0">
              <a:lnSpc>
                <a:spcPct val="92000"/>
              </a:lnSpc>
              <a:buNone/>
            </a:pPr>
            <a:r>
              <a:rPr lang="en-US" sz="4400" b="1" dirty="0">
                <a:solidFill>
                  <a:srgbClr val="FFFFFF"/>
                </a:solidFill>
                <a:latin typeface="Arial" pitchFamily="34" charset="0"/>
                <a:ea typeface="Arial" pitchFamily="34" charset="-122"/>
                <a:cs typeface="Arial" pitchFamily="34" charset="-120"/>
              </a:rPr>
              <a:t>October close</a:t>
            </a:r>
            <a:endParaRPr lang="en-US" sz="4400" dirty="0"/>
          </a:p>
        </p:txBody>
      </p:sp>
      <p:sp>
        <p:nvSpPr>
          <p:cNvPr id="7" name="n0"/>
          <p:cNvSpPr/>
          <p:nvPr/>
        </p:nvSpPr>
        <p:spPr>
          <a:xfrm>
            <a:off x="777240" y="3108960"/>
            <a:ext cx="475488" cy="475488"/>
          </a:xfrm>
          <a:prstGeom prst="ellipse">
            <a:avLst/>
          </a:prstGeom>
          <a:solidFill>
            <a:srgbClr val="C4511A"/>
          </a:solidFill>
          <a:ln/>
        </p:spPr>
      </p:sp>
      <p:sp>
        <p:nvSpPr>
          <p:cNvPr id="8" name="n0t"/>
          <p:cNvSpPr txBox="1"/>
          <p:nvPr/>
        </p:nvSpPr>
        <p:spPr>
          <a:xfrm>
            <a:off x="777240" y="310896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9" name="h0"/>
          <p:cNvSpPr txBox="1"/>
          <p:nvPr/>
        </p:nvSpPr>
        <p:spPr>
          <a:xfrm>
            <a:off x="1463040" y="3072384"/>
            <a:ext cx="4572000" cy="310896"/>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Put the HTML in the common folder</a:t>
            </a:r>
            <a:endParaRPr lang="en-US" sz="1700" dirty="0"/>
          </a:p>
        </p:txBody>
      </p:sp>
      <p:sp>
        <p:nvSpPr>
          <p:cNvPr id="10" name="t0"/>
          <p:cNvSpPr txBox="1"/>
          <p:nvPr/>
        </p:nvSpPr>
        <p:spPr>
          <a:xfrm>
            <a:off x="1463040" y="3383280"/>
            <a:ext cx="4572000" cy="292608"/>
          </a:xfrm>
          <a:prstGeom prst="rect">
            <a:avLst/>
          </a:prstGeom>
          <a:noFill/>
          <a:ln/>
        </p:spPr>
        <p:txBody>
          <a:bodyPr wrap="square" lIns="0" tIns="0" rIns="0" bIns="0" rtlCol="0" anchor="ctr"/>
          <a:lstStyle/>
          <a:p>
            <a:pPr indent="0" marL="0">
              <a:buNone/>
            </a:pPr>
            <a:r>
              <a:rPr lang="en-US" sz="1400" dirty="0">
                <a:solidFill>
                  <a:srgbClr val="AEAEB2"/>
                </a:solidFill>
                <a:latin typeface="Arial" pitchFamily="34" charset="0"/>
                <a:ea typeface="Arial" pitchFamily="34" charset="-122"/>
                <a:cs typeface="Arial" pitchFamily="34" charset="-120"/>
              </a:rPr>
              <a:t>next to MC Data, read-only for everyone but its owner.</a:t>
            </a:r>
            <a:endParaRPr lang="en-US" sz="1400" dirty="0"/>
          </a:p>
        </p:txBody>
      </p:sp>
      <p:sp>
        <p:nvSpPr>
          <p:cNvPr id="11" name="n1"/>
          <p:cNvSpPr/>
          <p:nvPr/>
        </p:nvSpPr>
        <p:spPr>
          <a:xfrm>
            <a:off x="777240" y="4041648"/>
            <a:ext cx="475488" cy="475488"/>
          </a:xfrm>
          <a:prstGeom prst="ellipse">
            <a:avLst/>
          </a:prstGeom>
          <a:solidFill>
            <a:srgbClr val="2C2C2E"/>
          </a:solidFill>
          <a:ln/>
        </p:spPr>
      </p:sp>
      <p:sp>
        <p:nvSpPr>
          <p:cNvPr id="12" name="n1t"/>
          <p:cNvSpPr txBox="1"/>
          <p:nvPr/>
        </p:nvSpPr>
        <p:spPr>
          <a:xfrm>
            <a:off x="777240" y="40416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h1"/>
          <p:cNvSpPr txBox="1"/>
          <p:nvPr/>
        </p:nvSpPr>
        <p:spPr>
          <a:xfrm>
            <a:off x="1463040" y="4005072"/>
            <a:ext cx="4572000" cy="310896"/>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Open it in Edge or Chrome</a:t>
            </a:r>
            <a:endParaRPr lang="en-US" sz="1700" dirty="0"/>
          </a:p>
        </p:txBody>
      </p:sp>
      <p:sp>
        <p:nvSpPr>
          <p:cNvPr id="14" name="t1"/>
          <p:cNvSpPr txBox="1"/>
          <p:nvPr/>
        </p:nvSpPr>
        <p:spPr>
          <a:xfrm>
            <a:off x="1463040" y="4315968"/>
            <a:ext cx="4572000" cy="292608"/>
          </a:xfrm>
          <a:prstGeom prst="rect">
            <a:avLst/>
          </a:prstGeom>
          <a:noFill/>
          <a:ln/>
        </p:spPr>
        <p:txBody>
          <a:bodyPr wrap="square" lIns="0" tIns="0" rIns="0" bIns="0" rtlCol="0" anchor="ctr"/>
          <a:lstStyle/>
          <a:p>
            <a:pPr indent="0" marL="0">
              <a:buNone/>
            </a:pPr>
            <a:r>
              <a:rPr lang="en-US" sz="1400" dirty="0">
                <a:solidFill>
                  <a:srgbClr val="AEAEB2"/>
                </a:solidFill>
                <a:latin typeface="Arial" pitchFamily="34" charset="0"/>
                <a:ea typeface="Arial" pitchFamily="34" charset="-122"/>
                <a:cs typeface="Arial" pitchFamily="34" charset="-120"/>
              </a:rPr>
              <a:t>nothing to install, no server.</a:t>
            </a:r>
            <a:endParaRPr lang="en-US" sz="1400" dirty="0"/>
          </a:p>
        </p:txBody>
      </p:sp>
      <p:sp>
        <p:nvSpPr>
          <p:cNvPr id="15" name="n2"/>
          <p:cNvSpPr/>
          <p:nvPr/>
        </p:nvSpPr>
        <p:spPr>
          <a:xfrm>
            <a:off x="777240" y="4974336"/>
            <a:ext cx="475488" cy="475488"/>
          </a:xfrm>
          <a:prstGeom prst="ellipse">
            <a:avLst/>
          </a:prstGeom>
          <a:solidFill>
            <a:srgbClr val="2C2C2E"/>
          </a:solidFill>
          <a:ln/>
        </p:spPr>
      </p:sp>
      <p:sp>
        <p:nvSpPr>
          <p:cNvPr id="16" name="n2t"/>
          <p:cNvSpPr txBox="1"/>
          <p:nvPr/>
        </p:nvSpPr>
        <p:spPr>
          <a:xfrm>
            <a:off x="777240" y="497433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h2"/>
          <p:cNvSpPr txBox="1"/>
          <p:nvPr/>
        </p:nvSpPr>
        <p:spPr>
          <a:xfrm>
            <a:off x="1463040" y="4937760"/>
            <a:ext cx="4572000" cy="310896"/>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Everyone makes an account</a:t>
            </a:r>
            <a:endParaRPr lang="en-US" sz="1700" dirty="0"/>
          </a:p>
        </p:txBody>
      </p:sp>
      <p:sp>
        <p:nvSpPr>
          <p:cNvPr id="18" name="t2"/>
          <p:cNvSpPr txBox="1"/>
          <p:nvPr/>
        </p:nvSpPr>
        <p:spPr>
          <a:xfrm>
            <a:off x="1463040" y="5248656"/>
            <a:ext cx="4572000" cy="292608"/>
          </a:xfrm>
          <a:prstGeom prst="rect">
            <a:avLst/>
          </a:prstGeom>
          <a:noFill/>
          <a:ln/>
        </p:spPr>
        <p:txBody>
          <a:bodyPr wrap="square" lIns="0" tIns="0" rIns="0" bIns="0" rtlCol="0" anchor="ctr"/>
          <a:lstStyle/>
          <a:p>
            <a:pPr indent="0" marL="0">
              <a:buNone/>
            </a:pPr>
            <a:r>
              <a:rPr lang="en-US" sz="1400" dirty="0">
                <a:solidFill>
                  <a:srgbClr val="AEAEB2"/>
                </a:solidFill>
                <a:latin typeface="Arial" pitchFamily="34" charset="0"/>
                <a:ea typeface="Arial" pitchFamily="34" charset="-122"/>
                <a:cs typeface="Arial" pitchFamily="34" charset="-120"/>
              </a:rPr>
              <a:t>the admin gives each person their role.</a:t>
            </a:r>
            <a:endParaRPr lang="en-US" sz="1400" dirty="0"/>
          </a:p>
        </p:txBody>
      </p:sp>
      <p:sp>
        <p:nvSpPr>
          <p:cNvPr id="19" name="thanks"/>
          <p:cNvSpPr txBox="1"/>
          <p:nvPr/>
        </p:nvSpPr>
        <p:spPr>
          <a:xfrm>
            <a:off x="777240" y="6080760"/>
            <a:ext cx="3657600" cy="365760"/>
          </a:xfrm>
          <a:prstGeom prst="rect">
            <a:avLst/>
          </a:prstGeom>
          <a:noFill/>
          <a:ln/>
        </p:spPr>
        <p:txBody>
          <a:bodyPr wrap="square" lIns="0" tIns="0" rIns="0" bIns="0" rtlCol="0" anchor="ctr"/>
          <a:lstStyle/>
          <a:p>
            <a:pPr indent="0" marL="0">
              <a:buNone/>
            </a:pPr>
            <a:r>
              <a:rPr lang="en-US" sz="1600" b="1" dirty="0">
                <a:solidFill>
                  <a:srgbClr val="F26722"/>
                </a:solidFill>
                <a:latin typeface="Arial" pitchFamily="34" charset="0"/>
                <a:ea typeface="Arial" pitchFamily="34" charset="-122"/>
                <a:cs typeface="Arial" pitchFamily="34" charset="-120"/>
              </a:rPr>
              <a:t>Thank you</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42" presetClass="entr" presetSubtype="0" fill="hold" grpId="0" nodeType="withEffect">
                                  <p:stCondLst>
                                    <p:cond delay="1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50"/>
                                        <p:tgtEl>
                                          <p:spTgt spid="6"/>
                                        </p:tgtEl>
                                      </p:cBhvr>
                                    </p:animEffect>
                                    <p:anim calcmode="lin" valueType="num">
                                      <p:cBhvr>
                                        <p:cTn id="14" dur="650" fill="hold"/>
                                        <p:tgtEl>
                                          <p:spTgt spid="6"/>
                                        </p:tgtEl>
                                        <p:attrNameLst>
                                          <p:attrName>ppt_x</p:attrName>
                                        </p:attrNameLst>
                                      </p:cBhvr>
                                      <p:tavLst>
                                        <p:tav tm="0">
                                          <p:val>
                                            <p:strVal val="#ppt_x"/>
                                          </p:val>
                                        </p:tav>
                                        <p:tav tm="100000">
                                          <p:val>
                                            <p:strVal val="#ppt_x"/>
                                          </p:val>
                                        </p:tav>
                                      </p:tavLst>
                                    </p:anim>
                                    <p:anim calcmode="lin" valueType="num">
                                      <p:cBhvr>
                                        <p:cTn id="15" dur="650" fill="hold"/>
                                        <p:tgtEl>
                                          <p:spTgt spid="6"/>
                                        </p:tgtEl>
                                        <p:attrNameLst>
                                          <p:attrName>ppt_y</p:attrName>
                                        </p:attrNameLst>
                                      </p:cBhvr>
                                      <p:tavLst>
                                        <p:tav tm="0">
                                          <p:val>
                                            <p:strVal val="#ppt_y+.05"/>
                                          </p:val>
                                        </p:tav>
                                        <p:tav tm="100000">
                                          <p:val>
                                            <p:strVal val="#ppt_y"/>
                                          </p:val>
                                        </p:tav>
                                      </p:tavLst>
                                    </p:anim>
                                  </p:childTnLst>
                                </p:cTn>
                              </p:par>
                              <p:par>
                                <p:cTn id="16" presetID="42" presetClass="entr" presetSubtype="0" fill="hold" grpId="0" nodeType="withEffect">
                                  <p:stCondLst>
                                    <p:cond delay="25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650"/>
                                        <p:tgtEl>
                                          <p:spTgt spid="4"/>
                                        </p:tgtEl>
                                      </p:cBhvr>
                                    </p:animEffect>
                                    <p:anim calcmode="lin" valueType="num">
                                      <p:cBhvr>
                                        <p:cTn id="19" dur="650" fill="hold"/>
                                        <p:tgtEl>
                                          <p:spTgt spid="4"/>
                                        </p:tgtEl>
                                        <p:attrNameLst>
                                          <p:attrName>ppt_x</p:attrName>
                                        </p:attrNameLst>
                                      </p:cBhvr>
                                      <p:tavLst>
                                        <p:tav tm="0">
                                          <p:val>
                                            <p:strVal val="#ppt_x"/>
                                          </p:val>
                                        </p:tav>
                                        <p:tav tm="100000">
                                          <p:val>
                                            <p:strVal val="#ppt_x"/>
                                          </p:val>
                                        </p:tav>
                                      </p:tavLst>
                                    </p:anim>
                                    <p:anim calcmode="lin" valueType="num">
                                      <p:cBhvr>
                                        <p:cTn id="20" dur="650" fill="hold"/>
                                        <p:tgtEl>
                                          <p:spTgt spid="4"/>
                                        </p:tgtEl>
                                        <p:attrNameLst>
                                          <p:attrName>ppt_y</p:attrName>
                                        </p:attrNameLst>
                                      </p:cBhvr>
                                      <p:tavLst>
                                        <p:tav tm="0">
                                          <p:val>
                                            <p:strVal val="#ppt_y+.05"/>
                                          </p:val>
                                        </p:tav>
                                        <p:tav tm="100000">
                                          <p:val>
                                            <p:strVal val="#ppt_y"/>
                                          </p:val>
                                        </p:tav>
                                      </p:tavLst>
                                    </p:anim>
                                  </p:childTnLst>
                                </p:cTn>
                              </p:par>
                              <p:par>
                                <p:cTn id="21" presetID="42" presetClass="entr" presetSubtype="0" fill="hold" grpId="0" nodeType="withEffect">
                                  <p:stCondLst>
                                    <p:cond delay="30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650"/>
                                        <p:tgtEl>
                                          <p:spTgt spid="7"/>
                                        </p:tgtEl>
                                      </p:cBhvr>
                                    </p:animEffect>
                                    <p:anim calcmode="lin" valueType="num">
                                      <p:cBhvr>
                                        <p:cTn id="24" dur="650" fill="hold"/>
                                        <p:tgtEl>
                                          <p:spTgt spid="7"/>
                                        </p:tgtEl>
                                        <p:attrNameLst>
                                          <p:attrName>ppt_x</p:attrName>
                                        </p:attrNameLst>
                                      </p:cBhvr>
                                      <p:tavLst>
                                        <p:tav tm="0">
                                          <p:val>
                                            <p:strVal val="#ppt_x"/>
                                          </p:val>
                                        </p:tav>
                                        <p:tav tm="100000">
                                          <p:val>
                                            <p:strVal val="#ppt_x"/>
                                          </p:val>
                                        </p:tav>
                                      </p:tavLst>
                                    </p:anim>
                                    <p:anim calcmode="lin" valueType="num">
                                      <p:cBhvr>
                                        <p:cTn id="25" dur="650" fill="hold"/>
                                        <p:tgtEl>
                                          <p:spTgt spid="7"/>
                                        </p:tgtEl>
                                        <p:attrNameLst>
                                          <p:attrName>ppt_y</p:attrName>
                                        </p:attrNameLst>
                                      </p:cBhvr>
                                      <p:tavLst>
                                        <p:tav tm="0">
                                          <p:val>
                                            <p:strVal val="#ppt_y+.05"/>
                                          </p:val>
                                        </p:tav>
                                        <p:tav tm="100000">
                                          <p:val>
                                            <p:strVal val="#ppt_y"/>
                                          </p:val>
                                        </p:tav>
                                      </p:tavLst>
                                    </p:anim>
                                  </p:childTnLst>
                                </p:cTn>
                              </p:par>
                              <p:par>
                                <p:cTn id="26" presetID="42" presetClass="entr" presetSubtype="0" fill="hold" grpId="0" nodeType="withEffect">
                                  <p:stCondLst>
                                    <p:cond delay="30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650"/>
                                        <p:tgtEl>
                                          <p:spTgt spid="8"/>
                                        </p:tgtEl>
                                      </p:cBhvr>
                                    </p:animEffect>
                                    <p:anim calcmode="lin" valueType="num">
                                      <p:cBhvr>
                                        <p:cTn id="29" dur="650" fill="hold"/>
                                        <p:tgtEl>
                                          <p:spTgt spid="8"/>
                                        </p:tgtEl>
                                        <p:attrNameLst>
                                          <p:attrName>ppt_x</p:attrName>
                                        </p:attrNameLst>
                                      </p:cBhvr>
                                      <p:tavLst>
                                        <p:tav tm="0">
                                          <p:val>
                                            <p:strVal val="#ppt_x"/>
                                          </p:val>
                                        </p:tav>
                                        <p:tav tm="100000">
                                          <p:val>
                                            <p:strVal val="#ppt_x"/>
                                          </p:val>
                                        </p:tav>
                                      </p:tavLst>
                                    </p:anim>
                                    <p:anim calcmode="lin" valueType="num">
                                      <p:cBhvr>
                                        <p:cTn id="30" dur="650" fill="hold"/>
                                        <p:tgtEl>
                                          <p:spTgt spid="8"/>
                                        </p:tgtEl>
                                        <p:attrNameLst>
                                          <p:attrName>ppt_y</p:attrName>
                                        </p:attrNameLst>
                                      </p:cBhvr>
                                      <p:tavLst>
                                        <p:tav tm="0">
                                          <p:val>
                                            <p:strVal val="#ppt_y+.05"/>
                                          </p:val>
                                        </p:tav>
                                        <p:tav tm="100000">
                                          <p:val>
                                            <p:strVal val="#ppt_y"/>
                                          </p:val>
                                        </p:tav>
                                      </p:tavLst>
                                    </p:anim>
                                  </p:childTnLst>
                                </p:cTn>
                              </p:par>
                              <p:par>
                                <p:cTn id="31" presetID="42" presetClass="entr" presetSubtype="0" fill="hold" grpId="0" nodeType="withEffect">
                                  <p:stCondLst>
                                    <p:cond delay="30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650"/>
                                        <p:tgtEl>
                                          <p:spTgt spid="9"/>
                                        </p:tgtEl>
                                      </p:cBhvr>
                                    </p:animEffect>
                                    <p:anim calcmode="lin" valueType="num">
                                      <p:cBhvr>
                                        <p:cTn id="34" dur="650" fill="hold"/>
                                        <p:tgtEl>
                                          <p:spTgt spid="9"/>
                                        </p:tgtEl>
                                        <p:attrNameLst>
                                          <p:attrName>ppt_x</p:attrName>
                                        </p:attrNameLst>
                                      </p:cBhvr>
                                      <p:tavLst>
                                        <p:tav tm="0">
                                          <p:val>
                                            <p:strVal val="#ppt_x"/>
                                          </p:val>
                                        </p:tav>
                                        <p:tav tm="100000">
                                          <p:val>
                                            <p:strVal val="#ppt_x"/>
                                          </p:val>
                                        </p:tav>
                                      </p:tavLst>
                                    </p:anim>
                                    <p:anim calcmode="lin" valueType="num">
                                      <p:cBhvr>
                                        <p:cTn id="35" dur="650" fill="hold"/>
                                        <p:tgtEl>
                                          <p:spTgt spid="9"/>
                                        </p:tgtEl>
                                        <p:attrNameLst>
                                          <p:attrName>ppt_y</p:attrName>
                                        </p:attrNameLst>
                                      </p:cBhvr>
                                      <p:tavLst>
                                        <p:tav tm="0">
                                          <p:val>
                                            <p:strVal val="#ppt_y+.05"/>
                                          </p:val>
                                        </p:tav>
                                        <p:tav tm="100000">
                                          <p:val>
                                            <p:strVal val="#ppt_y"/>
                                          </p:val>
                                        </p:tav>
                                      </p:tavLst>
                                    </p:anim>
                                  </p:childTnLst>
                                </p:cTn>
                              </p:par>
                              <p:par>
                                <p:cTn id="36" presetID="42" presetClass="entr" presetSubtype="0" fill="hold" grpId="0" nodeType="withEffect">
                                  <p:stCondLst>
                                    <p:cond delay="3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650"/>
                                        <p:tgtEl>
                                          <p:spTgt spid="10"/>
                                        </p:tgtEl>
                                      </p:cBhvr>
                                    </p:animEffect>
                                    <p:anim calcmode="lin" valueType="num">
                                      <p:cBhvr>
                                        <p:cTn id="39" dur="650" fill="hold"/>
                                        <p:tgtEl>
                                          <p:spTgt spid="10"/>
                                        </p:tgtEl>
                                        <p:attrNameLst>
                                          <p:attrName>ppt_x</p:attrName>
                                        </p:attrNameLst>
                                      </p:cBhvr>
                                      <p:tavLst>
                                        <p:tav tm="0">
                                          <p:val>
                                            <p:strVal val="#ppt_x"/>
                                          </p:val>
                                        </p:tav>
                                        <p:tav tm="100000">
                                          <p:val>
                                            <p:strVal val="#ppt_x"/>
                                          </p:val>
                                        </p:tav>
                                      </p:tavLst>
                                    </p:anim>
                                    <p:anim calcmode="lin" valueType="num">
                                      <p:cBhvr>
                                        <p:cTn id="40" dur="650" fill="hold"/>
                                        <p:tgtEl>
                                          <p:spTgt spid="10"/>
                                        </p:tgtEl>
                                        <p:attrNameLst>
                                          <p:attrName>ppt_y</p:attrName>
                                        </p:attrNameLst>
                                      </p:cBhvr>
                                      <p:tavLst>
                                        <p:tav tm="0">
                                          <p:val>
                                            <p:strVal val="#ppt_y+.05"/>
                                          </p:val>
                                        </p:tav>
                                        <p:tav tm="100000">
                                          <p:val>
                                            <p:strVal val="#ppt_y"/>
                                          </p:val>
                                        </p:tav>
                                      </p:tavLst>
                                    </p:anim>
                                  </p:childTnLst>
                                </p:cTn>
                              </p:par>
                              <p:par>
                                <p:cTn id="41" presetID="42" presetClass="entr" presetSubtype="0" fill="hold" grpId="0" nodeType="withEffect">
                                  <p:stCondLst>
                                    <p:cond delay="46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50"/>
                                        <p:tgtEl>
                                          <p:spTgt spid="11"/>
                                        </p:tgtEl>
                                      </p:cBhvr>
                                    </p:animEffect>
                                    <p:anim calcmode="lin" valueType="num">
                                      <p:cBhvr>
                                        <p:cTn id="44" dur="650" fill="hold"/>
                                        <p:tgtEl>
                                          <p:spTgt spid="11"/>
                                        </p:tgtEl>
                                        <p:attrNameLst>
                                          <p:attrName>ppt_x</p:attrName>
                                        </p:attrNameLst>
                                      </p:cBhvr>
                                      <p:tavLst>
                                        <p:tav tm="0">
                                          <p:val>
                                            <p:strVal val="#ppt_x"/>
                                          </p:val>
                                        </p:tav>
                                        <p:tav tm="100000">
                                          <p:val>
                                            <p:strVal val="#ppt_x"/>
                                          </p:val>
                                        </p:tav>
                                      </p:tavLst>
                                    </p:anim>
                                    <p:anim calcmode="lin" valueType="num">
                                      <p:cBhvr>
                                        <p:cTn id="45" dur="650" fill="hold"/>
                                        <p:tgtEl>
                                          <p:spTgt spid="11"/>
                                        </p:tgtEl>
                                        <p:attrNameLst>
                                          <p:attrName>ppt_y</p:attrName>
                                        </p:attrNameLst>
                                      </p:cBhvr>
                                      <p:tavLst>
                                        <p:tav tm="0">
                                          <p:val>
                                            <p:strVal val="#ppt_y+.05"/>
                                          </p:val>
                                        </p:tav>
                                        <p:tav tm="100000">
                                          <p:val>
                                            <p:strVal val="#ppt_y"/>
                                          </p:val>
                                        </p:tav>
                                      </p:tavLst>
                                    </p:anim>
                                  </p:childTnLst>
                                </p:cTn>
                              </p:par>
                              <p:par>
                                <p:cTn id="46" presetID="42" presetClass="entr" presetSubtype="0" fill="hold" grpId="0" nodeType="withEffect">
                                  <p:stCondLst>
                                    <p:cond delay="46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650"/>
                                        <p:tgtEl>
                                          <p:spTgt spid="12"/>
                                        </p:tgtEl>
                                      </p:cBhvr>
                                    </p:animEffect>
                                    <p:anim calcmode="lin" valueType="num">
                                      <p:cBhvr>
                                        <p:cTn id="49" dur="650" fill="hold"/>
                                        <p:tgtEl>
                                          <p:spTgt spid="12"/>
                                        </p:tgtEl>
                                        <p:attrNameLst>
                                          <p:attrName>ppt_x</p:attrName>
                                        </p:attrNameLst>
                                      </p:cBhvr>
                                      <p:tavLst>
                                        <p:tav tm="0">
                                          <p:val>
                                            <p:strVal val="#ppt_x"/>
                                          </p:val>
                                        </p:tav>
                                        <p:tav tm="100000">
                                          <p:val>
                                            <p:strVal val="#ppt_x"/>
                                          </p:val>
                                        </p:tav>
                                      </p:tavLst>
                                    </p:anim>
                                    <p:anim calcmode="lin" valueType="num">
                                      <p:cBhvr>
                                        <p:cTn id="50" dur="650" fill="hold"/>
                                        <p:tgtEl>
                                          <p:spTgt spid="12"/>
                                        </p:tgtEl>
                                        <p:attrNameLst>
                                          <p:attrName>ppt_y</p:attrName>
                                        </p:attrNameLst>
                                      </p:cBhvr>
                                      <p:tavLst>
                                        <p:tav tm="0">
                                          <p:val>
                                            <p:strVal val="#ppt_y+.05"/>
                                          </p:val>
                                        </p:tav>
                                        <p:tav tm="100000">
                                          <p:val>
                                            <p:strVal val="#ppt_y"/>
                                          </p:val>
                                        </p:tav>
                                      </p:tavLst>
                                    </p:anim>
                                  </p:childTnLst>
                                </p:cTn>
                              </p:par>
                              <p:par>
                                <p:cTn id="51" presetID="42" presetClass="entr" presetSubtype="0" fill="hold" grpId="0" nodeType="withEffect">
                                  <p:stCondLst>
                                    <p:cond delay="46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650"/>
                                        <p:tgtEl>
                                          <p:spTgt spid="13"/>
                                        </p:tgtEl>
                                      </p:cBhvr>
                                    </p:animEffect>
                                    <p:anim calcmode="lin" valueType="num">
                                      <p:cBhvr>
                                        <p:cTn id="54" dur="650" fill="hold"/>
                                        <p:tgtEl>
                                          <p:spTgt spid="13"/>
                                        </p:tgtEl>
                                        <p:attrNameLst>
                                          <p:attrName>ppt_x</p:attrName>
                                        </p:attrNameLst>
                                      </p:cBhvr>
                                      <p:tavLst>
                                        <p:tav tm="0">
                                          <p:val>
                                            <p:strVal val="#ppt_x"/>
                                          </p:val>
                                        </p:tav>
                                        <p:tav tm="100000">
                                          <p:val>
                                            <p:strVal val="#ppt_x"/>
                                          </p:val>
                                        </p:tav>
                                      </p:tavLst>
                                    </p:anim>
                                    <p:anim calcmode="lin" valueType="num">
                                      <p:cBhvr>
                                        <p:cTn id="55" dur="650" fill="hold"/>
                                        <p:tgtEl>
                                          <p:spTgt spid="13"/>
                                        </p:tgtEl>
                                        <p:attrNameLst>
                                          <p:attrName>ppt_y</p:attrName>
                                        </p:attrNameLst>
                                      </p:cBhvr>
                                      <p:tavLst>
                                        <p:tav tm="0">
                                          <p:val>
                                            <p:strVal val="#ppt_y+.05"/>
                                          </p:val>
                                        </p:tav>
                                        <p:tav tm="100000">
                                          <p:val>
                                            <p:strVal val="#ppt_y"/>
                                          </p:val>
                                        </p:tav>
                                      </p:tavLst>
                                    </p:anim>
                                  </p:childTnLst>
                                </p:cTn>
                              </p:par>
                              <p:par>
                                <p:cTn id="56" presetID="42" presetClass="entr" presetSubtype="0" fill="hold" grpId="0" nodeType="withEffect">
                                  <p:stCondLst>
                                    <p:cond delay="46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650"/>
                                        <p:tgtEl>
                                          <p:spTgt spid="14"/>
                                        </p:tgtEl>
                                      </p:cBhvr>
                                    </p:animEffect>
                                    <p:anim calcmode="lin" valueType="num">
                                      <p:cBhvr>
                                        <p:cTn id="59" dur="650" fill="hold"/>
                                        <p:tgtEl>
                                          <p:spTgt spid="14"/>
                                        </p:tgtEl>
                                        <p:attrNameLst>
                                          <p:attrName>ppt_x</p:attrName>
                                        </p:attrNameLst>
                                      </p:cBhvr>
                                      <p:tavLst>
                                        <p:tav tm="0">
                                          <p:val>
                                            <p:strVal val="#ppt_x"/>
                                          </p:val>
                                        </p:tav>
                                        <p:tav tm="100000">
                                          <p:val>
                                            <p:strVal val="#ppt_x"/>
                                          </p:val>
                                        </p:tav>
                                      </p:tavLst>
                                    </p:anim>
                                    <p:anim calcmode="lin" valueType="num">
                                      <p:cBhvr>
                                        <p:cTn id="60" dur="650" fill="hold"/>
                                        <p:tgtEl>
                                          <p:spTgt spid="14"/>
                                        </p:tgtEl>
                                        <p:attrNameLst>
                                          <p:attrName>ppt_y</p:attrName>
                                        </p:attrNameLst>
                                      </p:cBhvr>
                                      <p:tavLst>
                                        <p:tav tm="0">
                                          <p:val>
                                            <p:strVal val="#ppt_y+.05"/>
                                          </p:val>
                                        </p:tav>
                                        <p:tav tm="100000">
                                          <p:val>
                                            <p:strVal val="#ppt_y"/>
                                          </p:val>
                                        </p:tav>
                                      </p:tavLst>
                                    </p:anim>
                                  </p:childTnLst>
                                </p:cTn>
                              </p:par>
                              <p:par>
                                <p:cTn id="61" presetID="42" presetClass="entr" presetSubtype="0" fill="hold" grpId="0" nodeType="withEffect">
                                  <p:stCondLst>
                                    <p:cond delay="62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650"/>
                                        <p:tgtEl>
                                          <p:spTgt spid="15"/>
                                        </p:tgtEl>
                                      </p:cBhvr>
                                    </p:animEffect>
                                    <p:anim calcmode="lin" valueType="num">
                                      <p:cBhvr>
                                        <p:cTn id="64" dur="650" fill="hold"/>
                                        <p:tgtEl>
                                          <p:spTgt spid="15"/>
                                        </p:tgtEl>
                                        <p:attrNameLst>
                                          <p:attrName>ppt_x</p:attrName>
                                        </p:attrNameLst>
                                      </p:cBhvr>
                                      <p:tavLst>
                                        <p:tav tm="0">
                                          <p:val>
                                            <p:strVal val="#ppt_x"/>
                                          </p:val>
                                        </p:tav>
                                        <p:tav tm="100000">
                                          <p:val>
                                            <p:strVal val="#ppt_x"/>
                                          </p:val>
                                        </p:tav>
                                      </p:tavLst>
                                    </p:anim>
                                    <p:anim calcmode="lin" valueType="num">
                                      <p:cBhvr>
                                        <p:cTn id="65" dur="650" fill="hold"/>
                                        <p:tgtEl>
                                          <p:spTgt spid="15"/>
                                        </p:tgtEl>
                                        <p:attrNameLst>
                                          <p:attrName>ppt_y</p:attrName>
                                        </p:attrNameLst>
                                      </p:cBhvr>
                                      <p:tavLst>
                                        <p:tav tm="0">
                                          <p:val>
                                            <p:strVal val="#ppt_y+.05"/>
                                          </p:val>
                                        </p:tav>
                                        <p:tav tm="100000">
                                          <p:val>
                                            <p:strVal val="#ppt_y"/>
                                          </p:val>
                                        </p:tav>
                                      </p:tavLst>
                                    </p:anim>
                                  </p:childTnLst>
                                </p:cTn>
                              </p:par>
                              <p:par>
                                <p:cTn id="66" presetID="42" presetClass="entr" presetSubtype="0" fill="hold" grpId="0" nodeType="withEffect">
                                  <p:stCondLst>
                                    <p:cond delay="62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650"/>
                                        <p:tgtEl>
                                          <p:spTgt spid="16"/>
                                        </p:tgtEl>
                                      </p:cBhvr>
                                    </p:animEffect>
                                    <p:anim calcmode="lin" valueType="num">
                                      <p:cBhvr>
                                        <p:cTn id="69" dur="650" fill="hold"/>
                                        <p:tgtEl>
                                          <p:spTgt spid="16"/>
                                        </p:tgtEl>
                                        <p:attrNameLst>
                                          <p:attrName>ppt_x</p:attrName>
                                        </p:attrNameLst>
                                      </p:cBhvr>
                                      <p:tavLst>
                                        <p:tav tm="0">
                                          <p:val>
                                            <p:strVal val="#ppt_x"/>
                                          </p:val>
                                        </p:tav>
                                        <p:tav tm="100000">
                                          <p:val>
                                            <p:strVal val="#ppt_x"/>
                                          </p:val>
                                        </p:tav>
                                      </p:tavLst>
                                    </p:anim>
                                    <p:anim calcmode="lin" valueType="num">
                                      <p:cBhvr>
                                        <p:cTn id="70" dur="650" fill="hold"/>
                                        <p:tgtEl>
                                          <p:spTgt spid="16"/>
                                        </p:tgtEl>
                                        <p:attrNameLst>
                                          <p:attrName>ppt_y</p:attrName>
                                        </p:attrNameLst>
                                      </p:cBhvr>
                                      <p:tavLst>
                                        <p:tav tm="0">
                                          <p:val>
                                            <p:strVal val="#ppt_y+.05"/>
                                          </p:val>
                                        </p:tav>
                                        <p:tav tm="100000">
                                          <p:val>
                                            <p:strVal val="#ppt_y"/>
                                          </p:val>
                                        </p:tav>
                                      </p:tavLst>
                                    </p:anim>
                                  </p:childTnLst>
                                </p:cTn>
                              </p:par>
                              <p:par>
                                <p:cTn id="71" presetID="42" presetClass="entr" presetSubtype="0" fill="hold" grpId="0" nodeType="withEffect">
                                  <p:stCondLst>
                                    <p:cond delay="620"/>
                                  </p:stCondLst>
                                  <p:childTnLst>
                                    <p:set>
                                      <p:cBhvr>
                                        <p:cTn id="72" dur="1" fill="hold">
                                          <p:stCondLst>
                                            <p:cond delay="0"/>
                                          </p:stCondLst>
                                        </p:cTn>
                                        <p:tgtEl>
                                          <p:spTgt spid="17"/>
                                        </p:tgtEl>
                                        <p:attrNameLst>
                                          <p:attrName>style.visibility</p:attrName>
                                        </p:attrNameLst>
                                      </p:cBhvr>
                                      <p:to>
                                        <p:strVal val="visible"/>
                                      </p:to>
                                    </p:set>
                                    <p:animEffect transition="in" filter="fade">
                                      <p:cBhvr>
                                        <p:cTn id="73" dur="650"/>
                                        <p:tgtEl>
                                          <p:spTgt spid="17"/>
                                        </p:tgtEl>
                                      </p:cBhvr>
                                    </p:animEffect>
                                    <p:anim calcmode="lin" valueType="num">
                                      <p:cBhvr>
                                        <p:cTn id="74" dur="650" fill="hold"/>
                                        <p:tgtEl>
                                          <p:spTgt spid="17"/>
                                        </p:tgtEl>
                                        <p:attrNameLst>
                                          <p:attrName>ppt_x</p:attrName>
                                        </p:attrNameLst>
                                      </p:cBhvr>
                                      <p:tavLst>
                                        <p:tav tm="0">
                                          <p:val>
                                            <p:strVal val="#ppt_x"/>
                                          </p:val>
                                        </p:tav>
                                        <p:tav tm="100000">
                                          <p:val>
                                            <p:strVal val="#ppt_x"/>
                                          </p:val>
                                        </p:tav>
                                      </p:tavLst>
                                    </p:anim>
                                    <p:anim calcmode="lin" valueType="num">
                                      <p:cBhvr>
                                        <p:cTn id="75" dur="650" fill="hold"/>
                                        <p:tgtEl>
                                          <p:spTgt spid="17"/>
                                        </p:tgtEl>
                                        <p:attrNameLst>
                                          <p:attrName>ppt_y</p:attrName>
                                        </p:attrNameLst>
                                      </p:cBhvr>
                                      <p:tavLst>
                                        <p:tav tm="0">
                                          <p:val>
                                            <p:strVal val="#ppt_y+.05"/>
                                          </p:val>
                                        </p:tav>
                                        <p:tav tm="100000">
                                          <p:val>
                                            <p:strVal val="#ppt_y"/>
                                          </p:val>
                                        </p:tav>
                                      </p:tavLst>
                                    </p:anim>
                                  </p:childTnLst>
                                </p:cTn>
                              </p:par>
                              <p:par>
                                <p:cTn id="76" presetID="42" presetClass="entr" presetSubtype="0" fill="hold" grpId="0" nodeType="withEffect">
                                  <p:stCondLst>
                                    <p:cond delay="620"/>
                                  </p:stCondLst>
                                  <p:childTnLst>
                                    <p:set>
                                      <p:cBhvr>
                                        <p:cTn id="77" dur="1" fill="hold">
                                          <p:stCondLst>
                                            <p:cond delay="0"/>
                                          </p:stCondLst>
                                        </p:cTn>
                                        <p:tgtEl>
                                          <p:spTgt spid="18"/>
                                        </p:tgtEl>
                                        <p:attrNameLst>
                                          <p:attrName>style.visibility</p:attrName>
                                        </p:attrNameLst>
                                      </p:cBhvr>
                                      <p:to>
                                        <p:strVal val="visible"/>
                                      </p:to>
                                    </p:set>
                                    <p:animEffect transition="in" filter="fade">
                                      <p:cBhvr>
                                        <p:cTn id="78" dur="650"/>
                                        <p:tgtEl>
                                          <p:spTgt spid="18"/>
                                        </p:tgtEl>
                                      </p:cBhvr>
                                    </p:animEffect>
                                    <p:anim calcmode="lin" valueType="num">
                                      <p:cBhvr>
                                        <p:cTn id="79" dur="650" fill="hold"/>
                                        <p:tgtEl>
                                          <p:spTgt spid="18"/>
                                        </p:tgtEl>
                                        <p:attrNameLst>
                                          <p:attrName>ppt_x</p:attrName>
                                        </p:attrNameLst>
                                      </p:cBhvr>
                                      <p:tavLst>
                                        <p:tav tm="0">
                                          <p:val>
                                            <p:strVal val="#ppt_x"/>
                                          </p:val>
                                        </p:tav>
                                        <p:tav tm="100000">
                                          <p:val>
                                            <p:strVal val="#ppt_x"/>
                                          </p:val>
                                        </p:tav>
                                      </p:tavLst>
                                    </p:anim>
                                    <p:anim calcmode="lin" valueType="num">
                                      <p:cBhvr>
                                        <p:cTn id="80" dur="650" fill="hold"/>
                                        <p:tgtEl>
                                          <p:spTgt spid="18"/>
                                        </p:tgtEl>
                                        <p:attrNameLst>
                                          <p:attrName>ppt_y</p:attrName>
                                        </p:attrNameLst>
                                      </p:cBhvr>
                                      <p:tavLst>
                                        <p:tav tm="0">
                                          <p:val>
                                            <p:strVal val="#ppt_y+.05"/>
                                          </p:val>
                                        </p:tav>
                                        <p:tav tm="100000">
                                          <p:val>
                                            <p:strVal val="#ppt_y"/>
                                          </p:val>
                                        </p:tav>
                                      </p:tavLst>
                                    </p:anim>
                                  </p:childTnLst>
                                </p:cTn>
                              </p:par>
                              <p:par>
                                <p:cTn id="81" presetID="10" presetClass="entr" presetSubtype="0" fill="hold" grpId="0" nodeType="withEffect">
                                  <p:stCondLst>
                                    <p:cond delay="900"/>
                                  </p:stCondLst>
                                  <p:childTnLst>
                                    <p:set>
                                      <p:cBhvr>
                                        <p:cTn id="82" dur="1" fill="hold">
                                          <p:stCondLst>
                                            <p:cond delay="0"/>
                                          </p:stCondLst>
                                        </p:cTn>
                                        <p:tgtEl>
                                          <p:spTgt spid="19"/>
                                        </p:tgtEl>
                                        <p:attrNameLst>
                                          <p:attrName>style.visibility</p:attrName>
                                        </p:attrNameLst>
                                      </p:cBhvr>
                                      <p:to>
                                        <p:strVal val="visible"/>
                                      </p:to>
                                    </p:set>
                                    <p:animEffect transition="in" filter="fade">
                                      <p:cBhvr>
                                        <p:cTn id="83"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theme/theme1.xml><?xml version="1.0" encoding="utf-8"?>
<a:theme xmlns:a="http://schemas.openxmlformats.org/drawingml/2006/main" name="MC Daylight">
  <a:themeElements>
    <a:clrScheme name="MC Daylight">
      <a:dk1>
        <a:srgbClr val="1D1D1F"/>
      </a:dk1>
      <a:lt1>
        <a:srgbClr val="FFFFFF"/>
      </a:lt1>
      <a:dk2>
        <a:srgbClr val="0B0B0C"/>
      </a:dk2>
      <a:lt2>
        <a:srgbClr val="F2F2F7"/>
      </a:lt2>
      <a:accent1>
        <a:srgbClr val="F26722"/>
      </a:accent1>
      <a:accent2>
        <a:srgbClr val="C4511A"/>
      </a:accent2>
      <a:accent3>
        <a:srgbClr val="34C759"/>
      </a:accent3>
      <a:accent4>
        <a:srgbClr val="007AFF"/>
      </a:accent4>
      <a:accent5>
        <a:srgbClr val="FF9500"/>
      </a:accent5>
      <a:accent6>
        <a:srgbClr val="8E8E93"/>
      </a:accent6>
      <a:hlink>
        <a:srgbClr val="B3441A"/>
      </a:hlink>
      <a:folHlink>
        <a:srgbClr val="8E44C9"/>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Member Care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MC Monthly Report Builder</dc:title>
  <dc:subject>What the tool does for Member Care, for the management team</dc:subject>
  <dc:creator>Member Care WFM team</dc:creator>
  <cp:lastModifiedBy>Member Care WFM team</cp:lastModifiedBy>
  <cp:revision>1</cp:revision>
  <dcterms:created xsi:type="dcterms:W3CDTF">2026-10-25T06:25:19Z</dcterms:created>
  <dcterms:modified xsi:type="dcterms:W3CDTF">2026-10-25T06:25:19Z</dcterms:modified>
</cp:coreProperties>
</file>